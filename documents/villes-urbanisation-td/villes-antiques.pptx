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18498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4282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3527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7556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8925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1212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2224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4905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0618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05605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430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88754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042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500379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3511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3076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A68C-B8DC-4E7C-BFAB-5ACCC6A2495C}" type="datetimeFigureOut">
              <a:rPr lang="fr-SN" smtClean="0"/>
              <a:t>18/03/2025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80D9EF-7966-4BAF-B6B5-A1557A25D1A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188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xhere.com/de/photo/807748" TargetMode="Externa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4F91B-710A-2A39-D191-68345EF73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3192905"/>
            <a:ext cx="8728362" cy="1367485"/>
          </a:xfrm>
        </p:spPr>
        <p:txBody>
          <a:bodyPr/>
          <a:lstStyle/>
          <a:p>
            <a:pPr algn="ctr"/>
            <a:r>
              <a:rPr lang="fr-FR" b="1" u="sng" dirty="0"/>
              <a:t>LES VILLES ANTIQUES</a:t>
            </a:r>
            <a:endParaRPr lang="fr-SN" b="1" u="sng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BBF7A5-8B68-60E1-B019-AB49A1E3D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5018581"/>
            <a:ext cx="8915399" cy="1126283"/>
          </a:xfrm>
        </p:spPr>
        <p:txBody>
          <a:bodyPr>
            <a:noAutofit/>
          </a:bodyPr>
          <a:lstStyle/>
          <a:p>
            <a:r>
              <a:rPr lang="fr-FR" b="1" dirty="0"/>
              <a:t>Présenté par :</a:t>
            </a:r>
          </a:p>
          <a:p>
            <a:r>
              <a:rPr lang="fr-FR" b="1" dirty="0"/>
              <a:t>FILY DIALLO LÔ</a:t>
            </a:r>
          </a:p>
          <a:p>
            <a:r>
              <a:rPr lang="fr-FR" b="1" dirty="0"/>
              <a:t>MARIAMA MANE</a:t>
            </a:r>
          </a:p>
          <a:p>
            <a:r>
              <a:rPr lang="fr-FR" b="1" dirty="0"/>
              <a:t>ADJA FATOU S NDIAYE</a:t>
            </a:r>
          </a:p>
        </p:txBody>
      </p:sp>
    </p:spTree>
    <p:extLst>
      <p:ext uri="{BB962C8B-B14F-4D97-AF65-F5344CB8AC3E}">
        <p14:creationId xmlns:p14="http://schemas.microsoft.com/office/powerpoint/2010/main" val="273342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7084AA-754E-BC24-61C2-6A6ECE1E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456" y="62411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fr-FR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</a:t>
            </a:r>
            <a:endParaRPr lang="fr-SN" sz="5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4CA4B9F-3D58-A725-087A-B2F0237CFC5B}"/>
              </a:ext>
            </a:extLst>
          </p:cNvPr>
          <p:cNvSpPr txBox="1"/>
          <p:nvPr/>
        </p:nvSpPr>
        <p:spPr>
          <a:xfrm>
            <a:off x="2821899" y="190500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>
              <a:buFont typeface="+mj-lt"/>
              <a:buAutoNum type="romanUcPeriod"/>
            </a:pPr>
            <a:r>
              <a:rPr lang="fr-SN" sz="2400" b="1" dirty="0"/>
              <a:t>Définition et Caractéristiques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1FC3B0C-4EC9-786E-F307-FABADD8BD0D3}"/>
              </a:ext>
            </a:extLst>
          </p:cNvPr>
          <p:cNvSpPr txBox="1"/>
          <p:nvPr/>
        </p:nvSpPr>
        <p:spPr>
          <a:xfrm>
            <a:off x="4002017" y="2366665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SN" sz="2400" dirty="0"/>
              <a:t>Définition </a:t>
            </a:r>
          </a:p>
          <a:p>
            <a:pPr marL="342900" indent="-342900">
              <a:buFont typeface="+mj-lt"/>
              <a:buAutoNum type="arabicPeriod"/>
            </a:pPr>
            <a:r>
              <a:rPr lang="fr-SN" sz="2400" dirty="0"/>
              <a:t>Caractéristiques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BB615AB-01AB-C938-CC6B-E756BA7A2490}"/>
              </a:ext>
            </a:extLst>
          </p:cNvPr>
          <p:cNvSpPr txBox="1"/>
          <p:nvPr/>
        </p:nvSpPr>
        <p:spPr>
          <a:xfrm>
            <a:off x="3297481" y="3315668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II.    Quelques exemples dans le monde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32F179-866A-F692-A953-E4E4FE9FD1C1}"/>
              </a:ext>
            </a:extLst>
          </p:cNvPr>
          <p:cNvSpPr txBox="1"/>
          <p:nvPr/>
        </p:nvSpPr>
        <p:spPr>
          <a:xfrm>
            <a:off x="3297481" y="401866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sz="2400" b="1" dirty="0"/>
              <a:t>III.    Héritages et Influences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8899CD-D8A1-75F1-AF64-F31093BC1022}"/>
              </a:ext>
            </a:extLst>
          </p:cNvPr>
          <p:cNvSpPr txBox="1"/>
          <p:nvPr/>
        </p:nvSpPr>
        <p:spPr>
          <a:xfrm>
            <a:off x="4002017" y="4480330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SN" sz="2400" dirty="0"/>
              <a:t> Héritages</a:t>
            </a:r>
          </a:p>
          <a:p>
            <a:pPr marL="342900" indent="-342900">
              <a:buFont typeface="+mj-lt"/>
              <a:buAutoNum type="arabicPeriod"/>
            </a:pPr>
            <a:r>
              <a:rPr lang="fr-SN" sz="2400" dirty="0"/>
              <a:t> Influences </a:t>
            </a:r>
          </a:p>
        </p:txBody>
      </p:sp>
    </p:spTree>
    <p:extLst>
      <p:ext uri="{BB962C8B-B14F-4D97-AF65-F5344CB8AC3E}">
        <p14:creationId xmlns:p14="http://schemas.microsoft.com/office/powerpoint/2010/main" val="165663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45417-6490-CBA6-939F-324887B9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68" y="300944"/>
            <a:ext cx="8911687" cy="1280890"/>
          </a:xfrm>
        </p:spPr>
        <p:txBody>
          <a:bodyPr/>
          <a:lstStyle/>
          <a:p>
            <a:pPr algn="ctr"/>
            <a:r>
              <a:rPr lang="fr-SN" sz="3200" b="1" u="sng" dirty="0"/>
              <a:t>Définition</a:t>
            </a:r>
            <a:br>
              <a:rPr lang="fr-SN" sz="3600" b="1" dirty="0"/>
            </a:br>
            <a:endParaRPr lang="fr-SN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E2E3893-809E-1134-DE73-16E9C10032CD}"/>
              </a:ext>
            </a:extLst>
          </p:cNvPr>
          <p:cNvSpPr txBox="1"/>
          <p:nvPr/>
        </p:nvSpPr>
        <p:spPr>
          <a:xfrm>
            <a:off x="4245964" y="959904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sz="2000" dirty="0"/>
              <a:t>Une définition beaucoup plus centrée sur son organisation urbaine</a:t>
            </a:r>
            <a:endParaRPr lang="fr-SN" sz="2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ED40F1A-062A-A67A-A011-73623C093951}"/>
              </a:ext>
            </a:extLst>
          </p:cNvPr>
          <p:cNvSpPr txBox="1"/>
          <p:nvPr/>
        </p:nvSpPr>
        <p:spPr>
          <a:xfrm>
            <a:off x="3702213" y="1948406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SN" sz="3200" b="1" u="sng" dirty="0"/>
              <a:t>Caractéristiques</a:t>
            </a:r>
            <a:endParaRPr lang="fr-SN" sz="3200" u="sng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7360C3-2994-A00B-BDC2-1080FFCDA44B}"/>
              </a:ext>
            </a:extLst>
          </p:cNvPr>
          <p:cNvSpPr txBox="1"/>
          <p:nvPr/>
        </p:nvSpPr>
        <p:spPr>
          <a:xfrm>
            <a:off x="4219373" y="2626432"/>
            <a:ext cx="6093500" cy="4081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enceinte fortifiée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centre politique et administratif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temples ou sanctuaires religieux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rues et un plan d’urbanisme structuré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équipements publics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habitations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système d’approvisionnement en eau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réseau de communication et de transport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S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 lieux dédiés aux loisirs</a:t>
            </a:r>
          </a:p>
        </p:txBody>
      </p:sp>
    </p:spTree>
    <p:extLst>
      <p:ext uri="{BB962C8B-B14F-4D97-AF65-F5344CB8AC3E}">
        <p14:creationId xmlns:p14="http://schemas.microsoft.com/office/powerpoint/2010/main" val="391538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um Romain : Visiter le coeur de la Rome antique">
            <a:extLst>
              <a:ext uri="{FF2B5EF4-FFF2-40B4-BE49-F238E27FC236}">
                <a16:creationId xmlns:a16="http://schemas.microsoft.com/office/drawing/2014/main" id="{B2246168-3508-21F6-00FD-5E629EA1C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18" y="1312318"/>
            <a:ext cx="3513771" cy="248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7A4485F-570B-E782-E381-AABCA80F61A2}"/>
              </a:ext>
            </a:extLst>
          </p:cNvPr>
          <p:cNvSpPr txBox="1"/>
          <p:nvPr/>
        </p:nvSpPr>
        <p:spPr>
          <a:xfrm>
            <a:off x="2936997" y="221105"/>
            <a:ext cx="7401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u="sng" dirty="0"/>
              <a:t>Quelques exemples dans le monde</a:t>
            </a:r>
            <a:endParaRPr lang="fr-SN" sz="3200" u="sng" dirty="0"/>
          </a:p>
        </p:txBody>
      </p:sp>
      <p:pic>
        <p:nvPicPr>
          <p:cNvPr id="1028" name="Picture 4" descr="Excursion à Pompéi depuis Naples - Hellotickets">
            <a:extLst>
              <a:ext uri="{FF2B5EF4-FFF2-40B4-BE49-F238E27FC236}">
                <a16:creationId xmlns:a16="http://schemas.microsoft.com/office/drawing/2014/main" id="{48556313-F3A6-1336-7FA7-33200464E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38" y="1276631"/>
            <a:ext cx="3771507" cy="251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9194F0F-0DAC-08A0-7EF4-B69212DA184D}"/>
              </a:ext>
            </a:extLst>
          </p:cNvPr>
          <p:cNvSpPr txBox="1"/>
          <p:nvPr/>
        </p:nvSpPr>
        <p:spPr>
          <a:xfrm>
            <a:off x="6335670" y="3817202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Pompéi</a:t>
            </a:r>
            <a:endParaRPr lang="fr-SN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729705-D3C1-DD73-4F92-E538514194FA}"/>
              </a:ext>
            </a:extLst>
          </p:cNvPr>
          <p:cNvSpPr txBox="1"/>
          <p:nvPr/>
        </p:nvSpPr>
        <p:spPr>
          <a:xfrm>
            <a:off x="1588958" y="3790969"/>
            <a:ext cx="7127822" cy="42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SN" sz="20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Rome</a:t>
            </a:r>
          </a:p>
        </p:txBody>
      </p:sp>
      <p:pic>
        <p:nvPicPr>
          <p:cNvPr id="9" name="Image 8" descr="Une image contenant texte, carte&#10;&#10;Le contenu généré par l’IA peut être incorrect.">
            <a:extLst>
              <a:ext uri="{FF2B5EF4-FFF2-40B4-BE49-F238E27FC236}">
                <a16:creationId xmlns:a16="http://schemas.microsoft.com/office/drawing/2014/main" id="{E898781B-5CCD-F62D-F657-1F12C23BA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372" y="1209817"/>
            <a:ext cx="3346789" cy="258387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5712F97-B2FB-FAAF-7058-4191B48D5DFF}"/>
              </a:ext>
            </a:extLst>
          </p:cNvPr>
          <p:cNvSpPr txBox="1"/>
          <p:nvPr/>
        </p:nvSpPr>
        <p:spPr>
          <a:xfrm>
            <a:off x="9626010" y="3775482"/>
            <a:ext cx="767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Athènes</a:t>
            </a:r>
          </a:p>
        </p:txBody>
      </p:sp>
      <p:pic>
        <p:nvPicPr>
          <p:cNvPr id="1030" name="Picture 6" descr="Une ville à la topographie sacralisée | Babylone">
            <a:extLst>
              <a:ext uri="{FF2B5EF4-FFF2-40B4-BE49-F238E27FC236}">
                <a16:creationId xmlns:a16="http://schemas.microsoft.com/office/drawing/2014/main" id="{BB567AF3-AD6A-2A63-8B09-52B746E9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997" y="4525033"/>
            <a:ext cx="26955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emple de Karnak la Matrice de la Création - GigalInsights">
            <a:extLst>
              <a:ext uri="{FF2B5EF4-FFF2-40B4-BE49-F238E27FC236}">
                <a16:creationId xmlns:a16="http://schemas.microsoft.com/office/drawing/2014/main" id="{650D7A45-A8BD-9F5A-C650-948B7A0BD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234" y="4469828"/>
            <a:ext cx="2818276" cy="180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5A6885B-EDDD-13A6-42A9-37B0392B5FDC}"/>
              </a:ext>
            </a:extLst>
          </p:cNvPr>
          <p:cNvSpPr txBox="1"/>
          <p:nvPr/>
        </p:nvSpPr>
        <p:spPr>
          <a:xfrm>
            <a:off x="3543946" y="6287317"/>
            <a:ext cx="8648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Babylone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AB63456-A582-2C40-6CBB-548DB3F25246}"/>
              </a:ext>
            </a:extLst>
          </p:cNvPr>
          <p:cNvSpPr txBox="1"/>
          <p:nvPr/>
        </p:nvSpPr>
        <p:spPr>
          <a:xfrm>
            <a:off x="8105143" y="6319696"/>
            <a:ext cx="8648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Thèbes</a:t>
            </a:r>
          </a:p>
        </p:txBody>
      </p:sp>
    </p:spTree>
    <p:extLst>
      <p:ext uri="{BB962C8B-B14F-4D97-AF65-F5344CB8AC3E}">
        <p14:creationId xmlns:p14="http://schemas.microsoft.com/office/powerpoint/2010/main" val="414825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bâtiment, stade, ciel, Rome antique&#10;&#10;Le contenu généré par l’IA peut être incorrect.">
            <a:extLst>
              <a:ext uri="{FF2B5EF4-FFF2-40B4-BE49-F238E27FC236}">
                <a16:creationId xmlns:a16="http://schemas.microsoft.com/office/drawing/2014/main" id="{BBBECE54-2AB7-80C5-8F13-06399C63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003" y="110553"/>
            <a:ext cx="4519048" cy="282440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338F4CD-C398-9F7E-4333-3063E37CC8C4}"/>
              </a:ext>
            </a:extLst>
          </p:cNvPr>
          <p:cNvSpPr txBox="1"/>
          <p:nvPr/>
        </p:nvSpPr>
        <p:spPr>
          <a:xfrm>
            <a:off x="2429361" y="3138176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Le Colisée</a:t>
            </a:r>
          </a:p>
        </p:txBody>
      </p:sp>
      <p:pic>
        <p:nvPicPr>
          <p:cNvPr id="7" name="Image 6" descr="Une image contenant plein air, ciel, Architecture de la Rome antique, Temple romain&#10;&#10;Le contenu généré par l’IA peut être incorrect.">
            <a:extLst>
              <a:ext uri="{FF2B5EF4-FFF2-40B4-BE49-F238E27FC236}">
                <a16:creationId xmlns:a16="http://schemas.microsoft.com/office/drawing/2014/main" id="{AE6D2CAA-DEBC-3BB8-1BC7-1D0226A9EA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863" y="122638"/>
            <a:ext cx="4691580" cy="29232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A40F90C-5ABA-9660-F1E4-7E76CA3271BA}"/>
              </a:ext>
            </a:extLst>
          </p:cNvPr>
          <p:cNvSpPr txBox="1"/>
          <p:nvPr/>
        </p:nvSpPr>
        <p:spPr>
          <a:xfrm>
            <a:off x="9203017" y="3059668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Le Parthénon</a:t>
            </a:r>
          </a:p>
        </p:txBody>
      </p:sp>
      <p:pic>
        <p:nvPicPr>
          <p:cNvPr id="14" name="Image 13" descr="Une image contenant bâtiment, ciel, plein air, arbre&#10;&#10;Le contenu généré par l’IA peut être incorrect.">
            <a:extLst>
              <a:ext uri="{FF2B5EF4-FFF2-40B4-BE49-F238E27FC236}">
                <a16:creationId xmlns:a16="http://schemas.microsoft.com/office/drawing/2014/main" id="{F529E7E3-3A62-4D41-CDC7-A0401C7B8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805" y="3613665"/>
            <a:ext cx="4166945" cy="276782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0B579BE-BCD9-457F-9A94-5D0C69E29A97}"/>
              </a:ext>
            </a:extLst>
          </p:cNvPr>
          <p:cNvSpPr txBox="1"/>
          <p:nvPr/>
        </p:nvSpPr>
        <p:spPr>
          <a:xfrm>
            <a:off x="2287292" y="6366030"/>
            <a:ext cx="7617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Porte de l’Ishtar</a:t>
            </a:r>
          </a:p>
        </p:txBody>
      </p:sp>
      <p:pic>
        <p:nvPicPr>
          <p:cNvPr id="18" name="Image 17" descr="Une image contenant plein air, bâtiment, Aqueduc, ciel&#10;&#10;Le contenu généré par l’IA peut être incorrect.">
            <a:extLst>
              <a:ext uri="{FF2B5EF4-FFF2-40B4-BE49-F238E27FC236}">
                <a16:creationId xmlns:a16="http://schemas.microsoft.com/office/drawing/2014/main" id="{F23C390C-F51B-AE3D-2D0D-9ACC105C3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413204" y="3552856"/>
            <a:ext cx="4152751" cy="276782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83C3D23A-DA81-8BE1-3375-C99917D2B65A}"/>
              </a:ext>
            </a:extLst>
          </p:cNvPr>
          <p:cNvSpPr txBox="1"/>
          <p:nvPr/>
        </p:nvSpPr>
        <p:spPr>
          <a:xfrm>
            <a:off x="8160237" y="6320681"/>
            <a:ext cx="764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b="1" u="sng" dirty="0"/>
              <a:t>Aqueduc Romain</a:t>
            </a:r>
          </a:p>
        </p:txBody>
      </p:sp>
    </p:spTree>
    <p:extLst>
      <p:ext uri="{BB962C8B-B14F-4D97-AF65-F5344CB8AC3E}">
        <p14:creationId xmlns:p14="http://schemas.microsoft.com/office/powerpoint/2010/main" val="351433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C082E-D6A1-6E35-46C0-D9BB722B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HÉRITAGES ET INFLUENCES</a:t>
            </a:r>
            <a:endParaRPr lang="fr-SN" b="1" u="sng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44BBF69-C1C1-D417-BC98-5633C70BF117}"/>
              </a:ext>
            </a:extLst>
          </p:cNvPr>
          <p:cNvSpPr txBox="1"/>
          <p:nvPr/>
        </p:nvSpPr>
        <p:spPr>
          <a:xfrm>
            <a:off x="3646359" y="158324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SN" sz="2400" dirty="0"/>
              <a:t>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C38683-54CA-5200-64F9-1D01795BCEA4}"/>
              </a:ext>
            </a:extLst>
          </p:cNvPr>
          <p:cNvSpPr txBox="1"/>
          <p:nvPr/>
        </p:nvSpPr>
        <p:spPr>
          <a:xfrm>
            <a:off x="3511446" y="2302856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SN" sz="2400" dirty="0"/>
              <a:t>Urbanisme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1C8C69-21BF-0335-7964-356432679F98}"/>
              </a:ext>
            </a:extLst>
          </p:cNvPr>
          <p:cNvSpPr txBox="1"/>
          <p:nvPr/>
        </p:nvSpPr>
        <p:spPr>
          <a:xfrm>
            <a:off x="3049250" y="307898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 algn="ctr">
              <a:buFont typeface="Wingdings" panose="05000000000000000000" pitchFamily="2" charset="2"/>
              <a:buChar char="v"/>
            </a:pPr>
            <a:r>
              <a:rPr lang="fr-SN" sz="2400" dirty="0"/>
              <a:t>Arts et culture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D4514F-F609-75AB-36D9-8751B395309E}"/>
              </a:ext>
            </a:extLst>
          </p:cNvPr>
          <p:cNvSpPr txBox="1"/>
          <p:nvPr/>
        </p:nvSpPr>
        <p:spPr>
          <a:xfrm>
            <a:off x="2830018" y="3742088"/>
            <a:ext cx="6531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6100" lvl="6" indent="-342900">
              <a:buFont typeface="Wingdings" panose="05000000000000000000" pitchFamily="2" charset="2"/>
              <a:buChar char="v"/>
            </a:pPr>
            <a:r>
              <a:rPr lang="fr-SN" sz="2400" dirty="0"/>
              <a:t>Systèmes politiques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9A7749-3BBE-5AB2-918F-B4165F68F9EC}"/>
              </a:ext>
            </a:extLst>
          </p:cNvPr>
          <p:cNvSpPr txBox="1"/>
          <p:nvPr/>
        </p:nvSpPr>
        <p:spPr>
          <a:xfrm>
            <a:off x="3376536" y="448380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fr-SN" sz="2400" dirty="0"/>
              <a:t>Religion</a:t>
            </a:r>
          </a:p>
        </p:txBody>
      </p:sp>
    </p:spTree>
    <p:extLst>
      <p:ext uri="{BB962C8B-B14F-4D97-AF65-F5344CB8AC3E}">
        <p14:creationId xmlns:p14="http://schemas.microsoft.com/office/powerpoint/2010/main" val="1013208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F9B7178-55C1-374C-F87D-ACC84CFEEFE1}"/>
              </a:ext>
            </a:extLst>
          </p:cNvPr>
          <p:cNvSpPr txBox="1"/>
          <p:nvPr/>
        </p:nvSpPr>
        <p:spPr>
          <a:xfrm>
            <a:off x="2809408" y="2964862"/>
            <a:ext cx="5929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SN" sz="4000" b="1" dirty="0"/>
              <a:t>MERCI DE VOTRE ATTENTION</a:t>
            </a:r>
          </a:p>
        </p:txBody>
      </p:sp>
      <p:sp>
        <p:nvSpPr>
          <p:cNvPr id="4" name="Étoile : 5 branches 3">
            <a:extLst>
              <a:ext uri="{FF2B5EF4-FFF2-40B4-BE49-F238E27FC236}">
                <a16:creationId xmlns:a16="http://schemas.microsoft.com/office/drawing/2014/main" id="{E72C8153-4FCC-47A6-CE14-F1DCC3882BB9}"/>
              </a:ext>
            </a:extLst>
          </p:cNvPr>
          <p:cNvSpPr/>
          <p:nvPr/>
        </p:nvSpPr>
        <p:spPr>
          <a:xfrm>
            <a:off x="7210268" y="3593335"/>
            <a:ext cx="869430" cy="88872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13683492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561</TotalTime>
  <Words>125</Words>
  <Application>Microsoft Office PowerPoint</Application>
  <PresentationFormat>Grand écran</PresentationFormat>
  <Paragraphs>42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Arial</vt:lpstr>
      <vt:lpstr>Century Gothic</vt:lpstr>
      <vt:lpstr>Wingdings</vt:lpstr>
      <vt:lpstr>Wingdings 3</vt:lpstr>
      <vt:lpstr>Brin</vt:lpstr>
      <vt:lpstr>LES VILLES ANTIQUES</vt:lpstr>
      <vt:lpstr>PLAN</vt:lpstr>
      <vt:lpstr>Définition </vt:lpstr>
      <vt:lpstr>Présentation PowerPoint</vt:lpstr>
      <vt:lpstr>Présentation PowerPoint</vt:lpstr>
      <vt:lpstr>HÉRITAGES ET INFLUENCES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Mariama Mane</dc:creator>
  <cp:lastModifiedBy>Mariama Mane</cp:lastModifiedBy>
  <cp:revision>1</cp:revision>
  <dcterms:created xsi:type="dcterms:W3CDTF">2025-03-18T16:25:52Z</dcterms:created>
  <dcterms:modified xsi:type="dcterms:W3CDTF">2025-03-19T01:47:33Z</dcterms:modified>
</cp:coreProperties>
</file>