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4" r:id="rId1"/>
  </p:sldMasterIdLst>
  <p:sldIdLst>
    <p:sldId id="256" r:id="rId2"/>
    <p:sldId id="263" r:id="rId3"/>
    <p:sldId id="264" r:id="rId4"/>
    <p:sldId id="265" r:id="rId5"/>
    <p:sldId id="270" r:id="rId6"/>
    <p:sldId id="266" r:id="rId7"/>
    <p:sldId id="267" r:id="rId8"/>
    <p:sldId id="27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377" autoAdjust="0"/>
  </p:normalViewPr>
  <p:slideViewPr>
    <p:cSldViewPr snapToGrid="0">
      <p:cViewPr varScale="1">
        <p:scale>
          <a:sx n="40" d="100"/>
          <a:sy n="40" d="100"/>
        </p:scale>
        <p:origin x="48" y="6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A9F436F-945C-4C46-9957-8F7C97DFCE2F}" type="datetimeFigureOut">
              <a:rPr lang="fr-FR" smtClean="0"/>
              <a:t>17/03/2025</a:t>
            </a:fld>
            <a:endParaRPr lang="fr-FR"/>
          </a:p>
        </p:txBody>
      </p:sp>
      <p:sp>
        <p:nvSpPr>
          <p:cNvPr id="5" name="Footer Placeholder 4"/>
          <p:cNvSpPr>
            <a:spLocks noGrp="1"/>
          </p:cNvSpPr>
          <p:nvPr>
            <p:ph type="ftr" sz="quarter" idx="11"/>
          </p:nvPr>
        </p:nvSpPr>
        <p:spPr>
          <a:xfrm>
            <a:off x="1371600" y="4323845"/>
            <a:ext cx="6400800" cy="365125"/>
          </a:xfrm>
        </p:spPr>
        <p:txBody>
          <a:bodyPr/>
          <a:lstStyle/>
          <a:p>
            <a:endParaRPr lang="fr-FR"/>
          </a:p>
        </p:txBody>
      </p:sp>
      <p:sp>
        <p:nvSpPr>
          <p:cNvPr id="6" name="Slide Number Placeholder 5"/>
          <p:cNvSpPr>
            <a:spLocks noGrp="1"/>
          </p:cNvSpPr>
          <p:nvPr>
            <p:ph type="sldNum" sz="quarter" idx="12"/>
          </p:nvPr>
        </p:nvSpPr>
        <p:spPr>
          <a:xfrm>
            <a:off x="8077200" y="1430866"/>
            <a:ext cx="2743200" cy="365125"/>
          </a:xfrm>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84509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9F436F-945C-4C46-9957-8F7C97DFCE2F}" type="datetimeFigureOut">
              <a:rPr lang="fr-FR" smtClean="0"/>
              <a:t>17/03/2025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2127434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A9F436F-945C-4C46-9957-8F7C97DFCE2F}" type="datetimeFigureOut">
              <a:rPr lang="fr-FR" smtClean="0"/>
              <a:t>17/03/2025</a:t>
            </a:fld>
            <a:endParaRPr lang="fr-FR"/>
          </a:p>
        </p:txBody>
      </p:sp>
      <p:sp>
        <p:nvSpPr>
          <p:cNvPr id="5" name="Footer Placeholder 4"/>
          <p:cNvSpPr>
            <a:spLocks noGrp="1"/>
          </p:cNvSpPr>
          <p:nvPr>
            <p:ph type="ftr" sz="quarter" idx="11"/>
          </p:nvPr>
        </p:nvSpPr>
        <p:spPr>
          <a:xfrm>
            <a:off x="685800" y="381001"/>
            <a:ext cx="6991492" cy="364065"/>
          </a:xfrm>
        </p:spPr>
        <p:txBody>
          <a:bodyPr/>
          <a:lstStyle/>
          <a:p>
            <a:endParaRPr lang="fr-FR"/>
          </a:p>
        </p:txBody>
      </p:sp>
      <p:sp>
        <p:nvSpPr>
          <p:cNvPr id="6" name="Slide Number Placeholder 5"/>
          <p:cNvSpPr>
            <a:spLocks noGrp="1"/>
          </p:cNvSpPr>
          <p:nvPr>
            <p:ph type="sldNum" sz="quarter" idx="12"/>
          </p:nvPr>
        </p:nvSpPr>
        <p:spPr>
          <a:xfrm>
            <a:off x="10862452" y="381000"/>
            <a:ext cx="643748" cy="365125"/>
          </a:xfrm>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07274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53633647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A9F436F-945C-4C46-9957-8F7C97DFCE2F}" type="datetimeFigureOut">
              <a:rPr lang="fr-FR" smtClean="0"/>
              <a:t>17/03/2025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64656003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A9F436F-945C-4C46-9957-8F7C97DFCE2F}" type="datetimeFigureOut">
              <a:rPr lang="fr-FR" smtClean="0"/>
              <a:t>17/03/2025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2249208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9F436F-945C-4C46-9957-8F7C97DFCE2F}" type="datetimeFigureOut">
              <a:rPr lang="fr-FR" smtClean="0"/>
              <a:t>17/03/2025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2888411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22737660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3957253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2082783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a:xfrm>
            <a:off x="685800" y="379941"/>
            <a:ext cx="6991492" cy="365125"/>
          </a:xfrm>
        </p:spPr>
        <p:txBody>
          <a:bodyPr/>
          <a:lstStyle/>
          <a:p>
            <a:endParaRPr lang="fr-FR"/>
          </a:p>
        </p:txBody>
      </p:sp>
      <p:sp>
        <p:nvSpPr>
          <p:cNvPr id="7" name="Slide Number Placeholder 6"/>
          <p:cNvSpPr>
            <a:spLocks noGrp="1"/>
          </p:cNvSpPr>
          <p:nvPr>
            <p:ph type="sldNum" sz="quarter" idx="12"/>
          </p:nvPr>
        </p:nvSpPr>
        <p:spPr>
          <a:xfrm>
            <a:off x="10862452" y="381000"/>
            <a:ext cx="643748" cy="365125"/>
          </a:xfrm>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576028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a:xfrm>
            <a:off x="685800" y="379941"/>
            <a:ext cx="6991492" cy="365125"/>
          </a:xfrm>
        </p:spPr>
        <p:txBody>
          <a:bodyPr/>
          <a:lstStyle/>
          <a:p>
            <a:endParaRPr lang="fr-FR"/>
          </a:p>
        </p:txBody>
      </p:sp>
      <p:sp>
        <p:nvSpPr>
          <p:cNvPr id="7" name="Slide Number Placeholder 6"/>
          <p:cNvSpPr>
            <a:spLocks noGrp="1"/>
          </p:cNvSpPr>
          <p:nvPr>
            <p:ph type="sldNum" sz="quarter" idx="12"/>
          </p:nvPr>
        </p:nvSpPr>
        <p:spPr>
          <a:xfrm>
            <a:off x="10862452" y="381000"/>
            <a:ext cx="643748" cy="365125"/>
          </a:xfrm>
        </p:spPr>
        <p:txBody>
          <a:bodyPr/>
          <a:lstStyle/>
          <a:p>
            <a:fld id="{B72C5654-2416-4122-96A1-554CDA1FF296}" type="slidenum">
              <a:rPr lang="fr-FR" smtClean="0"/>
              <a:t>‹N°›</a:t>
            </a:fld>
            <a:endParaRPr lang="fr-FR"/>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99613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A9F436F-945C-4C46-9957-8F7C97DFCE2F}" type="datetimeFigureOut">
              <a:rPr lang="fr-FR" smtClean="0"/>
              <a:t>17/03/2025</a:t>
            </a:fld>
            <a:endParaRPr lang="fr-FR"/>
          </a:p>
        </p:txBody>
      </p:sp>
      <p:sp>
        <p:nvSpPr>
          <p:cNvPr id="6" name="Footer Placeholder 5"/>
          <p:cNvSpPr>
            <a:spLocks noGrp="1"/>
          </p:cNvSpPr>
          <p:nvPr>
            <p:ph type="ftr" sz="quarter" idx="11"/>
          </p:nvPr>
        </p:nvSpPr>
        <p:spPr>
          <a:xfrm>
            <a:off x="685800" y="378883"/>
            <a:ext cx="6991492" cy="365125"/>
          </a:xfrm>
        </p:spPr>
        <p:txBody>
          <a:bodyPr/>
          <a:lstStyle/>
          <a:p>
            <a:endParaRPr lang="fr-FR"/>
          </a:p>
        </p:txBody>
      </p:sp>
      <p:sp>
        <p:nvSpPr>
          <p:cNvPr id="7" name="Slide Number Placeholder 6"/>
          <p:cNvSpPr>
            <a:spLocks noGrp="1"/>
          </p:cNvSpPr>
          <p:nvPr>
            <p:ph type="sldNum" sz="quarter" idx="12"/>
          </p:nvPr>
        </p:nvSpPr>
        <p:spPr>
          <a:xfrm>
            <a:off x="10862452" y="381000"/>
            <a:ext cx="643748" cy="365125"/>
          </a:xfrm>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3482072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EA9F436F-945C-4C46-9957-8F7C97DFCE2F}" type="datetimeFigureOut">
              <a:rPr lang="fr-FR" smtClean="0"/>
              <a:t>17/03/2025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21522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EA9F436F-945C-4C46-9957-8F7C97DFCE2F}" type="datetimeFigureOut">
              <a:rPr lang="fr-FR" smtClean="0"/>
              <a:t>17/03/2025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691310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9F436F-945C-4C46-9957-8F7C97DFCE2F}" type="datetimeFigureOut">
              <a:rPr lang="fr-FR" smtClean="0"/>
              <a:t>17/03/2025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27935457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A9F436F-945C-4C46-9957-8F7C97DFCE2F}" type="datetimeFigureOut">
              <a:rPr lang="fr-FR" smtClean="0"/>
              <a:t>17/03/2025</a:t>
            </a:fld>
            <a:endParaRPr lang="fr-FR"/>
          </a:p>
        </p:txBody>
      </p:sp>
      <p:sp>
        <p:nvSpPr>
          <p:cNvPr id="5" name="Footer Placeholder 4"/>
          <p:cNvSpPr>
            <a:spLocks noGrp="1"/>
          </p:cNvSpPr>
          <p:nvPr>
            <p:ph type="ftr" sz="quarter" idx="11"/>
          </p:nvPr>
        </p:nvSpPr>
        <p:spPr>
          <a:xfrm>
            <a:off x="685800" y="381000"/>
            <a:ext cx="6991492" cy="365125"/>
          </a:xfrm>
        </p:spPr>
        <p:txBody>
          <a:bodyPr/>
          <a:lstStyle/>
          <a:p>
            <a:endParaRPr lang="fr-FR"/>
          </a:p>
        </p:txBody>
      </p:sp>
      <p:sp>
        <p:nvSpPr>
          <p:cNvPr id="6" name="Slide Number Placeholder 5"/>
          <p:cNvSpPr>
            <a:spLocks noGrp="1"/>
          </p:cNvSpPr>
          <p:nvPr>
            <p:ph type="sldNum" sz="quarter" idx="12"/>
          </p:nvPr>
        </p:nvSpPr>
        <p:spPr>
          <a:xfrm>
            <a:off x="10862452" y="381000"/>
            <a:ext cx="643748" cy="365125"/>
          </a:xfrm>
        </p:spPr>
        <p:txBody>
          <a:bodyPr/>
          <a:lstStyle/>
          <a:p>
            <a:fld id="{B72C5654-2416-4122-96A1-554CDA1FF296}" type="slidenum">
              <a:rPr lang="fr-FR" smtClean="0"/>
              <a:t>‹N°›</a:t>
            </a:fld>
            <a:endParaRPr lang="fr-FR"/>
          </a:p>
        </p:txBody>
      </p:sp>
    </p:spTree>
    <p:extLst>
      <p:ext uri="{BB962C8B-B14F-4D97-AF65-F5344CB8AC3E}">
        <p14:creationId xmlns:p14="http://schemas.microsoft.com/office/powerpoint/2010/main" val="1169398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A9F436F-945C-4C46-9957-8F7C97DFCE2F}" type="datetimeFigureOut">
              <a:rPr lang="fr-FR" smtClean="0"/>
              <a:t>17/03/2025</a:t>
            </a:fld>
            <a:endParaRPr lang="fr-F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72C5654-2416-4122-96A1-554CDA1FF296}" type="slidenum">
              <a:rPr lang="fr-FR" smtClean="0"/>
              <a:t>‹N°›</a:t>
            </a:fld>
            <a:endParaRPr lang="fr-FR"/>
          </a:p>
        </p:txBody>
      </p:sp>
    </p:spTree>
    <p:extLst>
      <p:ext uri="{BB962C8B-B14F-4D97-AF65-F5344CB8AC3E}">
        <p14:creationId xmlns:p14="http://schemas.microsoft.com/office/powerpoint/2010/main" val="2238577011"/>
      </p:ext>
    </p:extLst>
  </p:cSld>
  <p:clrMap bg1="dk1" tx1="lt1" bg2="dk2"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 id="2147484118" r:id="rId14"/>
    <p:sldLayoutId id="2147484119" r:id="rId15"/>
    <p:sldLayoutId id="2147484120" r:id="rId16"/>
    <p:sldLayoutId id="214748412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g" /><Relationship Id="rId1" Type="http://schemas.openxmlformats.org/officeDocument/2006/relationships/slideLayout" Target="../slideLayouts/slideLayout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79539" y="2320119"/>
            <a:ext cx="11357787" cy="936570"/>
          </a:xfrm>
        </p:spPr>
        <p:txBody>
          <a:bodyPr>
            <a:normAutofit/>
          </a:bodyPr>
          <a:lstStyle/>
          <a:p>
            <a:r>
              <a:rPr lang="fr-FR" b="1" u="sng" dirty="0"/>
              <a:t>VILLES MINIÈRES AU SENEGAL</a:t>
            </a:r>
          </a:p>
        </p:txBody>
      </p:sp>
      <p:sp>
        <p:nvSpPr>
          <p:cNvPr id="3" name="Sous-titre 2"/>
          <p:cNvSpPr>
            <a:spLocks noGrp="1"/>
          </p:cNvSpPr>
          <p:nvPr>
            <p:ph type="subTitle" idx="1"/>
          </p:nvPr>
        </p:nvSpPr>
        <p:spPr>
          <a:xfrm>
            <a:off x="2531134" y="3370586"/>
            <a:ext cx="6822642" cy="1378836"/>
          </a:xfrm>
        </p:spPr>
        <p:txBody>
          <a:bodyPr>
            <a:normAutofit fontScale="40000" lnSpcReduction="20000"/>
          </a:bodyPr>
          <a:lstStyle/>
          <a:p>
            <a:pPr algn="ctr"/>
            <a:r>
              <a:rPr lang="fr-FR" sz="5100" b="1" u="sng" dirty="0"/>
              <a:t>NOM DES EXPOSANTS</a:t>
            </a:r>
          </a:p>
          <a:p>
            <a:pPr algn="ctr"/>
            <a:r>
              <a:rPr lang="fr-FR" sz="4000" b="1" u="sng" dirty="0"/>
              <a:t>NGALA DIENG</a:t>
            </a:r>
          </a:p>
          <a:p>
            <a:pPr algn="ctr"/>
            <a:r>
              <a:rPr lang="fr-FR" sz="4900" b="1" u="sng" dirty="0"/>
              <a:t>MOR SECK</a:t>
            </a:r>
          </a:p>
          <a:p>
            <a:pPr algn="ctr"/>
            <a:r>
              <a:rPr lang="fr-FR" sz="4300" b="1" u="sng" dirty="0"/>
              <a:t>YOUSSOUF B’ DAO</a:t>
            </a:r>
          </a:p>
        </p:txBody>
      </p:sp>
    </p:spTree>
    <p:extLst>
      <p:ext uri="{BB962C8B-B14F-4D97-AF65-F5344CB8AC3E}">
        <p14:creationId xmlns:p14="http://schemas.microsoft.com/office/powerpoint/2010/main" val="57683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rot="10800000" flipH="1" flipV="1">
            <a:off x="1311568" y="808820"/>
            <a:ext cx="9467269" cy="501675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fr-FR" sz="4400" b="1" u="sng" dirty="0">
                <a:solidFill>
                  <a:schemeClr val="tx1"/>
                </a:solidFill>
              </a:rPr>
              <a:t>PLAN D’EXPOSÉ</a:t>
            </a:r>
          </a:p>
          <a:p>
            <a:endParaRPr lang="fr-FR" sz="4400" b="1" dirty="0">
              <a:solidFill>
                <a:schemeClr val="tx1"/>
              </a:solidFill>
            </a:endParaRPr>
          </a:p>
          <a:p>
            <a:pPr marL="514350" indent="-514350">
              <a:buFont typeface="+mj-lt"/>
              <a:buAutoNum type="romanUcPeriod"/>
            </a:pPr>
            <a:r>
              <a:rPr lang="fr-FR" sz="3600" b="1" dirty="0">
                <a:solidFill>
                  <a:schemeClr val="tx1"/>
                </a:solidFill>
                <a:latin typeface="+mj-lt"/>
                <a:cs typeface="Arial" panose="020B0604020202020204" pitchFamily="34" charset="0"/>
              </a:rPr>
              <a:t>GENÈSE</a:t>
            </a:r>
            <a:r>
              <a:rPr lang="fr-FR" sz="3600" b="1" dirty="0">
                <a:solidFill>
                  <a:schemeClr val="tx1"/>
                </a:solidFill>
                <a:latin typeface="+mj-lt"/>
              </a:rPr>
              <a:t> ET DÉVELOPPEMENT DES VILLES MINIÈRES </a:t>
            </a:r>
          </a:p>
          <a:p>
            <a:pPr marL="514350" indent="-514350">
              <a:buFont typeface="+mj-lt"/>
              <a:buAutoNum type="romanUcPeriod"/>
            </a:pPr>
            <a:endParaRPr lang="fr-FR" sz="3200" b="1" dirty="0">
              <a:solidFill>
                <a:schemeClr val="tx1"/>
              </a:solidFill>
            </a:endParaRPr>
          </a:p>
          <a:p>
            <a:pPr marL="514350" indent="-514350">
              <a:buFont typeface="+mj-lt"/>
              <a:buAutoNum type="romanUcPeriod"/>
            </a:pPr>
            <a:r>
              <a:rPr lang="fr-FR" sz="3200" b="1" dirty="0">
                <a:solidFill>
                  <a:schemeClr val="tx1"/>
                </a:solidFill>
                <a:latin typeface="+mj-lt"/>
                <a:cs typeface="Arial" panose="020B0604020202020204" pitchFamily="34" charset="0"/>
              </a:rPr>
              <a:t>IMPACTS SOCIO-ÉCONOMIQUES ET ENVIRONNEMENTAUX </a:t>
            </a:r>
            <a:endParaRPr lang="fr-FR" sz="1100" b="1" dirty="0">
              <a:solidFill>
                <a:schemeClr val="tx1"/>
              </a:solidFill>
              <a:latin typeface="+mj-lt"/>
              <a:cs typeface="Arial" panose="020B0604020202020204" pitchFamily="34" charset="0"/>
            </a:endParaRPr>
          </a:p>
          <a:p>
            <a:pPr marL="514350" indent="-514350">
              <a:buFont typeface="+mj-lt"/>
              <a:buAutoNum type="romanUcPeriod"/>
            </a:pPr>
            <a:endParaRPr lang="fr-FR" sz="3200" b="1" dirty="0">
              <a:solidFill>
                <a:schemeClr val="tx1"/>
              </a:solidFill>
            </a:endParaRPr>
          </a:p>
          <a:p>
            <a:pPr marL="514350" indent="-514350">
              <a:buFont typeface="+mj-lt"/>
              <a:buAutoNum type="romanUcPeriod"/>
            </a:pPr>
            <a:r>
              <a:rPr lang="fr-FR" sz="3200" b="1" dirty="0">
                <a:solidFill>
                  <a:schemeClr val="tx1"/>
                </a:solidFill>
              </a:rPr>
              <a:t>DÉFIS ET PERSPECTIVES D’AVENIR</a:t>
            </a:r>
          </a:p>
        </p:txBody>
      </p:sp>
    </p:spTree>
    <p:extLst>
      <p:ext uri="{BB962C8B-B14F-4D97-AF65-F5344CB8AC3E}">
        <p14:creationId xmlns:p14="http://schemas.microsoft.com/office/powerpoint/2010/main" val="942097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5709" y="1310184"/>
            <a:ext cx="6683957" cy="851125"/>
          </a:xfrm>
        </p:spPr>
        <p:txBody>
          <a:bodyPr>
            <a:noAutofit/>
          </a:bodyPr>
          <a:lstStyle/>
          <a:p>
            <a:r>
              <a:rPr lang="fr-FR" b="1" dirty="0"/>
              <a:t>I. GENESE ET DEVELOPPEMENT     DES VILLES MINIERES </a:t>
            </a:r>
          </a:p>
        </p:txBody>
      </p:sp>
      <p:pic>
        <p:nvPicPr>
          <p:cNvPr id="6" name="Espace réservé du contenu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539348" y="1957137"/>
            <a:ext cx="5203474" cy="3705726"/>
          </a:xfrm>
        </p:spPr>
      </p:pic>
      <p:sp>
        <p:nvSpPr>
          <p:cNvPr id="4" name="Espace réservé du texte 3"/>
          <p:cNvSpPr>
            <a:spLocks noGrp="1"/>
          </p:cNvSpPr>
          <p:nvPr>
            <p:ph type="body" sz="half" idx="2"/>
          </p:nvPr>
        </p:nvSpPr>
        <p:spPr>
          <a:xfrm>
            <a:off x="1106905" y="2484581"/>
            <a:ext cx="5432442" cy="3391285"/>
          </a:xfrm>
        </p:spPr>
        <p:txBody>
          <a:bodyPr>
            <a:noAutofit/>
          </a:bodyPr>
          <a:lstStyle/>
          <a:p>
            <a:r>
              <a:rPr lang="fr-FR" sz="2400" b="1" dirty="0"/>
              <a:t>Les villes minières du Sénégal comme Makó et Kédougou ont émergé avec l’exploitation des ressources naturelles, principalement l’or .Elles se développent rapidement autour des sites d’extraction ,créant des pôles économiques importants . Cependant, ce développement pose plusieurs défis .</a:t>
            </a:r>
          </a:p>
        </p:txBody>
      </p:sp>
    </p:spTree>
    <p:extLst>
      <p:ext uri="{BB962C8B-B14F-4D97-AF65-F5344CB8AC3E}">
        <p14:creationId xmlns:p14="http://schemas.microsoft.com/office/powerpoint/2010/main" val="3836166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73018" y="982132"/>
            <a:ext cx="9723581" cy="1428560"/>
          </a:xfrm>
        </p:spPr>
        <p:txBody>
          <a:bodyPr>
            <a:normAutofit/>
          </a:bodyPr>
          <a:lstStyle/>
          <a:p>
            <a:pPr algn="ctr"/>
            <a:r>
              <a:rPr lang="fr-FR" b="1" dirty="0"/>
              <a:t>Ii. IMPACTS SOCIO-ECONOMIQUES ET ENVIRONNEMENTAUX</a:t>
            </a:r>
          </a:p>
        </p:txBody>
      </p:sp>
      <p:sp>
        <p:nvSpPr>
          <p:cNvPr id="5" name="ZoneTexte 4"/>
          <p:cNvSpPr txBox="1"/>
          <p:nvPr/>
        </p:nvSpPr>
        <p:spPr>
          <a:xfrm>
            <a:off x="1424540" y="2410692"/>
            <a:ext cx="9552880" cy="3970318"/>
          </a:xfrm>
          <a:prstGeom prst="rect">
            <a:avLst/>
          </a:prstGeom>
          <a:noFill/>
        </p:spPr>
        <p:txBody>
          <a:bodyPr wrap="square" rtlCol="0">
            <a:spAutoFit/>
          </a:bodyPr>
          <a:lstStyle/>
          <a:p>
            <a:r>
              <a:rPr lang="fr-FR" sz="2800" b="1" dirty="0"/>
              <a:t>Economiquement, l’exploitation minière génère des richesses mais créé aussi des inégalités et une dépendance excessive aux ressources naturelles. </a:t>
            </a:r>
          </a:p>
          <a:p>
            <a:r>
              <a:rPr lang="fr-FR" sz="2800" b="1" dirty="0"/>
              <a:t>Socialement, ces villes sont marquées par une urbanisation rapide, des tensions liées au logement et aux conditions de travail difficiles.</a:t>
            </a:r>
          </a:p>
          <a:p>
            <a:r>
              <a:rPr lang="fr-FR" sz="2800" b="1" dirty="0"/>
              <a:t>Sur le plan environnemental, l’exploitation minière cause la pollution de l’eau, de l’air et la dégradation des écosystèmes.</a:t>
            </a:r>
          </a:p>
        </p:txBody>
      </p:sp>
    </p:spTree>
    <p:extLst>
      <p:ext uri="{BB962C8B-B14F-4D97-AF65-F5344CB8AC3E}">
        <p14:creationId xmlns:p14="http://schemas.microsoft.com/office/powerpoint/2010/main" val="3802248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689819" y="1237318"/>
            <a:ext cx="5079991" cy="823912"/>
          </a:xfrm>
        </p:spPr>
        <p:txBody>
          <a:bodyPr>
            <a:normAutofit lnSpcReduction="10000"/>
          </a:bodyPr>
          <a:lstStyle/>
          <a:p>
            <a:r>
              <a:rPr lang="fr-FR" b="1" dirty="0"/>
              <a:t>Urbanisation rapide de Makó</a:t>
            </a:r>
          </a:p>
        </p:txBody>
      </p:sp>
      <p:sp>
        <p:nvSpPr>
          <p:cNvPr id="5" name="Espace réservé du texte 4"/>
          <p:cNvSpPr>
            <a:spLocks noGrp="1"/>
          </p:cNvSpPr>
          <p:nvPr>
            <p:ph type="body" sz="quarter" idx="3"/>
          </p:nvPr>
        </p:nvSpPr>
        <p:spPr>
          <a:xfrm>
            <a:off x="6176210" y="1237318"/>
            <a:ext cx="5105400" cy="823912"/>
          </a:xfrm>
        </p:spPr>
        <p:txBody>
          <a:bodyPr>
            <a:normAutofit lnSpcReduction="10000"/>
          </a:bodyPr>
          <a:lstStyle/>
          <a:p>
            <a:r>
              <a:rPr lang="fr-FR" b="1" dirty="0"/>
              <a:t>Utilisation excessive des ressources</a:t>
            </a:r>
          </a:p>
        </p:txBody>
      </p:sp>
      <p:pic>
        <p:nvPicPr>
          <p:cNvPr id="13" name="Espace réservé du contenu 12"/>
          <p:cNvPicPr>
            <a:picLocks noGrp="1" noChangeAspect="1"/>
          </p:cNvPicPr>
          <p:nvPr>
            <p:ph sz="quarter" idx="4"/>
          </p:nvPr>
        </p:nvPicPr>
        <p:blipFill>
          <a:blip r:embed="rId2" cstate="print">
            <a:extLst>
              <a:ext uri="{28A0092B-C50C-407E-A947-70E740481C1C}">
                <a14:useLocalDpi xmlns:a14="http://schemas.microsoft.com/office/drawing/2010/main" val="0"/>
              </a:ext>
            </a:extLst>
          </a:blip>
          <a:stretch>
            <a:fillRect/>
          </a:stretch>
        </p:blipFill>
        <p:spPr>
          <a:xfrm>
            <a:off x="6555064" y="2185653"/>
            <a:ext cx="4726546" cy="3817477"/>
          </a:xfrm>
        </p:spPr>
      </p:pic>
      <p:pic>
        <p:nvPicPr>
          <p:cNvPr id="17" name="Espace réservé du contenu 16"/>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85800" y="2185654"/>
            <a:ext cx="5311775" cy="3817477"/>
          </a:xfrm>
        </p:spPr>
      </p:pic>
    </p:spTree>
    <p:extLst>
      <p:ext uri="{BB962C8B-B14F-4D97-AF65-F5344CB8AC3E}">
        <p14:creationId xmlns:p14="http://schemas.microsoft.com/office/powerpoint/2010/main" val="2482012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6838" y="696134"/>
            <a:ext cx="8258032" cy="1293028"/>
          </a:xfrm>
        </p:spPr>
        <p:txBody>
          <a:bodyPr>
            <a:normAutofit/>
          </a:bodyPr>
          <a:lstStyle/>
          <a:p>
            <a:r>
              <a:rPr lang="fr-FR" b="1" dirty="0"/>
              <a:t> III. DEFIS ET PERSPECTIVES D’AVENIR</a:t>
            </a:r>
          </a:p>
        </p:txBody>
      </p:sp>
      <p:sp>
        <p:nvSpPr>
          <p:cNvPr id="3" name="ZoneTexte 2"/>
          <p:cNvSpPr txBox="1"/>
          <p:nvPr/>
        </p:nvSpPr>
        <p:spPr>
          <a:xfrm flipH="1">
            <a:off x="941692" y="2087419"/>
            <a:ext cx="10459641" cy="3539430"/>
          </a:xfrm>
          <a:prstGeom prst="rect">
            <a:avLst/>
          </a:prstGeom>
          <a:noFill/>
        </p:spPr>
        <p:txBody>
          <a:bodyPr wrap="square" rtlCol="0">
            <a:spAutoFit/>
          </a:bodyPr>
          <a:lstStyle/>
          <a:p>
            <a:r>
              <a:rPr lang="fr-FR" sz="3200" b="1" dirty="0"/>
              <a:t>Pour l’avenir, des stratégies de reconversion économique et de développement durables sont essentielles. Il est nécessaire de diversifier l’économie locale, de restaurer l’environnement et de renforcer la responsabilité sociale des entreprises minières afin d’assurer un développement équilibré et durable des villes minières sénégalaise.</a:t>
            </a:r>
          </a:p>
        </p:txBody>
      </p:sp>
    </p:spTree>
    <p:extLst>
      <p:ext uri="{BB962C8B-B14F-4D97-AF65-F5344CB8AC3E}">
        <p14:creationId xmlns:p14="http://schemas.microsoft.com/office/powerpoint/2010/main" val="54097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44201" y="310921"/>
            <a:ext cx="3725839" cy="1620673"/>
          </a:xfrm>
        </p:spPr>
        <p:txBody>
          <a:bodyPr/>
          <a:lstStyle/>
          <a:p>
            <a:r>
              <a:rPr lang="fr-FR" b="1" dirty="0"/>
              <a:t>CONCLUSION</a:t>
            </a:r>
          </a:p>
        </p:txBody>
      </p:sp>
      <p:sp>
        <p:nvSpPr>
          <p:cNvPr id="3" name="Espace réservé du contenu 2"/>
          <p:cNvSpPr>
            <a:spLocks noGrp="1"/>
          </p:cNvSpPr>
          <p:nvPr>
            <p:ph idx="1"/>
          </p:nvPr>
        </p:nvSpPr>
        <p:spPr>
          <a:xfrm>
            <a:off x="509682" y="1767821"/>
            <a:ext cx="11077267" cy="3880773"/>
          </a:xfrm>
        </p:spPr>
        <p:txBody>
          <a:bodyPr>
            <a:noAutofit/>
          </a:bodyPr>
          <a:lstStyle/>
          <a:p>
            <a:pPr marL="0" indent="0">
              <a:buNone/>
            </a:pPr>
            <a:r>
              <a:rPr lang="fr-FR" sz="2800" b="1" dirty="0"/>
              <a:t>Les villes minières au Sénégal comme Makó et Kédougou ,jouent un rôle crucial dans le développement économique du pays, mais elles font face à des défis socio=économiques et environnementaux importants. Pour assurer un avenir prospère et durable, il est essentiel d’adopter des stratégies de gestion responsable des ressources pour favoriser la diversité économique et de mettre en œuvre des politiques de développement durable qui bénéficieront aux générations futures.</a:t>
            </a:r>
          </a:p>
        </p:txBody>
      </p:sp>
    </p:spTree>
    <p:extLst>
      <p:ext uri="{BB962C8B-B14F-4D97-AF65-F5344CB8AC3E}">
        <p14:creationId xmlns:p14="http://schemas.microsoft.com/office/powerpoint/2010/main" val="314943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21A2E0-3A7B-91E0-3FBC-83DC1557F021}"/>
              </a:ext>
            </a:extLst>
          </p:cNvPr>
          <p:cNvSpPr>
            <a:spLocks noGrp="1"/>
          </p:cNvSpPr>
          <p:nvPr>
            <p:ph type="title"/>
          </p:nvPr>
        </p:nvSpPr>
        <p:spPr/>
        <p:txBody>
          <a:bodyPr/>
          <a:lstStyle/>
          <a:p>
            <a:r>
              <a:rPr lang="fr-FR" dirty="0"/>
              <a:t> </a:t>
            </a:r>
          </a:p>
        </p:txBody>
      </p:sp>
      <p:sp>
        <p:nvSpPr>
          <p:cNvPr id="3" name="Espace réservé du contenu 2">
            <a:extLst>
              <a:ext uri="{FF2B5EF4-FFF2-40B4-BE49-F238E27FC236}">
                <a16:creationId xmlns:a16="http://schemas.microsoft.com/office/drawing/2014/main" id="{EF418463-31E9-15DA-4DA6-E15410CA2DCB}"/>
              </a:ext>
            </a:extLst>
          </p:cNvPr>
          <p:cNvSpPr>
            <a:spLocks noGrp="1"/>
          </p:cNvSpPr>
          <p:nvPr>
            <p:ph idx="1"/>
          </p:nvPr>
        </p:nvSpPr>
        <p:spPr>
          <a:xfrm>
            <a:off x="2278117" y="2720873"/>
            <a:ext cx="10820400" cy="2229500"/>
          </a:xfrm>
        </p:spPr>
        <p:txBody>
          <a:bodyPr>
            <a:normAutofit/>
          </a:bodyPr>
          <a:lstStyle/>
          <a:p>
            <a:pPr marL="0" indent="0">
              <a:buNone/>
            </a:pPr>
            <a:r>
              <a:rPr lang="fr-FR" sz="5400" dirty="0"/>
              <a:t>MERCI DE VOTRE ATTENTION </a:t>
            </a:r>
          </a:p>
        </p:txBody>
      </p:sp>
    </p:spTree>
    <p:extLst>
      <p:ext uri="{BB962C8B-B14F-4D97-AF65-F5344CB8AC3E}">
        <p14:creationId xmlns:p14="http://schemas.microsoft.com/office/powerpoint/2010/main" val="4292851163"/>
      </p:ext>
    </p:extLst>
  </p:cSld>
  <p:clrMapOvr>
    <a:masterClrMapping/>
  </p:clrMapOvr>
</p:sld>
</file>

<file path=ppt/theme/theme1.xml><?xml version="1.0" encoding="utf-8"?>
<a:theme xmlns:a="http://schemas.openxmlformats.org/drawingml/2006/main" name="Traînée de condensation">
  <a:themeElements>
    <a:clrScheme name="Traînée de condensation">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Traînée de condensatio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raînée de condensatio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Traînée de condensation</Template>
  <TotalTime>322</TotalTime>
  <Words>271</Words>
  <Application>Microsoft Office PowerPoint</Application>
  <PresentationFormat>Grand écran</PresentationFormat>
  <Paragraphs>24</Paragraphs>
  <Slides>8</Slides>
  <Notes>0</Notes>
  <HiddenSlides>0</HiddenSlides>
  <MMClips>0</MMClips>
  <ScaleCrop>false</ScaleCrop>
  <HeadingPairs>
    <vt:vector size="4" baseType="variant">
      <vt:variant>
        <vt:lpstr>Thème</vt:lpstr>
      </vt:variant>
      <vt:variant>
        <vt:i4>1</vt:i4>
      </vt:variant>
      <vt:variant>
        <vt:lpstr>Titres des diapositives</vt:lpstr>
      </vt:variant>
      <vt:variant>
        <vt:i4>8</vt:i4>
      </vt:variant>
    </vt:vector>
  </HeadingPairs>
  <TitlesOfParts>
    <vt:vector size="9" baseType="lpstr">
      <vt:lpstr>Traînée de condensation</vt:lpstr>
      <vt:lpstr>VILLES MINIÈRES AU SENEGAL</vt:lpstr>
      <vt:lpstr>Présentation PowerPoint</vt:lpstr>
      <vt:lpstr>I. GENESE ET DEVELOPPEMENT     DES VILLES MINIERES </vt:lpstr>
      <vt:lpstr>Ii. IMPACTS SOCIO-ECONOMIQUES ET ENVIRONNEMENTAUX</vt:lpstr>
      <vt:lpstr>Présentation PowerPoint</vt:lpstr>
      <vt:lpstr> III. DEFIS ET PERSPECTIVES D’AVENIR</vt:lpstr>
      <vt:lpstr>CONCLUSION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VILLES MINIERES AU SENEGAL</dc:title>
  <dc:creator>UNCHK</dc:creator>
  <cp:lastModifiedBy>Mor Seck</cp:lastModifiedBy>
  <cp:revision>35</cp:revision>
  <dcterms:created xsi:type="dcterms:W3CDTF">2025-03-10T20:36:48Z</dcterms:created>
  <dcterms:modified xsi:type="dcterms:W3CDTF">2025-03-17T22:26:32Z</dcterms:modified>
</cp:coreProperties>
</file>