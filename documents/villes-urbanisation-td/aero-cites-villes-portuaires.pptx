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4630400" cy="8229600"/>
  <p:notesSz cx="8229600" cy="14630400"/>
  <p:embeddedFontLst>
    <p:embeddedFont>
      <p:font typeface="Raleway Medium" pitchFamily="2" charset="0"/>
      <p:regular r:id="rId1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067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756053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Aéro-cités et Villes Portuaires : </a:t>
            </a:r>
            <a:r>
              <a:rPr lang="en-US" sz="4300" b="1" dirty="0" err="1">
                <a:solidFill>
                  <a:srgbClr val="FFFF00"/>
                </a:solidFill>
                <a:ea typeface="Comfortaa Bold" pitchFamily="34" charset="-122"/>
                <a:cs typeface="Comfortaa Bold" pitchFamily="34" charset="-120"/>
              </a:rPr>
              <a:t>Dynamiques</a:t>
            </a: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 Urbaines Comparées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547902" y="4183737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chemeClr val="bg2"/>
                </a:solidFill>
              </a:rPr>
              <a:t>Par Amadou Lakamy Tounkara  et Seydina Oumar Basse</a:t>
            </a:r>
          </a:p>
        </p:txBody>
      </p:sp>
      <p:sp>
        <p:nvSpPr>
          <p:cNvPr id="5" name="Shape 2"/>
          <p:cNvSpPr/>
          <p:nvPr/>
        </p:nvSpPr>
        <p:spPr>
          <a:xfrm>
            <a:off x="6350437" y="606004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057" y="6067663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6041588"/>
            <a:ext cx="4457581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50087"/>
            <a:ext cx="1180623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Aéro-</a:t>
            </a:r>
            <a:r>
              <a:rPr lang="en-US" sz="4300" b="1" dirty="0" err="1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cités</a:t>
            </a: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 : Définition et example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9529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Définition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542705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Une aéro-cité est un centre urbain. Elle se développe autour d'un aéroport majeur.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554974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Elle intègre des fonctions commerciales, résidentielles et logistiques.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567243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Exemple : Aéroport de Dubaï et sa zone environnante.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29529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23929" y="354270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16309" y="4029861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450544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498681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13502207-FC04-2A98-9163-EBF9A5E01891}"/>
              </a:ext>
            </a:extLst>
          </p:cNvPr>
          <p:cNvSpPr/>
          <p:nvPr/>
        </p:nvSpPr>
        <p:spPr>
          <a:xfrm>
            <a:off x="1585842" y="1403325"/>
            <a:ext cx="8758248" cy="107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60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Caractéristiques</a:t>
            </a:r>
            <a:endParaRPr lang="en-US" sz="60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5675C34-0342-39BA-778B-4FDDA963EA60}"/>
              </a:ext>
            </a:extLst>
          </p:cNvPr>
          <p:cNvSpPr/>
          <p:nvPr/>
        </p:nvSpPr>
        <p:spPr>
          <a:xfrm>
            <a:off x="2010208" y="264287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Proximité de l'aéroport</a:t>
            </a:r>
            <a:endParaRPr lang="en-US" sz="19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6A58BF1C-C915-E6E4-56B3-9B44009A9B1E}"/>
              </a:ext>
            </a:extLst>
          </p:cNvPr>
          <p:cNvSpPr/>
          <p:nvPr/>
        </p:nvSpPr>
        <p:spPr>
          <a:xfrm>
            <a:off x="2010208" y="325869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Mixité des fonctions</a:t>
            </a:r>
            <a:endParaRPr lang="en-US" sz="19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F26F093-E5B9-9B8C-EF48-F9717DE12D07}"/>
              </a:ext>
            </a:extLst>
          </p:cNvPr>
          <p:cNvSpPr/>
          <p:nvPr/>
        </p:nvSpPr>
        <p:spPr>
          <a:xfrm>
            <a:off x="1882886" y="6447308"/>
            <a:ext cx="6150054" cy="48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00" dirty="0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80A54D9E-C7C6-9CE6-57E7-E6BE28D649BA}"/>
              </a:ext>
            </a:extLst>
          </p:cNvPr>
          <p:cNvSpPr/>
          <p:nvPr/>
        </p:nvSpPr>
        <p:spPr>
          <a:xfrm>
            <a:off x="1882886" y="624978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endParaRPr lang="en-US" sz="19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B67BF1AC-3D14-63EA-401C-E63100F3DBDD}"/>
              </a:ext>
            </a:extLst>
          </p:cNvPr>
          <p:cNvSpPr/>
          <p:nvPr/>
        </p:nvSpPr>
        <p:spPr>
          <a:xfrm>
            <a:off x="2010208" y="384213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Développement durable</a:t>
            </a:r>
            <a:endParaRPr lang="en-US" sz="19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0E836E0-F800-1C6F-74C6-304E9BEF4529}"/>
              </a:ext>
            </a:extLst>
          </p:cNvPr>
          <p:cNvSpPr/>
          <p:nvPr/>
        </p:nvSpPr>
        <p:spPr>
          <a:xfrm>
            <a:off x="852740" y="7058030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  <a:buSzPct val="100000"/>
            </a:pPr>
            <a:r>
              <a:rPr lang="en-US" sz="1900" dirty="0">
                <a:solidFill>
                  <a:srgbClr val="D7D4CC"/>
                </a:solidFill>
              </a:rPr>
              <a:t>  </a:t>
            </a:r>
            <a:endParaRPr lang="en-US" sz="19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23D6144-386D-7EC1-9FD1-0D92FEA95171}"/>
              </a:ext>
            </a:extLst>
          </p:cNvPr>
          <p:cNvSpPr/>
          <p:nvPr/>
        </p:nvSpPr>
        <p:spPr>
          <a:xfrm>
            <a:off x="2010208" y="446252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 err="1">
                <a:solidFill>
                  <a:srgbClr val="D7D4CC"/>
                </a:solidFill>
              </a:rPr>
              <a:t>Mobilité</a:t>
            </a:r>
            <a:r>
              <a:rPr lang="en-US" sz="1900" dirty="0">
                <a:solidFill>
                  <a:srgbClr val="D7D4CC"/>
                </a:solidFill>
              </a:rPr>
              <a:t> et </a:t>
            </a:r>
            <a:r>
              <a:rPr lang="en-US" sz="1900" dirty="0" err="1">
                <a:solidFill>
                  <a:srgbClr val="D7D4CC"/>
                </a:solidFill>
              </a:rPr>
              <a:t>connectivité</a:t>
            </a:r>
            <a:r>
              <a:rPr lang="en-US" sz="1900" dirty="0">
                <a:solidFill>
                  <a:srgbClr val="D7D4CC"/>
                </a:solidFill>
              </a:rPr>
              <a:t> 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70095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215985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Aéro-cités : Avantages et Inconvénients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23552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46464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546" y="3307437"/>
            <a:ext cx="329089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52680" y="323552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Avantages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7152680" y="372653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Stimulation économique et création d'emplois.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152680" y="4269700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Attractivité pour les entreprises internationales.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6350437" y="5189220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46464A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546" y="5261134"/>
            <a:ext cx="329089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52680" y="51892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Inconvénients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152680" y="5680234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Impact environnemental élevé (pollution sonore et atmosphérique).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152680" y="6618446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Dépendance excessive à l'activité aéroportuaire.</a:t>
            </a:r>
            <a:endParaRPr lang="en-US" sz="19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D4D8E43-E7F8-8B18-0C3A-F116C78C7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86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77617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Villes Portuaires : Définition et Exemples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3518059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437" y="43820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Définition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350437" y="4873109"/>
            <a:ext cx="3522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Une ville portuaire est une agglomération urbaine. Elle se développe autour d'un port maritime important.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542" y="3518059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43542" y="43820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Exemples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43542" y="4873109"/>
            <a:ext cx="3522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Rotterdam, Singapour, Shanghai sont d'excellents exemples.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007882"/>
            <a:ext cx="1126033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Villes Portuaires : Caractéristiques Clés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5804535"/>
            <a:ext cx="4053840" cy="246817"/>
          </a:xfrm>
          <a:prstGeom prst="roundRect">
            <a:avLst>
              <a:gd name="adj" fmla="val 150043"/>
            </a:avLst>
          </a:prstGeom>
          <a:solidFill>
            <a:srgbClr val="46464A"/>
          </a:solidFill>
          <a:ln/>
        </p:spPr>
      </p:sp>
      <p:sp>
        <p:nvSpPr>
          <p:cNvPr id="5" name="Text 2"/>
          <p:cNvSpPr/>
          <p:nvPr/>
        </p:nvSpPr>
        <p:spPr>
          <a:xfrm>
            <a:off x="864037" y="642163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Infrastructures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6912650"/>
            <a:ext cx="405384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Ports diversifiés.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88161" y="5434251"/>
            <a:ext cx="4053959" cy="246817"/>
          </a:xfrm>
          <a:prstGeom prst="roundRect">
            <a:avLst>
              <a:gd name="adj" fmla="val 150043"/>
            </a:avLst>
          </a:prstGeom>
          <a:solidFill>
            <a:srgbClr val="46464A"/>
          </a:solidFill>
          <a:ln/>
        </p:spPr>
      </p:sp>
      <p:sp>
        <p:nvSpPr>
          <p:cNvPr id="8" name="Text 5"/>
          <p:cNvSpPr/>
          <p:nvPr/>
        </p:nvSpPr>
        <p:spPr>
          <a:xfrm>
            <a:off x="5288161" y="605135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Accessibilité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288161" y="6542365"/>
            <a:ext cx="40539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Facilité d'accès terrestre.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712404" y="5063966"/>
            <a:ext cx="4053959" cy="246817"/>
          </a:xfrm>
          <a:prstGeom prst="roundRect">
            <a:avLst>
              <a:gd name="adj" fmla="val 150043"/>
            </a:avLst>
          </a:prstGeom>
          <a:solidFill>
            <a:srgbClr val="46464A"/>
          </a:solidFill>
          <a:ln/>
        </p:spPr>
      </p:sp>
      <p:sp>
        <p:nvSpPr>
          <p:cNvPr id="11" name="Text 8"/>
          <p:cNvSpPr/>
          <p:nvPr/>
        </p:nvSpPr>
        <p:spPr>
          <a:xfrm>
            <a:off x="9712404" y="568106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Économie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712404" y="6172081"/>
            <a:ext cx="40539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Activités économiques variées.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67063"/>
            <a:ext cx="1040665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ea typeface="Comfortaa Bold" pitchFamily="34" charset="-122"/>
                <a:cs typeface="Comfortaa Bold" pitchFamily="34" charset="-120"/>
              </a:rPr>
              <a:t>Villes Portuaires : Avantages et Défis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820347" y="359485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Avantages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085868"/>
            <a:ext cx="369951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Plateformes cruciales pour le commerce international.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024080"/>
            <a:ext cx="369951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Création d'emplois dans divers secteurs (transport, logistique).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723" y="4487466"/>
            <a:ext cx="347186" cy="433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66853" y="339732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ea typeface="Comfortaa Bold" pitchFamily="34" charset="-122"/>
                <a:cs typeface="Comfortaa Bold" pitchFamily="34" charset="-120"/>
              </a:rPr>
              <a:t>Défis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10066853" y="3888343"/>
            <a:ext cx="369951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Gestion des flux de marchandises et des déchets.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066853" y="4826556"/>
            <a:ext cx="369951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Impact environnemental (pollution marine et atmosphérique).</a:t>
            </a:r>
            <a:endParaRPr lang="en-US" sz="1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371" y="4487466"/>
            <a:ext cx="347186" cy="433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2043</TotalTime>
  <Words>205</Words>
  <Application>Microsoft Office PowerPoint</Application>
  <PresentationFormat>Personnalisé</PresentationFormat>
  <Paragraphs>45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Comfortaa Bold</vt:lpstr>
      <vt:lpstr>Raleway Medium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Amadou Lakamy Tounkara</cp:lastModifiedBy>
  <cp:revision>5</cp:revision>
  <dcterms:created xsi:type="dcterms:W3CDTF">2025-03-26T09:56:37Z</dcterms:created>
  <dcterms:modified xsi:type="dcterms:W3CDTF">2025-04-06T17:31:15Z</dcterms:modified>
</cp:coreProperties>
</file>