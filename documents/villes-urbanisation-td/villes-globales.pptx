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63" r:id="rId7"/>
    <p:sldId id="259" r:id="rId8"/>
    <p:sldId id="264" r:id="rId9"/>
    <p:sldId id="260" r:id="rId10"/>
    <p:sldId id="261" r:id="rId11"/>
    <p:sldId id="262" r:id="rId12"/>
  </p:sldIdLst>
  <p:sldSz cx="14630400" cy="8229600"/>
  <p:notesSz cx="8229600" cy="14630400"/>
  <p:embeddedFontLst>
    <p:embeddedFont>
      <p:font typeface="Instrument Sans Semi Bold" pitchFamily="34" charset="0"/>
      <p:regular r:id="rId16"/>
    </p:embeddedFont>
    <p:embeddedFont>
      <p:font typeface="Instrument Sans Semi Bold" pitchFamily="34" charset="-122"/>
      <p:regular r:id="rId17"/>
    </p:embeddedFont>
    <p:embeddedFont>
      <p:font typeface="Instrument Sans Semi Bold" pitchFamily="34" charset="-120"/>
      <p:regular r:id="rId18"/>
    </p:embeddedFont>
    <p:embeddedFont>
      <p:font typeface="Instrument Sans Medium" pitchFamily="34" charset="0"/>
      <p:regular r:id="rId19"/>
    </p:embeddedFont>
    <p:embeddedFont>
      <p:font typeface="Instrument Sans Medium" pitchFamily="34" charset="-122"/>
      <p:regular r:id="rId20"/>
    </p:embeddedFont>
    <p:embeddedFont>
      <p:font typeface="Instrument Sans Medium" pitchFamily="34" charset="-120"/>
      <p:regular r:id="rId21"/>
    </p:embeddedFont>
    <p:embeddedFont>
      <p:font typeface="Calibri" panose="020F0502020204030204" charset="0"/>
      <p:regular r:id="rId22"/>
      <p:bold r:id="rId23"/>
      <p:italic r:id="rId24"/>
      <p:boldItalic r:id="rId2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054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font" Target="fonts/font10.fntdata"/><Relationship Id="rId24" Type="http://schemas.openxmlformats.org/officeDocument/2006/relationships/font" Target="fonts/font9.fntdata"/><Relationship Id="rId23" Type="http://schemas.openxmlformats.org/officeDocument/2006/relationships/font" Target="fonts/font8.fntdata"/><Relationship Id="rId22" Type="http://schemas.openxmlformats.org/officeDocument/2006/relationships/font" Target="fonts/font7.fntdata"/><Relationship Id="rId21" Type="http://schemas.openxmlformats.org/officeDocument/2006/relationships/font" Target="fonts/font6.fntdata"/><Relationship Id="rId20" Type="http://schemas.openxmlformats.org/officeDocument/2006/relationships/font" Target="fonts/font5.fntdata"/><Relationship Id="rId2" Type="http://schemas.openxmlformats.org/officeDocument/2006/relationships/theme" Target="theme/theme1.xml"/><Relationship Id="rId19" Type="http://schemas.openxmlformats.org/officeDocument/2006/relationships/font" Target="fonts/font4.fntdata"/><Relationship Id="rId18" Type="http://schemas.openxmlformats.org/officeDocument/2006/relationships/font" Target="fonts/font3.fntdata"/><Relationship Id="rId17" Type="http://schemas.openxmlformats.org/officeDocument/2006/relationships/font" Target="fonts/font2.fntdata"/><Relationship Id="rId16" Type="http://schemas.openxmlformats.org/officeDocument/2006/relationships/font" Target="fonts/font1.fntdata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1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68833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23046" y="2750225"/>
            <a:ext cx="5670590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72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Les Villes Globales </a:t>
            </a:r>
            <a:endParaRPr lang="en-US" sz="7200" dirty="0">
              <a:solidFill>
                <a:srgbClr val="505468"/>
              </a:solidFill>
              <a:latin typeface="Instrument Sans Semi Bold" pitchFamily="34" charset="0"/>
              <a:ea typeface="Instrument Sans Semi Bold" pitchFamily="34" charset="-122"/>
              <a:cs typeface="Instrument Sans Semi Bold" pitchFamily="34" charset="-12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6280150" y="3872230"/>
            <a:ext cx="7556500" cy="76200"/>
          </a:xfrm>
          <a:prstGeom prst="rect">
            <a:avLst/>
          </a:prstGeom>
          <a:solidFill>
            <a:srgbClr val="505468"/>
          </a:solidFill>
        </p:spPr>
      </p:sp>
      <p:sp>
        <p:nvSpPr>
          <p:cNvPr id="5" name="Text 2"/>
          <p:cNvSpPr/>
          <p:nvPr/>
        </p:nvSpPr>
        <p:spPr>
          <a:xfrm>
            <a:off x="8357235" y="4288631"/>
            <a:ext cx="3402330" cy="4252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00"/>
              </a:lnSpc>
              <a:buNone/>
            </a:pPr>
            <a:r>
              <a:rPr lang="en-US" sz="3200" b="1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Abdoulahi Top</a:t>
            </a:r>
            <a:endParaRPr lang="en-US" sz="3200" b="1" dirty="0">
              <a:solidFill>
                <a:srgbClr val="505468"/>
              </a:solidFill>
              <a:latin typeface="Instrument Sans Semi Bold" pitchFamily="34" charset="0"/>
              <a:ea typeface="Instrument Sans Semi Bold" pitchFamily="34" charset="-122"/>
              <a:cs typeface="Instrument Sans Semi Bold" pitchFamily="34" charset="-120"/>
            </a:endParaRPr>
          </a:p>
        </p:txBody>
      </p:sp>
      <p:sp>
        <p:nvSpPr>
          <p:cNvPr id="6" name="Text 3"/>
          <p:cNvSpPr/>
          <p:nvPr/>
        </p:nvSpPr>
        <p:spPr>
          <a:xfrm>
            <a:off x="8150423" y="4830564"/>
            <a:ext cx="3892153" cy="4252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00"/>
              </a:lnSpc>
              <a:buNone/>
            </a:pPr>
            <a:r>
              <a:rPr lang="en-US" sz="3200" b="1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Henry Moustapha Ngom</a:t>
            </a:r>
            <a:endParaRPr lang="en-US" sz="3200" b="1" dirty="0">
              <a:solidFill>
                <a:srgbClr val="505468"/>
              </a:solidFill>
              <a:latin typeface="Instrument Sans Semi Bold" pitchFamily="34" charset="0"/>
              <a:ea typeface="Instrument Sans Semi Bold" pitchFamily="34" charset="-122"/>
              <a:cs typeface="Instrument Sans Semi Bold" pitchFamily="34" charset="-12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2661265" y="7610475"/>
            <a:ext cx="1968500" cy="619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fr-CA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3000">
        <p15:prstTrans prst="airplane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50" y="2562860"/>
            <a:ext cx="2045970" cy="7086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96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Plan</a:t>
            </a:r>
            <a:endParaRPr lang="en-US" sz="9600" dirty="0">
              <a:solidFill>
                <a:srgbClr val="505468"/>
              </a:solidFill>
              <a:latin typeface="Instrument Sans Semi Bold" pitchFamily="34" charset="0"/>
              <a:ea typeface="Instrument Sans Semi Bold" pitchFamily="34" charset="-122"/>
              <a:cs typeface="Instrument Sans Semi Bold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3856553"/>
            <a:ext cx="3968353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b="1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I. Définition et Caractérisation</a:t>
            </a:r>
            <a:endParaRPr lang="en-US" sz="2800" b="1" dirty="0">
              <a:solidFill>
                <a:srgbClr val="505468"/>
              </a:solidFill>
              <a:latin typeface="Instrument Sans Semi Bold" pitchFamily="34" charset="0"/>
              <a:ea typeface="Instrument Sans Semi Bold" pitchFamily="34" charset="-122"/>
              <a:cs typeface="Instrument Sans Semi Bold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4551045"/>
            <a:ext cx="7780496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b="1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II. Morphologie et Organisation Spatiale des Villes Globales</a:t>
            </a:r>
            <a:endParaRPr lang="en-US" sz="2800" b="1" dirty="0">
              <a:solidFill>
                <a:srgbClr val="505468"/>
              </a:solidFill>
              <a:latin typeface="Instrument Sans Semi Bold" pitchFamily="34" charset="0"/>
              <a:ea typeface="Instrument Sans Semi Bold" pitchFamily="34" charset="-122"/>
              <a:cs typeface="Instrument Sans Semi Bold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5245537"/>
            <a:ext cx="5395079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b="1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III. Les Enjeux Urbains des Villes Globales</a:t>
            </a:r>
            <a:endParaRPr lang="en-US" sz="2800" b="1" dirty="0">
              <a:solidFill>
                <a:srgbClr val="505468"/>
              </a:solidFill>
              <a:latin typeface="Instrument Sans Semi Bold" pitchFamily="34" charset="0"/>
              <a:ea typeface="Instrument Sans Semi Bold" pitchFamily="34" charset="-122"/>
              <a:cs typeface="Instrument Sans Semi Bold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3790" y="5940028"/>
            <a:ext cx="594800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b="1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IV. Perspectives et Innovations Urbanistiques</a:t>
            </a:r>
            <a:endParaRPr lang="en-US" sz="2800" b="1" dirty="0">
              <a:solidFill>
                <a:srgbClr val="505468"/>
              </a:solidFill>
              <a:latin typeface="Instrument Sans Semi Bold" pitchFamily="34" charset="0"/>
              <a:ea typeface="Instrument Sans Semi Bold" pitchFamily="34" charset="-122"/>
              <a:cs typeface="Instrument Sans Semi Bold" pitchFamily="34" charset="-12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2661265" y="7610475"/>
            <a:ext cx="1968500" cy="619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fr-CA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49975" y="5953760"/>
            <a:ext cx="3677841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Concentration Économique</a:t>
            </a:r>
            <a:endParaRPr lang="en-US" sz="2200" b="1" dirty="0"/>
          </a:p>
        </p:txBody>
      </p:sp>
      <p:sp>
        <p:nvSpPr>
          <p:cNvPr id="4" name="Text 2"/>
          <p:cNvSpPr/>
          <p:nvPr/>
        </p:nvSpPr>
        <p:spPr>
          <a:xfrm>
            <a:off x="830620" y="6521569"/>
            <a:ext cx="3978116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Centres névralgiques de l'économie mondiale. Elles concentrent les pouvoirs financiers et décisionnels.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289113" y="5953760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Influence Culturelle</a:t>
            </a:r>
            <a:endParaRPr lang="en-US" sz="2200" b="1" dirty="0"/>
          </a:p>
        </p:txBody>
      </p:sp>
      <p:sp>
        <p:nvSpPr>
          <p:cNvPr id="6" name="Text 4"/>
          <p:cNvSpPr/>
          <p:nvPr/>
        </p:nvSpPr>
        <p:spPr>
          <a:xfrm>
            <a:off x="5369758" y="6521569"/>
            <a:ext cx="3978116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Rayonnement culturel international. Elles façonnent les tendances et les modes de vie.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828252" y="5953760"/>
            <a:ext cx="3017401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Connectivité Mondiale</a:t>
            </a:r>
            <a:endParaRPr lang="en-US" sz="2200" b="1" dirty="0"/>
          </a:p>
        </p:txBody>
      </p:sp>
      <p:sp>
        <p:nvSpPr>
          <p:cNvPr id="8" name="Text 6"/>
          <p:cNvSpPr/>
          <p:nvPr/>
        </p:nvSpPr>
        <p:spPr>
          <a:xfrm>
            <a:off x="9908897" y="6521569"/>
            <a:ext cx="3978116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Plateformes d'échanges et de flux mondiaux. Elles sont des nœuds essentiels des réseaux.</a:t>
            </a:r>
            <a:endParaRPr lang="en-US" sz="1750" dirty="0"/>
          </a:p>
        </p:txBody>
      </p:sp>
      <p:sp>
        <p:nvSpPr>
          <p:cNvPr id="18" name="Rectangle 17"/>
          <p:cNvSpPr/>
          <p:nvPr/>
        </p:nvSpPr>
        <p:spPr>
          <a:xfrm>
            <a:off x="12661265" y="7610475"/>
            <a:ext cx="1968500" cy="619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fr-CA" altLang="en-US"/>
          </a:p>
        </p:txBody>
      </p:sp>
      <p:pic>
        <p:nvPicPr>
          <p:cNvPr id="9" name="Image 8" descr="Maestrias-en-Espana-con-Becas-en-linea"/>
          <p:cNvPicPr>
            <a:picLocks noChangeAspect="1"/>
          </p:cNvPicPr>
          <p:nvPr/>
        </p:nvPicPr>
        <p:blipFill>
          <a:blip r:embed="rId1"/>
          <a:srcRect l="-879" t="22212" r="879" b="21966"/>
          <a:stretch>
            <a:fillRect/>
          </a:stretch>
        </p:blipFill>
        <p:spPr>
          <a:xfrm>
            <a:off x="-129540" y="0"/>
            <a:ext cx="14759305" cy="4114165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2190790" y="4526240"/>
            <a:ext cx="7530584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60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Définition et Caractérisation</a:t>
            </a:r>
            <a:endParaRPr lang="en-US" sz="6000" dirty="0">
              <a:solidFill>
                <a:srgbClr val="505468"/>
              </a:solidFill>
              <a:latin typeface="Instrument Sans Semi Bold" pitchFamily="34" charset="0"/>
              <a:ea typeface="Instrument Sans Semi Bold" pitchFamily="34" charset="-122"/>
              <a:cs typeface="Instrument Sans Semi Bold" pitchFamily="34" charset="-12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Image 1" descr="R (4)"/>
          <p:cNvPicPr>
            <a:picLocks noChangeAspect="1"/>
          </p:cNvPicPr>
          <p:nvPr/>
        </p:nvPicPr>
        <p:blipFill>
          <a:blip r:embed="rId1"/>
          <a:srcRect b="32708"/>
          <a:stretch>
            <a:fillRect/>
          </a:stretch>
        </p:blipFill>
        <p:spPr>
          <a:xfrm>
            <a:off x="1710690" y="2540"/>
            <a:ext cx="11209655" cy="822706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12661265" y="7610475"/>
            <a:ext cx="1968500" cy="619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fr-CA" altLang="en-US"/>
          </a:p>
        </p:txBody>
      </p:sp>
      <p:sp>
        <p:nvSpPr>
          <p:cNvPr id="3" name="Rectangle 2"/>
          <p:cNvSpPr/>
          <p:nvPr/>
        </p:nvSpPr>
        <p:spPr>
          <a:xfrm>
            <a:off x="12320905" y="4818380"/>
            <a:ext cx="1078230" cy="34112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fr-CA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sh dir="u"/>
      </p:transition>
    </mc:Choice>
    <mc:Fallback>
      <p:transition spd="slow">
        <p:push dir="u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 b="9371"/>
          <a:stretch>
            <a:fillRect/>
          </a:stretch>
        </p:blipFill>
        <p:spPr>
          <a:xfrm>
            <a:off x="0" y="0"/>
            <a:ext cx="6278245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22760" y="562769"/>
            <a:ext cx="7556421" cy="141755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Morphologie et Organisation Spatiale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752630" y="2451179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837700" y="2536230"/>
            <a:ext cx="340162" cy="4252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7489746" y="2451179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Expansion Urbaine</a:t>
            </a:r>
            <a:endParaRPr lang="en-US" sz="2200" b="1" dirty="0"/>
          </a:p>
        </p:txBody>
      </p:sp>
      <p:sp>
        <p:nvSpPr>
          <p:cNvPr id="7" name="Text 4"/>
          <p:cNvSpPr/>
          <p:nvPr/>
        </p:nvSpPr>
        <p:spPr>
          <a:xfrm>
            <a:off x="7489825" y="2941320"/>
            <a:ext cx="3835400" cy="10890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Étalement continu et </a:t>
            </a:r>
            <a:endParaRPr lang="en-US" sz="1750" dirty="0">
              <a:solidFill>
                <a:srgbClr val="5B5F71"/>
              </a:solidFill>
              <a:latin typeface="Instrument Sans Medium" pitchFamily="34" charset="0"/>
              <a:ea typeface="Instrument Sans Medium" pitchFamily="34" charset="-122"/>
              <a:cs typeface="Instrument Sans Medium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transformation des périphéries.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6763187" y="4351099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48475" y="4452620"/>
            <a:ext cx="340360" cy="3073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7500303" y="4351099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  <a:sym typeface="+mn-ea"/>
              </a:rPr>
              <a:t>Centralité Renforcée</a:t>
            </a:r>
            <a:endParaRPr lang="en-US" sz="2200" b="1" dirty="0"/>
          </a:p>
        </p:txBody>
      </p:sp>
      <p:sp>
        <p:nvSpPr>
          <p:cNvPr id="11" name="Text 8"/>
          <p:cNvSpPr/>
          <p:nvPr/>
        </p:nvSpPr>
        <p:spPr>
          <a:xfrm>
            <a:off x="7500620" y="4841240"/>
            <a:ext cx="3808095" cy="11455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  <a:sym typeface="+mn-ea"/>
              </a:rPr>
              <a:t>Concentration des activités économiques dans les centres.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6795175" y="5994360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80245" y="6079411"/>
            <a:ext cx="340162" cy="4252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7532291" y="6150570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  <a:sym typeface="+mn-ea"/>
              </a:rPr>
              <a:t>Espaces Publics</a:t>
            </a:r>
            <a:endParaRPr lang="en-US" sz="2200" b="1" dirty="0"/>
          </a:p>
          <a:p>
            <a:pPr marL="0" indent="0" algn="l">
              <a:lnSpc>
                <a:spcPts val="2750"/>
              </a:lnSpc>
              <a:buNone/>
            </a:pPr>
            <a:endParaRPr lang="en-US" sz="2200" b="1" dirty="0"/>
          </a:p>
        </p:txBody>
      </p:sp>
      <p:sp>
        <p:nvSpPr>
          <p:cNvPr id="15" name="Text 12"/>
          <p:cNvSpPr/>
          <p:nvPr/>
        </p:nvSpPr>
        <p:spPr>
          <a:xfrm>
            <a:off x="7532370" y="6640830"/>
            <a:ext cx="5328285" cy="9080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  <a:sym typeface="+mn-ea"/>
              </a:rPr>
              <a:t>Importance des lieux </a:t>
            </a:r>
            <a:endParaRPr lang="en-US" sz="1750" dirty="0">
              <a:solidFill>
                <a:srgbClr val="5B5F71"/>
              </a:solidFill>
              <a:latin typeface="Instrument Sans Medium" pitchFamily="34" charset="0"/>
              <a:ea typeface="Instrument Sans Medium" pitchFamily="34" charset="-122"/>
              <a:cs typeface="Instrument Sans Medium" pitchFamily="34" charset="-120"/>
              <a:sym typeface="+mn-ea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  <a:sym typeface="+mn-ea"/>
              </a:rPr>
              <a:t>de sociabilité et de rencontre.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18" name="Rectangle 17"/>
          <p:cNvSpPr/>
          <p:nvPr/>
        </p:nvSpPr>
        <p:spPr>
          <a:xfrm>
            <a:off x="12661265" y="7610475"/>
            <a:ext cx="1968500" cy="619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fr-CA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Image 2" descr="cd6a6579d507493c77d73f0e0457fbd9"/>
          <p:cNvPicPr>
            <a:picLocks noChangeAspect="1"/>
          </p:cNvPicPr>
          <p:nvPr/>
        </p:nvPicPr>
        <p:blipFill>
          <a:blip r:embed="rId1"/>
          <a:srcRect t="4510" b="2713"/>
          <a:stretch>
            <a:fillRect/>
          </a:stretch>
        </p:blipFill>
        <p:spPr>
          <a:xfrm>
            <a:off x="1837055" y="0"/>
            <a:ext cx="11808460" cy="822960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12661265" y="7610475"/>
            <a:ext cx="1968500" cy="619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fr-CA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0456" y="988100"/>
            <a:ext cx="5670590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60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Les Enjeux Urbains</a:t>
            </a:r>
            <a:endParaRPr lang="en-US" sz="6000" dirty="0">
              <a:solidFill>
                <a:srgbClr val="505468"/>
              </a:solidFill>
              <a:latin typeface="Instrument Sans Semi Bold" pitchFamily="34" charset="0"/>
              <a:ea typeface="Instrument Sans Semi Bold" pitchFamily="34" charset="-122"/>
              <a:cs typeface="Instrument Sans Semi Bold" pitchFamily="34" charset="-120"/>
            </a:endParaRPr>
          </a:p>
        </p:txBody>
      </p:sp>
      <p:sp>
        <p:nvSpPr>
          <p:cNvPr id="3" name="Shape 1"/>
          <p:cNvSpPr/>
          <p:nvPr/>
        </p:nvSpPr>
        <p:spPr>
          <a:xfrm flipV="1">
            <a:off x="2326005" y="2266315"/>
            <a:ext cx="9176385" cy="80645"/>
          </a:xfrm>
          <a:prstGeom prst="rect">
            <a:avLst/>
          </a:prstGeom>
          <a:solidFill>
            <a:srgbClr val="505468"/>
          </a:solidFill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320" y="3178810"/>
            <a:ext cx="4109085" cy="251587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5360" y="5979517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Logement</a:t>
            </a:r>
            <a:endParaRPr lang="en-US" sz="2200" b="1" dirty="0"/>
          </a:p>
        </p:txBody>
      </p:sp>
      <p:sp>
        <p:nvSpPr>
          <p:cNvPr id="7" name="Text 4"/>
          <p:cNvSpPr/>
          <p:nvPr/>
        </p:nvSpPr>
        <p:spPr>
          <a:xfrm>
            <a:off x="655360" y="6530816"/>
            <a:ext cx="3978116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Crise du logement et inégalités d'accès à l'habitat.</a:t>
            </a:r>
            <a:endParaRPr lang="en-US" sz="17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2928" y="3178612"/>
            <a:ext cx="3978116" cy="254627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332928" y="5980033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Mobilité</a:t>
            </a:r>
            <a:endParaRPr lang="en-US" sz="2200" b="1" dirty="0"/>
          </a:p>
        </p:txBody>
      </p:sp>
      <p:sp>
        <p:nvSpPr>
          <p:cNvPr id="10" name="Text 6"/>
          <p:cNvSpPr/>
          <p:nvPr/>
        </p:nvSpPr>
        <p:spPr>
          <a:xfrm>
            <a:off x="5332928" y="6561177"/>
            <a:ext cx="3978116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Défis de la mobilité et congestion des transports.</a:t>
            </a:r>
            <a:endParaRPr lang="en-US" sz="17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2067" y="3178612"/>
            <a:ext cx="3978116" cy="251602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872067" y="5949791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Environnement</a:t>
            </a:r>
            <a:endParaRPr lang="en-US" sz="2200" b="1" dirty="0"/>
          </a:p>
        </p:txBody>
      </p:sp>
      <p:sp>
        <p:nvSpPr>
          <p:cNvPr id="13" name="Text 8"/>
          <p:cNvSpPr/>
          <p:nvPr/>
        </p:nvSpPr>
        <p:spPr>
          <a:xfrm>
            <a:off x="9872067" y="6530935"/>
            <a:ext cx="3978116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Impératifs de durabilité et enjeux environnementaux.</a:t>
            </a:r>
            <a:endParaRPr lang="en-US" sz="1750" dirty="0"/>
          </a:p>
        </p:txBody>
      </p:sp>
      <p:sp>
        <p:nvSpPr>
          <p:cNvPr id="18" name="Rectangle 17"/>
          <p:cNvSpPr/>
          <p:nvPr/>
        </p:nvSpPr>
        <p:spPr>
          <a:xfrm>
            <a:off x="12661265" y="7616190"/>
            <a:ext cx="1968500" cy="619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fr-CA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048703"/>
            <a:ext cx="7556421" cy="141755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Perspectives et Innovations Urbanistiques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1048941" y="2806422"/>
            <a:ext cx="30480" cy="4374475"/>
          </a:xfrm>
          <a:prstGeom prst="roundRect">
            <a:avLst>
              <a:gd name="adj" fmla="val 312558"/>
            </a:avLst>
          </a:prstGeom>
          <a:solidFill>
            <a:srgbClr val="C8C9CF"/>
          </a:solidFill>
        </p:spPr>
      </p:sp>
      <p:sp>
        <p:nvSpPr>
          <p:cNvPr id="5" name="Shape 2"/>
          <p:cNvSpPr/>
          <p:nvPr/>
        </p:nvSpPr>
        <p:spPr>
          <a:xfrm>
            <a:off x="1273612" y="3301484"/>
            <a:ext cx="680442" cy="30480"/>
          </a:xfrm>
          <a:prstGeom prst="roundRect">
            <a:avLst>
              <a:gd name="adj" fmla="val 312558"/>
            </a:avLst>
          </a:prstGeom>
          <a:solidFill>
            <a:srgbClr val="C8C9CF"/>
          </a:solidFill>
        </p:spPr>
      </p:sp>
      <p:sp>
        <p:nvSpPr>
          <p:cNvPr id="6" name="Shape 3"/>
          <p:cNvSpPr/>
          <p:nvPr/>
        </p:nvSpPr>
        <p:spPr>
          <a:xfrm>
            <a:off x="793790" y="306157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78860" y="3104078"/>
            <a:ext cx="340162" cy="4252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</a:t>
            </a:r>
            <a:endParaRPr lang="en-US" sz="2650" dirty="0"/>
          </a:p>
        </p:txBody>
      </p:sp>
      <p:sp>
        <p:nvSpPr>
          <p:cNvPr id="8" name="Text 5"/>
          <p:cNvSpPr/>
          <p:nvPr/>
        </p:nvSpPr>
        <p:spPr>
          <a:xfrm>
            <a:off x="2183011" y="3033236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Villes Intelligentes</a:t>
            </a:r>
            <a:endParaRPr lang="en-US" sz="2200" b="1" dirty="0"/>
          </a:p>
        </p:txBody>
      </p:sp>
      <p:sp>
        <p:nvSpPr>
          <p:cNvPr id="9" name="Text 6"/>
          <p:cNvSpPr/>
          <p:nvPr/>
        </p:nvSpPr>
        <p:spPr>
          <a:xfrm>
            <a:off x="2183011" y="3523655"/>
            <a:ext cx="616719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Usage des technologies pour une gestion optimisée.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1273612" y="4835247"/>
            <a:ext cx="680442" cy="30480"/>
          </a:xfrm>
          <a:prstGeom prst="roundRect">
            <a:avLst>
              <a:gd name="adj" fmla="val 312558"/>
            </a:avLst>
          </a:prstGeom>
          <a:solidFill>
            <a:srgbClr val="C8C9CF"/>
          </a:solidFill>
        </p:spPr>
      </p:sp>
      <p:sp>
        <p:nvSpPr>
          <p:cNvPr id="11" name="Shape 8"/>
          <p:cNvSpPr/>
          <p:nvPr/>
        </p:nvSpPr>
        <p:spPr>
          <a:xfrm>
            <a:off x="793790" y="4595336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78860" y="4637842"/>
            <a:ext cx="340162" cy="4252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</a:t>
            </a:r>
            <a:endParaRPr lang="en-US" sz="2650" dirty="0"/>
          </a:p>
        </p:txBody>
      </p:sp>
      <p:sp>
        <p:nvSpPr>
          <p:cNvPr id="13" name="Text 10"/>
          <p:cNvSpPr/>
          <p:nvPr/>
        </p:nvSpPr>
        <p:spPr>
          <a:xfrm>
            <a:off x="2183011" y="4566999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Résilience Urbaine</a:t>
            </a:r>
            <a:endParaRPr lang="en-US" sz="2200" b="1" dirty="0"/>
          </a:p>
        </p:txBody>
      </p:sp>
      <p:sp>
        <p:nvSpPr>
          <p:cNvPr id="14" name="Text 11"/>
          <p:cNvSpPr/>
          <p:nvPr/>
        </p:nvSpPr>
        <p:spPr>
          <a:xfrm>
            <a:off x="2183011" y="5057418"/>
            <a:ext cx="616719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Adaptation aux risques et aux changements climatiques.</a:t>
            </a:r>
            <a:endParaRPr lang="en-US" sz="1750" dirty="0"/>
          </a:p>
        </p:txBody>
      </p:sp>
      <p:sp>
        <p:nvSpPr>
          <p:cNvPr id="15" name="Shape 12"/>
          <p:cNvSpPr/>
          <p:nvPr/>
        </p:nvSpPr>
        <p:spPr>
          <a:xfrm>
            <a:off x="1273612" y="6369010"/>
            <a:ext cx="680442" cy="30480"/>
          </a:xfrm>
          <a:prstGeom prst="roundRect">
            <a:avLst>
              <a:gd name="adj" fmla="val 312558"/>
            </a:avLst>
          </a:prstGeom>
          <a:solidFill>
            <a:srgbClr val="C8C9CF"/>
          </a:solidFill>
        </p:spPr>
      </p:sp>
      <p:sp>
        <p:nvSpPr>
          <p:cNvPr id="16" name="Shape 13"/>
          <p:cNvSpPr/>
          <p:nvPr/>
        </p:nvSpPr>
        <p:spPr>
          <a:xfrm>
            <a:off x="793790" y="6129099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78860" y="6171605"/>
            <a:ext cx="340162" cy="4252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3</a:t>
            </a:r>
            <a:endParaRPr lang="en-US" sz="2650" dirty="0"/>
          </a:p>
        </p:txBody>
      </p:sp>
      <p:sp>
        <p:nvSpPr>
          <p:cNvPr id="18" name="Text 15"/>
          <p:cNvSpPr/>
          <p:nvPr/>
        </p:nvSpPr>
        <p:spPr>
          <a:xfrm>
            <a:off x="2183011" y="6100763"/>
            <a:ext cx="3537347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Gouvernance Participative</a:t>
            </a:r>
            <a:endParaRPr lang="en-US" sz="2200" b="1" dirty="0"/>
          </a:p>
        </p:txBody>
      </p:sp>
      <p:sp>
        <p:nvSpPr>
          <p:cNvPr id="19" name="Text 16"/>
          <p:cNvSpPr/>
          <p:nvPr/>
        </p:nvSpPr>
        <p:spPr>
          <a:xfrm>
            <a:off x="2183011" y="6591181"/>
            <a:ext cx="616719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Impliquer les citoyens dans les décisions urbaines.</a:t>
            </a:r>
            <a:endParaRPr lang="en-US" sz="17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 dir="in"/>
      </p:transition>
    </mc:Choice>
    <mc:Fallback>
      <p:transition spd="slow">
        <p:split orient="vert" dir="in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82650" y="2997835"/>
            <a:ext cx="6522085" cy="6591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1150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Conclusion </a:t>
            </a:r>
            <a:endParaRPr lang="en-US" sz="11500" dirty="0">
              <a:solidFill>
                <a:srgbClr val="505468"/>
              </a:solidFill>
              <a:latin typeface="Instrument Sans Semi Bold" pitchFamily="34" charset="0"/>
              <a:ea typeface="Instrument Sans Semi Bold" pitchFamily="34" charset="-122"/>
              <a:cs typeface="Instrument Sans Semi Bold" pitchFamily="34" charset="-120"/>
            </a:endParaRPr>
          </a:p>
        </p:txBody>
      </p:sp>
      <p:sp>
        <p:nvSpPr>
          <p:cNvPr id="4" name="Text 1"/>
          <p:cNvSpPr/>
          <p:nvPr/>
        </p:nvSpPr>
        <p:spPr>
          <a:xfrm>
            <a:off x="882690" y="4081105"/>
            <a:ext cx="7556421" cy="14516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Les villes globales sont des moteurs de l'économie mondiale. Elles sont confrontées à des défis majeurs. L'innovation est essentielle pour un avenir urbain durable.</a:t>
            </a:r>
            <a:endParaRPr lang="en-US" sz="1750" dirty="0"/>
          </a:p>
        </p:txBody>
      </p:sp>
      <p:pic>
        <p:nvPicPr>
          <p:cNvPr id="5" name="Image 4" descr="tokyo-tower-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6055" y="0"/>
            <a:ext cx="5554345" cy="8229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airplane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1498</Words>
  <Application>WPS Presentation</Application>
  <PresentationFormat>On-screen Show (16:9)</PresentationFormat>
  <Paragraphs>92</Paragraphs>
  <Slides>9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2" baseType="lpstr">
      <vt:lpstr>Arial</vt:lpstr>
      <vt:lpstr>SimSun</vt:lpstr>
      <vt:lpstr>Wingdings</vt:lpstr>
      <vt:lpstr>Instrument Sans Semi Bold</vt:lpstr>
      <vt:lpstr>Instrument Sans Semi Bold</vt:lpstr>
      <vt:lpstr>Instrument Sans Semi Bold</vt:lpstr>
      <vt:lpstr>Instrument Sans Medium</vt:lpstr>
      <vt:lpstr>Instrument Sans Medium</vt:lpstr>
      <vt:lpstr>Instrument Sans Medium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Henry Moustapha Ngom</cp:lastModifiedBy>
  <cp:revision>4</cp:revision>
  <dcterms:created xsi:type="dcterms:W3CDTF">2025-03-17T16:54:00Z</dcterms:created>
  <dcterms:modified xsi:type="dcterms:W3CDTF">2025-03-26T00:54:47Z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9D97A7F3D1B948B182A689CCC8D419DB_12</vt:lpwstr>
  </property>
  <property fmtid="{D5CDD505-2E9C-101B-9397-08002B2CF9AE}" pid="3" name="KSOProductBuildVer">
    <vt:lpwstr>3084-12.2.0.20348</vt:lpwstr>
  </property>
</Properties>
</file>