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92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608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94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29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008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41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74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537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705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661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55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9551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789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739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177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739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7316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3/18/2025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49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0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  <p:sldLayoutId id="2147483894" r:id="rId14"/>
    <p:sldLayoutId id="2147483895" r:id="rId15"/>
    <p:sldLayoutId id="2147483896" r:id="rId16"/>
    <p:sldLayoutId id="2147483897" r:id="rId17"/>
    <p:sldLayoutId id="214748389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18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18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18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18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18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803" y="-4314735"/>
            <a:ext cx="6676457" cy="5523365"/>
          </a:xfrm>
        </p:spPr>
        <p:txBody>
          <a:bodyPr>
            <a:normAutofit/>
          </a:bodyPr>
          <a:lstStyle/>
          <a:p>
            <a:r>
              <a:rPr sz="3600" b="1" u="sng" dirty="0"/>
              <a:t>La Civilisation Mésopotamienne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79630" y="1634296"/>
            <a:ext cx="6400800" cy="676245"/>
          </a:xfrm>
        </p:spPr>
        <p:txBody>
          <a:bodyPr>
            <a:noAutofit/>
          </a:bodyPr>
          <a:lstStyle/>
          <a:p>
            <a:r>
              <a:rPr sz="2000" b="1" u="sng" dirty="0"/>
              <a:t>Présenté par Adama Sow et Mor Seck</a:t>
            </a:r>
            <a:endParaRPr lang="fr-FR" sz="2000" b="1" u="sng" dirty="0"/>
          </a:p>
          <a:p>
            <a:r>
              <a:rPr sz="2000" b="1" u="sng" dirty="0"/>
              <a:t>Plan :</a:t>
            </a:r>
          </a:p>
          <a:p>
            <a:r>
              <a:rPr sz="2000" b="1" u="sng" dirty="0"/>
              <a:t> Introduction</a:t>
            </a:r>
            <a:endParaRPr lang="fr-FR" sz="2000" b="1" u="sng" dirty="0"/>
          </a:p>
          <a:p>
            <a:r>
              <a:rPr lang="fr-FR" sz="2000" b="1" u="sng" dirty="0"/>
              <a:t>I.  </a:t>
            </a:r>
            <a:r>
              <a:rPr sz="2000" b="1" u="sng" dirty="0"/>
              <a:t>Les grandes civilisations mésopotamiennes</a:t>
            </a:r>
          </a:p>
          <a:p>
            <a:r>
              <a:rPr lang="fr-FR" sz="2000" b="1" u="sng" dirty="0"/>
              <a:t>II. </a:t>
            </a:r>
            <a:r>
              <a:rPr sz="2000" b="1" u="sng" dirty="0"/>
              <a:t>L'organisation politique et sociale</a:t>
            </a:r>
          </a:p>
          <a:p>
            <a:r>
              <a:rPr lang="fr-FR" sz="2000" b="1" u="sng" dirty="0"/>
              <a:t>III. </a:t>
            </a:r>
            <a:r>
              <a:rPr sz="2000" b="1" u="sng" dirty="0"/>
              <a:t> Les avancées culturelles et technologiques</a:t>
            </a:r>
          </a:p>
          <a:p>
            <a:r>
              <a:rPr sz="2000" b="1" u="sng" dirty="0"/>
              <a:t>Conclusion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DFC96D4-F4F2-71A3-2CB6-947367D70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566" y="0"/>
            <a:ext cx="577543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685" y="1891862"/>
            <a:ext cx="4982998" cy="46665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La </a:t>
            </a:r>
            <a:r>
              <a:rPr sz="2400" b="1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Mésopotamie</a:t>
            </a:r>
            <a:r>
              <a:rPr sz="2400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, signifiant</a:t>
            </a:r>
            <a:r>
              <a:rPr lang="fr-FR" sz="2400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 le </a:t>
            </a:r>
            <a:r>
              <a:rPr sz="2400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 </a:t>
            </a:r>
            <a:r>
              <a:rPr sz="2400" b="1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'pays entre les fleuves</a:t>
            </a:r>
            <a:r>
              <a:rPr sz="2400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', désigne la région située entre le </a:t>
            </a:r>
            <a:r>
              <a:rPr sz="2400" b="1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Tigr</a:t>
            </a:r>
            <a:r>
              <a:rPr lang="fr-FR" sz="2400" b="1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é</a:t>
            </a:r>
            <a:r>
              <a:rPr sz="2400" b="1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 </a:t>
            </a:r>
            <a:r>
              <a:rPr sz="2400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et </a:t>
            </a:r>
            <a:r>
              <a:rPr sz="2400" b="1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l’Euphrate</a:t>
            </a:r>
            <a:r>
              <a:rPr lang="fr-FR" sz="2400" b="1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 </a:t>
            </a:r>
            <a:r>
              <a:rPr lang="fr-FR" sz="2400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est</a:t>
            </a:r>
            <a:r>
              <a:rPr lang="fr-FR" sz="2400" b="1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 </a:t>
            </a:r>
            <a:r>
              <a:rPr lang="fr-FR" sz="2400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la</a:t>
            </a:r>
            <a:r>
              <a:rPr lang="fr-FR" sz="2400" b="1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 </a:t>
            </a:r>
            <a:r>
              <a:rPr lang="fr-FR" sz="2400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majeure</a:t>
            </a:r>
            <a:r>
              <a:rPr lang="fr-FR" sz="2400" b="1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 </a:t>
            </a:r>
            <a:r>
              <a:rPr lang="fr-FR" sz="2400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partie</a:t>
            </a:r>
            <a:r>
              <a:rPr lang="fr-FR" sz="2400" b="1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 </a:t>
            </a:r>
            <a:r>
              <a:rPr lang="fr-FR" sz="2400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de</a:t>
            </a:r>
            <a:r>
              <a:rPr lang="fr-FR" sz="2400" b="1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 l’Irak actuel</a:t>
            </a:r>
            <a:r>
              <a:rPr sz="2400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. Elle a vu émerger les premières civilisations organisées grâce à l’agriculture et à l’urbanisation. On y retrouve des cités-États telles qu’</a:t>
            </a:r>
            <a:r>
              <a:rPr sz="2400" b="1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Ur</a:t>
            </a:r>
            <a:r>
              <a:rPr sz="2400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, </a:t>
            </a:r>
            <a:r>
              <a:rPr sz="2400" b="1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Uruk</a:t>
            </a:r>
            <a:r>
              <a:rPr sz="2400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 et </a:t>
            </a:r>
            <a:r>
              <a:rPr sz="2400" b="1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Babylone</a:t>
            </a:r>
            <a:r>
              <a:rPr sz="2400" dirty="0">
                <a:latin typeface="Calibri" panose="020F0502020204030204" pitchFamily="34" charset="0"/>
                <a:ea typeface="Abadi" panose="02000000000000000000" pitchFamily="2" charset="0"/>
                <a:cs typeface="Arial Black" panose="020B0604020202020204" pitchFamily="34" charset="0"/>
              </a:rPr>
              <a:t>, qui ont marqué l’histoire.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3BD2612-E3F7-42C3-7CEC-5007898D6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683" y="1891862"/>
            <a:ext cx="6926318" cy="49661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743" y="322412"/>
            <a:ext cx="8229600" cy="1143000"/>
          </a:xfrm>
        </p:spPr>
        <p:txBody>
          <a:bodyPr>
            <a:normAutofit/>
          </a:bodyPr>
          <a:lstStyle/>
          <a:p>
            <a:r>
              <a:rPr b="1" u="sng" dirty="0"/>
              <a:t>Les grandes civilisations mésopotamiennes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462" y="2224848"/>
            <a:ext cx="5132392" cy="4310740"/>
          </a:xfrm>
        </p:spPr>
        <p:txBody>
          <a:bodyPr>
            <a:normAutofit fontScale="77500" lnSpcReduction="20000"/>
          </a:bodyPr>
          <a:lstStyle/>
          <a:p>
            <a:r>
              <a:rPr sz="2400" dirty="0"/>
              <a:t>Les </a:t>
            </a:r>
            <a:r>
              <a:rPr sz="2400" b="1" dirty="0"/>
              <a:t>Sumériens</a:t>
            </a:r>
            <a:r>
              <a:rPr sz="2400" dirty="0"/>
              <a:t> (vers 3000 av. J.-C.) sont considérés comme la première grande civilisation. Ils ont développé </a:t>
            </a:r>
            <a:r>
              <a:rPr sz="2400" b="1" dirty="0"/>
              <a:t>l’écriture</a:t>
            </a:r>
            <a:r>
              <a:rPr sz="2400" dirty="0"/>
              <a:t> </a:t>
            </a:r>
            <a:r>
              <a:rPr sz="2400" b="1" dirty="0"/>
              <a:t>cunéiforme</a:t>
            </a:r>
            <a:r>
              <a:rPr sz="2400" dirty="0"/>
              <a:t> et construit des </a:t>
            </a:r>
            <a:r>
              <a:rPr sz="2400" b="1" dirty="0"/>
              <a:t>ziggourats</a:t>
            </a:r>
            <a:r>
              <a:rPr sz="2400" dirty="0"/>
              <a:t>. </a:t>
            </a:r>
            <a:endParaRPr lang="fr-FR" sz="2400" dirty="0"/>
          </a:p>
          <a:p>
            <a:r>
              <a:rPr sz="2400" b="1" dirty="0"/>
              <a:t>Les</a:t>
            </a:r>
            <a:r>
              <a:rPr sz="2400" dirty="0"/>
              <a:t> </a:t>
            </a:r>
            <a:r>
              <a:rPr sz="2400" b="1" dirty="0"/>
              <a:t>Akkadiens</a:t>
            </a:r>
            <a:r>
              <a:rPr sz="2400" dirty="0"/>
              <a:t>, menés par </a:t>
            </a:r>
            <a:r>
              <a:rPr sz="2400" b="1" dirty="0"/>
              <a:t>Sargon</a:t>
            </a:r>
            <a:r>
              <a:rPr sz="2400" dirty="0"/>
              <a:t>, ont unifié la région. </a:t>
            </a:r>
            <a:endParaRPr lang="fr-FR" sz="2400" dirty="0"/>
          </a:p>
          <a:p>
            <a:r>
              <a:rPr sz="2400" b="1" dirty="0"/>
              <a:t>Les</a:t>
            </a:r>
            <a:r>
              <a:rPr sz="2400" dirty="0"/>
              <a:t> </a:t>
            </a:r>
            <a:r>
              <a:rPr sz="2400" b="1" dirty="0"/>
              <a:t>Babyloniens</a:t>
            </a:r>
            <a:r>
              <a:rPr sz="2400" dirty="0"/>
              <a:t>, sous </a:t>
            </a:r>
            <a:r>
              <a:rPr sz="2400" b="1" dirty="0"/>
              <a:t>Hammurabi</a:t>
            </a:r>
            <a:r>
              <a:rPr sz="2400" dirty="0"/>
              <a:t>, ont codifié les lois.</a:t>
            </a:r>
            <a:endParaRPr lang="fr-FR" sz="2400" dirty="0"/>
          </a:p>
          <a:p>
            <a:r>
              <a:rPr sz="2400" dirty="0"/>
              <a:t>Enfin, </a:t>
            </a:r>
            <a:r>
              <a:rPr sz="2400" b="1" dirty="0"/>
              <a:t>les</a:t>
            </a:r>
            <a:r>
              <a:rPr sz="2400" dirty="0"/>
              <a:t> </a:t>
            </a:r>
            <a:r>
              <a:rPr sz="2400" b="1" dirty="0"/>
              <a:t>Assyriens</a:t>
            </a:r>
            <a:r>
              <a:rPr sz="2400" dirty="0"/>
              <a:t> se sont distingués par leur puissance militaire  leurs avancées administratives.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BCE81B3-D786-9AB5-9C87-6F21FFDCB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54" y="2224848"/>
            <a:ext cx="6397456" cy="43107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L'organisation politique et sociale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622" y="2057294"/>
            <a:ext cx="4967233" cy="2270885"/>
          </a:xfrm>
        </p:spPr>
        <p:txBody>
          <a:bodyPr>
            <a:noAutofit/>
          </a:bodyPr>
          <a:lstStyle/>
          <a:p>
            <a:r>
              <a:rPr dirty="0"/>
              <a:t>La Mésopotamie était gouvernée par un </a:t>
            </a:r>
            <a:r>
              <a:rPr b="1" dirty="0"/>
              <a:t>roi</a:t>
            </a:r>
            <a:r>
              <a:rPr dirty="0"/>
              <a:t> qui détenait un pouvoir absolu, souvent justifié par la volonté divine. </a:t>
            </a:r>
            <a:endParaRPr lang="fr-FR" dirty="0"/>
          </a:p>
          <a:p>
            <a:r>
              <a:rPr dirty="0"/>
              <a:t>Les </a:t>
            </a:r>
            <a:r>
              <a:rPr b="1" dirty="0"/>
              <a:t>prêtres</a:t>
            </a:r>
            <a:r>
              <a:rPr dirty="0"/>
              <a:t> avaient un rôle important dans l’administration et les rites religieux. </a:t>
            </a:r>
            <a:endParaRPr lang="fr-FR" dirty="0"/>
          </a:p>
          <a:p>
            <a:r>
              <a:rPr dirty="0"/>
              <a:t>Les </a:t>
            </a:r>
            <a:r>
              <a:rPr b="1" dirty="0"/>
              <a:t>artisans</a:t>
            </a:r>
            <a:r>
              <a:rPr dirty="0"/>
              <a:t> et les </a:t>
            </a:r>
            <a:r>
              <a:rPr b="1" dirty="0"/>
              <a:t>commerçants</a:t>
            </a:r>
            <a:r>
              <a:rPr dirty="0"/>
              <a:t> contribuaient à l’économie florissante, tandis que les </a:t>
            </a:r>
            <a:r>
              <a:rPr b="1" dirty="0"/>
              <a:t>esclaves</a:t>
            </a:r>
            <a:r>
              <a:rPr dirty="0"/>
              <a:t> formaient la classe la plus basse de la société.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811157C-5BD0-B3FC-FAE1-03913064F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855" y="2066942"/>
            <a:ext cx="6921061" cy="4522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u="sng" dirty="0"/>
              <a:t>Les avancées culturelles et technologiques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1" y="2222287"/>
            <a:ext cx="6070819" cy="3636511"/>
          </a:xfrm>
        </p:spPr>
        <p:txBody>
          <a:bodyPr>
            <a:noAutofit/>
          </a:bodyPr>
          <a:lstStyle/>
          <a:p>
            <a:r>
              <a:rPr dirty="0"/>
              <a:t>Les Mésopotamiens ont inventé </a:t>
            </a:r>
            <a:r>
              <a:rPr b="1" dirty="0"/>
              <a:t>l'écriture</a:t>
            </a:r>
            <a:r>
              <a:rPr dirty="0"/>
              <a:t> </a:t>
            </a:r>
            <a:r>
              <a:rPr b="1" dirty="0"/>
              <a:t>cunéiforme</a:t>
            </a:r>
            <a:r>
              <a:rPr dirty="0"/>
              <a:t>, utilisée pour la comptabilité, les lois et la littérature (ex: </a:t>
            </a:r>
            <a:r>
              <a:rPr b="1" dirty="0"/>
              <a:t>l'Épopée</a:t>
            </a:r>
            <a:r>
              <a:rPr dirty="0"/>
              <a:t> </a:t>
            </a:r>
            <a:r>
              <a:rPr b="1" dirty="0"/>
              <a:t>de</a:t>
            </a:r>
            <a:r>
              <a:rPr dirty="0"/>
              <a:t> </a:t>
            </a:r>
            <a:r>
              <a:rPr b="1" dirty="0"/>
              <a:t>Gilgamesh</a:t>
            </a:r>
            <a:r>
              <a:rPr dirty="0"/>
              <a:t>). Ils ont perfectionné l’astronomie et le calendrier. Le développement des mathématiques a permis la création des premières formes de géométrie et d’arithmétique. Enfin, leur architecture impressionnante inclut les célèbres </a:t>
            </a:r>
            <a:r>
              <a:rPr b="1" dirty="0"/>
              <a:t>ziggourats</a:t>
            </a:r>
            <a:r>
              <a:rPr dirty="0"/>
              <a:t>, temples à degrés dédiés aux dieux.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D1F1034-7ED0-1EB3-8B33-E613F686A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530" y="2222287"/>
            <a:ext cx="5029201" cy="4188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393" y="2080398"/>
            <a:ext cx="5277288" cy="36365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800" dirty="0"/>
              <a:t>La Mésopotamie a jeté les bases des civilisations modernes par ses innovations dans l’écriture, la politique et la culture. Son héritage perdure encore aujourd’hui à travers le droit, l’urbanisme et les sciences.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82EA7E8-A0AD-EAE4-71E6-3A0B57971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681" y="2080398"/>
            <a:ext cx="6295697" cy="46981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B8D507-77B8-D9C9-51E3-4813A06AD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9B3778-8F51-F598-1070-95B414040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228" y="3499075"/>
            <a:ext cx="10910833" cy="2948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6000" dirty="0"/>
              <a:t>MERCI DE VOTRE ATTENTION </a:t>
            </a:r>
          </a:p>
        </p:txBody>
      </p:sp>
    </p:spTree>
    <p:extLst>
      <p:ext uri="{BB962C8B-B14F-4D97-AF65-F5344CB8AC3E}">
        <p14:creationId xmlns:p14="http://schemas.microsoft.com/office/powerpoint/2010/main" val="2574961570"/>
      </p:ext>
    </p:extLst>
  </p:cSld>
  <p:clrMapOvr>
    <a:masterClrMapping/>
  </p:clrMapOvr>
</p:sld>
</file>

<file path=ppt/theme/theme1.xml><?xml version="1.0" encoding="utf-8"?>
<a:theme xmlns:a="http://schemas.openxmlformats.org/drawingml/2006/main" name="Ronds dans l’eau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Grand écran</PresentationFormat>
  <Paragraphs>0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Ronds dans l’eau</vt:lpstr>
      <vt:lpstr>La Civilisation Mésopotamienne</vt:lpstr>
      <vt:lpstr>Introduction</vt:lpstr>
      <vt:lpstr>Les grandes civilisations mésopotamiennes</vt:lpstr>
      <vt:lpstr>L'organisation politique et sociale</vt:lpstr>
      <vt:lpstr>Les avancées culturelles et technologiques</vt:lpstr>
      <vt:lpstr>Conclusion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Civilisation Mésopotamienne</dc:title>
  <dc:subject/>
  <dc:creator/>
  <cp:keywords/>
  <dc:description>generated using python-pptx</dc:description>
  <cp:lastModifiedBy>Mor Seck</cp:lastModifiedBy>
  <cp:revision>5</cp:revision>
  <dcterms:created xsi:type="dcterms:W3CDTF">2013-01-27T09:14:16Z</dcterms:created>
  <dcterms:modified xsi:type="dcterms:W3CDTF">2025-03-18T10:07:40Z</dcterms:modified>
  <cp:category/>
</cp:coreProperties>
</file>