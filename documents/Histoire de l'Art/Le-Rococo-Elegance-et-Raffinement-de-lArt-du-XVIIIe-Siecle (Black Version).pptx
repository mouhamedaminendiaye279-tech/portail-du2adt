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4630400" cy="8229600"/>
  <p:notesSz cx="8229600" cy="14630400"/>
  <p:embeddedFontLst>
    <p:embeddedFont>
      <p:font typeface="Roboto Slab" pitchFamily="34" charset="0"/>
      <p:bold r:id="rId17"/>
    </p:embeddedFont>
    <p:embeddedFont>
      <p:font typeface="Roboto Slab" pitchFamily="34" charset="-122"/>
      <p:bold r:id="rId18"/>
    </p:embeddedFont>
    <p:embeddedFont>
      <p:font typeface="Roboto Slab" pitchFamily="34" charset="-120"/>
      <p:bold r:id="rId19"/>
    </p:embeddedFont>
    <p:embeddedFont>
      <p:font typeface="Roboto" panose="02000000000000000000" pitchFamily="34" charset="0"/>
      <p:regular r:id="rId20"/>
    </p:embeddedFont>
    <p:embeddedFont>
      <p:font typeface="Roboto" panose="02000000000000000000" pitchFamily="34" charset="-122"/>
      <p:regular r:id="rId21"/>
    </p:embeddedFont>
    <p:embeddedFont>
      <p:font typeface="Roboto" panose="02000000000000000000" pitchFamily="34" charset="-120"/>
      <p:regular r:id="rId22"/>
    </p:embeddedFont>
    <p:embeddedFont>
      <p:font typeface="Calibri" panose="020F0502020204030204" charset="0"/>
      <p:regular r:id="rId23"/>
      <p:bold r:id="rId24"/>
      <p:italic r:id="rId25"/>
      <p:boldItalic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6B9FF"/>
    <a:srgbClr val="3F4652"/>
    <a:srgbClr val="D6E5EF"/>
    <a:srgbClr val="2027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p:spPr>
      </p:sp>
      <p:sp>
        <p:nvSpPr>
          <p:cNvPr id="3" name="Shape 1"/>
          <p:cNvSpPr/>
          <p:nvPr/>
        </p:nvSpPr>
        <p:spPr>
          <a:xfrm>
            <a:off x="0" y="0"/>
            <a:ext cx="14630400" cy="8229600"/>
          </a:xfrm>
          <a:prstGeom prst="rect">
            <a:avLst/>
          </a:prstGeom>
          <a:solidFill>
            <a:srgbClr val="2027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0" Type="http://schemas.openxmlformats.org/officeDocument/2006/relationships/notesSlide" Target="../notesSlides/notesSlide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5.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9.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0.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30436"/>
            <a:ext cx="7556421" cy="2126337"/>
          </a:xfrm>
          <a:prstGeom prst="rect">
            <a:avLst/>
          </a:prstGeom>
          <a:noFill/>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Le Rococo: Élégance et Raffinement de l'Art du XVIIIe Siècle</a:t>
            </a:r>
            <a:endParaRPr lang="en-US" sz="4450" dirty="0"/>
          </a:p>
        </p:txBody>
      </p:sp>
      <p:sp>
        <p:nvSpPr>
          <p:cNvPr id="4" name="Text 1"/>
          <p:cNvSpPr/>
          <p:nvPr/>
        </p:nvSpPr>
        <p:spPr>
          <a:xfrm>
            <a:off x="6280190" y="3096935"/>
            <a:ext cx="7556421" cy="1451610"/>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Émergeant au XVIIIe siècle en France, le rococo représente une rupture significative avec la grandeur symétrique du baroque. Ce style, qui se propage rapidement à travers l'Europe, influence l'architecture, la peinture, la sculpture et les arts décoratifs.</a:t>
            </a:r>
            <a:endParaRPr lang="en-US" sz="1750" dirty="0"/>
          </a:p>
        </p:txBody>
      </p:sp>
      <p:sp>
        <p:nvSpPr>
          <p:cNvPr id="5" name="Text 2"/>
          <p:cNvSpPr/>
          <p:nvPr/>
        </p:nvSpPr>
        <p:spPr>
          <a:xfrm>
            <a:off x="6280190" y="4803696"/>
            <a:ext cx="7556421" cy="2177415"/>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Il se distingue par sa légèreté, son élégance et une exubérance ornementale, reflétant le raffinement et l'hédonisme de la société aristocratique de l'époque. Cette présentation examine les origines, les caractéristiques, les thèmes, les artistes majeurs, la diffusion européenne et l'héritage du rococo, en mettant en lumière sa complexité et son importance culturelle.</a:t>
            </a:r>
            <a:endParaRPr lang="en-US" sz="1750" dirty="0"/>
          </a:p>
        </p:txBody>
      </p:sp>
      <p:sp>
        <p:nvSpPr>
          <p:cNvPr id="15" name="Rectangle 14"/>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
        <p:nvSpPr>
          <p:cNvPr id="7" name="Rectangle à coins arrondi 6"/>
          <p:cNvSpPr/>
          <p:nvPr/>
        </p:nvSpPr>
        <p:spPr>
          <a:xfrm>
            <a:off x="6198870" y="7332345"/>
            <a:ext cx="7718425" cy="451485"/>
          </a:xfrm>
          <a:prstGeom prst="roundRect">
            <a:avLst/>
          </a:prstGeom>
          <a:solidFill>
            <a:srgbClr val="3F465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dirty="0">
                <a:solidFill>
                  <a:srgbClr val="D6E5EF"/>
                </a:solidFill>
                <a:latin typeface="Roboto" panose="02000000000000000000" pitchFamily="34" charset="0"/>
                <a:ea typeface="Roboto" panose="02000000000000000000" pitchFamily="34" charset="-122"/>
                <a:cs typeface="Roboto" panose="02000000000000000000" pitchFamily="34" charset="-120"/>
                <a:sym typeface="+mn-ea"/>
              </a:rPr>
              <a:t>Présenté par </a:t>
            </a:r>
            <a:r>
              <a:rPr lang="en-US" b="1" dirty="0">
                <a:solidFill>
                  <a:srgbClr val="76B9FF"/>
                </a:solidFill>
                <a:latin typeface="Roboto" panose="02000000000000000000" pitchFamily="34" charset="0"/>
                <a:ea typeface="Roboto" panose="02000000000000000000" pitchFamily="34" charset="-122"/>
                <a:cs typeface="Roboto" panose="02000000000000000000" pitchFamily="34" charset="-120"/>
                <a:sym typeface="+mn-ea"/>
              </a:rPr>
              <a:t>Mouhamadou Moustapha Niang</a:t>
            </a:r>
            <a:r>
              <a:rPr lang="en-US" dirty="0">
                <a:solidFill>
                  <a:srgbClr val="D6E5EF"/>
                </a:solidFill>
                <a:latin typeface="Roboto" panose="02000000000000000000" pitchFamily="34" charset="0"/>
                <a:ea typeface="Roboto" panose="02000000000000000000" pitchFamily="34" charset="-122"/>
                <a:cs typeface="Roboto" panose="02000000000000000000" pitchFamily="34" charset="-120"/>
                <a:sym typeface="+mn-ea"/>
              </a:rPr>
              <a:t> &amp; </a:t>
            </a:r>
            <a:r>
              <a:rPr lang="en-US" b="1" dirty="0">
                <a:solidFill>
                  <a:srgbClr val="76B9FF"/>
                </a:solidFill>
                <a:latin typeface="Roboto" panose="02000000000000000000" pitchFamily="34" charset="0"/>
                <a:ea typeface="Roboto" panose="02000000000000000000" pitchFamily="34" charset="-122"/>
                <a:cs typeface="Roboto" panose="02000000000000000000" pitchFamily="34" charset="-120"/>
                <a:sym typeface="+mn-ea"/>
              </a:rPr>
              <a:t>Henry Moustapha Ngo</a:t>
            </a:r>
            <a:r>
              <a:rPr lang="fr-FR" altLang="en-US" b="1" dirty="0">
                <a:solidFill>
                  <a:srgbClr val="76B9FF"/>
                </a:solidFill>
                <a:latin typeface="Roboto" panose="02000000000000000000" pitchFamily="34" charset="0"/>
                <a:ea typeface="Roboto" panose="02000000000000000000" pitchFamily="34" charset="-122"/>
                <a:cs typeface="Roboto" panose="02000000000000000000" pitchFamily="34" charset="-120"/>
                <a:sym typeface="+mn-ea"/>
              </a:rPr>
              <a:t>m</a:t>
            </a:r>
            <a:endParaRPr lang="fr-FR" altLang="en-US" b="1" dirty="0">
              <a:solidFill>
                <a:srgbClr val="76B9FF"/>
              </a:solidFill>
              <a:latin typeface="Roboto" panose="02000000000000000000" pitchFamily="34" charset="0"/>
              <a:ea typeface="Roboto" panose="02000000000000000000" pitchFamily="34" charset="-122"/>
              <a:cs typeface="Roboto" panose="02000000000000000000" pitchFamily="34" charset="-12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1969" y="754975"/>
            <a:ext cx="5335667" cy="665678"/>
          </a:xfrm>
          <a:prstGeom prst="rect">
            <a:avLst/>
          </a:prstGeom>
          <a:noFill/>
        </p:spPr>
        <p:txBody>
          <a:bodyPr wrap="none" lIns="0" tIns="0" rIns="0" bIns="0" rtlCol="0" anchor="t"/>
          <a:lstStyle/>
          <a:p>
            <a:pPr marL="0" indent="0" algn="l">
              <a:lnSpc>
                <a:spcPts val="5200"/>
              </a:lnSpc>
              <a:buNone/>
            </a:pPr>
            <a:r>
              <a:rPr lang="en-US" sz="4150" dirty="0">
                <a:solidFill>
                  <a:srgbClr val="76B9FF"/>
                </a:solidFill>
                <a:latin typeface="Roboto Slab" pitchFamily="34" charset="0"/>
                <a:ea typeface="Roboto Slab" pitchFamily="34" charset="-122"/>
                <a:cs typeface="Roboto Slab" pitchFamily="34" charset="-120"/>
              </a:rPr>
              <a:t>Définition et Origines</a:t>
            </a:r>
            <a:endParaRPr lang="en-US" sz="4150" dirty="0"/>
          </a:p>
        </p:txBody>
      </p:sp>
      <p:sp>
        <p:nvSpPr>
          <p:cNvPr id="4" name="Shape 1"/>
          <p:cNvSpPr/>
          <p:nvPr/>
        </p:nvSpPr>
        <p:spPr>
          <a:xfrm>
            <a:off x="6231969" y="1740098"/>
            <a:ext cx="3719989" cy="3271838"/>
          </a:xfrm>
          <a:prstGeom prst="roundRect">
            <a:avLst>
              <a:gd name="adj" fmla="val 977"/>
            </a:avLst>
          </a:prstGeom>
          <a:solidFill>
            <a:srgbClr val="3F4652"/>
          </a:solidFill>
        </p:spPr>
      </p:sp>
      <p:sp>
        <p:nvSpPr>
          <p:cNvPr id="5" name="Text 2"/>
          <p:cNvSpPr/>
          <p:nvPr/>
        </p:nvSpPr>
        <p:spPr>
          <a:xfrm>
            <a:off x="6444972" y="1953101"/>
            <a:ext cx="2662714" cy="332780"/>
          </a:xfrm>
          <a:prstGeom prst="rect">
            <a:avLst/>
          </a:prstGeom>
          <a:noFill/>
        </p:spPr>
        <p:txBody>
          <a:bodyPr wrap="none" lIns="0" tIns="0" rIns="0" bIns="0" rtlCol="0" anchor="t"/>
          <a:lstStyle/>
          <a:p>
            <a:pPr marL="0" indent="0" algn="l">
              <a:lnSpc>
                <a:spcPts val="2600"/>
              </a:lnSpc>
              <a:buNone/>
            </a:pPr>
            <a:r>
              <a:rPr lang="en-US" sz="2050" dirty="0">
                <a:solidFill>
                  <a:srgbClr val="D6E5EF"/>
                </a:solidFill>
                <a:latin typeface="Roboto Slab" pitchFamily="34" charset="0"/>
                <a:ea typeface="Roboto Slab" pitchFamily="34" charset="-122"/>
                <a:cs typeface="Roboto Slab" pitchFamily="34" charset="-120"/>
              </a:rPr>
              <a:t>Étymologie</a:t>
            </a:r>
            <a:endParaRPr lang="en-US" sz="2050" dirty="0"/>
          </a:p>
        </p:txBody>
      </p:sp>
      <p:sp>
        <p:nvSpPr>
          <p:cNvPr id="6" name="Text 3"/>
          <p:cNvSpPr/>
          <p:nvPr/>
        </p:nvSpPr>
        <p:spPr>
          <a:xfrm>
            <a:off x="6444972" y="2413635"/>
            <a:ext cx="3293983" cy="2385298"/>
          </a:xfrm>
          <a:prstGeom prst="rect">
            <a:avLst/>
          </a:prstGeom>
          <a:noFill/>
        </p:spPr>
        <p:txBody>
          <a:bodyPr wrap="square" lIns="0" tIns="0" rIns="0" bIns="0" rtlCol="0" anchor="t"/>
          <a:lstStyle/>
          <a:p>
            <a:pPr marL="0" indent="0" algn="l">
              <a:lnSpc>
                <a:spcPts val="2650"/>
              </a:lnSpc>
              <a:buNone/>
            </a:pPr>
            <a:r>
              <a:rPr lang="en-US" sz="1650" dirty="0">
                <a:solidFill>
                  <a:srgbClr val="D6E5EF"/>
                </a:solidFill>
                <a:latin typeface="Roboto" panose="02000000000000000000" pitchFamily="34" charset="0"/>
                <a:ea typeface="Roboto" panose="02000000000000000000" pitchFamily="34" charset="-122"/>
                <a:cs typeface="Roboto" panose="02000000000000000000" pitchFamily="34" charset="-120"/>
              </a:rPr>
              <a:t>Le terme "rococo" dérive du mot français "rocaille", désignant une ornementation à base de coquillages, de roches et de stuc. Initialement utilisé de manière péjorative, il souligne le caractère perçu comme frivole du style.</a:t>
            </a:r>
            <a:endParaRPr lang="en-US" sz="1650" dirty="0"/>
          </a:p>
        </p:txBody>
      </p:sp>
      <p:sp>
        <p:nvSpPr>
          <p:cNvPr id="7" name="Shape 4"/>
          <p:cNvSpPr/>
          <p:nvPr/>
        </p:nvSpPr>
        <p:spPr>
          <a:xfrm>
            <a:off x="10164961" y="1740098"/>
            <a:ext cx="3719989" cy="3271838"/>
          </a:xfrm>
          <a:prstGeom prst="roundRect">
            <a:avLst>
              <a:gd name="adj" fmla="val 977"/>
            </a:avLst>
          </a:prstGeom>
          <a:solidFill>
            <a:srgbClr val="3F4652"/>
          </a:solidFill>
        </p:spPr>
      </p:sp>
      <p:sp>
        <p:nvSpPr>
          <p:cNvPr id="8" name="Text 5"/>
          <p:cNvSpPr/>
          <p:nvPr/>
        </p:nvSpPr>
        <p:spPr>
          <a:xfrm>
            <a:off x="10377964" y="1953101"/>
            <a:ext cx="2662714" cy="332780"/>
          </a:xfrm>
          <a:prstGeom prst="rect">
            <a:avLst/>
          </a:prstGeom>
          <a:noFill/>
        </p:spPr>
        <p:txBody>
          <a:bodyPr wrap="none" lIns="0" tIns="0" rIns="0" bIns="0" rtlCol="0" anchor="t"/>
          <a:lstStyle/>
          <a:p>
            <a:pPr marL="0" indent="0" algn="l">
              <a:lnSpc>
                <a:spcPts val="2600"/>
              </a:lnSpc>
              <a:buNone/>
            </a:pPr>
            <a:r>
              <a:rPr lang="en-US" sz="2050" dirty="0">
                <a:solidFill>
                  <a:srgbClr val="D6E5EF"/>
                </a:solidFill>
                <a:latin typeface="Roboto Slab" pitchFamily="34" charset="0"/>
                <a:ea typeface="Roboto Slab" pitchFamily="34" charset="-122"/>
                <a:cs typeface="Roboto Slab" pitchFamily="34" charset="-120"/>
              </a:rPr>
              <a:t>Contexte Historique</a:t>
            </a:r>
            <a:endParaRPr lang="en-US" sz="2050" dirty="0"/>
          </a:p>
        </p:txBody>
      </p:sp>
      <p:sp>
        <p:nvSpPr>
          <p:cNvPr id="9" name="Text 6"/>
          <p:cNvSpPr/>
          <p:nvPr/>
        </p:nvSpPr>
        <p:spPr>
          <a:xfrm>
            <a:off x="10377964" y="2413635"/>
            <a:ext cx="3293983" cy="2044541"/>
          </a:xfrm>
          <a:prstGeom prst="rect">
            <a:avLst/>
          </a:prstGeom>
          <a:noFill/>
        </p:spPr>
        <p:txBody>
          <a:bodyPr wrap="square" lIns="0" tIns="0" rIns="0" bIns="0" rtlCol="0" anchor="t"/>
          <a:lstStyle/>
          <a:p>
            <a:pPr marL="0" indent="0" algn="l">
              <a:lnSpc>
                <a:spcPts val="2650"/>
              </a:lnSpc>
              <a:buNone/>
            </a:pPr>
            <a:r>
              <a:rPr lang="en-US" sz="1650" dirty="0">
                <a:solidFill>
                  <a:srgbClr val="D6E5EF"/>
                </a:solidFill>
                <a:latin typeface="Roboto" panose="02000000000000000000" pitchFamily="34" charset="0"/>
                <a:ea typeface="Roboto" panose="02000000000000000000" pitchFamily="34" charset="-122"/>
                <a:cs typeface="Roboto" panose="02000000000000000000" pitchFamily="34" charset="-120"/>
              </a:rPr>
              <a:t>Développé sous la Régence (1715-1723) et le règne de Louis XV (1723-1774), cette période est marquée par un assouplissement des mœurs et une importance accrue accordée aux plaisirs.</a:t>
            </a:r>
            <a:endParaRPr lang="en-US" sz="1650" dirty="0"/>
          </a:p>
        </p:txBody>
      </p:sp>
      <p:sp>
        <p:nvSpPr>
          <p:cNvPr id="10" name="Shape 7"/>
          <p:cNvSpPr/>
          <p:nvPr/>
        </p:nvSpPr>
        <p:spPr>
          <a:xfrm>
            <a:off x="6231969" y="5224939"/>
            <a:ext cx="7652861" cy="2249567"/>
          </a:xfrm>
          <a:prstGeom prst="roundRect">
            <a:avLst>
              <a:gd name="adj" fmla="val 1420"/>
            </a:avLst>
          </a:prstGeom>
          <a:solidFill>
            <a:srgbClr val="3F4652"/>
          </a:solidFill>
        </p:spPr>
      </p:sp>
      <p:sp>
        <p:nvSpPr>
          <p:cNvPr id="11" name="Text 8"/>
          <p:cNvSpPr/>
          <p:nvPr/>
        </p:nvSpPr>
        <p:spPr>
          <a:xfrm>
            <a:off x="6444972" y="5437942"/>
            <a:ext cx="2662714" cy="332780"/>
          </a:xfrm>
          <a:prstGeom prst="rect">
            <a:avLst/>
          </a:prstGeom>
          <a:noFill/>
        </p:spPr>
        <p:txBody>
          <a:bodyPr wrap="none" lIns="0" tIns="0" rIns="0" bIns="0" rtlCol="0" anchor="t"/>
          <a:lstStyle/>
          <a:p>
            <a:pPr marL="0" indent="0" algn="l">
              <a:lnSpc>
                <a:spcPts val="2600"/>
              </a:lnSpc>
              <a:buNone/>
            </a:pPr>
            <a:r>
              <a:rPr lang="en-US" sz="2050" dirty="0">
                <a:solidFill>
                  <a:srgbClr val="D6E5EF"/>
                </a:solidFill>
                <a:latin typeface="Roboto Slab" pitchFamily="34" charset="0"/>
                <a:ea typeface="Roboto Slab" pitchFamily="34" charset="-122"/>
                <a:cs typeface="Roboto Slab" pitchFamily="34" charset="-120"/>
              </a:rPr>
              <a:t>Influences Sociales</a:t>
            </a:r>
            <a:endParaRPr lang="en-US" sz="2050" dirty="0"/>
          </a:p>
        </p:txBody>
      </p:sp>
      <p:sp>
        <p:nvSpPr>
          <p:cNvPr id="12" name="Text 9"/>
          <p:cNvSpPr/>
          <p:nvPr/>
        </p:nvSpPr>
        <p:spPr>
          <a:xfrm>
            <a:off x="6444972" y="5898475"/>
            <a:ext cx="7226856" cy="1363028"/>
          </a:xfrm>
          <a:prstGeom prst="rect">
            <a:avLst/>
          </a:prstGeom>
          <a:noFill/>
        </p:spPr>
        <p:txBody>
          <a:bodyPr wrap="square" lIns="0" tIns="0" rIns="0" bIns="0" rtlCol="0" anchor="t"/>
          <a:lstStyle/>
          <a:p>
            <a:pPr marL="0" indent="0" algn="l">
              <a:lnSpc>
                <a:spcPts val="2650"/>
              </a:lnSpc>
              <a:buNone/>
            </a:pPr>
            <a:r>
              <a:rPr lang="en-US" sz="1650" dirty="0">
                <a:solidFill>
                  <a:srgbClr val="D6E5EF"/>
                </a:solidFill>
                <a:latin typeface="Roboto" panose="02000000000000000000" pitchFamily="34" charset="0"/>
                <a:ea typeface="Roboto" panose="02000000000000000000" pitchFamily="34" charset="-122"/>
                <a:cs typeface="Roboto" panose="02000000000000000000" pitchFamily="34" charset="-120"/>
              </a:rPr>
              <a:t>Les salons littéraires et artistiques, fréquentés par l'aristocratie et la haute bourgeoisie, contribuent à l'essor de ce nouveau style. L'influence de Madame de Pompadour a été déterminante dans l'évolution du goût artistique.</a:t>
            </a:r>
            <a:endParaRPr lang="en-US" sz="1650" dirty="0"/>
          </a:p>
        </p:txBody>
      </p:sp>
      <p:sp>
        <p:nvSpPr>
          <p:cNvPr id="15" name="Rectangle 14"/>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58585"/>
            <a:ext cx="7593092" cy="708779"/>
          </a:xfrm>
          <a:prstGeom prst="rect">
            <a:avLst/>
          </a:prstGeom>
          <a:noFill/>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Caractéristiques Esthétiques</a:t>
            </a:r>
            <a:endParaRPr lang="en-US" sz="4450" dirty="0"/>
          </a:p>
        </p:txBody>
      </p:sp>
      <p:sp>
        <p:nvSpPr>
          <p:cNvPr id="3" name="Text 1"/>
          <p:cNvSpPr/>
          <p:nvPr/>
        </p:nvSpPr>
        <p:spPr>
          <a:xfrm>
            <a:off x="1330047" y="2220992"/>
            <a:ext cx="3819049" cy="354330"/>
          </a:xfrm>
          <a:prstGeom prst="rect">
            <a:avLst/>
          </a:prstGeom>
          <a:noFill/>
        </p:spPr>
        <p:txBody>
          <a:bodyPr wrap="none" lIns="0" tIns="0" rIns="0" bIns="0" rtlCol="0" anchor="t"/>
          <a:lstStyle/>
          <a:p>
            <a:pPr marL="0" indent="0" algn="r">
              <a:lnSpc>
                <a:spcPts val="2750"/>
              </a:lnSpc>
              <a:buNone/>
            </a:pPr>
            <a:r>
              <a:rPr lang="en-US" sz="2200" dirty="0">
                <a:solidFill>
                  <a:srgbClr val="D6E5EF"/>
                </a:solidFill>
                <a:latin typeface="Roboto Slab" pitchFamily="34" charset="0"/>
                <a:ea typeface="Roboto Slab" pitchFamily="34" charset="-122"/>
                <a:cs typeface="Roboto Slab" pitchFamily="34" charset="-120"/>
              </a:rPr>
              <a:t>Lignes Courbes et Asymétrie</a:t>
            </a:r>
            <a:endParaRPr lang="en-US" sz="2200" dirty="0"/>
          </a:p>
        </p:txBody>
      </p:sp>
      <p:sp>
        <p:nvSpPr>
          <p:cNvPr id="4" name="Text 2"/>
          <p:cNvSpPr/>
          <p:nvPr/>
        </p:nvSpPr>
        <p:spPr>
          <a:xfrm>
            <a:off x="793790" y="2711410"/>
            <a:ext cx="4355306" cy="1814513"/>
          </a:xfrm>
          <a:prstGeom prst="rect">
            <a:avLst/>
          </a:prstGeom>
          <a:noFill/>
        </p:spPr>
        <p:txBody>
          <a:bodyPr wrap="square" lIns="0" tIns="0" rIns="0" bIns="0" rtlCol="0" anchor="t"/>
          <a:lstStyle/>
          <a:p>
            <a:pPr marL="0" indent="0" algn="r">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Le rococo privilégie les lignes courbes, les arabesques et les formes asymétriques, créant un effet de mouvement et de fluidité. Cette "contre-courbe" rompt avec l'équilibre classique et baroque.</a:t>
            </a:r>
            <a:endParaRPr lang="en-US" sz="1750" dirty="0"/>
          </a:p>
        </p:txBody>
      </p:sp>
      <p:pic>
        <p:nvPicPr>
          <p:cNvPr id="5" name="Image 0" descr="preencoded.png"/>
          <p:cNvPicPr>
            <a:picLocks noChangeAspect="1"/>
          </p:cNvPicPr>
          <p:nvPr/>
        </p:nvPicPr>
        <p:blipFill>
          <a:blip r:embed="rId1"/>
          <a:stretch>
            <a:fillRect/>
          </a:stretch>
        </p:blipFill>
        <p:spPr>
          <a:xfrm>
            <a:off x="5489258" y="2870002"/>
            <a:ext cx="3651885" cy="3651885"/>
          </a:xfrm>
          <a:prstGeom prst="rect">
            <a:avLst/>
          </a:prstGeom>
        </p:spPr>
      </p:pic>
      <p:sp>
        <p:nvSpPr>
          <p:cNvPr id="6" name="Shape 3"/>
          <p:cNvSpPr/>
          <p:nvPr/>
        </p:nvSpPr>
        <p:spPr>
          <a:xfrm>
            <a:off x="5788938" y="3169682"/>
            <a:ext cx="566976" cy="566976"/>
          </a:xfrm>
          <a:prstGeom prst="roundRect">
            <a:avLst>
              <a:gd name="adj" fmla="val 1611154"/>
            </a:avLst>
          </a:prstGeom>
          <a:solidFill>
            <a:srgbClr val="3F4652"/>
          </a:solidFill>
        </p:spPr>
      </p:sp>
      <p:pic>
        <p:nvPicPr>
          <p:cNvPr id="7" name="Image 1" descr="preencoded.png"/>
          <p:cNvPicPr>
            <a:picLocks noChangeAspect="1"/>
          </p:cNvPicPr>
          <p:nvPr/>
        </p:nvPicPr>
        <p:blipFill>
          <a:blip r:embed="rId2"/>
          <a:stretch>
            <a:fillRect/>
          </a:stretch>
        </p:blipFill>
        <p:spPr>
          <a:xfrm>
            <a:off x="5944791" y="3293626"/>
            <a:ext cx="255151" cy="318968"/>
          </a:xfrm>
          <a:prstGeom prst="rect">
            <a:avLst/>
          </a:prstGeom>
        </p:spPr>
      </p:pic>
      <p:sp>
        <p:nvSpPr>
          <p:cNvPr id="8" name="Text 4"/>
          <p:cNvSpPr/>
          <p:nvPr/>
        </p:nvSpPr>
        <p:spPr>
          <a:xfrm>
            <a:off x="9481304" y="2220992"/>
            <a:ext cx="3023354"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Légèreté et Délicatesse</a:t>
            </a:r>
            <a:endParaRPr lang="en-US" sz="2200" dirty="0"/>
          </a:p>
        </p:txBody>
      </p:sp>
      <p:sp>
        <p:nvSpPr>
          <p:cNvPr id="9" name="Text 5"/>
          <p:cNvSpPr/>
          <p:nvPr/>
        </p:nvSpPr>
        <p:spPr>
          <a:xfrm>
            <a:off x="9481304" y="2711410"/>
            <a:ext cx="4355306" cy="1814513"/>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Les œuvres rococo se distinguent par leur légèreté, leur finesse et leur raffinement. L'emploi de matériaux tels que le stuc, la porcelaine et la soie contribue à cette impression de délicatesse.</a:t>
            </a:r>
            <a:endParaRPr lang="en-US" sz="1750" dirty="0"/>
          </a:p>
        </p:txBody>
      </p:sp>
      <p:pic>
        <p:nvPicPr>
          <p:cNvPr id="10" name="Image 2" descr="preencoded.png"/>
          <p:cNvPicPr>
            <a:picLocks noChangeAspect="1"/>
          </p:cNvPicPr>
          <p:nvPr/>
        </p:nvPicPr>
        <p:blipFill>
          <a:blip r:embed="rId3"/>
          <a:stretch>
            <a:fillRect/>
          </a:stretch>
        </p:blipFill>
        <p:spPr>
          <a:xfrm>
            <a:off x="5489258" y="2870002"/>
            <a:ext cx="3651885" cy="3651885"/>
          </a:xfrm>
          <a:prstGeom prst="rect">
            <a:avLst/>
          </a:prstGeom>
        </p:spPr>
      </p:pic>
      <p:sp>
        <p:nvSpPr>
          <p:cNvPr id="11" name="Shape 6"/>
          <p:cNvSpPr/>
          <p:nvPr/>
        </p:nvSpPr>
        <p:spPr>
          <a:xfrm>
            <a:off x="8274368" y="3169682"/>
            <a:ext cx="566976" cy="566976"/>
          </a:xfrm>
          <a:prstGeom prst="roundRect">
            <a:avLst>
              <a:gd name="adj" fmla="val 1611154"/>
            </a:avLst>
          </a:prstGeom>
          <a:solidFill>
            <a:srgbClr val="3F4652"/>
          </a:solidFill>
        </p:spPr>
      </p:sp>
      <p:pic>
        <p:nvPicPr>
          <p:cNvPr id="12" name="Image 3" descr="preencoded.png"/>
          <p:cNvPicPr>
            <a:picLocks noChangeAspect="1"/>
          </p:cNvPicPr>
          <p:nvPr/>
        </p:nvPicPr>
        <p:blipFill>
          <a:blip r:embed="rId4"/>
          <a:stretch>
            <a:fillRect/>
          </a:stretch>
        </p:blipFill>
        <p:spPr>
          <a:xfrm>
            <a:off x="8430220" y="3293626"/>
            <a:ext cx="255151" cy="318968"/>
          </a:xfrm>
          <a:prstGeom prst="rect">
            <a:avLst/>
          </a:prstGeom>
        </p:spPr>
      </p:pic>
      <p:sp>
        <p:nvSpPr>
          <p:cNvPr id="13" name="Text 7"/>
          <p:cNvSpPr/>
          <p:nvPr/>
        </p:nvSpPr>
        <p:spPr>
          <a:xfrm>
            <a:off x="9481304" y="5047536"/>
            <a:ext cx="3479721"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Couleurs Pastel et Dorures</a:t>
            </a:r>
            <a:endParaRPr lang="en-US" sz="2200" dirty="0"/>
          </a:p>
        </p:txBody>
      </p:sp>
      <p:sp>
        <p:nvSpPr>
          <p:cNvPr id="14" name="Text 8"/>
          <p:cNvSpPr/>
          <p:nvPr/>
        </p:nvSpPr>
        <p:spPr>
          <a:xfrm>
            <a:off x="9481304" y="5537954"/>
            <a:ext cx="4355306" cy="1451610"/>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La palette rococo se caractérise par des couleurs claires et douces, telles que le rose, le bleu, le vert et le jaune, souvent rehaussées par des dorures.</a:t>
            </a:r>
            <a:endParaRPr lang="en-US" sz="1750" dirty="0"/>
          </a:p>
        </p:txBody>
      </p:sp>
      <p:pic>
        <p:nvPicPr>
          <p:cNvPr id="15" name="Image 4" descr="preencoded.png"/>
          <p:cNvPicPr>
            <a:picLocks noChangeAspect="1"/>
          </p:cNvPicPr>
          <p:nvPr/>
        </p:nvPicPr>
        <p:blipFill>
          <a:blip r:embed="rId5"/>
          <a:stretch>
            <a:fillRect/>
          </a:stretch>
        </p:blipFill>
        <p:spPr>
          <a:xfrm>
            <a:off x="5489258" y="2870002"/>
            <a:ext cx="3651885" cy="3651885"/>
          </a:xfrm>
          <a:prstGeom prst="rect">
            <a:avLst/>
          </a:prstGeom>
        </p:spPr>
      </p:pic>
      <p:sp>
        <p:nvSpPr>
          <p:cNvPr id="16" name="Shape 9"/>
          <p:cNvSpPr/>
          <p:nvPr/>
        </p:nvSpPr>
        <p:spPr>
          <a:xfrm>
            <a:off x="8274368" y="5655112"/>
            <a:ext cx="566976" cy="566976"/>
          </a:xfrm>
          <a:prstGeom prst="roundRect">
            <a:avLst>
              <a:gd name="adj" fmla="val 1611154"/>
            </a:avLst>
          </a:prstGeom>
          <a:solidFill>
            <a:srgbClr val="3F4652"/>
          </a:solidFill>
        </p:spPr>
      </p:sp>
      <p:pic>
        <p:nvPicPr>
          <p:cNvPr id="17" name="Image 5" descr="preencoded.png"/>
          <p:cNvPicPr>
            <a:picLocks noChangeAspect="1"/>
          </p:cNvPicPr>
          <p:nvPr/>
        </p:nvPicPr>
        <p:blipFill>
          <a:blip r:embed="rId6"/>
          <a:stretch>
            <a:fillRect/>
          </a:stretch>
        </p:blipFill>
        <p:spPr>
          <a:xfrm>
            <a:off x="8430220" y="5779056"/>
            <a:ext cx="255151" cy="318968"/>
          </a:xfrm>
          <a:prstGeom prst="rect">
            <a:avLst/>
          </a:prstGeom>
        </p:spPr>
      </p:pic>
      <p:sp>
        <p:nvSpPr>
          <p:cNvPr id="18" name="Text 10"/>
          <p:cNvSpPr/>
          <p:nvPr/>
        </p:nvSpPr>
        <p:spPr>
          <a:xfrm>
            <a:off x="1525072" y="4866084"/>
            <a:ext cx="3624024" cy="354330"/>
          </a:xfrm>
          <a:prstGeom prst="rect">
            <a:avLst/>
          </a:prstGeom>
          <a:noFill/>
        </p:spPr>
        <p:txBody>
          <a:bodyPr wrap="none" lIns="0" tIns="0" rIns="0" bIns="0" rtlCol="0" anchor="t"/>
          <a:lstStyle/>
          <a:p>
            <a:pPr marL="0" indent="0" algn="r">
              <a:lnSpc>
                <a:spcPts val="2750"/>
              </a:lnSpc>
              <a:buNone/>
            </a:pPr>
            <a:r>
              <a:rPr lang="en-US" sz="2200" dirty="0">
                <a:solidFill>
                  <a:srgbClr val="D6E5EF"/>
                </a:solidFill>
                <a:latin typeface="Roboto Slab" pitchFamily="34" charset="0"/>
                <a:ea typeface="Roboto Slab" pitchFamily="34" charset="-122"/>
                <a:cs typeface="Roboto Slab" pitchFamily="34" charset="-120"/>
              </a:rPr>
              <a:t>Ornementation Exubérante</a:t>
            </a:r>
            <a:endParaRPr lang="en-US" sz="2200" dirty="0"/>
          </a:p>
        </p:txBody>
      </p:sp>
      <p:sp>
        <p:nvSpPr>
          <p:cNvPr id="19" name="Text 11"/>
          <p:cNvSpPr/>
          <p:nvPr/>
        </p:nvSpPr>
        <p:spPr>
          <a:xfrm>
            <a:off x="793790" y="5356503"/>
            <a:ext cx="4355306" cy="1814513"/>
          </a:xfrm>
          <a:prstGeom prst="rect">
            <a:avLst/>
          </a:prstGeom>
          <a:noFill/>
        </p:spPr>
        <p:txBody>
          <a:bodyPr wrap="square" lIns="0" tIns="0" rIns="0" bIns="0" rtlCol="0" anchor="t"/>
          <a:lstStyle/>
          <a:p>
            <a:pPr marL="0" indent="0" algn="r">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L'ornementation est omniprésente avec des motifs de rocaille, coquillages, motifs floraux, guirlandes, putti et scènes mythologiques, créant un effet d'abondance et de raffinement.</a:t>
            </a:r>
            <a:endParaRPr lang="en-US" sz="1750" dirty="0"/>
          </a:p>
        </p:txBody>
      </p:sp>
      <p:pic>
        <p:nvPicPr>
          <p:cNvPr id="20" name="Image 6" descr="preencoded.png"/>
          <p:cNvPicPr>
            <a:picLocks noChangeAspect="1"/>
          </p:cNvPicPr>
          <p:nvPr/>
        </p:nvPicPr>
        <p:blipFill>
          <a:blip r:embed="rId7"/>
          <a:stretch>
            <a:fillRect/>
          </a:stretch>
        </p:blipFill>
        <p:spPr>
          <a:xfrm>
            <a:off x="5489258" y="2870002"/>
            <a:ext cx="3651885" cy="3651885"/>
          </a:xfrm>
          <a:prstGeom prst="rect">
            <a:avLst/>
          </a:prstGeom>
        </p:spPr>
      </p:pic>
      <p:sp>
        <p:nvSpPr>
          <p:cNvPr id="21" name="Shape 12"/>
          <p:cNvSpPr/>
          <p:nvPr/>
        </p:nvSpPr>
        <p:spPr>
          <a:xfrm>
            <a:off x="5788938" y="5655112"/>
            <a:ext cx="566976" cy="566976"/>
          </a:xfrm>
          <a:prstGeom prst="roundRect">
            <a:avLst>
              <a:gd name="adj" fmla="val 1611154"/>
            </a:avLst>
          </a:prstGeom>
          <a:solidFill>
            <a:srgbClr val="3F4652"/>
          </a:solidFill>
        </p:spPr>
      </p:sp>
      <p:pic>
        <p:nvPicPr>
          <p:cNvPr id="22" name="Image 7" descr="preencoded.png"/>
          <p:cNvPicPr>
            <a:picLocks noChangeAspect="1"/>
          </p:cNvPicPr>
          <p:nvPr/>
        </p:nvPicPr>
        <p:blipFill>
          <a:blip r:embed="rId8"/>
          <a:stretch>
            <a:fillRect/>
          </a:stretch>
        </p:blipFill>
        <p:spPr>
          <a:xfrm>
            <a:off x="5944791" y="5779056"/>
            <a:ext cx="255151" cy="318968"/>
          </a:xfrm>
          <a:prstGeom prst="rect">
            <a:avLst/>
          </a:prstGeom>
        </p:spPr>
      </p:pic>
      <p:sp>
        <p:nvSpPr>
          <p:cNvPr id="23" name="Rectangle 22"/>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60108"/>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Thèmes Principaux</a:t>
            </a:r>
            <a:endParaRPr lang="en-US" sz="4450" dirty="0"/>
          </a:p>
        </p:txBody>
      </p:sp>
      <p:sp>
        <p:nvSpPr>
          <p:cNvPr id="3" name="Shape 1"/>
          <p:cNvSpPr/>
          <p:nvPr/>
        </p:nvSpPr>
        <p:spPr>
          <a:xfrm>
            <a:off x="793790" y="2277666"/>
            <a:ext cx="510302" cy="510302"/>
          </a:xfrm>
          <a:prstGeom prst="roundRect">
            <a:avLst>
              <a:gd name="adj" fmla="val 6667"/>
            </a:avLst>
          </a:prstGeom>
          <a:solidFill>
            <a:srgbClr val="3F4652"/>
          </a:solidFill>
        </p:spPr>
      </p:sp>
      <p:pic>
        <p:nvPicPr>
          <p:cNvPr id="4" name="Image 0" descr="preencoded.png"/>
          <p:cNvPicPr>
            <a:picLocks noChangeAspect="1"/>
          </p:cNvPicPr>
          <p:nvPr/>
        </p:nvPicPr>
        <p:blipFill>
          <a:blip r:embed="rId1"/>
          <a:stretch>
            <a:fillRect/>
          </a:stretch>
        </p:blipFill>
        <p:spPr>
          <a:xfrm>
            <a:off x="878860" y="2320171"/>
            <a:ext cx="340162" cy="425291"/>
          </a:xfrm>
          <a:prstGeom prst="rect">
            <a:avLst/>
          </a:prstGeom>
        </p:spPr>
      </p:pic>
      <p:sp>
        <p:nvSpPr>
          <p:cNvPr id="5" name="Text 2"/>
          <p:cNvSpPr/>
          <p:nvPr/>
        </p:nvSpPr>
        <p:spPr>
          <a:xfrm>
            <a:off x="1530906" y="2277666"/>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La Fête Galante</a:t>
            </a:r>
            <a:endParaRPr lang="en-US" sz="2200" dirty="0"/>
          </a:p>
        </p:txBody>
      </p:sp>
      <p:sp>
        <p:nvSpPr>
          <p:cNvPr id="6" name="Text 3"/>
          <p:cNvSpPr/>
          <p:nvPr/>
        </p:nvSpPr>
        <p:spPr>
          <a:xfrm>
            <a:off x="1530906" y="2768084"/>
            <a:ext cx="5670947" cy="1814513"/>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Popularisé par Antoine Watteau, ce thème représente des scènes de la vie aristocratique, avec des personnages élégants se divertissant dans des parcs et des jardins. Ces scènes célèbrent les plaisirs de l'amour, de la musique et de la conversation.</a:t>
            </a:r>
            <a:endParaRPr lang="en-US" sz="1750" dirty="0"/>
          </a:p>
        </p:txBody>
      </p:sp>
      <p:sp>
        <p:nvSpPr>
          <p:cNvPr id="7" name="Shape 4"/>
          <p:cNvSpPr/>
          <p:nvPr/>
        </p:nvSpPr>
        <p:spPr>
          <a:xfrm>
            <a:off x="7428667" y="2277666"/>
            <a:ext cx="510302" cy="510302"/>
          </a:xfrm>
          <a:prstGeom prst="roundRect">
            <a:avLst>
              <a:gd name="adj" fmla="val 6667"/>
            </a:avLst>
          </a:prstGeom>
          <a:solidFill>
            <a:srgbClr val="3F4652"/>
          </a:solidFill>
        </p:spPr>
      </p:sp>
      <p:pic>
        <p:nvPicPr>
          <p:cNvPr id="8" name="Image 1" descr="preencoded.png"/>
          <p:cNvPicPr>
            <a:picLocks noChangeAspect="1"/>
          </p:cNvPicPr>
          <p:nvPr/>
        </p:nvPicPr>
        <p:blipFill>
          <a:blip r:embed="rId2"/>
          <a:stretch>
            <a:fillRect/>
          </a:stretch>
        </p:blipFill>
        <p:spPr>
          <a:xfrm>
            <a:off x="7513737" y="2320171"/>
            <a:ext cx="340162" cy="425291"/>
          </a:xfrm>
          <a:prstGeom prst="rect">
            <a:avLst/>
          </a:prstGeom>
        </p:spPr>
      </p:pic>
      <p:sp>
        <p:nvSpPr>
          <p:cNvPr id="9" name="Text 5"/>
          <p:cNvSpPr/>
          <p:nvPr/>
        </p:nvSpPr>
        <p:spPr>
          <a:xfrm>
            <a:off x="8165783" y="2277666"/>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La Mythologie</a:t>
            </a:r>
            <a:endParaRPr lang="en-US" sz="2200" dirty="0"/>
          </a:p>
        </p:txBody>
      </p:sp>
      <p:sp>
        <p:nvSpPr>
          <p:cNvPr id="10" name="Text 6"/>
          <p:cNvSpPr/>
          <p:nvPr/>
        </p:nvSpPr>
        <p:spPr>
          <a:xfrm>
            <a:off x="8165783" y="2768084"/>
            <a:ext cx="5670947" cy="1814513"/>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Les sujets mythologiques sont revisités dans un esprit léger et sensuel. Les dieux et déesses sont représentés sous des traits humains, souvent dans des situations amoureuses ou galantes, contrastant avec les représentations plus solennelles du baroque.</a:t>
            </a:r>
            <a:endParaRPr lang="en-US" sz="1750" dirty="0"/>
          </a:p>
        </p:txBody>
      </p:sp>
      <p:sp>
        <p:nvSpPr>
          <p:cNvPr id="11" name="Shape 7"/>
          <p:cNvSpPr/>
          <p:nvPr/>
        </p:nvSpPr>
        <p:spPr>
          <a:xfrm>
            <a:off x="793790" y="5064562"/>
            <a:ext cx="510302" cy="510302"/>
          </a:xfrm>
          <a:prstGeom prst="roundRect">
            <a:avLst>
              <a:gd name="adj" fmla="val 6667"/>
            </a:avLst>
          </a:prstGeom>
          <a:solidFill>
            <a:srgbClr val="3F4652"/>
          </a:solidFill>
        </p:spPr>
      </p:sp>
      <p:pic>
        <p:nvPicPr>
          <p:cNvPr id="12" name="Image 2" descr="preencoded.png"/>
          <p:cNvPicPr>
            <a:picLocks noChangeAspect="1"/>
          </p:cNvPicPr>
          <p:nvPr/>
        </p:nvPicPr>
        <p:blipFill>
          <a:blip r:embed="rId3"/>
          <a:stretch>
            <a:fillRect/>
          </a:stretch>
        </p:blipFill>
        <p:spPr>
          <a:xfrm>
            <a:off x="878860" y="5107067"/>
            <a:ext cx="340162" cy="425291"/>
          </a:xfrm>
          <a:prstGeom prst="rect">
            <a:avLst/>
          </a:prstGeom>
        </p:spPr>
      </p:pic>
      <p:sp>
        <p:nvSpPr>
          <p:cNvPr id="13" name="Text 8"/>
          <p:cNvSpPr/>
          <p:nvPr/>
        </p:nvSpPr>
        <p:spPr>
          <a:xfrm>
            <a:off x="1530906" y="5064562"/>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L'Amour Courtois</a:t>
            </a:r>
            <a:endParaRPr lang="en-US" sz="2200" dirty="0"/>
          </a:p>
        </p:txBody>
      </p:sp>
      <p:sp>
        <p:nvSpPr>
          <p:cNvPr id="14" name="Text 9"/>
          <p:cNvSpPr/>
          <p:nvPr/>
        </p:nvSpPr>
        <p:spPr>
          <a:xfrm>
            <a:off x="1530906" y="5554980"/>
            <a:ext cx="5670947" cy="1814513"/>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L'amour est abordé de manière légère et badine, dans le respect des conventions de l'amour courtois. Les scènes de séduction, de flirt et de badinage amoureux sont fréquentes dans la peinture et les arts décoratifs rococo.</a:t>
            </a:r>
            <a:endParaRPr lang="en-US" sz="1750" dirty="0"/>
          </a:p>
        </p:txBody>
      </p:sp>
      <p:sp>
        <p:nvSpPr>
          <p:cNvPr id="15" name="Shape 10"/>
          <p:cNvSpPr/>
          <p:nvPr/>
        </p:nvSpPr>
        <p:spPr>
          <a:xfrm>
            <a:off x="7428667" y="5064562"/>
            <a:ext cx="510302" cy="510302"/>
          </a:xfrm>
          <a:prstGeom prst="roundRect">
            <a:avLst>
              <a:gd name="adj" fmla="val 6667"/>
            </a:avLst>
          </a:prstGeom>
          <a:solidFill>
            <a:srgbClr val="3F4652"/>
          </a:solidFill>
        </p:spPr>
      </p:sp>
      <p:pic>
        <p:nvPicPr>
          <p:cNvPr id="16" name="Image 3" descr="preencoded.png"/>
          <p:cNvPicPr>
            <a:picLocks noChangeAspect="1"/>
          </p:cNvPicPr>
          <p:nvPr/>
        </p:nvPicPr>
        <p:blipFill>
          <a:blip r:embed="rId4"/>
          <a:stretch>
            <a:fillRect/>
          </a:stretch>
        </p:blipFill>
        <p:spPr>
          <a:xfrm>
            <a:off x="7513737" y="5107067"/>
            <a:ext cx="340162" cy="425291"/>
          </a:xfrm>
          <a:prstGeom prst="rect">
            <a:avLst/>
          </a:prstGeom>
        </p:spPr>
      </p:pic>
      <p:sp>
        <p:nvSpPr>
          <p:cNvPr id="17" name="Text 11"/>
          <p:cNvSpPr/>
          <p:nvPr/>
        </p:nvSpPr>
        <p:spPr>
          <a:xfrm>
            <a:off x="8165783" y="5064562"/>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La Nature</a:t>
            </a:r>
            <a:endParaRPr lang="en-US" sz="2200" dirty="0"/>
          </a:p>
        </p:txBody>
      </p:sp>
      <p:sp>
        <p:nvSpPr>
          <p:cNvPr id="18" name="Text 12"/>
          <p:cNvSpPr/>
          <p:nvPr/>
        </p:nvSpPr>
        <p:spPr>
          <a:xfrm>
            <a:off x="8165783" y="5554980"/>
            <a:ext cx="5670947" cy="1451610"/>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La nature est omniprésente, non seulement comme élément de décor mais aussi comme source d'inspiration. Elle est idéalisée et transformée en un cadre idyllique pour les scènes galantes et amoureuses.</a:t>
            </a:r>
            <a:endParaRPr lang="en-US" sz="1750" dirty="0"/>
          </a:p>
        </p:txBody>
      </p:sp>
      <p:sp>
        <p:nvSpPr>
          <p:cNvPr id="19" name="Rectangle 18"/>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5924" y="608767"/>
            <a:ext cx="7512487" cy="648057"/>
          </a:xfrm>
          <a:prstGeom prst="rect">
            <a:avLst/>
          </a:prstGeom>
          <a:noFill/>
        </p:spPr>
        <p:txBody>
          <a:bodyPr wrap="none" lIns="0" tIns="0" rIns="0" bIns="0" rtlCol="0" anchor="t"/>
          <a:lstStyle/>
          <a:p>
            <a:pPr marL="0" indent="0" algn="l">
              <a:lnSpc>
                <a:spcPts val="5100"/>
              </a:lnSpc>
              <a:buNone/>
            </a:pPr>
            <a:r>
              <a:rPr lang="en-US" sz="4050" dirty="0">
                <a:solidFill>
                  <a:srgbClr val="76B9FF"/>
                </a:solidFill>
                <a:latin typeface="Roboto Slab" pitchFamily="34" charset="0"/>
                <a:ea typeface="Roboto Slab" pitchFamily="34" charset="-122"/>
                <a:cs typeface="Roboto Slab" pitchFamily="34" charset="-120"/>
              </a:rPr>
              <a:t>Les Grands Peintres du Rococo</a:t>
            </a:r>
            <a:endParaRPr lang="en-US" sz="4050" dirty="0"/>
          </a:p>
        </p:txBody>
      </p:sp>
      <p:pic>
        <p:nvPicPr>
          <p:cNvPr id="3" name="Image 0" descr="preencoded.png"/>
          <p:cNvPicPr>
            <a:picLocks noChangeAspect="1"/>
          </p:cNvPicPr>
          <p:nvPr/>
        </p:nvPicPr>
        <p:blipFill>
          <a:blip r:embed="rId1"/>
          <a:stretch>
            <a:fillRect/>
          </a:stretch>
        </p:blipFill>
        <p:spPr>
          <a:xfrm>
            <a:off x="725924" y="1671638"/>
            <a:ext cx="4185404" cy="2586752"/>
          </a:xfrm>
          <a:prstGeom prst="rect">
            <a:avLst/>
          </a:prstGeom>
        </p:spPr>
      </p:pic>
      <p:sp>
        <p:nvSpPr>
          <p:cNvPr id="4" name="Text 1"/>
          <p:cNvSpPr/>
          <p:nvPr/>
        </p:nvSpPr>
        <p:spPr>
          <a:xfrm>
            <a:off x="725924" y="4517588"/>
            <a:ext cx="3444121" cy="324088"/>
          </a:xfrm>
          <a:prstGeom prst="rect">
            <a:avLst/>
          </a:prstGeom>
          <a:noFill/>
        </p:spPr>
        <p:txBody>
          <a:bodyPr wrap="none" lIns="0" tIns="0" rIns="0" bIns="0" rtlCol="0" anchor="t"/>
          <a:lstStyle/>
          <a:p>
            <a:pPr marL="0" indent="0" algn="l">
              <a:lnSpc>
                <a:spcPts val="2550"/>
              </a:lnSpc>
              <a:buNone/>
            </a:pPr>
            <a:r>
              <a:rPr lang="en-US" sz="2000" dirty="0">
                <a:solidFill>
                  <a:srgbClr val="D6E5EF"/>
                </a:solidFill>
                <a:latin typeface="Roboto Slab" pitchFamily="34" charset="0"/>
                <a:ea typeface="Roboto Slab" pitchFamily="34" charset="-122"/>
                <a:cs typeface="Roboto Slab" pitchFamily="34" charset="-120"/>
              </a:rPr>
              <a:t>Antoine Watteau (1684-1721)</a:t>
            </a:r>
            <a:endParaRPr lang="en-US" sz="2000" dirty="0"/>
          </a:p>
        </p:txBody>
      </p:sp>
      <p:sp>
        <p:nvSpPr>
          <p:cNvPr id="5" name="Text 2"/>
          <p:cNvSpPr/>
          <p:nvPr/>
        </p:nvSpPr>
        <p:spPr>
          <a:xfrm>
            <a:off x="725924" y="4966097"/>
            <a:ext cx="4185404" cy="2654617"/>
          </a:xfrm>
          <a:prstGeom prst="rect">
            <a:avLst/>
          </a:prstGeom>
          <a:noFill/>
        </p:spPr>
        <p:txBody>
          <a:bodyPr wrap="square" lIns="0" tIns="0" rIns="0" bIns="0" rtlCol="0" anchor="t"/>
          <a:lstStyle/>
          <a:p>
            <a:pPr marL="0" indent="0" algn="l">
              <a:lnSpc>
                <a:spcPts val="2600"/>
              </a:lnSpc>
              <a:buNone/>
            </a:pPr>
            <a:r>
              <a:rPr lang="en-US" sz="1600" dirty="0">
                <a:solidFill>
                  <a:srgbClr val="D6E5EF"/>
                </a:solidFill>
                <a:latin typeface="Roboto" panose="02000000000000000000" pitchFamily="34" charset="0"/>
                <a:ea typeface="Roboto" panose="02000000000000000000" pitchFamily="34" charset="-122"/>
                <a:cs typeface="Roboto" panose="02000000000000000000" pitchFamily="34" charset="-120"/>
              </a:rPr>
              <a:t>Considéré comme le créateur du genre de la fête galante, Watteau a peint des scènes raffinées et mélancoliques, mettant en scène des personnages élégants dans des décors bucoliques. Son utilisation de la couleur, sa maîtrise de la lumière et son sens du mouvement ont fait de lui l'un des plus grands peintres du rococo.</a:t>
            </a:r>
            <a:endParaRPr lang="en-US" sz="1600" dirty="0"/>
          </a:p>
        </p:txBody>
      </p:sp>
      <p:pic>
        <p:nvPicPr>
          <p:cNvPr id="6" name="Image 1" descr="preencoded.png"/>
          <p:cNvPicPr>
            <a:picLocks noChangeAspect="1"/>
          </p:cNvPicPr>
          <p:nvPr/>
        </p:nvPicPr>
        <p:blipFill>
          <a:blip r:embed="rId2"/>
          <a:stretch>
            <a:fillRect/>
          </a:stretch>
        </p:blipFill>
        <p:spPr>
          <a:xfrm>
            <a:off x="5222438" y="1671638"/>
            <a:ext cx="4185404" cy="2586752"/>
          </a:xfrm>
          <a:prstGeom prst="rect">
            <a:avLst/>
          </a:prstGeom>
        </p:spPr>
      </p:pic>
      <p:sp>
        <p:nvSpPr>
          <p:cNvPr id="7" name="Text 3"/>
          <p:cNvSpPr/>
          <p:nvPr/>
        </p:nvSpPr>
        <p:spPr>
          <a:xfrm>
            <a:off x="5222438" y="4517588"/>
            <a:ext cx="3550801" cy="324088"/>
          </a:xfrm>
          <a:prstGeom prst="rect">
            <a:avLst/>
          </a:prstGeom>
          <a:noFill/>
        </p:spPr>
        <p:txBody>
          <a:bodyPr wrap="none" lIns="0" tIns="0" rIns="0" bIns="0" rtlCol="0" anchor="t"/>
          <a:lstStyle/>
          <a:p>
            <a:pPr marL="0" indent="0" algn="l">
              <a:lnSpc>
                <a:spcPts val="2550"/>
              </a:lnSpc>
              <a:buNone/>
            </a:pPr>
            <a:r>
              <a:rPr lang="en-US" sz="2000" dirty="0">
                <a:solidFill>
                  <a:srgbClr val="D6E5EF"/>
                </a:solidFill>
                <a:latin typeface="Roboto Slab" pitchFamily="34" charset="0"/>
                <a:ea typeface="Roboto Slab" pitchFamily="34" charset="-122"/>
                <a:cs typeface="Roboto Slab" pitchFamily="34" charset="-120"/>
              </a:rPr>
              <a:t>François Boucher (1703-1770)</a:t>
            </a:r>
            <a:endParaRPr lang="en-US" sz="2000" dirty="0"/>
          </a:p>
        </p:txBody>
      </p:sp>
      <p:sp>
        <p:nvSpPr>
          <p:cNvPr id="8" name="Text 4"/>
          <p:cNvSpPr/>
          <p:nvPr/>
        </p:nvSpPr>
        <p:spPr>
          <a:xfrm>
            <a:off x="5222438" y="4966097"/>
            <a:ext cx="4185404" cy="1990963"/>
          </a:xfrm>
          <a:prstGeom prst="rect">
            <a:avLst/>
          </a:prstGeom>
          <a:noFill/>
        </p:spPr>
        <p:txBody>
          <a:bodyPr wrap="square" lIns="0" tIns="0" rIns="0" bIns="0" rtlCol="0" anchor="t"/>
          <a:lstStyle/>
          <a:p>
            <a:pPr marL="0" indent="0" algn="l">
              <a:lnSpc>
                <a:spcPts val="2600"/>
              </a:lnSpc>
              <a:buNone/>
            </a:pPr>
            <a:r>
              <a:rPr lang="en-US" sz="1600" dirty="0">
                <a:solidFill>
                  <a:srgbClr val="D6E5EF"/>
                </a:solidFill>
                <a:latin typeface="Roboto" panose="02000000000000000000" pitchFamily="34" charset="0"/>
                <a:ea typeface="Roboto" panose="02000000000000000000" pitchFamily="34" charset="-122"/>
                <a:cs typeface="Roboto" panose="02000000000000000000" pitchFamily="34" charset="-120"/>
              </a:rPr>
              <a:t>Peintre favori de Madame de Pompadour, Boucher a créé des œuvres sensuelles et décoratives, aux couleurs lumineuses et aux formes voluptueuses. Ses peintures mythologiques et pastorales sont emblématiques du style rococo.</a:t>
            </a:r>
            <a:endParaRPr lang="en-US" sz="1600" dirty="0"/>
          </a:p>
        </p:txBody>
      </p:sp>
      <p:pic>
        <p:nvPicPr>
          <p:cNvPr id="9" name="Image 2" descr="C:/Users/ngom4/Downloads/1521px-Jean_Honore_Fragonard_The_Bolt.jpg1521px-Jean_Honore_Fragonard_The_Bolt"/>
          <p:cNvPicPr>
            <a:picLocks noChangeAspect="1"/>
          </p:cNvPicPr>
          <p:nvPr/>
        </p:nvPicPr>
        <p:blipFill>
          <a:blip r:embed="rId3"/>
          <a:srcRect t="10774" b="10774"/>
          <a:stretch>
            <a:fillRect/>
          </a:stretch>
        </p:blipFill>
        <p:spPr>
          <a:xfrm>
            <a:off x="9718953" y="1671638"/>
            <a:ext cx="4185523" cy="2586752"/>
          </a:xfrm>
          <a:prstGeom prst="rect">
            <a:avLst/>
          </a:prstGeom>
        </p:spPr>
      </p:pic>
      <p:sp>
        <p:nvSpPr>
          <p:cNvPr id="10" name="Text 5"/>
          <p:cNvSpPr/>
          <p:nvPr/>
        </p:nvSpPr>
        <p:spPr>
          <a:xfrm>
            <a:off x="9718953" y="4517588"/>
            <a:ext cx="4185523" cy="648176"/>
          </a:xfrm>
          <a:prstGeom prst="rect">
            <a:avLst/>
          </a:prstGeom>
          <a:noFill/>
        </p:spPr>
        <p:txBody>
          <a:bodyPr wrap="square" lIns="0" tIns="0" rIns="0" bIns="0" rtlCol="0" anchor="t"/>
          <a:lstStyle/>
          <a:p>
            <a:pPr marL="0" indent="0" algn="l">
              <a:lnSpc>
                <a:spcPts val="2550"/>
              </a:lnSpc>
              <a:buNone/>
            </a:pPr>
            <a:r>
              <a:rPr lang="en-US" sz="2000" dirty="0">
                <a:solidFill>
                  <a:srgbClr val="D6E5EF"/>
                </a:solidFill>
                <a:latin typeface="Roboto Slab" pitchFamily="34" charset="0"/>
                <a:ea typeface="Roboto Slab" pitchFamily="34" charset="-122"/>
                <a:cs typeface="Roboto Slab" pitchFamily="34" charset="-120"/>
              </a:rPr>
              <a:t>Jean-Honoré Fragonard (1732-1806)</a:t>
            </a:r>
            <a:endParaRPr lang="en-US" sz="2000" dirty="0"/>
          </a:p>
        </p:txBody>
      </p:sp>
      <p:sp>
        <p:nvSpPr>
          <p:cNvPr id="11" name="Text 6"/>
          <p:cNvSpPr/>
          <p:nvPr/>
        </p:nvSpPr>
        <p:spPr>
          <a:xfrm>
            <a:off x="9718953" y="5290185"/>
            <a:ext cx="4185523" cy="1659136"/>
          </a:xfrm>
          <a:prstGeom prst="rect">
            <a:avLst/>
          </a:prstGeom>
          <a:noFill/>
        </p:spPr>
        <p:txBody>
          <a:bodyPr wrap="square" lIns="0" tIns="0" rIns="0" bIns="0" rtlCol="0" anchor="t"/>
          <a:lstStyle/>
          <a:p>
            <a:pPr marL="0" indent="0" algn="l">
              <a:lnSpc>
                <a:spcPts val="2600"/>
              </a:lnSpc>
              <a:buNone/>
            </a:pPr>
            <a:r>
              <a:rPr lang="en-US" sz="1600" dirty="0">
                <a:solidFill>
                  <a:srgbClr val="D6E5EF"/>
                </a:solidFill>
                <a:latin typeface="Roboto" panose="02000000000000000000" pitchFamily="34" charset="0"/>
                <a:ea typeface="Roboto" panose="02000000000000000000" pitchFamily="34" charset="-122"/>
                <a:cs typeface="Roboto" panose="02000000000000000000" pitchFamily="34" charset="-120"/>
              </a:rPr>
              <a:t>Fragonard est connu pour ses scènes galantes et libertines, caractérisées par leur légèreté, leur spontanéité et leur érotisme subtil. "Le Verrou" et "L'Escarpolette" sont parmi ses œuvres les plus célèbres.</a:t>
            </a:r>
            <a:endParaRPr lang="en-US" sz="1600" dirty="0"/>
          </a:p>
        </p:txBody>
      </p:sp>
      <p:sp>
        <p:nvSpPr>
          <p:cNvPr id="15" name="Rectangle 14"/>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86314"/>
            <a:ext cx="9813608" cy="708779"/>
          </a:xfrm>
          <a:prstGeom prst="rect">
            <a:avLst/>
          </a:prstGeom>
          <a:noFill/>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Architecture et Décoration Intérieure</a:t>
            </a:r>
            <a:endParaRPr lang="en-US" sz="4450" dirty="0"/>
          </a:p>
        </p:txBody>
      </p:sp>
      <p:sp>
        <p:nvSpPr>
          <p:cNvPr id="3" name="Text 1"/>
          <p:cNvSpPr/>
          <p:nvPr/>
        </p:nvSpPr>
        <p:spPr>
          <a:xfrm>
            <a:off x="793790" y="2262068"/>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Espaces Intimes</a:t>
            </a:r>
            <a:endParaRPr lang="en-US" sz="2200" dirty="0"/>
          </a:p>
        </p:txBody>
      </p:sp>
      <p:sp>
        <p:nvSpPr>
          <p:cNvPr id="4" name="Text 2"/>
          <p:cNvSpPr/>
          <p:nvPr/>
        </p:nvSpPr>
        <p:spPr>
          <a:xfrm>
            <a:off x="793790" y="2843213"/>
            <a:ext cx="3978116" cy="2177415"/>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L'architecture rococo se caractérise par des espaces intérieurs intimes, conçus pour le confort et la sociabilité. Les salons, boudoirs et cabinets deviennent des lieux privilégiés pour la conversation et les divertissements.</a:t>
            </a:r>
            <a:endParaRPr lang="en-US" sz="1750" dirty="0"/>
          </a:p>
        </p:txBody>
      </p:sp>
      <p:sp>
        <p:nvSpPr>
          <p:cNvPr id="5" name="Text 3"/>
          <p:cNvSpPr/>
          <p:nvPr/>
        </p:nvSpPr>
        <p:spPr>
          <a:xfrm>
            <a:off x="793790" y="5224701"/>
            <a:ext cx="3978116" cy="1814513"/>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Ces espaces sont pensés à échelle humaine, contrastant avec la monumentalité baroque, et favorisent une atmosphère de détente et d'intimité.</a:t>
            </a:r>
            <a:endParaRPr lang="en-US" sz="1750" dirty="0"/>
          </a:p>
        </p:txBody>
      </p:sp>
      <p:sp>
        <p:nvSpPr>
          <p:cNvPr id="6" name="Text 4"/>
          <p:cNvSpPr/>
          <p:nvPr/>
        </p:nvSpPr>
        <p:spPr>
          <a:xfrm>
            <a:off x="5332928" y="2262068"/>
            <a:ext cx="3326011" cy="354330"/>
          </a:xfrm>
          <a:prstGeom prst="rect">
            <a:avLst/>
          </a:prstGeom>
          <a:noFill/>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Matériaux et Techniques</a:t>
            </a:r>
            <a:endParaRPr lang="en-US" sz="2200" dirty="0"/>
          </a:p>
        </p:txBody>
      </p:sp>
      <p:sp>
        <p:nvSpPr>
          <p:cNvPr id="7" name="Text 5"/>
          <p:cNvSpPr/>
          <p:nvPr/>
        </p:nvSpPr>
        <p:spPr>
          <a:xfrm>
            <a:off x="5332928" y="2843213"/>
            <a:ext cx="3978116" cy="2177415"/>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Les intérieurs rococo sont ornés de stucs, de boiseries sculptées, de miroirs et de dorures. Les artisans utilisent des techniques sophistiquées pour créer des effets de texture et de lumière.</a:t>
            </a:r>
            <a:endParaRPr lang="en-US" sz="1750" dirty="0"/>
          </a:p>
        </p:txBody>
      </p:sp>
      <p:sp>
        <p:nvSpPr>
          <p:cNvPr id="8" name="Text 6"/>
          <p:cNvSpPr/>
          <p:nvPr/>
        </p:nvSpPr>
        <p:spPr>
          <a:xfrm>
            <a:off x="5332928" y="5224701"/>
            <a:ext cx="3978116" cy="1451610"/>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La porcelaine, le bois précieux et les tissus luxueux complètent ces décors raffinés, témoignant du savoir-faire exceptionnel des artisans de l'époque.</a:t>
            </a:r>
            <a:endParaRPr lang="en-US" sz="1750" dirty="0"/>
          </a:p>
        </p:txBody>
      </p:sp>
      <p:sp>
        <p:nvSpPr>
          <p:cNvPr id="9" name="Text 7"/>
          <p:cNvSpPr/>
          <p:nvPr/>
        </p:nvSpPr>
        <p:spPr>
          <a:xfrm>
            <a:off x="9872067" y="2262068"/>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Maîtres Décorateurs</a:t>
            </a:r>
            <a:endParaRPr lang="en-US" sz="2200" dirty="0"/>
          </a:p>
        </p:txBody>
      </p:sp>
      <p:sp>
        <p:nvSpPr>
          <p:cNvPr id="10" name="Text 8"/>
          <p:cNvSpPr/>
          <p:nvPr/>
        </p:nvSpPr>
        <p:spPr>
          <a:xfrm>
            <a:off x="9872067" y="2843213"/>
            <a:ext cx="3978116" cy="2903220"/>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Germain Boffrand, Juste-Aurèle Meissonnier et Nicolas Pineau comptent parmi les architectes et décorateurs les plus importants de cette période. Leurs créations ont transformé les hôtels particuliers et les châteaux en véritables écrins de raffinement.</a:t>
            </a:r>
            <a:endParaRPr lang="en-US" sz="1750" dirty="0"/>
          </a:p>
        </p:txBody>
      </p:sp>
      <p:sp>
        <p:nvSpPr>
          <p:cNvPr id="11" name="Text 9"/>
          <p:cNvSpPr/>
          <p:nvPr/>
        </p:nvSpPr>
        <p:spPr>
          <a:xfrm>
            <a:off x="9872067" y="5950506"/>
            <a:ext cx="3978116" cy="1088708"/>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Ces artistes ont développé un langage décoratif cohérent, où chaque élément contribue à l'harmonie de l'ensemble.</a:t>
            </a:r>
            <a:endParaRPr lang="en-US" sz="1750" dirty="0"/>
          </a:p>
        </p:txBody>
      </p:sp>
      <p:sp>
        <p:nvSpPr>
          <p:cNvPr id="15" name="Rectangle 14"/>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15164"/>
            <a:ext cx="8707398" cy="708779"/>
          </a:xfrm>
          <a:prstGeom prst="rect">
            <a:avLst/>
          </a:prstGeom>
          <a:noFill/>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Diffusion Européenne du Rococo</a:t>
            </a:r>
            <a:endParaRPr lang="en-US" sz="4450" dirty="0"/>
          </a:p>
        </p:txBody>
      </p:sp>
      <p:sp>
        <p:nvSpPr>
          <p:cNvPr id="3" name="Shape 1"/>
          <p:cNvSpPr/>
          <p:nvPr/>
        </p:nvSpPr>
        <p:spPr>
          <a:xfrm>
            <a:off x="793790" y="2590919"/>
            <a:ext cx="2551986" cy="283488"/>
          </a:xfrm>
          <a:prstGeom prst="roundRect">
            <a:avLst>
              <a:gd name="adj" fmla="val 12002"/>
            </a:avLst>
          </a:prstGeom>
          <a:solidFill>
            <a:srgbClr val="3F4652"/>
          </a:solidFill>
        </p:spPr>
      </p:sp>
      <p:sp>
        <p:nvSpPr>
          <p:cNvPr id="4" name="Text 2"/>
          <p:cNvSpPr/>
          <p:nvPr/>
        </p:nvSpPr>
        <p:spPr>
          <a:xfrm>
            <a:off x="793790" y="3157776"/>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France</a:t>
            </a:r>
            <a:endParaRPr lang="en-US" sz="2200" dirty="0"/>
          </a:p>
        </p:txBody>
      </p:sp>
      <p:sp>
        <p:nvSpPr>
          <p:cNvPr id="5" name="Text 3"/>
          <p:cNvSpPr/>
          <p:nvPr/>
        </p:nvSpPr>
        <p:spPr>
          <a:xfrm>
            <a:off x="793790" y="3648194"/>
            <a:ext cx="3005495" cy="2540318"/>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Berceau du rococo, la France établit les canons du style sous Louis XV. Les hôtels particuliers parisiens et les châteaux royaux deviennent des modèles admirés et imités dans toute l'Europe.</a:t>
            </a:r>
            <a:endParaRPr lang="en-US" sz="1750" dirty="0"/>
          </a:p>
        </p:txBody>
      </p:sp>
      <p:sp>
        <p:nvSpPr>
          <p:cNvPr id="6" name="Shape 4"/>
          <p:cNvSpPr/>
          <p:nvPr/>
        </p:nvSpPr>
        <p:spPr>
          <a:xfrm>
            <a:off x="4139446" y="2590919"/>
            <a:ext cx="2552105" cy="283488"/>
          </a:xfrm>
          <a:prstGeom prst="roundRect">
            <a:avLst>
              <a:gd name="adj" fmla="val 12002"/>
            </a:avLst>
          </a:prstGeom>
          <a:solidFill>
            <a:srgbClr val="3F4652"/>
          </a:solidFill>
        </p:spPr>
      </p:sp>
      <p:sp>
        <p:nvSpPr>
          <p:cNvPr id="7" name="Text 5"/>
          <p:cNvSpPr/>
          <p:nvPr/>
        </p:nvSpPr>
        <p:spPr>
          <a:xfrm>
            <a:off x="4139446" y="3157776"/>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Allemagne</a:t>
            </a:r>
            <a:endParaRPr lang="en-US" sz="2200" dirty="0"/>
          </a:p>
        </p:txBody>
      </p:sp>
      <p:sp>
        <p:nvSpPr>
          <p:cNvPr id="8" name="Text 6"/>
          <p:cNvSpPr/>
          <p:nvPr/>
        </p:nvSpPr>
        <p:spPr>
          <a:xfrm>
            <a:off x="4139446" y="3648194"/>
            <a:ext cx="3005614" cy="3266123"/>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Le rococo prend une ampleur particulière dans la décoration des églises et des palais allemands, avec des édifices somptueux et richement ornés. Le "rokoko" allemand se distingue par son exubérance et sa théâtralité.</a:t>
            </a:r>
            <a:endParaRPr lang="en-US" sz="1750" dirty="0"/>
          </a:p>
        </p:txBody>
      </p:sp>
      <p:sp>
        <p:nvSpPr>
          <p:cNvPr id="9" name="Shape 7"/>
          <p:cNvSpPr/>
          <p:nvPr/>
        </p:nvSpPr>
        <p:spPr>
          <a:xfrm>
            <a:off x="7485221" y="2590919"/>
            <a:ext cx="2552105" cy="283488"/>
          </a:xfrm>
          <a:prstGeom prst="roundRect">
            <a:avLst>
              <a:gd name="adj" fmla="val 12002"/>
            </a:avLst>
          </a:prstGeom>
          <a:solidFill>
            <a:srgbClr val="3F4652"/>
          </a:solidFill>
        </p:spPr>
      </p:sp>
      <p:sp>
        <p:nvSpPr>
          <p:cNvPr id="10" name="Text 8"/>
          <p:cNvSpPr/>
          <p:nvPr/>
        </p:nvSpPr>
        <p:spPr>
          <a:xfrm>
            <a:off x="7485221" y="3157776"/>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Italie</a:t>
            </a:r>
            <a:endParaRPr lang="en-US" sz="2200" dirty="0"/>
          </a:p>
        </p:txBody>
      </p:sp>
      <p:sp>
        <p:nvSpPr>
          <p:cNvPr id="11" name="Text 9"/>
          <p:cNvSpPr/>
          <p:nvPr/>
        </p:nvSpPr>
        <p:spPr>
          <a:xfrm>
            <a:off x="7485221" y="3648194"/>
            <a:ext cx="3005614" cy="2903220"/>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Le rococo vénitien se distingue par ses couleurs vives et ses scènes de la vie quotidienne. Les peintres comme Tiepolo créent des fresques lumineuses qui ornent palais et églises de la Sérénissime.</a:t>
            </a:r>
            <a:endParaRPr lang="en-US" sz="1750" dirty="0"/>
          </a:p>
        </p:txBody>
      </p:sp>
      <p:sp>
        <p:nvSpPr>
          <p:cNvPr id="12" name="Shape 10"/>
          <p:cNvSpPr/>
          <p:nvPr/>
        </p:nvSpPr>
        <p:spPr>
          <a:xfrm>
            <a:off x="10830997" y="2590919"/>
            <a:ext cx="2552105" cy="283488"/>
          </a:xfrm>
          <a:prstGeom prst="roundRect">
            <a:avLst>
              <a:gd name="adj" fmla="val 12002"/>
            </a:avLst>
          </a:prstGeom>
          <a:solidFill>
            <a:srgbClr val="3F4652"/>
          </a:solidFill>
        </p:spPr>
      </p:sp>
      <p:sp>
        <p:nvSpPr>
          <p:cNvPr id="13" name="Text 11"/>
          <p:cNvSpPr/>
          <p:nvPr/>
        </p:nvSpPr>
        <p:spPr>
          <a:xfrm>
            <a:off x="10830997" y="3157776"/>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Autres Pays</a:t>
            </a:r>
            <a:endParaRPr lang="en-US" sz="2200" dirty="0"/>
          </a:p>
        </p:txBody>
      </p:sp>
      <p:sp>
        <p:nvSpPr>
          <p:cNvPr id="14" name="Text 12"/>
          <p:cNvSpPr/>
          <p:nvPr/>
        </p:nvSpPr>
        <p:spPr>
          <a:xfrm>
            <a:off x="10830997" y="3648194"/>
            <a:ext cx="3005614" cy="2540318"/>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L'influence du rococo se fait également sentir en Espagne, en Autriche et en Russie, où il se mêle aux traditions locales pour créer des styles uniques, témoignant de la diversité culturelle européenne.</a:t>
            </a:r>
            <a:endParaRPr lang="en-US" sz="1750" dirty="0"/>
          </a:p>
        </p:txBody>
      </p:sp>
      <p:sp>
        <p:nvSpPr>
          <p:cNvPr id="15" name="Rectangle 14"/>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68509" y="693777"/>
            <a:ext cx="4872395" cy="609005"/>
          </a:xfrm>
          <a:prstGeom prst="rect">
            <a:avLst/>
          </a:prstGeom>
          <a:noFill/>
        </p:spPr>
        <p:txBody>
          <a:bodyPr wrap="none" lIns="0" tIns="0" rIns="0" bIns="0" rtlCol="0" anchor="t"/>
          <a:lstStyle/>
          <a:p>
            <a:pPr marL="0" indent="0" algn="l">
              <a:lnSpc>
                <a:spcPts val="4750"/>
              </a:lnSpc>
              <a:buNone/>
            </a:pPr>
            <a:r>
              <a:rPr lang="en-US" sz="3800" dirty="0">
                <a:solidFill>
                  <a:srgbClr val="76B9FF"/>
                </a:solidFill>
                <a:latin typeface="Roboto Slab" pitchFamily="34" charset="0"/>
                <a:ea typeface="Roboto Slab" pitchFamily="34" charset="-122"/>
                <a:cs typeface="Roboto Slab" pitchFamily="34" charset="-120"/>
              </a:rPr>
              <a:t>Déclin du Rococo</a:t>
            </a:r>
            <a:endParaRPr lang="en-US" sz="3800" dirty="0"/>
          </a:p>
        </p:txBody>
      </p:sp>
      <p:sp>
        <p:nvSpPr>
          <p:cNvPr id="4" name="Shape 1"/>
          <p:cNvSpPr/>
          <p:nvPr/>
        </p:nvSpPr>
        <p:spPr>
          <a:xfrm>
            <a:off x="6387703" y="1595080"/>
            <a:ext cx="22860" cy="5940623"/>
          </a:xfrm>
          <a:prstGeom prst="roundRect">
            <a:avLst>
              <a:gd name="adj" fmla="val 127885"/>
            </a:avLst>
          </a:prstGeom>
          <a:solidFill>
            <a:srgbClr val="585F6B"/>
          </a:solidFill>
        </p:spPr>
      </p:sp>
      <p:sp>
        <p:nvSpPr>
          <p:cNvPr id="5" name="Shape 2"/>
          <p:cNvSpPr/>
          <p:nvPr/>
        </p:nvSpPr>
        <p:spPr>
          <a:xfrm>
            <a:off x="6584097" y="2022038"/>
            <a:ext cx="584597" cy="22860"/>
          </a:xfrm>
          <a:prstGeom prst="roundRect">
            <a:avLst>
              <a:gd name="adj" fmla="val 127885"/>
            </a:avLst>
          </a:prstGeom>
          <a:solidFill>
            <a:srgbClr val="585F6B"/>
          </a:solidFill>
        </p:spPr>
      </p:sp>
      <p:sp>
        <p:nvSpPr>
          <p:cNvPr id="6" name="Shape 3"/>
          <p:cNvSpPr/>
          <p:nvPr/>
        </p:nvSpPr>
        <p:spPr>
          <a:xfrm>
            <a:off x="6168450" y="1814274"/>
            <a:ext cx="438507" cy="438507"/>
          </a:xfrm>
          <a:prstGeom prst="roundRect">
            <a:avLst>
              <a:gd name="adj" fmla="val 6667"/>
            </a:avLst>
          </a:prstGeom>
          <a:solidFill>
            <a:srgbClr val="3F4652"/>
          </a:solidFill>
        </p:spPr>
      </p:sp>
      <p:pic>
        <p:nvPicPr>
          <p:cNvPr id="7" name="Image 1" descr="preencoded.png"/>
          <p:cNvPicPr>
            <a:picLocks noChangeAspect="1"/>
          </p:cNvPicPr>
          <p:nvPr/>
        </p:nvPicPr>
        <p:blipFill>
          <a:blip r:embed="rId2"/>
          <a:stretch>
            <a:fillRect/>
          </a:stretch>
        </p:blipFill>
        <p:spPr>
          <a:xfrm>
            <a:off x="6241494" y="1850767"/>
            <a:ext cx="292298" cy="365403"/>
          </a:xfrm>
          <a:prstGeom prst="rect">
            <a:avLst/>
          </a:prstGeom>
        </p:spPr>
      </p:pic>
      <p:sp>
        <p:nvSpPr>
          <p:cNvPr id="8" name="Text 4"/>
          <p:cNvSpPr/>
          <p:nvPr/>
        </p:nvSpPr>
        <p:spPr>
          <a:xfrm>
            <a:off x="7362230" y="1789867"/>
            <a:ext cx="2436138" cy="304443"/>
          </a:xfrm>
          <a:prstGeom prst="rect">
            <a:avLst/>
          </a:prstGeom>
          <a:noFill/>
        </p:spPr>
        <p:txBody>
          <a:bodyPr wrap="none" lIns="0" tIns="0" rIns="0" bIns="0" rtlCol="0" anchor="t"/>
          <a:lstStyle/>
          <a:p>
            <a:pPr marL="0" indent="0" algn="l">
              <a:lnSpc>
                <a:spcPts val="2350"/>
              </a:lnSpc>
              <a:buNone/>
            </a:pPr>
            <a:r>
              <a:rPr lang="en-US" sz="1900" dirty="0">
                <a:solidFill>
                  <a:srgbClr val="D6E5EF"/>
                </a:solidFill>
                <a:latin typeface="Roboto Slab" pitchFamily="34" charset="0"/>
                <a:ea typeface="Roboto Slab" pitchFamily="34" charset="-122"/>
                <a:cs typeface="Roboto Slab" pitchFamily="34" charset="-120"/>
              </a:rPr>
              <a:t>Années 1760</a:t>
            </a:r>
            <a:endParaRPr lang="en-US" sz="1900" dirty="0"/>
          </a:p>
        </p:txBody>
      </p:sp>
      <p:sp>
        <p:nvSpPr>
          <p:cNvPr id="9" name="Text 5"/>
          <p:cNvSpPr/>
          <p:nvPr/>
        </p:nvSpPr>
        <p:spPr>
          <a:xfrm>
            <a:off x="7362230" y="2211229"/>
            <a:ext cx="6586061" cy="935474"/>
          </a:xfrm>
          <a:prstGeom prst="rect">
            <a:avLst/>
          </a:prstGeom>
          <a:noFill/>
        </p:spPr>
        <p:txBody>
          <a:bodyPr wrap="square" lIns="0" tIns="0" rIns="0" bIns="0" rtlCol="0" anchor="t"/>
          <a:lstStyle/>
          <a:p>
            <a:pPr marL="0" indent="0" algn="l">
              <a:lnSpc>
                <a:spcPts val="2450"/>
              </a:lnSpc>
              <a:buNone/>
            </a:pPr>
            <a:r>
              <a:rPr lang="en-US" sz="1500" dirty="0">
                <a:solidFill>
                  <a:srgbClr val="D6E5EF"/>
                </a:solidFill>
                <a:latin typeface="Roboto" panose="02000000000000000000" pitchFamily="34" charset="0"/>
                <a:ea typeface="Roboto" panose="02000000000000000000" pitchFamily="34" charset="-122"/>
                <a:cs typeface="Roboto" panose="02000000000000000000" pitchFamily="34" charset="-120"/>
              </a:rPr>
              <a:t>Le rococo commence à être critiqué pour son caractère frivole et son manque de sérieux. Les intellectuels des Lumières dénoncent son artificialité et son éloignement des valeurs morales et civiques.</a:t>
            </a:r>
            <a:endParaRPr lang="en-US" sz="1500" dirty="0"/>
          </a:p>
        </p:txBody>
      </p:sp>
      <p:sp>
        <p:nvSpPr>
          <p:cNvPr id="10" name="Shape 6"/>
          <p:cNvSpPr/>
          <p:nvPr/>
        </p:nvSpPr>
        <p:spPr>
          <a:xfrm>
            <a:off x="6584097" y="3963233"/>
            <a:ext cx="584597" cy="22860"/>
          </a:xfrm>
          <a:prstGeom prst="roundRect">
            <a:avLst>
              <a:gd name="adj" fmla="val 127885"/>
            </a:avLst>
          </a:prstGeom>
          <a:solidFill>
            <a:srgbClr val="585F6B"/>
          </a:solidFill>
        </p:spPr>
      </p:sp>
      <p:sp>
        <p:nvSpPr>
          <p:cNvPr id="11" name="Shape 7"/>
          <p:cNvSpPr/>
          <p:nvPr/>
        </p:nvSpPr>
        <p:spPr>
          <a:xfrm>
            <a:off x="6168450" y="3755469"/>
            <a:ext cx="438507" cy="438507"/>
          </a:xfrm>
          <a:prstGeom prst="roundRect">
            <a:avLst>
              <a:gd name="adj" fmla="val 6667"/>
            </a:avLst>
          </a:prstGeom>
          <a:solidFill>
            <a:srgbClr val="3F4652"/>
          </a:solidFill>
        </p:spPr>
      </p:sp>
      <p:pic>
        <p:nvPicPr>
          <p:cNvPr id="12" name="Image 2" descr="preencoded.png"/>
          <p:cNvPicPr>
            <a:picLocks noChangeAspect="1"/>
          </p:cNvPicPr>
          <p:nvPr/>
        </p:nvPicPr>
        <p:blipFill>
          <a:blip r:embed="rId3"/>
          <a:stretch>
            <a:fillRect/>
          </a:stretch>
        </p:blipFill>
        <p:spPr>
          <a:xfrm>
            <a:off x="6241494" y="3791962"/>
            <a:ext cx="292298" cy="365403"/>
          </a:xfrm>
          <a:prstGeom prst="rect">
            <a:avLst/>
          </a:prstGeom>
        </p:spPr>
      </p:pic>
      <p:sp>
        <p:nvSpPr>
          <p:cNvPr id="13" name="Text 8"/>
          <p:cNvSpPr/>
          <p:nvPr/>
        </p:nvSpPr>
        <p:spPr>
          <a:xfrm>
            <a:off x="7362230" y="3731062"/>
            <a:ext cx="3082885" cy="304443"/>
          </a:xfrm>
          <a:prstGeom prst="rect">
            <a:avLst/>
          </a:prstGeom>
          <a:noFill/>
        </p:spPr>
        <p:txBody>
          <a:bodyPr wrap="none" lIns="0" tIns="0" rIns="0" bIns="0" rtlCol="0" anchor="t"/>
          <a:lstStyle/>
          <a:p>
            <a:pPr marL="0" indent="0" algn="l">
              <a:lnSpc>
                <a:spcPts val="2350"/>
              </a:lnSpc>
              <a:buNone/>
            </a:pPr>
            <a:r>
              <a:rPr lang="en-US" sz="1900" dirty="0">
                <a:solidFill>
                  <a:srgbClr val="D6E5EF"/>
                </a:solidFill>
                <a:latin typeface="Roboto Slab" pitchFamily="34" charset="0"/>
                <a:ea typeface="Roboto Slab" pitchFamily="34" charset="-122"/>
                <a:cs typeface="Roboto Slab" pitchFamily="34" charset="-120"/>
              </a:rPr>
              <a:t>Montée du Néoclassicisme</a:t>
            </a:r>
            <a:endParaRPr lang="en-US" sz="1900" dirty="0"/>
          </a:p>
        </p:txBody>
      </p:sp>
      <p:sp>
        <p:nvSpPr>
          <p:cNvPr id="14" name="Text 9"/>
          <p:cNvSpPr/>
          <p:nvPr/>
        </p:nvSpPr>
        <p:spPr>
          <a:xfrm>
            <a:off x="7362230" y="4152424"/>
            <a:ext cx="6586061" cy="935474"/>
          </a:xfrm>
          <a:prstGeom prst="rect">
            <a:avLst/>
          </a:prstGeom>
          <a:noFill/>
        </p:spPr>
        <p:txBody>
          <a:bodyPr wrap="square" lIns="0" tIns="0" rIns="0" bIns="0" rtlCol="0" anchor="t"/>
          <a:lstStyle/>
          <a:p>
            <a:pPr marL="0" indent="0" algn="l">
              <a:lnSpc>
                <a:spcPts val="2450"/>
              </a:lnSpc>
              <a:buNone/>
            </a:pPr>
            <a:r>
              <a:rPr lang="en-US" sz="1500" dirty="0">
                <a:solidFill>
                  <a:srgbClr val="D6E5EF"/>
                </a:solidFill>
                <a:latin typeface="Roboto" panose="02000000000000000000" pitchFamily="34" charset="0"/>
                <a:ea typeface="Roboto" panose="02000000000000000000" pitchFamily="34" charset="-122"/>
                <a:cs typeface="Roboto" panose="02000000000000000000" pitchFamily="34" charset="-120"/>
              </a:rPr>
              <a:t>Le néoclassicisme, prônant un retour à l'art antique et à la rigueur morale, supplante progressivement le rococo. Les découvertes archéologiques de Pompéi et d'Herculanum alimentent ce nouvel engouement pour l'Antiquité.</a:t>
            </a:r>
            <a:endParaRPr lang="en-US" sz="1500" dirty="0"/>
          </a:p>
        </p:txBody>
      </p:sp>
      <p:sp>
        <p:nvSpPr>
          <p:cNvPr id="15" name="Shape 10"/>
          <p:cNvSpPr/>
          <p:nvPr/>
        </p:nvSpPr>
        <p:spPr>
          <a:xfrm>
            <a:off x="6584097" y="5904428"/>
            <a:ext cx="584597" cy="22860"/>
          </a:xfrm>
          <a:prstGeom prst="roundRect">
            <a:avLst>
              <a:gd name="adj" fmla="val 127885"/>
            </a:avLst>
          </a:prstGeom>
          <a:solidFill>
            <a:srgbClr val="585F6B"/>
          </a:solidFill>
        </p:spPr>
      </p:sp>
      <p:sp>
        <p:nvSpPr>
          <p:cNvPr id="16" name="Shape 11"/>
          <p:cNvSpPr/>
          <p:nvPr/>
        </p:nvSpPr>
        <p:spPr>
          <a:xfrm>
            <a:off x="6168450" y="5696664"/>
            <a:ext cx="438507" cy="438507"/>
          </a:xfrm>
          <a:prstGeom prst="roundRect">
            <a:avLst>
              <a:gd name="adj" fmla="val 6667"/>
            </a:avLst>
          </a:prstGeom>
          <a:solidFill>
            <a:srgbClr val="3F4652"/>
          </a:solidFill>
        </p:spPr>
      </p:sp>
      <p:pic>
        <p:nvPicPr>
          <p:cNvPr id="17" name="Image 3" descr="preencoded.png"/>
          <p:cNvPicPr>
            <a:picLocks noChangeAspect="1"/>
          </p:cNvPicPr>
          <p:nvPr/>
        </p:nvPicPr>
        <p:blipFill>
          <a:blip r:embed="rId4"/>
          <a:stretch>
            <a:fillRect/>
          </a:stretch>
        </p:blipFill>
        <p:spPr>
          <a:xfrm>
            <a:off x="6241494" y="5733157"/>
            <a:ext cx="292298" cy="365403"/>
          </a:xfrm>
          <a:prstGeom prst="rect">
            <a:avLst/>
          </a:prstGeom>
        </p:spPr>
      </p:pic>
      <p:sp>
        <p:nvSpPr>
          <p:cNvPr id="18" name="Text 12"/>
          <p:cNvSpPr/>
          <p:nvPr/>
        </p:nvSpPr>
        <p:spPr>
          <a:xfrm>
            <a:off x="7362230" y="5672257"/>
            <a:ext cx="2436138" cy="304443"/>
          </a:xfrm>
          <a:prstGeom prst="rect">
            <a:avLst/>
          </a:prstGeom>
          <a:noFill/>
        </p:spPr>
        <p:txBody>
          <a:bodyPr wrap="none" lIns="0" tIns="0" rIns="0" bIns="0" rtlCol="0" anchor="t"/>
          <a:lstStyle/>
          <a:p>
            <a:pPr marL="0" indent="0" algn="l">
              <a:lnSpc>
                <a:spcPts val="2350"/>
              </a:lnSpc>
              <a:buNone/>
            </a:pPr>
            <a:r>
              <a:rPr lang="en-US" sz="1900" dirty="0">
                <a:solidFill>
                  <a:srgbClr val="D6E5EF"/>
                </a:solidFill>
                <a:latin typeface="Roboto Slab" pitchFamily="34" charset="0"/>
                <a:ea typeface="Roboto Slab" pitchFamily="34" charset="-122"/>
                <a:cs typeface="Roboto Slab" pitchFamily="34" charset="-120"/>
              </a:rPr>
              <a:t>Révolution Française</a:t>
            </a:r>
            <a:endParaRPr lang="en-US" sz="1900" dirty="0"/>
          </a:p>
        </p:txBody>
      </p:sp>
      <p:sp>
        <p:nvSpPr>
          <p:cNvPr id="19" name="Text 13"/>
          <p:cNvSpPr/>
          <p:nvPr/>
        </p:nvSpPr>
        <p:spPr>
          <a:xfrm>
            <a:off x="7362230" y="6093619"/>
            <a:ext cx="6586061" cy="1247299"/>
          </a:xfrm>
          <a:prstGeom prst="rect">
            <a:avLst/>
          </a:prstGeom>
          <a:noFill/>
        </p:spPr>
        <p:txBody>
          <a:bodyPr wrap="square" lIns="0" tIns="0" rIns="0" bIns="0" rtlCol="0" anchor="t"/>
          <a:lstStyle/>
          <a:p>
            <a:pPr marL="0" indent="0" algn="l">
              <a:lnSpc>
                <a:spcPts val="2450"/>
              </a:lnSpc>
              <a:buNone/>
            </a:pPr>
            <a:r>
              <a:rPr lang="en-US" sz="1500" dirty="0">
                <a:solidFill>
                  <a:srgbClr val="D6E5EF"/>
                </a:solidFill>
                <a:latin typeface="Roboto" panose="02000000000000000000" pitchFamily="34" charset="0"/>
                <a:ea typeface="Roboto" panose="02000000000000000000" pitchFamily="34" charset="-122"/>
                <a:cs typeface="Roboto" panose="02000000000000000000" pitchFamily="34" charset="-120"/>
              </a:rPr>
              <a:t>La Révolution française, avec son rejet de l'aristocratie et de ses valeurs, porte un coup fatal au rococo. Ce style devient associé à l'Ancien Régime et à ses excès, et est délibérément abandonné au profit de formes plus austères.</a:t>
            </a:r>
            <a:endParaRPr lang="en-US" sz="1500" dirty="0"/>
          </a:p>
        </p:txBody>
      </p:sp>
      <p:sp>
        <p:nvSpPr>
          <p:cNvPr id="20" name="Rectangle 19"/>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276826"/>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L'Héritage du Rococo</a:t>
            </a:r>
            <a:endParaRPr lang="en-US" sz="4450" dirty="0"/>
          </a:p>
        </p:txBody>
      </p:sp>
      <p:sp>
        <p:nvSpPr>
          <p:cNvPr id="3" name="Shape 1"/>
          <p:cNvSpPr/>
          <p:nvPr/>
        </p:nvSpPr>
        <p:spPr>
          <a:xfrm>
            <a:off x="793790" y="2694384"/>
            <a:ext cx="510302" cy="510302"/>
          </a:xfrm>
          <a:prstGeom prst="roundRect">
            <a:avLst>
              <a:gd name="adj" fmla="val 6667"/>
            </a:avLst>
          </a:prstGeom>
          <a:solidFill>
            <a:srgbClr val="3F4652"/>
          </a:solidFill>
        </p:spPr>
      </p:sp>
      <p:pic>
        <p:nvPicPr>
          <p:cNvPr id="4" name="Image 0" descr="preencoded.png"/>
          <p:cNvPicPr>
            <a:picLocks noChangeAspect="1"/>
          </p:cNvPicPr>
          <p:nvPr/>
        </p:nvPicPr>
        <p:blipFill>
          <a:blip r:embed="rId1"/>
          <a:stretch>
            <a:fillRect/>
          </a:stretch>
        </p:blipFill>
        <p:spPr>
          <a:xfrm>
            <a:off x="878860" y="2736890"/>
            <a:ext cx="340162" cy="425291"/>
          </a:xfrm>
          <a:prstGeom prst="rect">
            <a:avLst/>
          </a:prstGeom>
        </p:spPr>
      </p:pic>
      <p:sp>
        <p:nvSpPr>
          <p:cNvPr id="5" name="Text 2"/>
          <p:cNvSpPr/>
          <p:nvPr/>
        </p:nvSpPr>
        <p:spPr>
          <a:xfrm>
            <a:off x="1530906" y="2694384"/>
            <a:ext cx="3397210"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Influence Contemporaine</a:t>
            </a:r>
            <a:endParaRPr lang="en-US" sz="2200" dirty="0"/>
          </a:p>
        </p:txBody>
      </p:sp>
      <p:sp>
        <p:nvSpPr>
          <p:cNvPr id="6" name="Text 3"/>
          <p:cNvSpPr/>
          <p:nvPr/>
        </p:nvSpPr>
        <p:spPr>
          <a:xfrm>
            <a:off x="1530906" y="3184803"/>
            <a:ext cx="3459242" cy="725805"/>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Traces dans le design et la mode actuels</a:t>
            </a:r>
            <a:endParaRPr lang="en-US" sz="1750" dirty="0"/>
          </a:p>
        </p:txBody>
      </p:sp>
      <p:sp>
        <p:nvSpPr>
          <p:cNvPr id="7" name="Shape 4"/>
          <p:cNvSpPr/>
          <p:nvPr/>
        </p:nvSpPr>
        <p:spPr>
          <a:xfrm>
            <a:off x="5216962" y="2694384"/>
            <a:ext cx="510302" cy="510302"/>
          </a:xfrm>
          <a:prstGeom prst="roundRect">
            <a:avLst>
              <a:gd name="adj" fmla="val 6667"/>
            </a:avLst>
          </a:prstGeom>
          <a:solidFill>
            <a:srgbClr val="3F4652"/>
          </a:solidFill>
        </p:spPr>
      </p:sp>
      <p:pic>
        <p:nvPicPr>
          <p:cNvPr id="8" name="Image 1" descr="preencoded.png"/>
          <p:cNvPicPr>
            <a:picLocks noChangeAspect="1"/>
          </p:cNvPicPr>
          <p:nvPr/>
        </p:nvPicPr>
        <p:blipFill>
          <a:blip r:embed="rId2"/>
          <a:stretch>
            <a:fillRect/>
          </a:stretch>
        </p:blipFill>
        <p:spPr>
          <a:xfrm>
            <a:off x="5302032" y="2736890"/>
            <a:ext cx="340162" cy="425291"/>
          </a:xfrm>
          <a:prstGeom prst="rect">
            <a:avLst/>
          </a:prstGeom>
        </p:spPr>
      </p:pic>
      <p:sp>
        <p:nvSpPr>
          <p:cNvPr id="9" name="Text 5"/>
          <p:cNvSpPr/>
          <p:nvPr/>
        </p:nvSpPr>
        <p:spPr>
          <a:xfrm>
            <a:off x="5954078" y="2694384"/>
            <a:ext cx="3459242" cy="708660"/>
          </a:xfrm>
          <a:prstGeom prst="rect">
            <a:avLst/>
          </a:prstGeom>
          <a:noFill/>
        </p:spPr>
        <p:txBody>
          <a:bodyPr wrap="squar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Mouvements Artistiques Ultérieurs</a:t>
            </a:r>
            <a:endParaRPr lang="en-US" sz="2200" dirty="0"/>
          </a:p>
        </p:txBody>
      </p:sp>
      <p:sp>
        <p:nvSpPr>
          <p:cNvPr id="10" name="Text 6"/>
          <p:cNvSpPr/>
          <p:nvPr/>
        </p:nvSpPr>
        <p:spPr>
          <a:xfrm>
            <a:off x="5954078" y="3539133"/>
            <a:ext cx="3459242" cy="725805"/>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Inspirations dans l'Art Nouveau et le Romantisme</a:t>
            </a:r>
            <a:endParaRPr lang="en-US" sz="1750" dirty="0"/>
          </a:p>
        </p:txBody>
      </p:sp>
      <p:sp>
        <p:nvSpPr>
          <p:cNvPr id="11" name="Shape 7"/>
          <p:cNvSpPr/>
          <p:nvPr/>
        </p:nvSpPr>
        <p:spPr>
          <a:xfrm>
            <a:off x="9640133" y="2694384"/>
            <a:ext cx="510302" cy="510302"/>
          </a:xfrm>
          <a:prstGeom prst="roundRect">
            <a:avLst>
              <a:gd name="adj" fmla="val 6667"/>
            </a:avLst>
          </a:prstGeom>
          <a:solidFill>
            <a:srgbClr val="3F4652"/>
          </a:solidFill>
        </p:spPr>
      </p:sp>
      <p:pic>
        <p:nvPicPr>
          <p:cNvPr id="12" name="Image 2" descr="preencoded.png"/>
          <p:cNvPicPr>
            <a:picLocks noChangeAspect="1"/>
          </p:cNvPicPr>
          <p:nvPr/>
        </p:nvPicPr>
        <p:blipFill>
          <a:blip r:embed="rId3"/>
          <a:stretch>
            <a:fillRect/>
          </a:stretch>
        </p:blipFill>
        <p:spPr>
          <a:xfrm>
            <a:off x="9725204" y="2736890"/>
            <a:ext cx="340162" cy="425291"/>
          </a:xfrm>
          <a:prstGeom prst="rect">
            <a:avLst/>
          </a:prstGeom>
        </p:spPr>
      </p:pic>
      <p:sp>
        <p:nvSpPr>
          <p:cNvPr id="13" name="Text 8"/>
          <p:cNvSpPr/>
          <p:nvPr/>
        </p:nvSpPr>
        <p:spPr>
          <a:xfrm>
            <a:off x="10377249" y="2694384"/>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Arts Décoratifs</a:t>
            </a:r>
            <a:endParaRPr lang="en-US" sz="2200" dirty="0"/>
          </a:p>
        </p:txBody>
      </p:sp>
      <p:sp>
        <p:nvSpPr>
          <p:cNvPr id="14" name="Text 9"/>
          <p:cNvSpPr/>
          <p:nvPr/>
        </p:nvSpPr>
        <p:spPr>
          <a:xfrm>
            <a:off x="10377249" y="3184803"/>
            <a:ext cx="3459242" cy="725805"/>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Empreinte durable sur le mobilier et la décoration</a:t>
            </a:r>
            <a:endParaRPr lang="en-US" sz="1750" dirty="0"/>
          </a:p>
        </p:txBody>
      </p:sp>
      <p:sp>
        <p:nvSpPr>
          <p:cNvPr id="15" name="Text 10"/>
          <p:cNvSpPr/>
          <p:nvPr/>
        </p:nvSpPr>
        <p:spPr>
          <a:xfrm>
            <a:off x="793790" y="4520089"/>
            <a:ext cx="13042821" cy="1088708"/>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Malgré son déclin, le rococo laisse une empreinte durable sur les arts décoratifs. Son goût pour l'ornementation, les couleurs pastel et les formes courbes continue d'influencer les créateurs aux siècles suivants. On retrouve son esprit dans certains aspects de l'Art Nouveau, du Romantisme et même du design contemporain.</a:t>
            </a:r>
            <a:endParaRPr lang="en-US" sz="1750" dirty="0"/>
          </a:p>
        </p:txBody>
      </p:sp>
      <p:sp>
        <p:nvSpPr>
          <p:cNvPr id="16" name="Text 11"/>
          <p:cNvSpPr/>
          <p:nvPr/>
        </p:nvSpPr>
        <p:spPr>
          <a:xfrm>
            <a:off x="793790" y="5863947"/>
            <a:ext cx="13042821" cy="1088708"/>
          </a:xfrm>
          <a:prstGeom prst="rect">
            <a:avLst/>
          </a:prstGeom>
          <a:noFill/>
        </p:spPr>
        <p:txBody>
          <a:bodyPr wrap="square" lIns="0" tIns="0" rIns="0" bIns="0" rtlCol="0" anchor="t"/>
          <a:lstStyle/>
          <a:p>
            <a:pPr marL="0" indent="0" algn="l">
              <a:lnSpc>
                <a:spcPts val="2850"/>
              </a:lnSpc>
              <a:buNone/>
            </a:pPr>
            <a:r>
              <a:rPr lang="en-US" sz="1750" dirty="0">
                <a:solidFill>
                  <a:srgbClr val="D6E5EF"/>
                </a:solidFill>
                <a:latin typeface="Roboto" panose="02000000000000000000" pitchFamily="34" charset="0"/>
                <a:ea typeface="Roboto" panose="02000000000000000000" pitchFamily="34" charset="-122"/>
                <a:cs typeface="Roboto" panose="02000000000000000000" pitchFamily="34" charset="-120"/>
              </a:rPr>
              <a:t>L'esthétique rococo a connu plusieurs résurgences au cours des XIXe et XXe siècles, témoignant de sa capacité à incarner un certain idéal de raffinement et d'élégance. Son influence peut encore être perçue dans la mode, la décoration intérieure et certaines expressions artistiques actuelles.</a:t>
            </a:r>
            <a:endParaRPr lang="en-US" sz="1750" dirty="0"/>
          </a:p>
        </p:txBody>
      </p:sp>
      <p:sp>
        <p:nvSpPr>
          <p:cNvPr id="17" name="Rectangle 16"/>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4858" y="601266"/>
            <a:ext cx="11053048" cy="682943"/>
          </a:xfrm>
          <a:prstGeom prst="rect">
            <a:avLst/>
          </a:prstGeom>
          <a:noFill/>
        </p:spPr>
        <p:txBody>
          <a:bodyPr wrap="none" lIns="0" tIns="0" rIns="0" bIns="0" rtlCol="0" anchor="t"/>
          <a:lstStyle/>
          <a:p>
            <a:pPr marL="0" indent="0" algn="l">
              <a:lnSpc>
                <a:spcPts val="5350"/>
              </a:lnSpc>
              <a:buNone/>
            </a:pPr>
            <a:r>
              <a:rPr lang="en-US" sz="4300" dirty="0">
                <a:solidFill>
                  <a:srgbClr val="76B9FF"/>
                </a:solidFill>
                <a:latin typeface="Roboto Slab" pitchFamily="34" charset="0"/>
                <a:ea typeface="Roboto Slab" pitchFamily="34" charset="-122"/>
                <a:cs typeface="Roboto Slab" pitchFamily="34" charset="-120"/>
              </a:rPr>
              <a:t>Conclusion: La Valeur Culturelle du Rococo</a:t>
            </a:r>
            <a:endParaRPr lang="en-US" sz="4300" dirty="0"/>
          </a:p>
        </p:txBody>
      </p:sp>
      <p:sp>
        <p:nvSpPr>
          <p:cNvPr id="3" name="Shape 1"/>
          <p:cNvSpPr/>
          <p:nvPr/>
        </p:nvSpPr>
        <p:spPr>
          <a:xfrm>
            <a:off x="764858" y="2376726"/>
            <a:ext cx="4148376" cy="218480"/>
          </a:xfrm>
          <a:prstGeom prst="roundRect">
            <a:avLst>
              <a:gd name="adj" fmla="val 15004"/>
            </a:avLst>
          </a:prstGeom>
          <a:solidFill>
            <a:srgbClr val="3F4652"/>
          </a:solidFill>
        </p:spPr>
      </p:sp>
      <p:sp>
        <p:nvSpPr>
          <p:cNvPr id="4" name="Text 2"/>
          <p:cNvSpPr/>
          <p:nvPr/>
        </p:nvSpPr>
        <p:spPr>
          <a:xfrm>
            <a:off x="764858" y="2922984"/>
            <a:ext cx="2998232" cy="341352"/>
          </a:xfrm>
          <a:prstGeom prst="rect">
            <a:avLst/>
          </a:prstGeom>
          <a:noFill/>
        </p:spPr>
        <p:txBody>
          <a:bodyPr wrap="none" lIns="0" tIns="0" rIns="0" bIns="0" rtlCol="0" anchor="t"/>
          <a:lstStyle/>
          <a:p>
            <a:pPr marL="0" indent="0" algn="l">
              <a:lnSpc>
                <a:spcPts val="2650"/>
              </a:lnSpc>
              <a:buNone/>
            </a:pPr>
            <a:r>
              <a:rPr lang="en-US" sz="2150" dirty="0">
                <a:solidFill>
                  <a:srgbClr val="D6E5EF"/>
                </a:solidFill>
                <a:latin typeface="Roboto Slab" pitchFamily="34" charset="0"/>
                <a:ea typeface="Roboto Slab" pitchFamily="34" charset="-122"/>
                <a:cs typeface="Roboto Slab" pitchFamily="34" charset="-120"/>
              </a:rPr>
              <a:t>Témoignage Historique</a:t>
            </a:r>
            <a:endParaRPr lang="en-US" sz="2150" dirty="0"/>
          </a:p>
        </p:txBody>
      </p:sp>
      <p:sp>
        <p:nvSpPr>
          <p:cNvPr id="5" name="Text 3"/>
          <p:cNvSpPr/>
          <p:nvPr/>
        </p:nvSpPr>
        <p:spPr>
          <a:xfrm>
            <a:off x="764858" y="3395424"/>
            <a:ext cx="4148376" cy="1747838"/>
          </a:xfrm>
          <a:prstGeom prst="rect">
            <a:avLst/>
          </a:prstGeom>
          <a:noFill/>
        </p:spPr>
        <p:txBody>
          <a:bodyPr wrap="square" lIns="0" tIns="0" rIns="0" bIns="0" rtlCol="0" anchor="t"/>
          <a:lstStyle/>
          <a:p>
            <a:pPr marL="0" indent="0" algn="l">
              <a:lnSpc>
                <a:spcPts val="2750"/>
              </a:lnSpc>
              <a:buNone/>
            </a:pPr>
            <a:r>
              <a:rPr lang="en-US" sz="1700" dirty="0">
                <a:solidFill>
                  <a:srgbClr val="D6E5EF"/>
                </a:solidFill>
                <a:latin typeface="Roboto" panose="02000000000000000000" pitchFamily="34" charset="0"/>
                <a:ea typeface="Roboto" panose="02000000000000000000" pitchFamily="34" charset="-122"/>
                <a:cs typeface="Roboto" panose="02000000000000000000" pitchFamily="34" charset="-120"/>
              </a:rPr>
              <a:t>Le rococo constitue un précieux témoignage de l'évolution des sensibilités et des goûts dans l'Europe du XVIIIe siècle, reflétant les aspirations et les valeurs d'une société en mutation.</a:t>
            </a:r>
            <a:endParaRPr lang="en-US" sz="1700" dirty="0"/>
          </a:p>
        </p:txBody>
      </p:sp>
      <p:sp>
        <p:nvSpPr>
          <p:cNvPr id="6" name="Shape 4"/>
          <p:cNvSpPr/>
          <p:nvPr/>
        </p:nvSpPr>
        <p:spPr>
          <a:xfrm>
            <a:off x="5241012" y="2048947"/>
            <a:ext cx="4148376" cy="218480"/>
          </a:xfrm>
          <a:prstGeom prst="roundRect">
            <a:avLst>
              <a:gd name="adj" fmla="val 15004"/>
            </a:avLst>
          </a:prstGeom>
          <a:solidFill>
            <a:srgbClr val="3F4652"/>
          </a:solidFill>
        </p:spPr>
      </p:sp>
      <p:sp>
        <p:nvSpPr>
          <p:cNvPr id="7" name="Text 5"/>
          <p:cNvSpPr/>
          <p:nvPr/>
        </p:nvSpPr>
        <p:spPr>
          <a:xfrm>
            <a:off x="5241012" y="2595205"/>
            <a:ext cx="2731532" cy="341352"/>
          </a:xfrm>
          <a:prstGeom prst="rect">
            <a:avLst/>
          </a:prstGeom>
          <a:noFill/>
        </p:spPr>
        <p:txBody>
          <a:bodyPr wrap="none" lIns="0" tIns="0" rIns="0" bIns="0" rtlCol="0" anchor="t"/>
          <a:lstStyle/>
          <a:p>
            <a:pPr marL="0" indent="0" algn="l">
              <a:lnSpc>
                <a:spcPts val="2650"/>
              </a:lnSpc>
              <a:buNone/>
            </a:pPr>
            <a:r>
              <a:rPr lang="en-US" sz="2150" dirty="0">
                <a:solidFill>
                  <a:srgbClr val="D6E5EF"/>
                </a:solidFill>
                <a:latin typeface="Roboto Slab" pitchFamily="34" charset="0"/>
                <a:ea typeface="Roboto Slab" pitchFamily="34" charset="-122"/>
                <a:cs typeface="Roboto Slab" pitchFamily="34" charset="-120"/>
              </a:rPr>
              <a:t>Richesse Artistique</a:t>
            </a:r>
            <a:endParaRPr lang="en-US" sz="2150" dirty="0"/>
          </a:p>
        </p:txBody>
      </p:sp>
      <p:sp>
        <p:nvSpPr>
          <p:cNvPr id="8" name="Text 6"/>
          <p:cNvSpPr/>
          <p:nvPr/>
        </p:nvSpPr>
        <p:spPr>
          <a:xfrm>
            <a:off x="5241012" y="3067645"/>
            <a:ext cx="4148376" cy="1747838"/>
          </a:xfrm>
          <a:prstGeom prst="rect">
            <a:avLst/>
          </a:prstGeom>
          <a:noFill/>
        </p:spPr>
        <p:txBody>
          <a:bodyPr wrap="square" lIns="0" tIns="0" rIns="0" bIns="0" rtlCol="0" anchor="t"/>
          <a:lstStyle/>
          <a:p>
            <a:pPr marL="0" indent="0" algn="l">
              <a:lnSpc>
                <a:spcPts val="2750"/>
              </a:lnSpc>
              <a:buNone/>
            </a:pPr>
            <a:r>
              <a:rPr lang="en-US" sz="1700" dirty="0">
                <a:solidFill>
                  <a:srgbClr val="D6E5EF"/>
                </a:solidFill>
                <a:latin typeface="Roboto" panose="02000000000000000000" pitchFamily="34" charset="0"/>
                <a:ea typeface="Roboto" panose="02000000000000000000" pitchFamily="34" charset="-122"/>
                <a:cs typeface="Roboto" panose="02000000000000000000" pitchFamily="34" charset="-120"/>
              </a:rPr>
              <a:t>Malgré les critiques, le rococo a produit des œuvres d'une grande beauté et d'une remarquable finesse d'exécution, démontrant la virtuosité technique des artistes et artisans de l'époque.</a:t>
            </a:r>
            <a:endParaRPr lang="en-US" sz="1700" dirty="0"/>
          </a:p>
        </p:txBody>
      </p:sp>
      <p:sp>
        <p:nvSpPr>
          <p:cNvPr id="9" name="Shape 7"/>
          <p:cNvSpPr/>
          <p:nvPr/>
        </p:nvSpPr>
        <p:spPr>
          <a:xfrm>
            <a:off x="9717167" y="1721168"/>
            <a:ext cx="4148376" cy="218480"/>
          </a:xfrm>
          <a:prstGeom prst="roundRect">
            <a:avLst>
              <a:gd name="adj" fmla="val 15004"/>
            </a:avLst>
          </a:prstGeom>
          <a:solidFill>
            <a:srgbClr val="3F4652"/>
          </a:solidFill>
        </p:spPr>
      </p:sp>
      <p:sp>
        <p:nvSpPr>
          <p:cNvPr id="10" name="Text 8"/>
          <p:cNvSpPr/>
          <p:nvPr/>
        </p:nvSpPr>
        <p:spPr>
          <a:xfrm>
            <a:off x="9717167" y="2267426"/>
            <a:ext cx="2731532" cy="341352"/>
          </a:xfrm>
          <a:prstGeom prst="rect">
            <a:avLst/>
          </a:prstGeom>
          <a:noFill/>
        </p:spPr>
        <p:txBody>
          <a:bodyPr wrap="none" lIns="0" tIns="0" rIns="0" bIns="0" rtlCol="0" anchor="t"/>
          <a:lstStyle/>
          <a:p>
            <a:pPr marL="0" indent="0" algn="l">
              <a:lnSpc>
                <a:spcPts val="2650"/>
              </a:lnSpc>
              <a:buNone/>
            </a:pPr>
            <a:r>
              <a:rPr lang="en-US" sz="2150" dirty="0">
                <a:solidFill>
                  <a:srgbClr val="D6E5EF"/>
                </a:solidFill>
                <a:latin typeface="Roboto Slab" pitchFamily="34" charset="0"/>
                <a:ea typeface="Roboto Slab" pitchFamily="34" charset="-122"/>
                <a:cs typeface="Roboto Slab" pitchFamily="34" charset="-120"/>
              </a:rPr>
              <a:t>Héritage Durable</a:t>
            </a:r>
            <a:endParaRPr lang="en-US" sz="2150" dirty="0"/>
          </a:p>
        </p:txBody>
      </p:sp>
      <p:sp>
        <p:nvSpPr>
          <p:cNvPr id="11" name="Text 9"/>
          <p:cNvSpPr/>
          <p:nvPr/>
        </p:nvSpPr>
        <p:spPr>
          <a:xfrm>
            <a:off x="9717167" y="2739866"/>
            <a:ext cx="4148376" cy="1747838"/>
          </a:xfrm>
          <a:prstGeom prst="rect">
            <a:avLst/>
          </a:prstGeom>
          <a:noFill/>
        </p:spPr>
        <p:txBody>
          <a:bodyPr wrap="square" lIns="0" tIns="0" rIns="0" bIns="0" rtlCol="0" anchor="t"/>
          <a:lstStyle/>
          <a:p>
            <a:pPr marL="0" indent="0" algn="l">
              <a:lnSpc>
                <a:spcPts val="2750"/>
              </a:lnSpc>
              <a:buNone/>
            </a:pPr>
            <a:r>
              <a:rPr lang="en-US" sz="1700" dirty="0">
                <a:solidFill>
                  <a:srgbClr val="D6E5EF"/>
                </a:solidFill>
                <a:latin typeface="Roboto" panose="02000000000000000000" pitchFamily="34" charset="0"/>
                <a:ea typeface="Roboto" panose="02000000000000000000" pitchFamily="34" charset="-122"/>
                <a:cs typeface="Roboto" panose="02000000000000000000" pitchFamily="34" charset="-120"/>
              </a:rPr>
              <a:t>L'influence du rococo sur les arts décoratifs, l'architecture intérieure et la peinture continue de fasciner et d'inspirer, constituant un chapitre essentiel de l'histoire de l'art européen.</a:t>
            </a:r>
            <a:endParaRPr lang="en-US" sz="1700" dirty="0"/>
          </a:p>
        </p:txBody>
      </p:sp>
      <p:sp>
        <p:nvSpPr>
          <p:cNvPr id="12" name="Text 10"/>
          <p:cNvSpPr/>
          <p:nvPr/>
        </p:nvSpPr>
        <p:spPr>
          <a:xfrm>
            <a:off x="764858" y="5389007"/>
            <a:ext cx="13100685" cy="1048703"/>
          </a:xfrm>
          <a:prstGeom prst="rect">
            <a:avLst/>
          </a:prstGeom>
          <a:noFill/>
        </p:spPr>
        <p:txBody>
          <a:bodyPr wrap="square" lIns="0" tIns="0" rIns="0" bIns="0" rtlCol="0" anchor="t"/>
          <a:lstStyle/>
          <a:p>
            <a:pPr marL="0" indent="0" algn="l">
              <a:lnSpc>
                <a:spcPts val="2750"/>
              </a:lnSpc>
              <a:buNone/>
            </a:pPr>
            <a:r>
              <a:rPr lang="en-US" sz="1700" dirty="0">
                <a:solidFill>
                  <a:srgbClr val="D6E5EF"/>
                </a:solidFill>
                <a:latin typeface="Roboto" panose="02000000000000000000" pitchFamily="34" charset="0"/>
                <a:ea typeface="Roboto" panose="02000000000000000000" pitchFamily="34" charset="-122"/>
                <a:cs typeface="Roboto" panose="02000000000000000000" pitchFamily="34" charset="-120"/>
              </a:rPr>
              <a:t>Le rococo, avec son esthétique raffinée et ses thèmes galants, témoigne de l'élégance et de l'hédonisme de la société aristocratique du XVIIIe siècle. Bien que critiqué pour sa frivolité, ce mouvement artistique a produit des œuvres d'une grande beauté et a laissé une marque indélébile sur l'histoire de l'art.</a:t>
            </a:r>
            <a:endParaRPr lang="en-US" sz="1700" dirty="0"/>
          </a:p>
        </p:txBody>
      </p:sp>
      <p:sp>
        <p:nvSpPr>
          <p:cNvPr id="13" name="Text 11"/>
          <p:cNvSpPr/>
          <p:nvPr/>
        </p:nvSpPr>
        <p:spPr>
          <a:xfrm>
            <a:off x="764858" y="6854269"/>
            <a:ext cx="13100685" cy="349568"/>
          </a:xfrm>
          <a:prstGeom prst="rect">
            <a:avLst/>
          </a:prstGeom>
          <a:noFill/>
        </p:spPr>
        <p:txBody>
          <a:bodyPr wrap="none" lIns="0" tIns="0" rIns="0" bIns="0" rtlCol="0" anchor="t"/>
          <a:lstStyle/>
          <a:p>
            <a:pPr marL="0" indent="0" algn="ctr">
              <a:lnSpc>
                <a:spcPts val="2750"/>
              </a:lnSpc>
              <a:buNone/>
            </a:pPr>
            <a:r>
              <a:rPr lang="en-US" sz="1700" b="1" dirty="0">
                <a:solidFill>
                  <a:srgbClr val="76B9FF"/>
                </a:solidFill>
                <a:latin typeface="Roboto" panose="02000000000000000000" pitchFamily="34" charset="0"/>
                <a:ea typeface="Roboto" panose="02000000000000000000" pitchFamily="34" charset="-122"/>
                <a:cs typeface="Roboto" panose="02000000000000000000" pitchFamily="34" charset="-120"/>
              </a:rPr>
              <a:t>Mouhamadou Moustapha Niang</a:t>
            </a:r>
            <a:r>
              <a:rPr lang="en-US" sz="1700" dirty="0">
                <a:solidFill>
                  <a:srgbClr val="76B9FF"/>
                </a:solidFill>
                <a:latin typeface="Roboto" panose="02000000000000000000" pitchFamily="34" charset="0"/>
                <a:ea typeface="Roboto" panose="02000000000000000000" pitchFamily="34" charset="-122"/>
                <a:cs typeface="Roboto" panose="02000000000000000000" pitchFamily="34" charset="-120"/>
              </a:rPr>
              <a:t> &amp; </a:t>
            </a:r>
            <a:r>
              <a:rPr lang="en-US" sz="1700" b="1" dirty="0">
                <a:solidFill>
                  <a:srgbClr val="76B9FF"/>
                </a:solidFill>
                <a:latin typeface="Roboto" panose="02000000000000000000" pitchFamily="34" charset="0"/>
                <a:ea typeface="Roboto" panose="02000000000000000000" pitchFamily="34" charset="-122"/>
                <a:cs typeface="Roboto" panose="02000000000000000000" pitchFamily="34" charset="-120"/>
              </a:rPr>
              <a:t>Henry Moustapha Ngom / P6 - L1 - DU2ADT</a:t>
            </a:r>
            <a:endParaRPr lang="en-US" sz="1700" b="1" dirty="0">
              <a:solidFill>
                <a:srgbClr val="76B9FF"/>
              </a:solidFill>
              <a:latin typeface="Roboto" panose="02000000000000000000" pitchFamily="34" charset="0"/>
              <a:ea typeface="Roboto" panose="02000000000000000000" pitchFamily="34" charset="-122"/>
              <a:cs typeface="Roboto" panose="02000000000000000000" pitchFamily="34" charset="-120"/>
            </a:endParaRPr>
          </a:p>
        </p:txBody>
      </p:sp>
      <p:sp>
        <p:nvSpPr>
          <p:cNvPr id="14" name="Text 12"/>
          <p:cNvSpPr/>
          <p:nvPr/>
        </p:nvSpPr>
        <p:spPr>
          <a:xfrm>
            <a:off x="764858" y="7278767"/>
            <a:ext cx="13100685" cy="349568"/>
          </a:xfrm>
          <a:prstGeom prst="rect">
            <a:avLst/>
          </a:prstGeom>
          <a:noFill/>
        </p:spPr>
        <p:txBody>
          <a:bodyPr wrap="none" lIns="0" tIns="0" rIns="0" bIns="0" rtlCol="0" anchor="t"/>
          <a:lstStyle/>
          <a:p>
            <a:pPr marL="0" indent="0" algn="ctr">
              <a:lnSpc>
                <a:spcPts val="2750"/>
              </a:lnSpc>
              <a:buNone/>
            </a:pPr>
            <a:r>
              <a:rPr lang="en-US" sz="1700" b="1" dirty="0">
                <a:solidFill>
                  <a:srgbClr val="76B9FF"/>
                </a:solidFill>
                <a:latin typeface="Roboto" panose="02000000000000000000" pitchFamily="34" charset="0"/>
                <a:ea typeface="Roboto" panose="02000000000000000000" pitchFamily="34" charset="-122"/>
                <a:cs typeface="Roboto" panose="02000000000000000000" pitchFamily="34" charset="-120"/>
              </a:rPr>
              <a:t>Histoire de L'Art 1</a:t>
            </a:r>
            <a:r>
              <a:rPr lang="fr-FR" altLang="en-US" sz="1700" b="1" dirty="0">
                <a:solidFill>
                  <a:srgbClr val="76B9FF"/>
                </a:solidFill>
                <a:latin typeface="Roboto" panose="02000000000000000000" pitchFamily="34" charset="0"/>
                <a:ea typeface="Roboto" panose="02000000000000000000" pitchFamily="34" charset="-122"/>
                <a:cs typeface="Roboto" panose="02000000000000000000" pitchFamily="34" charset="-120"/>
              </a:rPr>
              <a:t> / Professeur : Seyni Gadiaga</a:t>
            </a:r>
            <a:endParaRPr lang="fr-FR" altLang="en-US" sz="1700" b="1" dirty="0">
              <a:solidFill>
                <a:srgbClr val="76B9FF"/>
              </a:solidFill>
              <a:latin typeface="Roboto" panose="02000000000000000000" pitchFamily="34" charset="0"/>
              <a:ea typeface="Roboto" panose="02000000000000000000" pitchFamily="34" charset="-122"/>
              <a:cs typeface="Roboto" panose="02000000000000000000" pitchFamily="34" charset="-120"/>
            </a:endParaRPr>
          </a:p>
        </p:txBody>
      </p:sp>
      <p:sp>
        <p:nvSpPr>
          <p:cNvPr id="15" name="Rectangle 14"/>
          <p:cNvSpPr/>
          <p:nvPr/>
        </p:nvSpPr>
        <p:spPr>
          <a:xfrm>
            <a:off x="12755245" y="7620635"/>
            <a:ext cx="1861820" cy="594360"/>
          </a:xfrm>
          <a:prstGeom prst="rect">
            <a:avLst/>
          </a:prstGeom>
          <a:solidFill>
            <a:srgbClr val="2027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8845</Words>
  <Application>WPS Presentation</Application>
  <PresentationFormat>On-screen Show (16:9)</PresentationFormat>
  <Paragraphs>162</Paragraphs>
  <Slides>10</Slides>
  <Notes>10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SimSun</vt:lpstr>
      <vt:lpstr>Wingdings</vt:lpstr>
      <vt:lpstr>Roboto Slab</vt:lpstr>
      <vt:lpstr>Roboto Slab</vt:lpstr>
      <vt:lpstr>Roboto Slab</vt:lpstr>
      <vt:lpstr>Roboto</vt:lpstr>
      <vt:lpstr>Roboto</vt:lpstr>
      <vt:lpstr>Roboto</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Henry Moustapha Ngom</cp:lastModifiedBy>
  <cp:revision>2</cp:revision>
  <dcterms:created xsi:type="dcterms:W3CDTF">2025-03-24T12:31:00Z</dcterms:created>
  <dcterms:modified xsi:type="dcterms:W3CDTF">2025-03-24T12:41:30Z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DAD260281B9545CD9CDE91FF14788EE9_12</vt:lpwstr>
  </property>
  <property fmtid="{D5CDD505-2E9C-101B-9397-08002B2CF9AE}" pid="3" name="KSOProductBuildVer">
    <vt:lpwstr>3084-12.2.0.20348</vt:lpwstr>
  </property>
</Properties>
</file>