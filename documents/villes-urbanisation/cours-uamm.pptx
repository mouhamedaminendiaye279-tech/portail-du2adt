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1" r:id="rId4"/>
    <p:sldId id="311" r:id="rId5"/>
    <p:sldId id="284" r:id="rId6"/>
    <p:sldId id="265" r:id="rId7"/>
    <p:sldId id="264" r:id="rId8"/>
    <p:sldId id="298" r:id="rId9"/>
    <p:sldId id="318" r:id="rId10"/>
    <p:sldId id="322" r:id="rId11"/>
    <p:sldId id="324" r:id="rId12"/>
    <p:sldId id="323" r:id="rId13"/>
    <p:sldId id="325" r:id="rId14"/>
    <p:sldId id="326" r:id="rId15"/>
    <p:sldId id="327" r:id="rId16"/>
    <p:sldId id="293" r:id="rId17"/>
    <p:sldId id="290" r:id="rId18"/>
    <p:sldId id="285" r:id="rId19"/>
    <p:sldId id="320" r:id="rId20"/>
    <p:sldId id="312" r:id="rId21"/>
    <p:sldId id="321" r:id="rId22"/>
    <p:sldId id="259" r:id="rId23"/>
    <p:sldId id="291" r:id="rId24"/>
    <p:sldId id="319" r:id="rId25"/>
    <p:sldId id="299" r:id="rId26"/>
    <p:sldId id="268" r:id="rId27"/>
    <p:sldId id="305" r:id="rId28"/>
    <p:sldId id="314" r:id="rId29"/>
    <p:sldId id="295" r:id="rId30"/>
    <p:sldId id="286" r:id="rId31"/>
    <p:sldId id="288" r:id="rId32"/>
    <p:sldId id="266" r:id="rId33"/>
    <p:sldId id="269" r:id="rId34"/>
    <p:sldId id="292" r:id="rId35"/>
    <p:sldId id="289" r:id="rId36"/>
    <p:sldId id="296" r:id="rId37"/>
    <p:sldId id="315" r:id="rId38"/>
    <p:sldId id="313" r:id="rId39"/>
    <p:sldId id="260" r:id="rId40"/>
    <p:sldId id="273" r:id="rId41"/>
    <p:sldId id="274" r:id="rId42"/>
    <p:sldId id="307" r:id="rId43"/>
    <p:sldId id="271" r:id="rId44"/>
    <p:sldId id="275" r:id="rId45"/>
    <p:sldId id="279" r:id="rId46"/>
    <p:sldId id="281" r:id="rId47"/>
    <p:sldId id="300" r:id="rId48"/>
    <p:sldId id="297" r:id="rId49"/>
    <p:sldId id="316" r:id="rId50"/>
    <p:sldId id="304" r:id="rId51"/>
    <p:sldId id="28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35"/>
  </p:normalViewPr>
  <p:slideViewPr>
    <p:cSldViewPr snapToGrid="0" snapToObjects="1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136F58-D7F3-A141-A735-171E5C6E1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93" y="2386744"/>
            <a:ext cx="10247969" cy="1645920"/>
          </a:xfrm>
        </p:spPr>
        <p:txBody>
          <a:bodyPr>
            <a:noAutofit/>
          </a:bodyPr>
          <a:lstStyle/>
          <a:p>
            <a:br>
              <a:rPr lang="fr-FR" sz="6000" dirty="0"/>
            </a:br>
            <a:r>
              <a:rPr lang="fr-FR" sz="6000" dirty="0"/>
              <a:t>Villes et URBANISATION</a:t>
            </a:r>
            <a:br>
              <a:rPr lang="fr-FR" sz="6000" dirty="0"/>
            </a:br>
            <a:endParaRPr lang="fr-FR" sz="6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0040D6-764B-6542-A5CB-EED51A7D10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3200" dirty="0"/>
              <a:t>Dr Serigne Mansour TALL</a:t>
            </a:r>
          </a:p>
          <a:p>
            <a:r>
              <a:rPr lang="fr-FR" sz="3200" dirty="0"/>
              <a:t>Géographe/Urbaniste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47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17135-C7B7-AC48-92DD-EC657F51E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Descriptif du cours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671990-E44C-654F-A120-49E41C4FD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lvl="1"/>
            <a:r>
              <a:rPr lang="fr-FR" dirty="0"/>
              <a:t>Présentation de l’Enseignant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Présentation du Cours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Objectifs du cours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Modalités d’évaluation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31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7E5A7-6CA1-6B4C-9120-B3F78434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DESCRIPTIF DU COURS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278456-23E2-B54D-BFAE-45BEEA2E12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/>
              <a:t>A Plan du cours </a:t>
            </a:r>
          </a:p>
          <a:p>
            <a:pPr lvl="1"/>
            <a:r>
              <a:rPr lang="fr-FR" sz="2400" dirty="0"/>
              <a:t>Introduction</a:t>
            </a:r>
          </a:p>
          <a:p>
            <a:pPr lvl="1"/>
            <a:r>
              <a:rPr lang="fr-FR" sz="2400" dirty="0"/>
              <a:t>Villes </a:t>
            </a:r>
          </a:p>
          <a:p>
            <a:pPr lvl="1"/>
            <a:r>
              <a:rPr lang="fr-FR" sz="2400" dirty="0"/>
              <a:t>Urbanisation </a:t>
            </a:r>
          </a:p>
          <a:p>
            <a:pPr lvl="1"/>
            <a:r>
              <a:rPr lang="fr-FR" sz="2400" dirty="0"/>
              <a:t>Articulations</a:t>
            </a:r>
          </a:p>
          <a:p>
            <a:pPr lvl="1"/>
            <a:r>
              <a:rPr lang="fr-FR" sz="2400" dirty="0"/>
              <a:t>Conclusion </a:t>
            </a:r>
          </a:p>
          <a:p>
            <a:pPr lvl="1"/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DAAE82-BDF7-7947-A5BC-2634CC9910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/>
              <a:t>B Supports pédagogiques</a:t>
            </a:r>
            <a:endParaRPr lang="fr-FR" sz="2400" dirty="0"/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Bibliographie,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Schémas et croquis,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Plan détaillé du cours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Travaux d’étudiants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Exercices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Cahier écrit du cours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53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F03BB-EC92-E24D-8B1D-81F65E07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PRESENTATION DU COURS DANS LE CHAMP DISCIPLINAIRE DE L’ECOLE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23E722-34E5-7348-9FCD-CF2CD140CC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AMENAGEMENT</a:t>
            </a:r>
          </a:p>
          <a:p>
            <a:endParaRPr lang="fr-FR" dirty="0"/>
          </a:p>
          <a:p>
            <a:r>
              <a:rPr lang="fr-FR" dirty="0"/>
              <a:t>URBANISME</a:t>
            </a:r>
          </a:p>
          <a:p>
            <a:endParaRPr lang="fr-FR" dirty="0"/>
          </a:p>
          <a:p>
            <a:r>
              <a:rPr lang="fr-FR" dirty="0"/>
              <a:t>ARCHITECTURE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43211D-08DF-D448-9DE0-DBE5732B4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GOUVERNANCE</a:t>
            </a:r>
          </a:p>
          <a:p>
            <a:endParaRPr lang="fr-FR" dirty="0"/>
          </a:p>
          <a:p>
            <a:r>
              <a:rPr lang="fr-FR" dirty="0"/>
              <a:t>ECONOMIE</a:t>
            </a:r>
          </a:p>
          <a:p>
            <a:endParaRPr lang="fr-FR" dirty="0"/>
          </a:p>
          <a:p>
            <a:r>
              <a:rPr lang="fr-FR" dirty="0"/>
              <a:t>CONSTRUCTION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821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01D172-13F4-1D4E-8A01-B8963A64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00B05D-95FC-7944-9A3D-AB57C5EA0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Villes et urbanisation </a:t>
            </a:r>
          </a:p>
          <a:p>
            <a:r>
              <a:rPr lang="fr-FR" dirty="0"/>
              <a:t>Urbanisation est un processus</a:t>
            </a:r>
          </a:p>
          <a:p>
            <a:r>
              <a:rPr lang="fr-FR" dirty="0"/>
              <a:t>La ville est le produit de l’urbanisation</a:t>
            </a:r>
          </a:p>
        </p:txBody>
      </p:sp>
    </p:spTree>
    <p:extLst>
      <p:ext uri="{BB962C8B-B14F-4D97-AF65-F5344CB8AC3E}">
        <p14:creationId xmlns:p14="http://schemas.microsoft.com/office/powerpoint/2010/main" val="36184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F4092-296E-FB46-9F6F-36348C54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URBANISATION</a:t>
            </a:r>
            <a:br>
              <a:rPr lang="fr-FR" dirty="0"/>
            </a:br>
            <a:r>
              <a:rPr lang="fr-FR" dirty="0"/>
              <a:t>Définition, </a:t>
            </a:r>
            <a:r>
              <a:rPr lang="fr-FR" dirty="0" err="1"/>
              <a:t>historiQUE</a:t>
            </a:r>
            <a:r>
              <a:rPr lang="fr-FR" dirty="0"/>
              <a:t>, STATISTISQUES ET TYPOLOGIE, </a:t>
            </a:r>
            <a:r>
              <a:rPr lang="fr-FR" dirty="0" err="1"/>
              <a:t>evolution</a:t>
            </a:r>
            <a:r>
              <a:rPr lang="fr-FR" dirty="0"/>
              <a:t>, REGULATION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D025B9-505F-6A4E-81FD-CFFCCF36B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41756"/>
            <a:ext cx="7729728" cy="40701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800" dirty="0"/>
          </a:p>
          <a:p>
            <a:r>
              <a:rPr lang="fr-FR" sz="2400" dirty="0"/>
              <a:t>Définition : critères, seuils démographiques, modes de vie, densités, institutions, innovations</a:t>
            </a:r>
          </a:p>
          <a:p>
            <a:pPr lvl="1"/>
            <a:r>
              <a:rPr lang="fr-FR" sz="2400" dirty="0"/>
              <a:t>Augmentation du nombre de personnes vivant dans les villes </a:t>
            </a:r>
          </a:p>
          <a:p>
            <a:pPr lvl="1"/>
            <a:r>
              <a:rPr lang="fr-FR" sz="2400" dirty="0"/>
              <a:t>Transformation des espaces ruraux en espaces urbanisés</a:t>
            </a:r>
          </a:p>
          <a:p>
            <a:pPr lvl="1"/>
            <a:r>
              <a:rPr lang="fr-FR" sz="2400" dirty="0"/>
              <a:t>Processus de densification verticale et horizontale des villes</a:t>
            </a:r>
          </a:p>
          <a:p>
            <a:pPr lvl="1"/>
            <a:r>
              <a:rPr lang="fr-FR" sz="2400" dirty="0"/>
              <a:t>Rythme et vitesse du processus d’extension des villes</a:t>
            </a:r>
          </a:p>
          <a:p>
            <a:endParaRPr lang="fr-FR" sz="2000" dirty="0"/>
          </a:p>
          <a:p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6762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B7D297-45AB-2946-8E10-196A71E4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DEFINITION, SENS, SIGNIFICATION, TERMINOLOGIE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43BA6C-577D-234D-B5CB-A5731F07E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03869"/>
            <a:ext cx="7729728" cy="3952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Critères diversifiées, Transformation effective, Evolution rapide </a:t>
            </a:r>
          </a:p>
          <a:p>
            <a:pPr marL="0" indent="0">
              <a:buNone/>
            </a:pPr>
            <a:r>
              <a:rPr lang="fr-FR" sz="2400" dirty="0"/>
              <a:t>« C’est un processus maitrisé ou subi de croissance de la population et de la taille des villes »</a:t>
            </a:r>
          </a:p>
          <a:p>
            <a:pPr marL="0" indent="0">
              <a:buNone/>
            </a:pPr>
            <a:r>
              <a:rPr lang="fr-FR" sz="2400" dirty="0"/>
              <a:t>Historicité et sa globalité : ancien et global, continue et régulière</a:t>
            </a:r>
          </a:p>
          <a:p>
            <a:pPr marL="0" indent="0">
              <a:buNone/>
            </a:pPr>
            <a:r>
              <a:rPr lang="fr-FR" sz="2400" dirty="0"/>
              <a:t>Critères : densité, croissance, mutation, hiérarchie, influence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35898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85F998-B252-2A47-AD9B-E013E859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HISTORICITE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3B73CB-2712-1449-B09A-E5C69EEEE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sz="2800" dirty="0"/>
              <a:t>Agriculture et Sédentarisation </a:t>
            </a:r>
          </a:p>
          <a:p>
            <a:r>
              <a:rPr lang="fr-FR" sz="2800" dirty="0"/>
              <a:t>Guerres et politiques</a:t>
            </a:r>
          </a:p>
          <a:p>
            <a:r>
              <a:rPr lang="fr-FR" sz="2800" dirty="0"/>
              <a:t>Commerces et échanges</a:t>
            </a:r>
          </a:p>
          <a:p>
            <a:r>
              <a:rPr lang="fr-FR" sz="2800" dirty="0"/>
              <a:t>Industrialisation </a:t>
            </a:r>
          </a:p>
          <a:p>
            <a:r>
              <a:rPr lang="fr-FR" sz="2800" dirty="0"/>
              <a:t>Numériques </a:t>
            </a:r>
          </a:p>
          <a:p>
            <a:r>
              <a:rPr lang="fr-FR" sz="2800" dirty="0"/>
              <a:t>Mobilités</a:t>
            </a:r>
          </a:p>
          <a:p>
            <a:r>
              <a:rPr lang="fr-FR" sz="2800" dirty="0"/>
              <a:t>Globalisation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153315-7F7C-E54E-A360-FCF25DB41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FR" sz="2400" dirty="0"/>
              <a:t>Néolithique</a:t>
            </a:r>
          </a:p>
          <a:p>
            <a:r>
              <a:rPr lang="fr-FR" sz="2400" dirty="0"/>
              <a:t>Moyen âge</a:t>
            </a:r>
          </a:p>
          <a:p>
            <a:r>
              <a:rPr lang="fr-FR" sz="2400" dirty="0"/>
              <a:t>Révolution industrielle</a:t>
            </a:r>
          </a:p>
          <a:p>
            <a:r>
              <a:rPr lang="fr-FR" sz="2400" dirty="0"/>
              <a:t>Ere digitale et postindustrielle</a:t>
            </a:r>
          </a:p>
        </p:txBody>
      </p:sp>
    </p:spTree>
    <p:extLst>
      <p:ext uri="{BB962C8B-B14F-4D97-AF65-F5344CB8AC3E}">
        <p14:creationId xmlns:p14="http://schemas.microsoft.com/office/powerpoint/2010/main" val="372719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L’URBANISATION A L’URBANISME: </a:t>
            </a:r>
            <a:r>
              <a:rPr lang="fr-FR" dirty="0" err="1"/>
              <a:t>Ildefonso</a:t>
            </a:r>
            <a:r>
              <a:rPr lang="fr-FR" dirty="0"/>
              <a:t> CERDA (1815-1876)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39732"/>
          </a:xfrm>
        </p:spPr>
        <p:txBody>
          <a:bodyPr>
            <a:noAutofit/>
          </a:bodyPr>
          <a:lstStyle/>
          <a:p>
            <a:r>
              <a:rPr lang="fr-FR" sz="2200" dirty="0"/>
              <a:t>Ingénieur des ponts et chaussée de l’école de Madrid</a:t>
            </a:r>
          </a:p>
          <a:p>
            <a:r>
              <a:rPr lang="fr-FR" sz="2200" dirty="0"/>
              <a:t>1867 : Apparition du mot </a:t>
            </a:r>
            <a:r>
              <a:rPr lang="fr-FR" sz="2200" dirty="0" err="1"/>
              <a:t>urbanizacion</a:t>
            </a:r>
            <a:endParaRPr lang="fr-FR" sz="2200" dirty="0"/>
          </a:p>
          <a:p>
            <a:r>
              <a:rPr lang="fr-FR" sz="2200" dirty="0"/>
              <a:t>Ouvrage « Théorie de l’urbanisation »</a:t>
            </a:r>
          </a:p>
          <a:p>
            <a:r>
              <a:rPr lang="fr-FR" sz="2200" dirty="0"/>
              <a:t>Plan de Barcelone et démolition des murs d’enceinte de la ville</a:t>
            </a:r>
          </a:p>
          <a:p>
            <a:pPr lvl="1"/>
            <a:r>
              <a:rPr lang="fr-FR" sz="2000" dirty="0"/>
              <a:t>Pression foncière</a:t>
            </a:r>
          </a:p>
          <a:p>
            <a:pPr lvl="1"/>
            <a:r>
              <a:rPr lang="fr-FR" sz="2000" dirty="0"/>
              <a:t>Révolution industrielle</a:t>
            </a:r>
          </a:p>
          <a:p>
            <a:pPr lvl="1"/>
            <a:r>
              <a:rPr lang="fr-FR" sz="2000" dirty="0"/>
              <a:t>Plan d’extension confiée à </a:t>
            </a:r>
            <a:r>
              <a:rPr lang="fr-FR" sz="2000" dirty="0" err="1"/>
              <a:t>Cerda</a:t>
            </a:r>
            <a:r>
              <a:rPr lang="fr-FR" sz="2000" dirty="0"/>
              <a:t> et à un autre architecte catalan Antonio de </a:t>
            </a:r>
            <a:r>
              <a:rPr lang="fr-FR" sz="2000" dirty="0" err="1"/>
              <a:t>Rovira</a:t>
            </a:r>
            <a:r>
              <a:rPr lang="fr-FR" sz="2000" dirty="0"/>
              <a:t> y Trias, choix du plan de </a:t>
            </a:r>
            <a:r>
              <a:rPr lang="fr-FR" sz="2000" dirty="0" err="1"/>
              <a:t>Cerda</a:t>
            </a:r>
            <a:endParaRPr lang="fr-FR" sz="2200" dirty="0"/>
          </a:p>
          <a:p>
            <a:pPr marL="228600" lvl="1" indent="0">
              <a:buNone/>
            </a:pPr>
            <a:endParaRPr lang="fr-FR" sz="2200" dirty="0"/>
          </a:p>
          <a:p>
            <a:pPr lvl="1"/>
            <a:endParaRPr lang="fr-FR" sz="2200" dirty="0"/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2267272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L’URBANISATION A L’URBANISME </a:t>
            </a:r>
            <a:r>
              <a:rPr lang="fr-FR" dirty="0" err="1"/>
              <a:t>Ildefonso</a:t>
            </a:r>
            <a:r>
              <a:rPr lang="fr-FR" dirty="0"/>
              <a:t> CERDA (1815-1876)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27986" cy="3539732"/>
          </a:xfrm>
        </p:spPr>
        <p:txBody>
          <a:bodyPr>
            <a:noAutofit/>
          </a:bodyPr>
          <a:lstStyle/>
          <a:p>
            <a:r>
              <a:rPr lang="fr-FR" sz="2200" dirty="0"/>
              <a:t>1859 : Validation du Plan de </a:t>
            </a:r>
            <a:r>
              <a:rPr lang="fr-FR" sz="2200" dirty="0" err="1"/>
              <a:t>Cerda</a:t>
            </a:r>
            <a:r>
              <a:rPr lang="fr-FR" sz="2200" dirty="0"/>
              <a:t> par ordonnance royale</a:t>
            </a:r>
          </a:p>
          <a:p>
            <a:r>
              <a:rPr lang="fr-FR" sz="2200" b="1" dirty="0"/>
              <a:t>Objectifs</a:t>
            </a:r>
          </a:p>
          <a:p>
            <a:pPr lvl="1"/>
            <a:r>
              <a:rPr lang="fr-FR" sz="2000" dirty="0"/>
              <a:t>Hygiéniste : ville congestionnée</a:t>
            </a:r>
          </a:p>
          <a:p>
            <a:pPr lvl="1"/>
            <a:r>
              <a:rPr lang="fr-FR" sz="2000" dirty="0"/>
              <a:t>Accroissement de la mobilité : besoin de réseaux </a:t>
            </a:r>
          </a:p>
          <a:p>
            <a:pPr lvl="1"/>
            <a:r>
              <a:rPr lang="fr-FR" sz="2000" dirty="0"/>
              <a:t>Restructuration : </a:t>
            </a:r>
            <a:r>
              <a:rPr lang="fr-FR" sz="2000" dirty="0" err="1"/>
              <a:t>re</a:t>
            </a:r>
            <a:r>
              <a:rPr lang="fr-FR" sz="2000" dirty="0"/>
              <a:t>-parcellisation</a:t>
            </a:r>
          </a:p>
          <a:p>
            <a:pPr marL="228600" lvl="1" indent="0">
              <a:buNone/>
            </a:pPr>
            <a:r>
              <a:rPr lang="fr-FR" sz="2000" b="1" dirty="0"/>
              <a:t>Théorie de l’urbanisation </a:t>
            </a:r>
          </a:p>
          <a:p>
            <a:pPr marL="228600" lvl="1" indent="0">
              <a:buNone/>
            </a:pPr>
            <a:r>
              <a:rPr lang="fr-FR" sz="2000" dirty="0"/>
              <a:t>a. L’urbanisation comme fait concret</a:t>
            </a:r>
          </a:p>
          <a:p>
            <a:pPr marL="228600" lvl="1" indent="0">
              <a:buNone/>
            </a:pPr>
            <a:r>
              <a:rPr lang="fr-FR" sz="2000" dirty="0"/>
              <a:t>b. Statistique urbaine de Barcelone</a:t>
            </a:r>
            <a:r>
              <a:rPr lang="fr-FR" sz="2200" dirty="0"/>
              <a:t> </a:t>
            </a:r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265158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L’URBANISATION A L’URBANISME </a:t>
            </a:r>
            <a:r>
              <a:rPr lang="fr-FR" dirty="0" err="1"/>
              <a:t>Ildefonso</a:t>
            </a:r>
            <a:r>
              <a:rPr lang="fr-FR" dirty="0"/>
              <a:t> CERDA (1815-1876)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27986" cy="3539732"/>
          </a:xfrm>
        </p:spPr>
        <p:txBody>
          <a:bodyPr>
            <a:noAutofit/>
          </a:bodyPr>
          <a:lstStyle/>
          <a:p>
            <a:pPr marL="228600" lvl="1" indent="0">
              <a:buNone/>
            </a:pPr>
            <a:r>
              <a:rPr lang="fr-FR" sz="2000" b="1" dirty="0"/>
              <a:t>Méthode </a:t>
            </a:r>
            <a:endParaRPr lang="fr-FR" sz="2200" b="1" dirty="0"/>
          </a:p>
          <a:p>
            <a:pPr lvl="1"/>
            <a:r>
              <a:rPr lang="fr-FR" sz="2200" dirty="0"/>
              <a:t>Travail d’analyse, d’anatomie de l’organisme urbain, dissection anatomique</a:t>
            </a:r>
          </a:p>
          <a:p>
            <a:pPr lvl="1"/>
            <a:r>
              <a:rPr lang="fr-FR" sz="2200" dirty="0" err="1"/>
              <a:t>Cérda</a:t>
            </a:r>
            <a:r>
              <a:rPr lang="fr-FR" sz="2200" dirty="0"/>
              <a:t> distingue le contenant (physique, naturel, spatial) et le contenu (hommes, sociétés, politiques)</a:t>
            </a:r>
          </a:p>
          <a:p>
            <a:pPr lvl="1"/>
            <a:r>
              <a:rPr lang="fr-FR" sz="2200" dirty="0"/>
              <a:t>Evolution de l’urbain et analyse des éléments de cet organisme : comme les couches de la formation géologique couches de l’évolution urbaine</a:t>
            </a:r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745906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L’URBANISATION A L’URBANISME </a:t>
            </a:r>
            <a:r>
              <a:rPr lang="fr-FR" dirty="0" err="1"/>
              <a:t>Ildefonso</a:t>
            </a:r>
            <a:r>
              <a:rPr lang="fr-FR" dirty="0"/>
              <a:t> CERDA (1815-1876)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92717"/>
            <a:ext cx="7729728" cy="3539732"/>
          </a:xfrm>
        </p:spPr>
        <p:txBody>
          <a:bodyPr>
            <a:noAutofit/>
          </a:bodyPr>
          <a:lstStyle/>
          <a:p>
            <a:r>
              <a:rPr lang="fr-FR" sz="2200" dirty="0"/>
              <a:t>Néologisme </a:t>
            </a:r>
            <a:r>
              <a:rPr lang="fr-FR" sz="2200" b="1" dirty="0"/>
              <a:t>« </a:t>
            </a:r>
            <a:r>
              <a:rPr lang="fr-FR" sz="2200" b="1" dirty="0" err="1"/>
              <a:t>urbanizacion</a:t>
            </a:r>
            <a:r>
              <a:rPr lang="fr-FR" sz="2200" b="1" dirty="0"/>
              <a:t> » </a:t>
            </a:r>
          </a:p>
          <a:p>
            <a:pPr lvl="1"/>
            <a:r>
              <a:rPr lang="fr-FR" sz="2200" dirty="0"/>
              <a:t>Action d’urbaniser</a:t>
            </a:r>
          </a:p>
          <a:p>
            <a:pPr lvl="1"/>
            <a:r>
              <a:rPr lang="fr-FR" sz="2200" dirty="0"/>
              <a:t>Concentration des populations et des activités</a:t>
            </a:r>
          </a:p>
          <a:p>
            <a:pPr lvl="1"/>
            <a:r>
              <a:rPr lang="fr-FR" sz="2200" dirty="0"/>
              <a:t>Urbanisme comme science et discipline</a:t>
            </a:r>
          </a:p>
          <a:p>
            <a:pPr lvl="1"/>
            <a:r>
              <a:rPr lang="fr-FR" sz="2200" dirty="0"/>
              <a:t>Rejet de la notion de ville renvoyant à des références idéales, idéelles, normatives, traditionnelles</a:t>
            </a:r>
          </a:p>
          <a:p>
            <a:pPr lvl="1"/>
            <a:r>
              <a:rPr lang="fr-FR" sz="2200" dirty="0"/>
              <a:t>Toutes les agglomérations issues de l’urbanisation quelles que soient leurs formes et leurs dimensions </a:t>
            </a:r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3737983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L’URBANISATION A L’URBANISME </a:t>
            </a:r>
            <a:r>
              <a:rPr lang="fr-FR" dirty="0" err="1"/>
              <a:t>Ildefonso</a:t>
            </a:r>
            <a:r>
              <a:rPr lang="fr-FR" dirty="0"/>
              <a:t> CERDA (1815-1876)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27986" cy="3539732"/>
          </a:xfrm>
        </p:spPr>
        <p:txBody>
          <a:bodyPr>
            <a:noAutofit/>
          </a:bodyPr>
          <a:lstStyle/>
          <a:p>
            <a:pPr marL="228600" lvl="1" indent="0">
              <a:buNone/>
            </a:pPr>
            <a:r>
              <a:rPr lang="fr-FR" sz="2000" b="1" dirty="0"/>
              <a:t>Apports de </a:t>
            </a:r>
            <a:r>
              <a:rPr lang="fr-FR" sz="2000" b="1" dirty="0" err="1"/>
              <a:t>Cerda</a:t>
            </a:r>
            <a:endParaRPr lang="fr-FR" sz="2200" b="1" dirty="0"/>
          </a:p>
          <a:p>
            <a:pPr lvl="1"/>
            <a:r>
              <a:rPr lang="fr-FR" sz="2200" dirty="0"/>
              <a:t>Analyse de l’existant pour développer un nouveau modèle d’organisation</a:t>
            </a:r>
          </a:p>
          <a:p>
            <a:pPr lvl="1"/>
            <a:r>
              <a:rPr lang="fr-FR" sz="2200" dirty="0" err="1"/>
              <a:t>Cérda</a:t>
            </a:r>
            <a:r>
              <a:rPr lang="fr-FR" sz="2200" dirty="0"/>
              <a:t> développe un nouveau modèle descriptif des composantes urbaines validé par le cas de Barcelone</a:t>
            </a:r>
          </a:p>
          <a:p>
            <a:pPr lvl="1"/>
            <a:r>
              <a:rPr lang="fr-FR" sz="2200" dirty="0"/>
              <a:t>Trame en échiquier : égalité sociale et équité</a:t>
            </a:r>
          </a:p>
          <a:p>
            <a:pPr lvl="1"/>
            <a:r>
              <a:rPr lang="fr-FR" sz="2200" dirty="0"/>
              <a:t>Précurseur de l’urbanisme fonctionnaliste</a:t>
            </a:r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104352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322" y="975843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fr-FR" dirty="0"/>
              <a:t>DE L’URBANISATION A L’URBANISME</a:t>
            </a:r>
            <a:br>
              <a:rPr lang="fr-FR" dirty="0"/>
            </a:br>
            <a:r>
              <a:rPr lang="fr-FR" dirty="0"/>
              <a:t>Georges </a:t>
            </a:r>
            <a:r>
              <a:rPr lang="fr-FR" dirty="0" err="1"/>
              <a:t>EugENE</a:t>
            </a:r>
            <a:r>
              <a:rPr lang="fr-FR" dirty="0"/>
              <a:t> HAUSSMANN (1809-1891)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27986" cy="3539732"/>
          </a:xfrm>
        </p:spPr>
        <p:txBody>
          <a:bodyPr>
            <a:noAutofit/>
          </a:bodyPr>
          <a:lstStyle/>
          <a:p>
            <a:pPr marL="228600" lvl="1" indent="0">
              <a:buNone/>
            </a:pPr>
            <a:r>
              <a:rPr lang="fr-FR" sz="2000" b="1" dirty="0"/>
              <a:t>Paris au 19 e siècle </a:t>
            </a:r>
            <a:endParaRPr lang="fr-FR" sz="2200" b="1" dirty="0"/>
          </a:p>
          <a:p>
            <a:pPr lvl="1"/>
            <a:r>
              <a:rPr lang="fr-FR" sz="2400" b="1" dirty="0"/>
              <a:t>Ville du Moyen âge en cours d’industrialisation</a:t>
            </a:r>
          </a:p>
          <a:p>
            <a:pPr lvl="2"/>
            <a:r>
              <a:rPr lang="fr-FR" sz="2400" dirty="0"/>
              <a:t>Naissance des banlieues avec les flux ouvriers migratoires </a:t>
            </a:r>
          </a:p>
          <a:p>
            <a:pPr lvl="2"/>
            <a:r>
              <a:rPr lang="fr-FR" sz="2400" dirty="0"/>
              <a:t>Paupérisation des zones entières</a:t>
            </a:r>
          </a:p>
          <a:p>
            <a:pPr lvl="2"/>
            <a:r>
              <a:rPr lang="fr-FR" sz="2400" dirty="0"/>
              <a:t>Emeutes des classes ouvrières</a:t>
            </a:r>
          </a:p>
          <a:p>
            <a:pPr lvl="2"/>
            <a:r>
              <a:rPr lang="fr-FR" sz="2400" dirty="0"/>
              <a:t>Maladies et maux sociaux </a:t>
            </a:r>
          </a:p>
          <a:p>
            <a:pPr marL="228600" lvl="1" indent="0">
              <a:buNone/>
            </a:pPr>
            <a:endParaRPr lang="fr-FR" sz="2200" dirty="0"/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2373433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25215-4FDD-9F46-9CB5-D22EF488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322" y="975843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fr-FR" dirty="0"/>
              <a:t>DE L’URBANISATION A L’URBANISME</a:t>
            </a:r>
            <a:br>
              <a:rPr lang="fr-FR" dirty="0"/>
            </a:br>
            <a:r>
              <a:rPr lang="fr-FR" dirty="0"/>
              <a:t>Georges </a:t>
            </a:r>
            <a:r>
              <a:rPr lang="fr-FR" dirty="0" err="1"/>
              <a:t>EugENE</a:t>
            </a:r>
            <a:r>
              <a:rPr lang="fr-FR" dirty="0"/>
              <a:t> HAUSSMANN (1809-1891)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AE8169-ABFE-B74E-B783-D7F18756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27986" cy="3539732"/>
          </a:xfrm>
        </p:spPr>
        <p:txBody>
          <a:bodyPr>
            <a:noAutofit/>
          </a:bodyPr>
          <a:lstStyle/>
          <a:p>
            <a:pPr marL="228600" lvl="1" indent="0">
              <a:buNone/>
            </a:pPr>
            <a:r>
              <a:rPr lang="fr-FR" sz="2000" b="1" dirty="0"/>
              <a:t>Paris au 19 e siècle </a:t>
            </a:r>
            <a:endParaRPr lang="fr-FR" sz="2200" b="1" dirty="0"/>
          </a:p>
          <a:p>
            <a:pPr lvl="1"/>
            <a:r>
              <a:rPr lang="fr-FR" sz="2400" b="1" dirty="0"/>
              <a:t>Ville du Moyen âge en cours d’industrialisation</a:t>
            </a:r>
          </a:p>
          <a:p>
            <a:pPr lvl="2"/>
            <a:r>
              <a:rPr lang="fr-FR" sz="2400" dirty="0"/>
              <a:t>Naissance des banlieues avec les flux ouvriers migratoires </a:t>
            </a:r>
          </a:p>
          <a:p>
            <a:pPr lvl="2"/>
            <a:r>
              <a:rPr lang="fr-FR" sz="2400" dirty="0"/>
              <a:t>Paupérisation des zones entières</a:t>
            </a:r>
          </a:p>
          <a:p>
            <a:pPr lvl="2"/>
            <a:r>
              <a:rPr lang="fr-FR" sz="2400" dirty="0"/>
              <a:t>Emeutes des classes ouvrières</a:t>
            </a:r>
          </a:p>
          <a:p>
            <a:pPr lvl="2"/>
            <a:r>
              <a:rPr lang="fr-FR" sz="2400" dirty="0"/>
              <a:t>Maladies et maux sociaux </a:t>
            </a:r>
          </a:p>
          <a:p>
            <a:pPr marL="228600" lvl="1" indent="0">
              <a:buNone/>
            </a:pPr>
            <a:r>
              <a:rPr lang="fr-FR" sz="2000" b="1" dirty="0"/>
              <a:t>Napoléon 3 veut une ville moderne </a:t>
            </a:r>
            <a:r>
              <a:rPr lang="fr-FR" sz="2000" b="1"/>
              <a:t>et prestigieuse </a:t>
            </a:r>
            <a:endParaRPr lang="fr-FR" sz="2000" b="1" dirty="0"/>
          </a:p>
          <a:p>
            <a:pPr marL="228600" lvl="1" indent="0">
              <a:buNone/>
            </a:pPr>
            <a:endParaRPr lang="fr-FR" sz="2200" dirty="0"/>
          </a:p>
          <a:p>
            <a:pPr lvl="1"/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3465104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43A45-931D-BC41-BECE-6AFEF696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SOURCES ET PROCESSUS DE </a:t>
            </a:r>
            <a:r>
              <a:rPr lang="fr-FR" dirty="0" err="1"/>
              <a:t>L’URBAnIsation</a:t>
            </a:r>
            <a:r>
              <a:rPr lang="fr-FR" dirty="0"/>
              <a:t> : moteurs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D54B18-F4FA-BE45-AF58-6094AA69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Croissance naturelle : transition démographique</a:t>
            </a:r>
          </a:p>
          <a:p>
            <a:endParaRPr lang="fr-FR" sz="2400" dirty="0"/>
          </a:p>
          <a:p>
            <a:r>
              <a:rPr lang="fr-FR" sz="2400" dirty="0"/>
              <a:t>Migrations internes et internationales </a:t>
            </a:r>
          </a:p>
          <a:p>
            <a:endParaRPr lang="fr-FR" sz="2400" dirty="0"/>
          </a:p>
          <a:p>
            <a:r>
              <a:rPr lang="fr-FR" sz="2400" dirty="0"/>
              <a:t>Processus et réformes politiques : exemple de l’Acte 3 de la décentralisation au Sénégal</a:t>
            </a:r>
          </a:p>
        </p:txBody>
      </p:sp>
    </p:spTree>
    <p:extLst>
      <p:ext uri="{BB962C8B-B14F-4D97-AF65-F5344CB8AC3E}">
        <p14:creationId xmlns:p14="http://schemas.microsoft.com/office/powerpoint/2010/main" val="3853133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C1ACB-BF7D-CD43-B1F3-0B34E5F6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STATISTIQUES ET TYPOLOGIE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0272F9-37B9-0448-9EA5-F78D7DBD0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85419"/>
          </a:xfrm>
        </p:spPr>
        <p:txBody>
          <a:bodyPr>
            <a:noAutofit/>
          </a:bodyPr>
          <a:lstStyle/>
          <a:p>
            <a:r>
              <a:rPr lang="fr-FR" sz="2200" dirty="0"/>
              <a:t>2,5 milliards de personnes supplémentaires dans les villes d’ici 2050</a:t>
            </a:r>
          </a:p>
          <a:p>
            <a:r>
              <a:rPr lang="fr-FR" sz="2200" dirty="0"/>
              <a:t>Espaces des villes passeront de 0,5 % des terres émergées en 2000 à 1,5 % en 2030</a:t>
            </a:r>
          </a:p>
          <a:p>
            <a:r>
              <a:rPr lang="fr-FR" sz="2200" dirty="0"/>
              <a:t>Chaque jour les villes augmentent dans le monde l’équivalent de la ville de Paris</a:t>
            </a:r>
          </a:p>
          <a:p>
            <a:r>
              <a:rPr lang="fr-FR" sz="2200" dirty="0"/>
              <a:t>2050 : 65% des habitants de la planète seront des citadins</a:t>
            </a:r>
          </a:p>
          <a:p>
            <a:r>
              <a:rPr lang="fr-FR" sz="2200" dirty="0"/>
              <a:t>Cette croissance a lieu essentiellement dans le Sud : Inde, Chine, Bangladesh, , Nigéria, RDC…</a:t>
            </a:r>
          </a:p>
        </p:txBody>
      </p:sp>
    </p:spTree>
    <p:extLst>
      <p:ext uri="{BB962C8B-B14F-4D97-AF65-F5344CB8AC3E}">
        <p14:creationId xmlns:p14="http://schemas.microsoft.com/office/powerpoint/2010/main" val="2280075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02EB8-8015-7B4D-B8FA-4932233B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EVOLUTION : taux annuel d’accroissement URBAIN de la population est 3%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E1E4D-3390-8341-8828-391B6478E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800" dirty="0"/>
              <a:t>La part des villes augmente</a:t>
            </a:r>
          </a:p>
          <a:p>
            <a:r>
              <a:rPr lang="fr-FR" sz="2800" dirty="0"/>
              <a:t>Le nombre des villes augmente</a:t>
            </a:r>
          </a:p>
          <a:p>
            <a:r>
              <a:rPr lang="fr-FR" sz="2800" dirty="0"/>
              <a:t>Les facteurs de la production de l’espace urbain se diversifient</a:t>
            </a:r>
          </a:p>
          <a:p>
            <a:r>
              <a:rPr lang="fr-FR" sz="2800" dirty="0"/>
              <a:t>Le rôle des villes gagne en importance et en diversité</a:t>
            </a:r>
          </a:p>
          <a:p>
            <a:r>
              <a:rPr lang="fr-FR" sz="2800" dirty="0"/>
              <a:t>Les problèmes générés par les villes augmentent</a:t>
            </a:r>
          </a:p>
          <a:p>
            <a:endParaRPr lang="fr-FR" sz="2800" dirty="0"/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1448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AD9CF-B4BF-704F-9480-4FDE280D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URBANISATION : Taux d’urbanisation (proportion de la population vivant en ville)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A4047F-6D3F-DC46-A99B-56282EFF4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400" dirty="0"/>
              <a:t>4 % en 1800</a:t>
            </a:r>
          </a:p>
          <a:p>
            <a:r>
              <a:rPr lang="fr-FR" sz="2400" dirty="0"/>
              <a:t>15% en 1900</a:t>
            </a:r>
          </a:p>
          <a:p>
            <a:r>
              <a:rPr lang="fr-FR" sz="2400" dirty="0"/>
              <a:t>30% en 1950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50% en 2007</a:t>
            </a:r>
          </a:p>
          <a:p>
            <a:r>
              <a:rPr lang="fr-FR" sz="2400" dirty="0"/>
              <a:t>56 % en 2025</a:t>
            </a:r>
          </a:p>
          <a:p>
            <a:r>
              <a:rPr lang="fr-FR" sz="2400" dirty="0"/>
              <a:t>85 % en 2050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4084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AD8B3E-F3CD-954B-89FC-69A0DC0E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TRANSITION URBAINE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7E7059-99F8-D545-8030-B97FEAF88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/>
              <a:t>Tournant en 2007 </a:t>
            </a:r>
          </a:p>
          <a:p>
            <a:r>
              <a:rPr lang="fr-FR" sz="2800" dirty="0"/>
              <a:t>Un homme sur 10 habitait les villes dans le monde en 1900</a:t>
            </a:r>
          </a:p>
          <a:p>
            <a:r>
              <a:rPr lang="fr-FR" sz="2800" dirty="0"/>
              <a:t>En 2050 plus des 3/4</a:t>
            </a:r>
          </a:p>
          <a:p>
            <a:r>
              <a:rPr lang="fr-FR" sz="2800" dirty="0"/>
              <a:t>En Afrique transition urbaine en 2050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7896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5CEE9-FE1C-7044-8255-C6AC62F4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URBANISATION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AD8EDC-EE60-1841-8B89-0B1B1AA9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 population des villes augmente plus que la population totale</a:t>
            </a:r>
          </a:p>
          <a:p>
            <a:r>
              <a:rPr lang="fr-FR" sz="2400" dirty="0"/>
              <a:t>Nombre de villes de plus de 10 millions = 17 dont 11 dans les pays du Sud</a:t>
            </a:r>
          </a:p>
          <a:p>
            <a:r>
              <a:rPr lang="fr-FR" sz="2400" dirty="0"/>
              <a:t>La transformation des modes de vie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6950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A1D167-BD1D-2B4E-83A1-8F59314A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FACTEURS ET ENJEUX DE l’urbanisation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4EB768-B267-C340-9302-486CF064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Encadré dans les pays du nord : stabilité </a:t>
            </a:r>
          </a:p>
          <a:p>
            <a:r>
              <a:rPr lang="fr-FR" sz="2400" dirty="0"/>
              <a:t>Subi dans les pays du sud : incontrôlé </a:t>
            </a:r>
          </a:p>
          <a:p>
            <a:r>
              <a:rPr lang="fr-FR" sz="2400" dirty="0"/>
              <a:t>Urbanisation tardif en France : transition d’un modèle agraire à un modèle industriel</a:t>
            </a:r>
          </a:p>
          <a:p>
            <a:r>
              <a:rPr lang="fr-FR" sz="2400" dirty="0"/>
              <a:t>1920-1930 : exode rural</a:t>
            </a:r>
          </a:p>
          <a:p>
            <a:r>
              <a:rPr lang="fr-FR" sz="2400" dirty="0"/>
              <a:t>2010 : 78 % des français vivent en ville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6084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7BC9B7-4302-D442-9B59-67F0069B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USAGES DE L’ESPACE URBAIN : PROCESSUS d’URBANISATION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0E1E61-1015-0E4F-B713-EC0253E3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Occupation</a:t>
            </a:r>
          </a:p>
          <a:p>
            <a:r>
              <a:rPr lang="fr-FR" sz="2400" dirty="0"/>
              <a:t>Appropriation</a:t>
            </a:r>
          </a:p>
          <a:p>
            <a:r>
              <a:rPr lang="fr-FR" sz="2400" dirty="0"/>
              <a:t>Exploitation</a:t>
            </a:r>
          </a:p>
          <a:p>
            <a:r>
              <a:rPr lang="fr-FR" sz="2400" dirty="0"/>
              <a:t>Habitation</a:t>
            </a:r>
          </a:p>
          <a:p>
            <a:r>
              <a:rPr lang="fr-FR" sz="2400" dirty="0"/>
              <a:t>Echange</a:t>
            </a:r>
          </a:p>
          <a:p>
            <a:r>
              <a:rPr lang="fr-FR" sz="2400" dirty="0"/>
              <a:t>Spéculation</a:t>
            </a:r>
          </a:p>
        </p:txBody>
      </p:sp>
    </p:spTree>
    <p:extLst>
      <p:ext uri="{BB962C8B-B14F-4D97-AF65-F5344CB8AC3E}">
        <p14:creationId xmlns:p14="http://schemas.microsoft.com/office/powerpoint/2010/main" val="3192485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69DB8-E41F-3043-9F48-619EE52C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 ET DEFIS DE l’URBANISATION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B4625A-BB13-774F-AB72-AD79339F1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8072591" cy="3461673"/>
          </a:xfrm>
        </p:spPr>
        <p:txBody>
          <a:bodyPr>
            <a:noAutofit/>
          </a:bodyPr>
          <a:lstStyle/>
          <a:p>
            <a:r>
              <a:rPr lang="fr-FR" sz="2000" dirty="0"/>
              <a:t>Absence de vision et de coordination</a:t>
            </a:r>
          </a:p>
          <a:p>
            <a:r>
              <a:rPr lang="fr-FR" sz="2000" dirty="0"/>
              <a:t>Faiblesse des perspectives à long terme</a:t>
            </a:r>
          </a:p>
          <a:p>
            <a:r>
              <a:rPr lang="fr-FR" sz="2000" dirty="0"/>
              <a:t>Faible Articulation entre les politiques et le développement urbain</a:t>
            </a:r>
          </a:p>
          <a:p>
            <a:r>
              <a:rPr lang="fr-FR" sz="2000" dirty="0"/>
              <a:t>Cohérence des Politiques et stratégies urbaines</a:t>
            </a:r>
          </a:p>
          <a:p>
            <a:r>
              <a:rPr lang="fr-FR" sz="2000" dirty="0"/>
              <a:t>Persistance des approches sectorielles </a:t>
            </a:r>
          </a:p>
          <a:p>
            <a:r>
              <a:rPr lang="fr-FR" sz="2000" dirty="0"/>
              <a:t>Déficit d’infrastructures</a:t>
            </a:r>
          </a:p>
          <a:p>
            <a:r>
              <a:rPr lang="fr-FR" sz="2000" dirty="0"/>
              <a:t>Déficit de planification </a:t>
            </a:r>
          </a:p>
          <a:p>
            <a:r>
              <a:rPr lang="fr-FR" sz="2000" dirty="0"/>
              <a:t>Cohérence entre els différents niveaux de planification</a:t>
            </a:r>
          </a:p>
        </p:txBody>
      </p:sp>
    </p:spTree>
    <p:extLst>
      <p:ext uri="{BB962C8B-B14F-4D97-AF65-F5344CB8AC3E}">
        <p14:creationId xmlns:p14="http://schemas.microsoft.com/office/powerpoint/2010/main" val="2939021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6B6A1-B591-2F44-A2CC-1969EE269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VILLES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85545D-DCCF-E444-AEDA-C8CF0C6C4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Espaces d’aspirations, d’inspirations et de rapports de force </a:t>
            </a:r>
          </a:p>
          <a:p>
            <a:r>
              <a:rPr lang="fr-FR" dirty="0"/>
              <a:t>Antoine Bailly la ville est un espace de volontés et de pouvoirs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6381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358DF-2357-0F4F-AA77-0BAF0363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DEFINITION, CONCEPTS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BFEEC-6A80-8940-8793-5A8B2ACA9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/>
              <a:t>Critères : contrastes et convergences par exemple M’Bour et Thiès</a:t>
            </a:r>
          </a:p>
          <a:p>
            <a:r>
              <a:rPr lang="fr-FR" sz="2400" dirty="0"/>
              <a:t>Morphologique : principe de la continuité et de la </a:t>
            </a:r>
            <a:r>
              <a:rPr lang="fr-FR" sz="2400" dirty="0" err="1"/>
              <a:t>contiguité</a:t>
            </a:r>
            <a:r>
              <a:rPr lang="fr-FR" sz="2400" dirty="0"/>
              <a:t> des espaces, types</a:t>
            </a:r>
          </a:p>
          <a:p>
            <a:r>
              <a:rPr lang="fr-FR" sz="2400" dirty="0"/>
              <a:t>Démographique : seuil, statistique</a:t>
            </a:r>
          </a:p>
          <a:p>
            <a:r>
              <a:rPr lang="fr-FR" sz="2400" dirty="0"/>
              <a:t>Administratif : décision administrative</a:t>
            </a:r>
          </a:p>
          <a:p>
            <a:r>
              <a:rPr lang="fr-FR" sz="2400" dirty="0"/>
              <a:t>Fonctionnel  : place et rôles, enjeux</a:t>
            </a:r>
          </a:p>
        </p:txBody>
      </p:sp>
    </p:spTree>
    <p:extLst>
      <p:ext uri="{BB962C8B-B14F-4D97-AF65-F5344CB8AC3E}">
        <p14:creationId xmlns:p14="http://schemas.microsoft.com/office/powerpoint/2010/main" val="2513699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782FED-1A7D-9F44-A041-7BB125F9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STATISTIQUES ET TYPOLOGIES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3B6BAF-7493-0C41-B69F-69FE4637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Polysémie de la définition de la ville selon les pays</a:t>
            </a:r>
          </a:p>
          <a:p>
            <a:r>
              <a:rPr lang="fr-FR" sz="2400" b="1" dirty="0"/>
              <a:t>Définition influence des statistiques</a:t>
            </a:r>
          </a:p>
          <a:p>
            <a:r>
              <a:rPr lang="fr-FR" sz="2400" b="1" dirty="0"/>
              <a:t>Typologie différenciée </a:t>
            </a:r>
          </a:p>
          <a:p>
            <a:r>
              <a:rPr lang="fr-FR" sz="2400" b="1" dirty="0"/>
              <a:t>Besoin d’harmonisation </a:t>
            </a:r>
          </a:p>
          <a:p>
            <a:r>
              <a:rPr lang="fr-FR" sz="2400" b="1" dirty="0"/>
              <a:t>Voir les définitions des Nations Unies 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92594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823E4-6356-FA4B-A0A8-51ADC3E7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STRUCTURE DES VILLES: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Définition de Lévy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338F5-748B-EB49-9F2F-0EBBF0EB5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400" b="1" dirty="0"/>
              <a:t>Structure de permanence</a:t>
            </a:r>
            <a:r>
              <a:rPr lang="fr-FR" sz="2400" dirty="0"/>
              <a:t> : éléments physiques permanents</a:t>
            </a:r>
          </a:p>
          <a:p>
            <a:r>
              <a:rPr lang="fr-FR" sz="2400" b="1" dirty="0"/>
              <a:t>Structure de conformation : </a:t>
            </a:r>
            <a:r>
              <a:rPr lang="fr-FR" sz="2400" dirty="0"/>
              <a:t>les éléments stables : tracés, armature géométrique, trames</a:t>
            </a:r>
          </a:p>
          <a:p>
            <a:r>
              <a:rPr lang="fr-FR" sz="2400" dirty="0"/>
              <a:t>S</a:t>
            </a:r>
            <a:r>
              <a:rPr lang="fr-FR" sz="2400" b="1" dirty="0"/>
              <a:t>tructure spatiale et territoriale </a:t>
            </a:r>
            <a:r>
              <a:rPr lang="fr-FR" sz="2400" dirty="0"/>
              <a:t>: lieux, habitats,  équipements, supports des activités </a:t>
            </a:r>
          </a:p>
          <a:p>
            <a:r>
              <a:rPr lang="fr-FR" sz="2400" b="1" dirty="0"/>
              <a:t>Structure fonctionnelle : </a:t>
            </a:r>
            <a:r>
              <a:rPr lang="fr-FR" sz="2400" dirty="0"/>
              <a:t>activités, fonctions, vocations, gestion</a:t>
            </a:r>
          </a:p>
        </p:txBody>
      </p:sp>
    </p:spTree>
    <p:extLst>
      <p:ext uri="{BB962C8B-B14F-4D97-AF65-F5344CB8AC3E}">
        <p14:creationId xmlns:p14="http://schemas.microsoft.com/office/powerpoint/2010/main" val="4233406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4BB02-FF86-3344-A904-46292D13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MORPHOLOGIE DES VILLES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E54B7F-CB17-C044-B8B5-F7C1504EF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41756"/>
            <a:ext cx="7729728" cy="4204010"/>
          </a:xfrm>
        </p:spPr>
        <p:txBody>
          <a:bodyPr>
            <a:noAutofit/>
          </a:bodyPr>
          <a:lstStyle/>
          <a:p>
            <a:r>
              <a:rPr lang="fr-FR" sz="2200" dirty="0"/>
              <a:t>Centres</a:t>
            </a:r>
          </a:p>
          <a:p>
            <a:r>
              <a:rPr lang="fr-FR" sz="2200" dirty="0"/>
              <a:t>Banlieues</a:t>
            </a:r>
          </a:p>
          <a:p>
            <a:r>
              <a:rPr lang="fr-FR" sz="2200" dirty="0"/>
              <a:t>Bidonvilles</a:t>
            </a:r>
          </a:p>
          <a:p>
            <a:r>
              <a:rPr lang="fr-FR" sz="2200" dirty="0"/>
              <a:t>Périurbain</a:t>
            </a:r>
          </a:p>
          <a:p>
            <a:r>
              <a:rPr lang="fr-FR" sz="2200" dirty="0"/>
              <a:t>Métropoles</a:t>
            </a:r>
          </a:p>
          <a:p>
            <a:r>
              <a:rPr lang="fr-FR" sz="2200" dirty="0"/>
              <a:t>Mégalopoles</a:t>
            </a:r>
          </a:p>
          <a:p>
            <a:r>
              <a:rPr lang="fr-FR" sz="2200" dirty="0"/>
              <a:t>Conurbation</a:t>
            </a:r>
          </a:p>
        </p:txBody>
      </p:sp>
    </p:spTree>
    <p:extLst>
      <p:ext uri="{BB962C8B-B14F-4D97-AF65-F5344CB8AC3E}">
        <p14:creationId xmlns:p14="http://schemas.microsoft.com/office/powerpoint/2010/main" val="2131496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5D0EE99-DA95-6940-8DB7-D11C18C6C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DIAGNOSTIC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FD72F3-D4AB-3D4F-A096-9FBDA8BA8A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FR" sz="2400" dirty="0"/>
              <a:t>Métropolisation</a:t>
            </a:r>
          </a:p>
          <a:p>
            <a:r>
              <a:rPr lang="fr-FR" sz="2400" dirty="0"/>
              <a:t>Paupérisation et </a:t>
            </a:r>
            <a:r>
              <a:rPr lang="fr-FR" sz="2400" dirty="0" err="1"/>
              <a:t>bidonvillisation</a:t>
            </a:r>
            <a:endParaRPr lang="fr-FR" sz="2400" dirty="0"/>
          </a:p>
          <a:p>
            <a:r>
              <a:rPr lang="fr-FR" sz="2400" dirty="0"/>
              <a:t>Financiarisation</a:t>
            </a:r>
          </a:p>
          <a:p>
            <a:r>
              <a:rPr lang="fr-FR" sz="2400" dirty="0"/>
              <a:t>Standardisation des interventions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FF3E5D-D65C-EB43-9A8E-DAB0ACC5326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fr-FR" sz="2400" dirty="0"/>
              <a:t>Aménagement du territoire</a:t>
            </a:r>
          </a:p>
          <a:p>
            <a:r>
              <a:rPr lang="fr-FR" sz="2400" dirty="0"/>
              <a:t>Inclusion, équité et restructuration urbaine</a:t>
            </a:r>
          </a:p>
          <a:p>
            <a:r>
              <a:rPr lang="fr-FR" sz="2400" dirty="0"/>
              <a:t>Inclusion et logement social</a:t>
            </a:r>
          </a:p>
          <a:p>
            <a:r>
              <a:rPr lang="fr-FR" sz="2400" dirty="0"/>
              <a:t>Urbanisme de projet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749F57-D07E-1545-8ACF-F0F750227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STRATEGIES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9E58FD71-0C50-DA47-B2BE-8FBA0197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CADRE CONCEPTUEL DE L’ANALYSE URBAINE</a:t>
            </a:r>
          </a:p>
        </p:txBody>
      </p:sp>
    </p:spTree>
    <p:extLst>
      <p:ext uri="{BB962C8B-B14F-4D97-AF65-F5344CB8AC3E}">
        <p14:creationId xmlns:p14="http://schemas.microsoft.com/office/powerpoint/2010/main" val="2179845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6245B-C33C-FF4F-9815-9FB268A3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 ENJEUX </a:t>
            </a:r>
            <a:r>
              <a:rPr lang="fr-FR" dirty="0" err="1"/>
              <a:t>URBAiNs</a:t>
            </a:r>
            <a:r>
              <a:rPr lang="fr-FR" dirty="0"/>
              <a:t> : PENSER L’URBANISATION ET CONCEVOIR LES VILLES</a:t>
            </a:r>
            <a:br>
              <a:rPr lang="fr-FR" dirty="0"/>
            </a:br>
            <a:r>
              <a:rPr lang="fr-FR" dirty="0"/>
              <a:t>CHANGER DE PARADIGME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BF521F-219D-9045-AC07-6A039BBAC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Durabilité : les trois dimensions environnementales, économiques et sociales</a:t>
            </a:r>
          </a:p>
          <a:p>
            <a:r>
              <a:rPr lang="fr-FR" sz="2400" dirty="0"/>
              <a:t>Gouvernance urbaine </a:t>
            </a:r>
          </a:p>
          <a:p>
            <a:r>
              <a:rPr lang="fr-FR" sz="2400" dirty="0"/>
              <a:t>Globalisation : stimulant de l’urbanisation</a:t>
            </a:r>
          </a:p>
          <a:p>
            <a:r>
              <a:rPr lang="fr-FR" sz="2400" dirty="0"/>
              <a:t>Métropolisation : révélateur des urbanisation nouvelles</a:t>
            </a:r>
          </a:p>
          <a:p>
            <a:r>
              <a:rPr lang="fr-FR" sz="2400" dirty="0"/>
              <a:t>Prospective </a:t>
            </a:r>
          </a:p>
        </p:txBody>
      </p:sp>
    </p:spTree>
    <p:extLst>
      <p:ext uri="{BB962C8B-B14F-4D97-AF65-F5344CB8AC3E}">
        <p14:creationId xmlns:p14="http://schemas.microsoft.com/office/powerpoint/2010/main" val="2781356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47B0E-F087-9647-868D-0CE34B6F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ENVIRONNEMENTAL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D22AAC-5123-7145-8824-4F7DB0530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4030385"/>
          </a:xfrm>
        </p:spPr>
        <p:txBody>
          <a:bodyPr>
            <a:noAutofit/>
          </a:bodyPr>
          <a:lstStyle/>
          <a:p>
            <a:r>
              <a:rPr lang="fr-FR" sz="2200" dirty="0"/>
              <a:t>Qualité de vie</a:t>
            </a:r>
          </a:p>
          <a:p>
            <a:r>
              <a:rPr lang="fr-FR" sz="2200" dirty="0"/>
              <a:t>Cadre de vie</a:t>
            </a:r>
          </a:p>
          <a:p>
            <a:r>
              <a:rPr lang="fr-FR" sz="2200" dirty="0"/>
              <a:t>Risques </a:t>
            </a:r>
          </a:p>
          <a:p>
            <a:r>
              <a:rPr lang="fr-FR" sz="2200" dirty="0"/>
              <a:t>Résilience</a:t>
            </a:r>
          </a:p>
          <a:p>
            <a:r>
              <a:rPr lang="fr-FR" sz="2200" dirty="0"/>
              <a:t> Aménagement, Urbanisme : paradigme transformateur de l’espace basé sur les données physiques et les pratiques sociales ou sur leur interaction</a:t>
            </a:r>
          </a:p>
        </p:txBody>
      </p:sp>
    </p:spTree>
    <p:extLst>
      <p:ext uri="{BB962C8B-B14F-4D97-AF65-F5344CB8AC3E}">
        <p14:creationId xmlns:p14="http://schemas.microsoft.com/office/powerpoint/2010/main" val="684103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57257-CFC7-3340-BE89-FDCE0348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ECONOMIQUE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D60F72-3A44-0841-B684-AA30A334B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72824"/>
          </a:xfrm>
        </p:spPr>
        <p:txBody>
          <a:bodyPr>
            <a:noAutofit/>
          </a:bodyPr>
          <a:lstStyle/>
          <a:p>
            <a:r>
              <a:rPr lang="fr-FR" sz="2800" dirty="0"/>
              <a:t>Employabilité et Emplois</a:t>
            </a:r>
          </a:p>
          <a:p>
            <a:r>
              <a:rPr lang="fr-FR" sz="2800" dirty="0"/>
              <a:t>Infrastructures e gouvernance économique</a:t>
            </a:r>
          </a:p>
          <a:p>
            <a:r>
              <a:rPr lang="fr-FR" sz="2800" dirty="0"/>
              <a:t>Compétitivité</a:t>
            </a:r>
          </a:p>
          <a:p>
            <a:r>
              <a:rPr lang="fr-FR" sz="2800" dirty="0"/>
              <a:t>Configuration et aménagements : relations entre les éléments du système urbain</a:t>
            </a:r>
          </a:p>
        </p:txBody>
      </p:sp>
    </p:spTree>
    <p:extLst>
      <p:ext uri="{BB962C8B-B14F-4D97-AF65-F5344CB8AC3E}">
        <p14:creationId xmlns:p14="http://schemas.microsoft.com/office/powerpoint/2010/main" val="3361840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64AF7-0FB6-1C45-AD6C-2A2C23BB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SOCIAL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B141D-B94C-D04A-B2C8-DEB90AF81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Bidonvilles</a:t>
            </a:r>
          </a:p>
          <a:p>
            <a:endParaRPr lang="fr-FR" sz="2000" dirty="0"/>
          </a:p>
          <a:p>
            <a:r>
              <a:rPr lang="fr-FR" sz="2000" dirty="0"/>
              <a:t>Inclusion sociale</a:t>
            </a:r>
          </a:p>
          <a:p>
            <a:endParaRPr lang="fr-FR" sz="2000" dirty="0"/>
          </a:p>
          <a:p>
            <a:r>
              <a:rPr lang="fr-FR" sz="2000" dirty="0"/>
              <a:t>Equipements sociaux</a:t>
            </a:r>
          </a:p>
          <a:p>
            <a:endParaRPr lang="fr-FR" sz="2000" dirty="0"/>
          </a:p>
          <a:p>
            <a:r>
              <a:rPr lang="fr-FR" sz="2000" dirty="0"/>
              <a:t>Inégalités, gentrification, </a:t>
            </a:r>
          </a:p>
        </p:txBody>
      </p:sp>
    </p:spTree>
    <p:extLst>
      <p:ext uri="{BB962C8B-B14F-4D97-AF65-F5344CB8AC3E}">
        <p14:creationId xmlns:p14="http://schemas.microsoft.com/office/powerpoint/2010/main" val="3831672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578FCD-9B8A-EC41-ACD3-34F4B8CAD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PENSER ET CONCEVOIR l’URBANISATION ET LES VILLES : quelles APPROCHES 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C79EC-B76E-DA42-AFD0-B80396C57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18151"/>
          </a:xfrm>
        </p:spPr>
        <p:txBody>
          <a:bodyPr>
            <a:noAutofit/>
          </a:bodyPr>
          <a:lstStyle/>
          <a:p>
            <a:endParaRPr lang="fr-FR" sz="2400" dirty="0"/>
          </a:p>
          <a:p>
            <a:r>
              <a:rPr lang="fr-FR" sz="2400" dirty="0"/>
              <a:t>SECTEUR (économique, industriel, agricole), </a:t>
            </a:r>
          </a:p>
          <a:p>
            <a:r>
              <a:rPr lang="fr-FR" sz="2400" dirty="0"/>
              <a:t>ZONE (urbain, rural) </a:t>
            </a:r>
          </a:p>
          <a:p>
            <a:r>
              <a:rPr lang="fr-FR" sz="2400" dirty="0"/>
              <a:t>PARTITIONNE (local, national, global)</a:t>
            </a:r>
          </a:p>
          <a:p>
            <a:r>
              <a:rPr lang="fr-FR" sz="2400" dirty="0"/>
              <a:t>SYSTEMIQUE 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26617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34A6F-9812-6E4D-B798-B98B1AF9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PRODUIRE L’ESPACE URBAIN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DB62EE-3E67-6D4A-A7DE-7500DAA86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83976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fr-FR" sz="2600" b="1" dirty="0"/>
              <a:t>PROCESSUS</a:t>
            </a:r>
          </a:p>
          <a:p>
            <a:r>
              <a:rPr lang="fr-FR" sz="2600" dirty="0"/>
              <a:t>Vision et planification, </a:t>
            </a:r>
          </a:p>
          <a:p>
            <a:r>
              <a:rPr lang="fr-FR" sz="2600" dirty="0"/>
              <a:t>Occupation, régularisation, </a:t>
            </a:r>
          </a:p>
          <a:p>
            <a:r>
              <a:rPr lang="fr-FR" sz="2600" dirty="0"/>
              <a:t>Statu quo</a:t>
            </a:r>
          </a:p>
          <a:p>
            <a:pPr lvl="1"/>
            <a:r>
              <a:rPr lang="fr-FR" sz="2600" b="1" dirty="0"/>
              <a:t>REGLES</a:t>
            </a:r>
          </a:p>
          <a:p>
            <a:r>
              <a:rPr lang="fr-FR" sz="2600" dirty="0"/>
              <a:t>Codes, lois, règlements</a:t>
            </a:r>
          </a:p>
          <a:p>
            <a:r>
              <a:rPr lang="fr-FR" sz="2600" dirty="0"/>
              <a:t>Normes CUS, COS, emprises</a:t>
            </a:r>
          </a:p>
          <a:p>
            <a:pPr lvl="1"/>
            <a:r>
              <a:rPr lang="fr-FR" sz="2600" b="1" dirty="0"/>
              <a:t>GESTION ET AMENAGEMENT</a:t>
            </a:r>
          </a:p>
          <a:p>
            <a:r>
              <a:rPr lang="fr-FR" sz="2600" dirty="0"/>
              <a:t>Planification : SNAT, SRAT, PDU, PUD</a:t>
            </a:r>
          </a:p>
          <a:p>
            <a:r>
              <a:rPr lang="fr-FR" sz="2600" dirty="0"/>
              <a:t>Infrastructures, équipements, gouvernance</a:t>
            </a:r>
          </a:p>
          <a:p>
            <a:endParaRPr lang="fr-FR" sz="24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1990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ACC2ED-AE19-3941-B967-A4BFCD96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ET FINALITES DE LA PRODUCTION DES VILLES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EF1F43-C2DB-9F43-9370-6AF0EFFC5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dirty="0"/>
              <a:t>RECONCILIER LES DUALITES DE LA VILLE</a:t>
            </a:r>
          </a:p>
          <a:p>
            <a:r>
              <a:rPr lang="fr-FR" sz="2400" dirty="0"/>
              <a:t>REDUIRE LES INEGALITES</a:t>
            </a:r>
          </a:p>
          <a:p>
            <a:r>
              <a:rPr lang="fr-FR" sz="2400" dirty="0"/>
              <a:t>MINIMISER LES RUPTURES</a:t>
            </a:r>
          </a:p>
          <a:p>
            <a:r>
              <a:rPr lang="fr-FR" sz="2400" dirty="0"/>
              <a:t>GERER L’ACTUEL ET LE FUTUR, L’ANCIEN ET LE NOUVEAU</a:t>
            </a:r>
          </a:p>
          <a:p>
            <a:r>
              <a:rPr lang="fr-FR" sz="2400" dirty="0"/>
              <a:t>ANTICIPER SUR CE QUI SE PASSERA</a:t>
            </a:r>
          </a:p>
          <a:p>
            <a:r>
              <a:rPr lang="fr-FR" sz="2400" dirty="0"/>
              <a:t>RESILIENCE QUAND CELA ARRIVERA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027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26C94-508B-434B-9DFE-6F565CE4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TENDANCES LOURDES : villes nouvelles, pôle urbain, développement transfrontalier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31877D-D7F2-AB43-9BFD-1DA64D1A3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  <a:p>
            <a:r>
              <a:rPr lang="fr-FR" dirty="0"/>
              <a:t>ETALEMENT URBAIN</a:t>
            </a:r>
          </a:p>
          <a:p>
            <a:r>
              <a:rPr lang="fr-FR" dirty="0"/>
              <a:t>PERIURBANISATION</a:t>
            </a:r>
          </a:p>
          <a:p>
            <a:r>
              <a:rPr lang="fr-FR" dirty="0"/>
              <a:t>LITTORALISATION</a:t>
            </a:r>
          </a:p>
          <a:p>
            <a:r>
              <a:rPr lang="fr-FR" dirty="0"/>
              <a:t>METROPOLISATION</a:t>
            </a:r>
          </a:p>
          <a:p>
            <a:r>
              <a:rPr lang="fr-FR" dirty="0"/>
              <a:t>CONURBATION</a:t>
            </a:r>
          </a:p>
          <a:p>
            <a:r>
              <a:rPr lang="fr-FR" dirty="0"/>
              <a:t>GENTRIFICATION</a:t>
            </a:r>
          </a:p>
          <a:p>
            <a:r>
              <a:rPr lang="fr-FR" dirty="0"/>
              <a:t>BIDONVILLISATION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2889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5820E-86C2-2F43-9920-F7A50064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composantes </a:t>
            </a:r>
            <a:r>
              <a:rPr lang="fr-FR" dirty="0" err="1"/>
              <a:t>d’uNE</a:t>
            </a:r>
            <a:r>
              <a:rPr lang="fr-FR" dirty="0"/>
              <a:t> VILLE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431750-5B04-0545-87A7-516C8C07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53268"/>
            <a:ext cx="7729728" cy="3780264"/>
          </a:xfrm>
        </p:spPr>
        <p:txBody>
          <a:bodyPr>
            <a:noAutofit/>
          </a:bodyPr>
          <a:lstStyle/>
          <a:p>
            <a:r>
              <a:rPr lang="fr-FR" sz="2000" dirty="0"/>
              <a:t>La composante naturelle : site, situation, éléments naturels (relief, climat, hydrologie, sol, sous-sol, faune, flore…</a:t>
            </a:r>
          </a:p>
          <a:p>
            <a:r>
              <a:rPr lang="fr-FR" sz="2000" dirty="0"/>
              <a:t>La composante sociale : hommes, densité, habitat, activités, relations</a:t>
            </a:r>
          </a:p>
          <a:p>
            <a:r>
              <a:rPr lang="fr-FR" sz="2000" dirty="0"/>
              <a:t>La composante politique : institutions, règles, pouvoirs, intercommunalités</a:t>
            </a:r>
          </a:p>
          <a:p>
            <a:r>
              <a:rPr lang="fr-FR" sz="2000" dirty="0"/>
              <a:t>La composante culturelle : langue, pensée, croyances, expressions artistiques et sportives,</a:t>
            </a:r>
          </a:p>
          <a:p>
            <a:r>
              <a:rPr lang="fr-FR" sz="2000" dirty="0"/>
              <a:t>La composante économique : activités et secteurs d’activité</a:t>
            </a:r>
          </a:p>
          <a:p>
            <a:r>
              <a:rPr lang="fr-FR" sz="2000" dirty="0"/>
              <a:t>La composante historique : cérémonies, évènements, singularité, héritage, patrimoine</a:t>
            </a:r>
          </a:p>
        </p:txBody>
      </p:sp>
    </p:spTree>
    <p:extLst>
      <p:ext uri="{BB962C8B-B14F-4D97-AF65-F5344CB8AC3E}">
        <p14:creationId xmlns:p14="http://schemas.microsoft.com/office/powerpoint/2010/main" val="2466477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EAF9A-A794-9642-B603-0A6731FC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SYSTEME URBAIN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7451AE-7EBF-9746-AC9A-80719230B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800" dirty="0"/>
              <a:t>TRIANGLE FORME PAR </a:t>
            </a:r>
          </a:p>
          <a:p>
            <a:r>
              <a:rPr lang="fr-FR" sz="2800" dirty="0"/>
              <a:t>TERRITOIRE : métrique, tracés, trames, limites</a:t>
            </a:r>
          </a:p>
          <a:p>
            <a:r>
              <a:rPr lang="fr-FR" sz="2800" dirty="0"/>
              <a:t>SOCIETE : Acteurs, culture, économie</a:t>
            </a:r>
          </a:p>
          <a:p>
            <a:r>
              <a:rPr lang="fr-FR" sz="2800" dirty="0"/>
              <a:t>POLITIQUE :  Décisions, gouvernance, institutions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15410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3CF1B-8209-AC4C-8D79-33FB5701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VILLE : SYSTEME COMPLEXE ET IRREVERSIBLE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BF13F1-5931-9645-94A2-D563E40C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/>
              <a:t>Destin des territoires, avenir de l’humanité</a:t>
            </a:r>
          </a:p>
          <a:p>
            <a:r>
              <a:rPr lang="fr-FR" sz="2400" dirty="0"/>
              <a:t>Siège des représentations mentales et réelles :  Valeurs, identités</a:t>
            </a:r>
          </a:p>
          <a:p>
            <a:r>
              <a:rPr lang="fr-FR" sz="2400" dirty="0"/>
              <a:t>Décisions : Rapports sociaux et politiques structurent les territoires à partir de la ville </a:t>
            </a:r>
          </a:p>
          <a:p>
            <a:r>
              <a:rPr lang="fr-FR" sz="2400" dirty="0"/>
              <a:t>Destinations des personnes et des biens </a:t>
            </a:r>
          </a:p>
          <a:p>
            <a:r>
              <a:rPr lang="fr-FR" sz="2400" dirty="0"/>
              <a:t>Espaces des opportunités, des menaces et de la diversité </a:t>
            </a:r>
          </a:p>
        </p:txBody>
      </p:sp>
    </p:spTree>
    <p:extLst>
      <p:ext uri="{BB962C8B-B14F-4D97-AF65-F5344CB8AC3E}">
        <p14:creationId xmlns:p14="http://schemas.microsoft.com/office/powerpoint/2010/main" val="2886165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EF9C6F-3B7B-544A-B3E5-0835C7C2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E78E1E-72D6-EF4F-B3AB-09F5B2050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400" dirty="0"/>
              <a:t>Nouvelle géographie : au delà de la géographie exploration, inventaire et reconnaissance</a:t>
            </a:r>
          </a:p>
          <a:p>
            <a:r>
              <a:rPr lang="fr-FR" sz="2400" dirty="0"/>
              <a:t>Nouvelles politiques : retour au local, décentralisation, </a:t>
            </a:r>
          </a:p>
          <a:p>
            <a:r>
              <a:rPr lang="fr-FR" sz="2400" dirty="0"/>
              <a:t>Nouvelles économies : économies circulaires, économies réelles</a:t>
            </a:r>
          </a:p>
          <a:p>
            <a:r>
              <a:rPr lang="fr-FR" sz="2400" dirty="0"/>
              <a:t>Nouvelles écologies : entre le global et le local</a:t>
            </a:r>
          </a:p>
          <a:p>
            <a:r>
              <a:rPr lang="fr-FR" sz="2400" dirty="0"/>
              <a:t>Nouvelles politiques de Santé : Post </a:t>
            </a:r>
            <a:r>
              <a:rPr lang="fr-FR" sz="2400" dirty="0" err="1"/>
              <a:t>covid</a:t>
            </a:r>
            <a:r>
              <a:rPr lang="fr-FR" sz="2400" dirty="0"/>
              <a:t> 19 et renouveau du territoire par le confinement, la distance et les régulations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9684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CD1FB-FCFE-5C4D-809B-C628C86F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PROCESSUS DE PRODUCTION DE l’ESPACE URBAIN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F09C9A-A841-1C43-9971-236CF0B4C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000" dirty="0"/>
              <a:t>Occupation</a:t>
            </a:r>
          </a:p>
          <a:p>
            <a:r>
              <a:rPr lang="fr-FR" sz="2000" dirty="0"/>
              <a:t>Appropriation</a:t>
            </a:r>
          </a:p>
          <a:p>
            <a:r>
              <a:rPr lang="fr-FR" sz="2000" dirty="0"/>
              <a:t>Organisation</a:t>
            </a:r>
          </a:p>
          <a:p>
            <a:r>
              <a:rPr lang="fr-FR" sz="2000" dirty="0"/>
              <a:t>Gestion</a:t>
            </a:r>
          </a:p>
          <a:p>
            <a:r>
              <a:rPr lang="fr-FR" sz="2000" dirty="0"/>
              <a:t>Administration</a:t>
            </a:r>
          </a:p>
          <a:p>
            <a:r>
              <a:rPr lang="fr-FR" sz="2000" dirty="0"/>
              <a:t>Gouvernance</a:t>
            </a:r>
          </a:p>
          <a:p>
            <a:r>
              <a:rPr lang="fr-FR" sz="2000" dirty="0"/>
              <a:t>Aménagement</a:t>
            </a:r>
          </a:p>
        </p:txBody>
      </p:sp>
    </p:spTree>
    <p:extLst>
      <p:ext uri="{BB962C8B-B14F-4D97-AF65-F5344CB8AC3E}">
        <p14:creationId xmlns:p14="http://schemas.microsoft.com/office/powerpoint/2010/main" val="1429225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78C83-6569-BC44-AB07-1A89CF8C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AMENAGEMENT ET URBANISME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4D0F52-A660-FA49-A90D-B6D56C98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lvl="1"/>
            <a:r>
              <a:rPr lang="fr-FR" sz="2400" dirty="0"/>
              <a:t>Régulation, </a:t>
            </a:r>
          </a:p>
          <a:p>
            <a:pPr lvl="1"/>
            <a:r>
              <a:rPr lang="fr-FR" sz="2400" dirty="0"/>
              <a:t>Règlementation, </a:t>
            </a:r>
          </a:p>
          <a:p>
            <a:pPr lvl="1"/>
            <a:r>
              <a:rPr lang="fr-FR" sz="2400" dirty="0"/>
              <a:t>Normalisation, </a:t>
            </a:r>
          </a:p>
          <a:p>
            <a:pPr lvl="1"/>
            <a:r>
              <a:rPr lang="fr-FR" sz="2400" dirty="0"/>
              <a:t>Action physique de transformation des espaces : équipements, déplacements, mutations</a:t>
            </a:r>
          </a:p>
        </p:txBody>
      </p:sp>
    </p:spTree>
    <p:extLst>
      <p:ext uri="{BB962C8B-B14F-4D97-AF65-F5344CB8AC3E}">
        <p14:creationId xmlns:p14="http://schemas.microsoft.com/office/powerpoint/2010/main" val="16141580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BBE64-C919-3747-AD21-D0FDF422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VILLES ET URBANISATIONS</a:t>
            </a:r>
            <a:br>
              <a:rPr lang="fr-FR" dirty="0"/>
            </a:br>
            <a:r>
              <a:rPr lang="fr-FR" dirty="0"/>
              <a:t>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3523AD-7938-C041-AF33-5ED46DDB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1229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22F98-7C96-7E45-A58F-377CF1F4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VILLES ET URBANISATIONS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DC4800-FEE1-D244-9343-0D4E86ECF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17429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METROPOLISATION  </a:t>
            </a:r>
          </a:p>
          <a:p>
            <a:endParaRPr lang="fr-FR" b="1" dirty="0"/>
          </a:p>
          <a:p>
            <a:r>
              <a:rPr lang="fr-FR" b="1" dirty="0"/>
              <a:t>METROPOLISATION DU SUD</a:t>
            </a:r>
          </a:p>
          <a:p>
            <a:endParaRPr lang="fr-FR" b="1" dirty="0"/>
          </a:p>
          <a:p>
            <a:r>
              <a:rPr lang="fr-FR" b="1" dirty="0"/>
              <a:t>CONURBATION : concentration de plusieurs jointives sur des centaines de kms</a:t>
            </a:r>
          </a:p>
          <a:p>
            <a:endParaRPr lang="fr-FR" b="1" dirty="0"/>
          </a:p>
          <a:p>
            <a:r>
              <a:rPr lang="fr-FR" b="1" dirty="0"/>
              <a:t>MEGAPOLE : grandes villes</a:t>
            </a:r>
          </a:p>
          <a:p>
            <a:endParaRPr lang="fr-FR" b="1" dirty="0"/>
          </a:p>
          <a:p>
            <a:r>
              <a:rPr lang="fr-FR" b="1" dirty="0"/>
              <a:t>MEGALOPOLE : villes de plus de 10 millions vont passer de 28 en 2014 à 41 en 2030, échelle mondiale </a:t>
            </a:r>
          </a:p>
        </p:txBody>
      </p:sp>
    </p:spTree>
    <p:extLst>
      <p:ext uri="{BB962C8B-B14F-4D97-AF65-F5344CB8AC3E}">
        <p14:creationId xmlns:p14="http://schemas.microsoft.com/office/powerpoint/2010/main" val="33357941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3BA332-FB35-3D47-85DD-A85AD2D0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d’une URBANISATION DURABLE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07DD1-F03B-0C44-A186-CBB7D6F03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662395"/>
          </a:xfrm>
        </p:spPr>
        <p:txBody>
          <a:bodyPr>
            <a:noAutofit/>
          </a:bodyPr>
          <a:lstStyle/>
          <a:p>
            <a:r>
              <a:rPr lang="fr-FR" sz="2800" dirty="0"/>
              <a:t>COHERENCE ET FONCIONNALITE</a:t>
            </a:r>
          </a:p>
          <a:p>
            <a:r>
              <a:rPr lang="fr-FR" sz="2800" dirty="0"/>
              <a:t>INTERDISCIPLINAIRE ET PLURIDISCIPLINAIRE</a:t>
            </a:r>
          </a:p>
          <a:p>
            <a:r>
              <a:rPr lang="fr-FR" sz="2800" dirty="0"/>
              <a:t>PARTICIPATIF</a:t>
            </a:r>
          </a:p>
          <a:p>
            <a:r>
              <a:rPr lang="fr-FR" sz="2800" dirty="0"/>
              <a:t>EQUILIBRE ENTRE L’URGENCE ET LE LONG TERME</a:t>
            </a:r>
          </a:p>
          <a:p>
            <a:r>
              <a:rPr lang="fr-FR" sz="2800" dirty="0"/>
              <a:t>MULTIDIMENSIONNEL ET INTEGRE</a:t>
            </a:r>
          </a:p>
          <a:p>
            <a:r>
              <a:rPr lang="fr-FR" sz="2800" dirty="0"/>
              <a:t>MULTISCALAIRE</a:t>
            </a:r>
          </a:p>
        </p:txBody>
      </p:sp>
    </p:spTree>
    <p:extLst>
      <p:ext uri="{BB962C8B-B14F-4D97-AF65-F5344CB8AC3E}">
        <p14:creationId xmlns:p14="http://schemas.microsoft.com/office/powerpoint/2010/main" val="1150408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8DD806E-21BB-5649-93D1-5C8A7A37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ECHELLE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476F5F-EECE-B54D-9B12-044E45BF38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Métropole, conurbation</a:t>
            </a:r>
          </a:p>
          <a:p>
            <a:r>
              <a:rPr lang="fr-FR" sz="2400" dirty="0"/>
              <a:t>Ville</a:t>
            </a:r>
          </a:p>
          <a:p>
            <a:r>
              <a:rPr lang="fr-FR" sz="2400" dirty="0"/>
              <a:t>Quartier </a:t>
            </a:r>
          </a:p>
          <a:p>
            <a:r>
              <a:rPr lang="fr-FR" sz="2400" dirty="0"/>
              <a:t>Parcelle</a:t>
            </a:r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F100A1-E056-0B47-BDB0-F64AD5FE3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833804"/>
          </a:xfrm>
        </p:spPr>
        <p:txBody>
          <a:bodyPr>
            <a:noAutofit/>
          </a:bodyPr>
          <a:lstStyle/>
          <a:p>
            <a:pPr algn="just"/>
            <a:r>
              <a:rPr lang="fr-FR" sz="2200" dirty="0"/>
              <a:t>Projet de territoire</a:t>
            </a:r>
          </a:p>
          <a:p>
            <a:pPr algn="just"/>
            <a:r>
              <a:rPr lang="fr-FR" sz="2200" dirty="0"/>
              <a:t>Projet urbain</a:t>
            </a:r>
          </a:p>
          <a:p>
            <a:pPr algn="just"/>
            <a:r>
              <a:rPr lang="fr-FR" sz="2200" dirty="0"/>
              <a:t>Plan de développement</a:t>
            </a:r>
          </a:p>
          <a:p>
            <a:pPr algn="just"/>
            <a:r>
              <a:rPr lang="fr-FR" sz="2200" dirty="0"/>
              <a:t>Plan architectural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1B3971-56E8-364A-946D-5CF3F8A3E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INTERVENTIONS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320570EE-57D1-1742-8868-8BEDECA5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COHERENCE DES ECHELLES D’INTERVENTION URBAINE </a:t>
            </a:r>
          </a:p>
        </p:txBody>
      </p:sp>
    </p:spTree>
    <p:extLst>
      <p:ext uri="{BB962C8B-B14F-4D97-AF65-F5344CB8AC3E}">
        <p14:creationId xmlns:p14="http://schemas.microsoft.com/office/powerpoint/2010/main" val="32633514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AA501-62CF-394A-83D9-7EC6FF3C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APPROCHES D’INTERVENTION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3C0950-3876-934C-9D16-91EDF3802D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RÉNOVATION URBAINE</a:t>
            </a:r>
          </a:p>
          <a:p>
            <a:r>
              <a:rPr lang="fr-FR" dirty="0"/>
              <a:t>RESTRUCTURATION URBAINE</a:t>
            </a:r>
          </a:p>
          <a:p>
            <a:r>
              <a:rPr lang="fr-FR" dirty="0"/>
              <a:t>REHABILITATION URBAINE</a:t>
            </a:r>
          </a:p>
          <a:p>
            <a:r>
              <a:rPr lang="fr-FR" dirty="0"/>
              <a:t>REQUALIFICATION URBAINE</a:t>
            </a:r>
          </a:p>
          <a:p>
            <a:r>
              <a:rPr lang="fr-FR" dirty="0"/>
              <a:t>RENOUVELLEMENT URBAIN</a:t>
            </a:r>
          </a:p>
          <a:p>
            <a:r>
              <a:rPr lang="fr-FR" dirty="0"/>
              <a:t>PROJET URBAIN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0A0CB1-C1B9-B247-A6FE-84B2AC2A90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059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940A97-CEBE-5845-AB7D-37D1A689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DEVELOPPEMENT URBAIN DURABLE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8315E6-66BB-444C-8DB1-2FF87A9F8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de paradigme</a:t>
            </a:r>
          </a:p>
          <a:p>
            <a:r>
              <a:rPr lang="fr-FR" dirty="0"/>
              <a:t>Renouveau de l’équité territoriale</a:t>
            </a:r>
          </a:p>
          <a:p>
            <a:r>
              <a:rPr lang="fr-FR" dirty="0"/>
              <a:t>Prise en compte de l’équité sociale</a:t>
            </a:r>
          </a:p>
          <a:p>
            <a:r>
              <a:rPr lang="fr-FR" dirty="0"/>
              <a:t>Equité intergénérationnelle </a:t>
            </a:r>
          </a:p>
          <a:p>
            <a:r>
              <a:rPr lang="fr-FR" dirty="0"/>
              <a:t>Temps long, territoires discontinues, espaces réticulaires pour le DD ?  </a:t>
            </a:r>
          </a:p>
        </p:txBody>
      </p:sp>
    </p:spTree>
    <p:extLst>
      <p:ext uri="{BB962C8B-B14F-4D97-AF65-F5344CB8AC3E}">
        <p14:creationId xmlns:p14="http://schemas.microsoft.com/office/powerpoint/2010/main" val="11246448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E34ADA-1DD2-E649-B5B9-E1885FB2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405054"/>
            <a:ext cx="8991600" cy="2627610"/>
          </a:xfrm>
        </p:spPr>
        <p:txBody>
          <a:bodyPr>
            <a:normAutofit/>
          </a:bodyPr>
          <a:lstStyle/>
          <a:p>
            <a:r>
              <a:rPr lang="fr-FR" dirty="0"/>
              <a:t>CONCLUSION 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1C3350-DCF4-0740-8D18-CD3D6442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2975" y="4352464"/>
            <a:ext cx="8151541" cy="1557681"/>
          </a:xfrm>
        </p:spPr>
        <p:txBody>
          <a:bodyPr>
            <a:normAutofit/>
          </a:bodyPr>
          <a:lstStyle/>
          <a:p>
            <a:r>
              <a:rPr lang="fr-FR" sz="2400" dirty="0"/>
              <a:t>DES OUTILS MAJEURS POUR DES METIERS DE LA VILLE ET DU DEVELOPPEMENT : URBANISME, TERRITOIRE, ARCHITECTURE, ENVIRONNEMENT, PROSPECTIVE </a:t>
            </a:r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34259819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3044</TotalTime>
  <Words>1825</Words>
  <Application>Microsoft Macintosh PowerPoint</Application>
  <PresentationFormat>Grand écran</PresentationFormat>
  <Paragraphs>360</Paragraphs>
  <Slides>51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51</vt:i4>
      </vt:variant>
    </vt:vector>
  </HeadingPairs>
  <TitlesOfParts>
    <vt:vector size="54" baseType="lpstr">
      <vt:lpstr>Arial</vt:lpstr>
      <vt:lpstr>Gill Sans MT</vt:lpstr>
      <vt:lpstr>Colis</vt:lpstr>
      <vt:lpstr> Villes et URBANISATION </vt:lpstr>
      <vt:lpstr>Descriptif du cours </vt:lpstr>
      <vt:lpstr>DESCRIPTIF DU COURS </vt:lpstr>
      <vt:lpstr>PRESENTATION DU COURS DANS LE CHAMP DISCIPLINAIRE DE L’ECOLE</vt:lpstr>
      <vt:lpstr>Introduction</vt:lpstr>
      <vt:lpstr>URBANISATION Définition, historiQUE, STATISTISQUES ET TYPOLOGIE, evolution, REGULATION</vt:lpstr>
      <vt:lpstr>DEFINITION, SENS, SIGNIFICATION, TERMINOLOGIE </vt:lpstr>
      <vt:lpstr>HISTORICITE</vt:lpstr>
      <vt:lpstr>DE L’URBANISATION A L’URBANISME: Ildefonso CERDA (1815-1876) </vt:lpstr>
      <vt:lpstr>DE L’URBANISATION A L’URBANISME Ildefonso CERDA (1815-1876) </vt:lpstr>
      <vt:lpstr>DE L’URBANISATION A L’URBANISME Ildefonso CERDA (1815-1876) </vt:lpstr>
      <vt:lpstr>DE L’URBANISATION A L’URBANISME Ildefonso CERDA (1815-1876)</vt:lpstr>
      <vt:lpstr>DE L’URBANISATION A L’URBANISME Ildefonso CERDA (1815-1876) </vt:lpstr>
      <vt:lpstr>DE L’URBANISATION A L’URBANISME Georges EugENE HAUSSMANN (1809-1891)</vt:lpstr>
      <vt:lpstr>DE L’URBANISATION A L’URBANISME Georges EugENE HAUSSMANN (1809-1891)</vt:lpstr>
      <vt:lpstr>SOURCES ET PROCESSUS DE L’URBAnIsation : moteurs</vt:lpstr>
      <vt:lpstr>STATISTIQUES ET TYPOLOGIE</vt:lpstr>
      <vt:lpstr>EVOLUTION : taux annuel d’accroissement URBAIN de la population est 3%</vt:lpstr>
      <vt:lpstr>URBANISATION : Taux d’urbanisation (proportion de la population vivant en ville)</vt:lpstr>
      <vt:lpstr>TRANSITION URBAINE </vt:lpstr>
      <vt:lpstr>URBANISATION</vt:lpstr>
      <vt:lpstr>FACTEURS ET ENJEUX DE l’urbanisation</vt:lpstr>
      <vt:lpstr>USAGES DE L’ESPACE URBAIN : PROCESSUS d’URBANISATION </vt:lpstr>
      <vt:lpstr>CONTRAINTES ET DEFIS DE l’URBANISATION</vt:lpstr>
      <vt:lpstr>VILLES </vt:lpstr>
      <vt:lpstr>DEFINITION, CONCEPTS</vt:lpstr>
      <vt:lpstr>STATISTIQUES ET TYPOLOGIES</vt:lpstr>
      <vt:lpstr>STRUCTURE DES VILLES:   Définition de Lévy</vt:lpstr>
      <vt:lpstr>MORPHOLOGIE DES VILLES </vt:lpstr>
      <vt:lpstr>CADRE CONCEPTUEL DE L’ANALYSE URBAINE</vt:lpstr>
      <vt:lpstr> ENJEUX URBAiNs : PENSER L’URBANISATION ET CONCEVOIR LES VILLES CHANGER DE PARADIGME</vt:lpstr>
      <vt:lpstr>ENVIRONNEMENTAL</vt:lpstr>
      <vt:lpstr>ECONOMIQUE </vt:lpstr>
      <vt:lpstr>SOCIAL</vt:lpstr>
      <vt:lpstr>PENSER ET CONCEVOIR l’URBANISATION ET LES VILLES : quelles APPROCHES  </vt:lpstr>
      <vt:lpstr>PRODUIRE L’ESPACE URBAIN</vt:lpstr>
      <vt:lpstr>OBJECTIFS ET FINALITES DE LA PRODUCTION DES VILLES </vt:lpstr>
      <vt:lpstr>TENDANCES LOURDES : villes nouvelles, pôle urbain, développement transfrontalier</vt:lpstr>
      <vt:lpstr>Les composantes d’uNE VILLE</vt:lpstr>
      <vt:lpstr>SYSTEME URBAIN </vt:lpstr>
      <vt:lpstr>VILLE : SYSTEME COMPLEXE ET IRREVERSIBLE</vt:lpstr>
      <vt:lpstr>VILLES</vt:lpstr>
      <vt:lpstr>PROCESSUS DE PRODUCTION DE l’ESPACE URBAIN</vt:lpstr>
      <vt:lpstr>AMENAGEMENT ET URBANISME </vt:lpstr>
      <vt:lpstr>VILLES ET URBANISATIONS  </vt:lpstr>
      <vt:lpstr>VILLES ET URBANISATIONS</vt:lpstr>
      <vt:lpstr>PRINCIPES d’une URBANISATION DURABLE</vt:lpstr>
      <vt:lpstr>COHERENCE DES ECHELLES D’INTERVENTION URBAINE </vt:lpstr>
      <vt:lpstr>APPROCHES D’INTERVENTION</vt:lpstr>
      <vt:lpstr>DEVELOPPEMENT URBAIN DURABLE </vt:lpstr>
      <vt:lpstr>CONCLUSION  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Espace eT TERRITOIRES</dc:title>
  <dc:creator>Utilisateur Microsoft Office</dc:creator>
  <cp:lastModifiedBy>Utilisateur Microsoft Office</cp:lastModifiedBy>
  <cp:revision>110</cp:revision>
  <dcterms:created xsi:type="dcterms:W3CDTF">2020-07-27T10:46:09Z</dcterms:created>
  <dcterms:modified xsi:type="dcterms:W3CDTF">2022-05-20T13:46:08Z</dcterms:modified>
</cp:coreProperties>
</file>