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5"/>
  </p:notesMasterIdLst>
  <p:sldIdLst>
    <p:sldId id="256" r:id="rId3"/>
    <p:sldId id="257" r:id="rId4"/>
    <p:sldId id="258" r:id="rId6"/>
    <p:sldId id="280" r:id="rId7"/>
    <p:sldId id="291" r:id="rId8"/>
    <p:sldId id="292" r:id="rId9"/>
    <p:sldId id="293" r:id="rId10"/>
    <p:sldId id="294" r:id="rId11"/>
    <p:sldId id="295" r:id="rId12"/>
    <p:sldId id="296" r:id="rId13"/>
    <p:sldId id="297" r:id="rId14"/>
    <p:sldId id="298" r:id="rId15"/>
    <p:sldId id="299" r:id="rId16"/>
    <p:sldId id="300" r:id="rId17"/>
    <p:sldId id="309" r:id="rId18"/>
    <p:sldId id="310" r:id="rId19"/>
    <p:sldId id="311" r:id="rId20"/>
    <p:sldId id="301" r:id="rId21"/>
    <p:sldId id="302" r:id="rId22"/>
    <p:sldId id="303" r:id="rId23"/>
    <p:sldId id="304" r:id="rId24"/>
    <p:sldId id="305" r:id="rId25"/>
    <p:sldId id="306" r:id="rId26"/>
    <p:sldId id="307" r:id="rId27"/>
    <p:sldId id="308" r:id="rId28"/>
    <p:sldId id="312" r:id="rId29"/>
    <p:sldId id="313" r:id="rId30"/>
    <p:sldId id="314" r:id="rId31"/>
    <p:sldId id="315" r:id="rId32"/>
    <p:sldId id="317" r:id="rId33"/>
    <p:sldId id="316" r:id="rId34"/>
    <p:sldId id="318" r:id="rId35"/>
    <p:sldId id="319" r:id="rId36"/>
    <p:sldId id="320" r:id="rId37"/>
    <p:sldId id="321" r:id="rId38"/>
    <p:sldId id="279" r:id="rId39"/>
  </p:sldIdLst>
  <p:sldSz cx="9144000" cy="6858000" type="screen4x3"/>
  <p:notesSz cx="6858000" cy="9144000"/>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8000" autoAdjust="0"/>
  </p:normalViewPr>
  <p:slideViewPr>
    <p:cSldViewPr snapToGrid="0" snapToObjects="1" showGuides="1">
      <p:cViewPr varScale="1">
        <p:scale>
          <a:sx n="100" d="100"/>
          <a:sy n="100" d="100"/>
        </p:scale>
        <p:origin x="946"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FE3A34B-0840-0446-86EF-391E62D3EC31}" type="datetimeFigureOut">
              <a:rPr lang="fr-FR" smtClean="0"/>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8F94D2-74A3-FD49-83C6-6F55007D9FD4}" type="slidenum">
              <a:rPr lang="fr-FR" smtClean="0"/>
            </a:fld>
            <a:endParaRPr lang="fr-FR"/>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468F94D2-74A3-FD49-83C6-6F55007D9FD4}" type="slidenum">
              <a:rPr lang="fr-FR" smtClean="0"/>
            </a:fld>
            <a:endParaRPr lang="fr-F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hasCustomPrompt="1"/>
          </p:nvPr>
        </p:nvSpPr>
        <p:spPr>
          <a:xfrm>
            <a:off x="685800" y="2130425"/>
            <a:ext cx="7772400" cy="1470025"/>
          </a:xfrm>
        </p:spPr>
        <p:txBody>
          <a:bodyPr/>
          <a:lstStyle/>
          <a:p>
            <a:r>
              <a:rPr lang="fr-FR"/>
              <a:t>Cliquez et modifiez le titre</a:t>
            </a:r>
            <a:endParaRPr lang="fr-FR"/>
          </a:p>
        </p:txBody>
      </p:sp>
      <p:sp>
        <p:nvSpPr>
          <p:cNvPr id="3" name="Sous-titre 2"/>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a:t>Cliquez et modifiez le titre</a:t>
            </a:r>
            <a:endParaRPr lang="fr-FR"/>
          </a:p>
        </p:txBody>
      </p:sp>
      <p:sp>
        <p:nvSpPr>
          <p:cNvPr id="3" name="Espace réservé du contenu 2"/>
          <p:cNvSpPr>
            <a:spLocks noGrp="1"/>
          </p:cNvSpPr>
          <p:nvPr>
            <p:ph idx="1" hasCustomPrompt="1"/>
          </p:nvPr>
        </p:nvSpPr>
        <p:spPr/>
        <p:txBody>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722313" y="4406900"/>
            <a:ext cx="7772400" cy="1362075"/>
          </a:xfrm>
        </p:spPr>
        <p:txBody>
          <a:bodyPr anchor="t"/>
          <a:lstStyle>
            <a:lvl1pPr algn="l">
              <a:defRPr sz="4000" b="1" cap="all"/>
            </a:lvl1pPr>
          </a:lstStyle>
          <a:p>
            <a:r>
              <a:rPr lang="fr-FR"/>
              <a:t>Cliquez et modifiez le titre</a:t>
            </a:r>
            <a:endParaRPr lang="fr-FR"/>
          </a:p>
        </p:txBody>
      </p:sp>
      <p:sp>
        <p:nvSpPr>
          <p:cNvPr id="3" name="Espace réservé du texte 2"/>
          <p:cNvSpPr>
            <a:spLocks noGrp="1"/>
          </p:cNvSpPr>
          <p:nvPr>
            <p:ph type="body" idx="1" hasCustomPrompt="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a:t>Cliquez et modifiez le titre</a:t>
            </a:r>
            <a:endParaRPr lang="fr-FR"/>
          </a:p>
        </p:txBody>
      </p:sp>
      <p:sp>
        <p:nvSpPr>
          <p:cNvPr id="3" name="Espace réservé du contenu 2"/>
          <p:cNvSpPr>
            <a:spLocks noGrp="1"/>
          </p:cNvSpPr>
          <p:nvPr>
            <p:ph sz="half" idx="1" hasCustomPrompt="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4" name="Espace réservé du contenu 3"/>
          <p:cNvSpPr>
            <a:spLocks noGrp="1"/>
          </p:cNvSpPr>
          <p:nvPr>
            <p:ph sz="half" idx="2" hasCustomPrompt="1"/>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lvl1pPr>
              <a:defRPr/>
            </a:lvl1pPr>
          </a:lstStyle>
          <a:p>
            <a:r>
              <a:rPr lang="fr-FR"/>
              <a:t>Cliquez et modifiez le titre</a:t>
            </a:r>
            <a:endParaRPr lang="fr-FR"/>
          </a:p>
        </p:txBody>
      </p:sp>
      <p:sp>
        <p:nvSpPr>
          <p:cNvPr id="3" name="Espace réservé du texte 2"/>
          <p:cNvSpPr>
            <a:spLocks noGrp="1"/>
          </p:cNvSpPr>
          <p:nvPr>
            <p:ph type="body" idx="1" hasCustomPrompt="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endParaRPr lang="fr-FR"/>
          </a:p>
        </p:txBody>
      </p:sp>
      <p:sp>
        <p:nvSpPr>
          <p:cNvPr id="4" name="Espace réservé du contenu 3"/>
          <p:cNvSpPr>
            <a:spLocks noGrp="1"/>
          </p:cNvSpPr>
          <p:nvPr>
            <p:ph sz="half" idx="2" hasCustomPrompt="1"/>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5" name="Espace réservé du texte 4"/>
          <p:cNvSpPr>
            <a:spLocks noGrp="1"/>
          </p:cNvSpPr>
          <p:nvPr>
            <p:ph type="body" sz="quarter" idx="3" hasCustomPrompt="1"/>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endParaRPr lang="fr-FR"/>
          </a:p>
        </p:txBody>
      </p:sp>
      <p:sp>
        <p:nvSpPr>
          <p:cNvPr id="6" name="Espace réservé du contenu 5"/>
          <p:cNvSpPr>
            <a:spLocks noGrp="1"/>
          </p:cNvSpPr>
          <p:nvPr>
            <p:ph sz="quarter" idx="4" hasCustomPrompt="1"/>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7" name="Espace réservé de la date 6"/>
          <p:cNvSpPr>
            <a:spLocks noGrp="1"/>
          </p:cNvSpPr>
          <p:nvPr>
            <p:ph type="dt" sz="half" idx="10"/>
          </p:nvPr>
        </p:nvSpPr>
        <p:spPr/>
        <p:txBody>
          <a:bodyPr/>
          <a:lstStyle/>
          <a:p>
            <a:fld id="{EC72AFA2-8D06-AC4A-BB17-A2C238DE2304}" type="datetimeFigureOut">
              <a:rPr lang="fr-FR" smtClean="0"/>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a:t>Cliquez et modifiez le titre</a:t>
            </a:r>
            <a:endParaRPr lang="fr-FR"/>
          </a:p>
        </p:txBody>
      </p:sp>
      <p:sp>
        <p:nvSpPr>
          <p:cNvPr id="3" name="Espace réservé de la date 2"/>
          <p:cNvSpPr>
            <a:spLocks noGrp="1"/>
          </p:cNvSpPr>
          <p:nvPr>
            <p:ph type="dt" sz="half" idx="10"/>
          </p:nvPr>
        </p:nvSpPr>
        <p:spPr/>
        <p:txBody>
          <a:bodyPr/>
          <a:lstStyle/>
          <a:p>
            <a:fld id="{EC72AFA2-8D06-AC4A-BB17-A2C238DE2304}" type="datetimeFigureOut">
              <a:rPr lang="fr-FR" smtClean="0"/>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EC72AFA2-8D06-AC4A-BB17-A2C238DE2304}" type="datetimeFigureOut">
              <a:rPr lang="fr-FR" smtClean="0"/>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457200" y="273050"/>
            <a:ext cx="3008313" cy="1162050"/>
          </a:xfrm>
        </p:spPr>
        <p:txBody>
          <a:bodyPr anchor="b"/>
          <a:lstStyle>
            <a:lvl1pPr algn="l">
              <a:defRPr sz="2000" b="1"/>
            </a:lvl1pPr>
          </a:lstStyle>
          <a:p>
            <a:r>
              <a:rPr lang="fr-FR"/>
              <a:t>Cliquez et modifiez le titre</a:t>
            </a:r>
            <a:endParaRPr lang="fr-FR"/>
          </a:p>
        </p:txBody>
      </p:sp>
      <p:sp>
        <p:nvSpPr>
          <p:cNvPr id="3" name="Espace réservé du contenu 2"/>
          <p:cNvSpPr>
            <a:spLocks noGrp="1"/>
          </p:cNvSpPr>
          <p:nvPr>
            <p:ph idx="1" hasCustomPrompt="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4" name="Espace réservé du texte 3"/>
          <p:cNvSpPr>
            <a:spLocks noGrp="1"/>
          </p:cNvSpPr>
          <p:nvPr>
            <p:ph type="body" sz="half" idx="2" hasCustomPrompt="1"/>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endParaRPr lang="fr-FR"/>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1792288" y="4800600"/>
            <a:ext cx="5486400" cy="566738"/>
          </a:xfrm>
        </p:spPr>
        <p:txBody>
          <a:bodyPr anchor="b"/>
          <a:lstStyle>
            <a:lvl1pPr algn="l">
              <a:defRPr sz="2000" b="1"/>
            </a:lvl1pPr>
          </a:lstStyle>
          <a:p>
            <a:r>
              <a:rPr lang="fr-FR"/>
              <a:t>Cliquez et modifiez le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hasCustomPrompt="1"/>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endParaRPr lang="fr-FR"/>
          </a:p>
        </p:txBody>
      </p:sp>
      <p:sp>
        <p:nvSpPr>
          <p:cNvPr id="5" name="Espace réservé de la date 4"/>
          <p:cNvSpPr>
            <a:spLocks noGrp="1"/>
          </p:cNvSpPr>
          <p:nvPr>
            <p:ph type="dt" sz="half" idx="10"/>
          </p:nvPr>
        </p:nvSpPr>
        <p:spPr/>
        <p:txBody>
          <a:bodyPr/>
          <a:lstStyle/>
          <a:p>
            <a:fld id="{EC72AFA2-8D06-AC4A-BB17-A2C238DE2304}" type="datetimeFigureOut">
              <a:rPr lang="fr-FR" smtClean="0"/>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fr-FR"/>
              <a:t>Cliquez et modifiez le titre</a:t>
            </a:r>
            <a:endParaRPr lang="fr-FR"/>
          </a:p>
        </p:txBody>
      </p:sp>
      <p:sp>
        <p:nvSpPr>
          <p:cNvPr id="3" name="Espace réservé du texte vertical 2"/>
          <p:cNvSpPr>
            <a:spLocks noGrp="1"/>
          </p:cNvSpPr>
          <p:nvPr>
            <p:ph type="body" orient="vert" idx="1" hasCustomPrompt="1"/>
          </p:nvPr>
        </p:nvSpPr>
        <p:spPr/>
        <p:txBody>
          <a:bodyPr vert="eaVert"/>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hasCustomPrompt="1"/>
          </p:nvPr>
        </p:nvSpPr>
        <p:spPr>
          <a:xfrm>
            <a:off x="6629400" y="274638"/>
            <a:ext cx="2057400" cy="5851525"/>
          </a:xfrm>
        </p:spPr>
        <p:txBody>
          <a:bodyPr vert="eaVert"/>
          <a:lstStyle/>
          <a:p>
            <a:r>
              <a:rPr lang="fr-FR"/>
              <a:t>Cliquez et modifiez le titre</a:t>
            </a:r>
            <a:endParaRPr lang="fr-FR"/>
          </a:p>
        </p:txBody>
      </p:sp>
      <p:sp>
        <p:nvSpPr>
          <p:cNvPr id="3" name="Espace réservé du texte vertical 2"/>
          <p:cNvSpPr>
            <a:spLocks noGrp="1"/>
          </p:cNvSpPr>
          <p:nvPr>
            <p:ph type="body" orient="vert" idx="1" hasCustomPrompt="1"/>
          </p:nvPr>
        </p:nvSpPr>
        <p:spPr>
          <a:xfrm>
            <a:off x="457200" y="274638"/>
            <a:ext cx="6019800" cy="5851525"/>
          </a:xfrm>
        </p:spPr>
        <p:txBody>
          <a:bodyPr vert="eaVert"/>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4" name="Espace réservé de la date 3"/>
          <p:cNvSpPr>
            <a:spLocks noGrp="1"/>
          </p:cNvSpPr>
          <p:nvPr>
            <p:ph type="dt" sz="half" idx="10"/>
          </p:nvPr>
        </p:nvSpPr>
        <p:spPr/>
        <p:txBody>
          <a:bodyPr/>
          <a:lstStyle/>
          <a:p>
            <a:fld id="{EC72AFA2-8D06-AC4A-BB17-A2C238DE2304}" type="datetimeFigureOut">
              <a:rPr lang="fr-FR" smtClean="0"/>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B7253EB-8335-C74A-8688-1E7F3D83491B}" type="slidenum">
              <a:rPr lang="fr-FR" smtClean="0"/>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et modifiez le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endParaRPr lang="fr-FR"/>
          </a:p>
          <a:p>
            <a:pPr lvl="1"/>
            <a:r>
              <a:rPr lang="fr-FR"/>
              <a:t>Deuxième niveau</a:t>
            </a:r>
            <a:endParaRPr lang="fr-FR"/>
          </a:p>
          <a:p>
            <a:pPr lvl="2"/>
            <a:r>
              <a:rPr lang="fr-FR"/>
              <a:t>Troisième niveau</a:t>
            </a:r>
            <a:endParaRPr lang="fr-FR"/>
          </a:p>
          <a:p>
            <a:pPr lvl="3"/>
            <a:r>
              <a:rPr lang="fr-FR"/>
              <a:t>Quatrième niveau</a:t>
            </a:r>
            <a:endParaRPr lang="fr-FR"/>
          </a:p>
          <a:p>
            <a:pPr lvl="4"/>
            <a:r>
              <a:rPr lang="fr-FR"/>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72AFA2-8D06-AC4A-BB17-A2C238DE2304}" type="datetimeFigureOut">
              <a:rPr lang="fr-FR" smtClean="0"/>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B7253EB-8335-C74A-8688-1E7F3D83491B}" type="slidenum">
              <a:rPr lang="fr-FR" smtClean="0"/>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image" Target="../media/image7.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1.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4.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jpe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jpe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4.jpeg"/><Relationship Id="rId1" Type="http://schemas.openxmlformats.org/officeDocument/2006/relationships/image" Target="../media/image33.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jpeg"/><Relationship Id="rId1" Type="http://schemas.openxmlformats.org/officeDocument/2006/relationships/image" Target="../media/image35.jpe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image" Target="../media/image37.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dirty="0">
                <a:latin typeface="Futura Std Medium"/>
                <a:cs typeface="Futura Std Medium"/>
              </a:rPr>
              <a:t>HISTOIRE DE L’ARCHITECTURE </a:t>
            </a:r>
            <a:endParaRPr lang="fr-FR" dirty="0">
              <a:latin typeface="Futura Std Medium"/>
              <a:cs typeface="Futura Std Medium"/>
            </a:endParaRPr>
          </a:p>
        </p:txBody>
      </p:sp>
      <p:sp>
        <p:nvSpPr>
          <p:cNvPr id="3" name="Sous-titre 2"/>
          <p:cNvSpPr>
            <a:spLocks noGrp="1"/>
          </p:cNvSpPr>
          <p:nvPr>
            <p:ph type="subTitle" idx="1"/>
          </p:nvPr>
        </p:nvSpPr>
        <p:spPr>
          <a:xfrm>
            <a:off x="685800" y="3886200"/>
            <a:ext cx="7772400" cy="1752600"/>
          </a:xfrm>
        </p:spPr>
        <p:txBody>
          <a:bodyPr/>
          <a:lstStyle/>
          <a:p>
            <a:r>
              <a:rPr lang="fr-FR" dirty="0">
                <a:solidFill>
                  <a:srgbClr val="FF0000"/>
                </a:solidFill>
                <a:latin typeface="Futura Std Medium"/>
                <a:cs typeface="Futura Std Medium"/>
              </a:rPr>
              <a:t>PARTIE II – ANTIQUITÉ OCCIDENTALE</a:t>
            </a:r>
            <a:endParaRPr lang="fr-FR" dirty="0">
              <a:solidFill>
                <a:srgbClr val="FF0000"/>
              </a:solidFill>
              <a:latin typeface="Futura Std Medium"/>
              <a:cs typeface="Futura Std Medium"/>
            </a:endParaRPr>
          </a:p>
        </p:txBody>
      </p:sp>
      <p:sp>
        <p:nvSpPr>
          <p:cNvPr id="4" name="ZoneTexte 3"/>
          <p:cNvSpPr txBox="1"/>
          <p:nvPr/>
        </p:nvSpPr>
        <p:spPr>
          <a:xfrm>
            <a:off x="327011" y="6351926"/>
            <a:ext cx="1471151" cy="369332"/>
          </a:xfrm>
          <a:prstGeom prst="rect">
            <a:avLst/>
          </a:prstGeom>
          <a:noFill/>
        </p:spPr>
        <p:txBody>
          <a:bodyPr wrap="none" rtlCol="0">
            <a:spAutoFit/>
          </a:bodyPr>
          <a:lstStyle/>
          <a:p>
            <a:pPr algn="r"/>
            <a:r>
              <a:rPr lang="fr-FR" dirty="0"/>
              <a:t>©Carole Diop</a:t>
            </a:r>
            <a:endParaRPr lang="fr-F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1600200"/>
            <a:ext cx="8229600" cy="4800600"/>
          </a:xfrm>
        </p:spPr>
        <p:txBody>
          <a:bodyPr>
            <a:noAutofit/>
          </a:bodyPr>
          <a:lstStyle/>
          <a:p>
            <a:pPr marL="0" indent="0" algn="just">
              <a:buNone/>
            </a:pPr>
            <a:r>
              <a:rPr lang="fr-FR" sz="1600" dirty="0">
                <a:latin typeface="Arial" panose="020B0604020202020204"/>
                <a:cs typeface="Arial" panose="020B0604020202020204"/>
              </a:rPr>
              <a:t>La Rome antique est à la fois la ville de Rome et l'État qu'elle fonde dans l'Antiquité. Ce regroupement de villages au VIIIe siècle av. J.-C. parvint à dominer l'ensemble du monde méditerranéen et de l'Europe de l'Ouest du Ier au Ve siècle par la conquête militaire et par l'assimilation des élites locales. Sa domination a laissé d'importantes traces archéologiques et de nombreux témoignages littéraires. Durant ces siècles, la civilisation romaine passe d'une monarchie à une </a:t>
            </a:r>
            <a:r>
              <a:rPr lang="fr-FR" sz="1600" b="1" dirty="0">
                <a:latin typeface="Arial" panose="020B0604020202020204"/>
                <a:cs typeface="Arial" panose="020B0604020202020204"/>
              </a:rPr>
              <a:t>république oligarchique </a:t>
            </a:r>
            <a:r>
              <a:rPr lang="fr-FR" sz="1600" dirty="0">
                <a:latin typeface="Arial" panose="020B0604020202020204"/>
                <a:cs typeface="Arial" panose="020B0604020202020204"/>
              </a:rPr>
              <a:t>puis à un empire autocratique.</a:t>
            </a:r>
            <a:endParaRPr lang="fr-FR" sz="1600" dirty="0">
              <a:latin typeface="Arial" panose="020B0604020202020204"/>
              <a:cs typeface="Arial" panose="020B0604020202020204"/>
            </a:endParaRPr>
          </a:p>
          <a:p>
            <a:pPr marL="0" indent="0" algn="just">
              <a:buNone/>
            </a:pPr>
            <a:r>
              <a:rPr lang="fr-FR" sz="1600" dirty="0">
                <a:latin typeface="Arial" panose="020B0604020202020204"/>
                <a:cs typeface="Arial" panose="020B0604020202020204"/>
              </a:rPr>
              <a:t>La civilisation romaine est souvent regroupée dans l'Antiquité classique avec la Grèce antique, une civilisation qui a inspiré une grande partie de la culture de la Rome antique. Outre le modèle de pouvoir qu'elle a créé et légué, et dont on ne compte plus les princes qui ont voulu l'imiter ou s'en sont inspirés, la Rome antique a contribué grandement à l'élaboration du droit, des institutions et des lois, de la guerre, de l'art et la littérature, de l'architecture et la technologie ainsi que des langues dans le monde occidental. Son histoire continue d'avoir une influence majeure sur le monde d'aujourd'hui.</a:t>
            </a: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a:p>
            <a:pPr marL="0" indent="0" algn="just">
              <a:buNone/>
            </a:pPr>
            <a:endParaRPr lang="fr-FR" sz="1600" dirty="0">
              <a:latin typeface="Arial" panose="020B0604020202020204"/>
              <a:cs typeface="Arial" panose="020B0604020202020204"/>
            </a:endParaRPr>
          </a:p>
        </p:txBody>
      </p:sp>
      <p:sp>
        <p:nvSpPr>
          <p:cNvPr id="6" name="Titre 1"/>
          <p:cNvSpPr>
            <a:spLocks noGrp="1"/>
          </p:cNvSpPr>
          <p:nvPr>
            <p:ph type="title"/>
          </p:nvPr>
        </p:nvSpPr>
        <p:spPr/>
        <p:txBody>
          <a:bodyPr>
            <a:normAutofit/>
          </a:bodyPr>
          <a:lstStyle/>
          <a:p>
            <a:r>
              <a:rPr lang="fr-FR" dirty="0">
                <a:solidFill>
                  <a:srgbClr val="FF0000"/>
                </a:solidFill>
                <a:latin typeface="Futura Std Medium"/>
                <a:cs typeface="Futura Std Medium"/>
              </a:rPr>
              <a:t>Chapitre 3 – Rome antique  </a:t>
            </a:r>
            <a:endParaRPr lang="fr-FR" dirty="0">
              <a:solidFill>
                <a:srgbClr val="FF0000"/>
              </a:solidFill>
              <a:latin typeface="Futura Std Medium"/>
              <a:cs typeface="Futura Std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703263" cy="4881562"/>
          </a:xfrm>
        </p:spPr>
        <p:txBody>
          <a:bodyPr>
            <a:noAutofit/>
          </a:bodyPr>
          <a:lstStyle/>
          <a:p>
            <a:r>
              <a:rPr lang="fr-FR" sz="1600" b="1" dirty="0">
                <a:latin typeface="Arial" panose="020B0604020202020204"/>
                <a:cs typeface="Arial" panose="020B0604020202020204"/>
              </a:rPr>
              <a:t>VIII°- 509 av. JC </a:t>
            </a:r>
            <a:r>
              <a:rPr lang="fr-FR" sz="1600" dirty="0">
                <a:latin typeface="Arial" panose="020B0604020202020204"/>
                <a:cs typeface="Arial" panose="020B0604020202020204"/>
              </a:rPr>
              <a:t>	Domination étrusque ( art étrusque)</a:t>
            </a:r>
            <a:endParaRPr lang="fr-FR" sz="1600" dirty="0">
              <a:latin typeface="Arial" panose="020B0604020202020204"/>
              <a:cs typeface="Arial" panose="020B0604020202020204"/>
            </a:endParaRPr>
          </a:p>
          <a:p>
            <a:r>
              <a:rPr lang="fr-FR" sz="1600" b="1" dirty="0">
                <a:latin typeface="Arial" panose="020B0604020202020204"/>
                <a:cs typeface="Arial" panose="020B0604020202020204"/>
              </a:rPr>
              <a:t>509 - 27 av. JC</a:t>
            </a:r>
            <a:r>
              <a:rPr lang="fr-FR" sz="1600" dirty="0">
                <a:latin typeface="Arial" panose="020B0604020202020204"/>
                <a:cs typeface="Arial" panose="020B0604020202020204"/>
              </a:rPr>
              <a:t>		République ( art gréco-étrusque)</a:t>
            </a:r>
            <a:endParaRPr lang="fr-FR" sz="1600" dirty="0">
              <a:latin typeface="Arial" panose="020B0604020202020204"/>
              <a:cs typeface="Arial" panose="020B0604020202020204"/>
            </a:endParaRPr>
          </a:p>
          <a:p>
            <a:pPr marL="0" indent="0">
              <a:buNone/>
            </a:pPr>
            <a:r>
              <a:rPr lang="it-IT" sz="1600" dirty="0">
                <a:latin typeface="Arial" panose="020B0604020202020204"/>
                <a:cs typeface="Arial" panose="020B0604020202020204"/>
              </a:rPr>
              <a:t>					- V°-III°: </a:t>
            </a:r>
            <a:r>
              <a:rPr lang="it-IT" sz="1600" dirty="0" err="1">
                <a:latin typeface="Arial" panose="020B0604020202020204"/>
                <a:cs typeface="Arial" panose="020B0604020202020204"/>
              </a:rPr>
              <a:t>domination</a:t>
            </a:r>
            <a:r>
              <a:rPr lang="it-IT" sz="1600" dirty="0">
                <a:latin typeface="Arial" panose="020B0604020202020204"/>
                <a:cs typeface="Arial" panose="020B0604020202020204"/>
              </a:rPr>
              <a:t> progressive de l’</a:t>
            </a:r>
            <a:r>
              <a:rPr lang="it-IT" sz="1600" dirty="0" err="1">
                <a:latin typeface="Arial" panose="020B0604020202020204"/>
                <a:cs typeface="Arial" panose="020B0604020202020204"/>
              </a:rPr>
              <a:t>Italie</a:t>
            </a:r>
            <a:endParaRPr lang="it-IT"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 II°- I°: guerres puniques et expansion Méditerranéenne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(Grèce, Asie Mineure, Judée, Espagne, Gaule)</a:t>
            </a:r>
            <a:endParaRPr lang="fr-FR" sz="1600" dirty="0">
              <a:latin typeface="Arial" panose="020B0604020202020204"/>
              <a:cs typeface="Arial" panose="020B0604020202020204"/>
            </a:endParaRPr>
          </a:p>
          <a:p>
            <a:r>
              <a:rPr lang="fr-FR" sz="1600" b="1" dirty="0">
                <a:latin typeface="Arial" panose="020B0604020202020204"/>
                <a:cs typeface="Arial" panose="020B0604020202020204"/>
              </a:rPr>
              <a:t>27 av. JC – 313 	</a:t>
            </a:r>
            <a:r>
              <a:rPr lang="fr-FR" sz="1600" dirty="0">
                <a:latin typeface="Arial" panose="020B0604020202020204"/>
                <a:cs typeface="Arial" panose="020B0604020202020204"/>
              </a:rPr>
              <a:t>Empire Romain ( art romain . partir du </a:t>
            </a:r>
            <a:r>
              <a:rPr lang="fr-FR" sz="1600" dirty="0" err="1">
                <a:latin typeface="Arial" panose="020B0604020202020204"/>
                <a:cs typeface="Arial" panose="020B0604020202020204"/>
              </a:rPr>
              <a:t>I°av</a:t>
            </a:r>
            <a:r>
              <a:rPr lang="fr-FR" sz="1600" dirty="0">
                <a:latin typeface="Arial" panose="020B0604020202020204"/>
                <a:cs typeface="Arial" panose="020B0604020202020204"/>
              </a:rPr>
              <a:t>. JC )</a:t>
            </a:r>
            <a:endParaRPr lang="fr-FR" sz="1600" dirty="0">
              <a:latin typeface="Arial" panose="020B0604020202020204"/>
              <a:cs typeface="Arial" panose="020B0604020202020204"/>
            </a:endParaRPr>
          </a:p>
          <a:p>
            <a:pPr marL="0" indent="0">
              <a:buNone/>
            </a:pPr>
            <a:r>
              <a:rPr lang="hr-HR" sz="1600" dirty="0">
                <a:latin typeface="Arial" panose="020B0604020202020204"/>
                <a:cs typeface="Arial" panose="020B0604020202020204"/>
              </a:rPr>
              <a:t>					I°-II°: Haut Empire (Auguste, Tibère, Trajan, Flavien, Hadrien)</a:t>
            </a:r>
            <a:endParaRPr lang="hr-H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dirty="0" err="1">
                <a:latin typeface="Arial" panose="020B0604020202020204"/>
                <a:cs typeface="Arial" panose="020B0604020202020204"/>
              </a:rPr>
              <a:t>III°et</a:t>
            </a:r>
            <a:r>
              <a:rPr lang="fr-FR" sz="1600" dirty="0">
                <a:latin typeface="Arial" panose="020B0604020202020204"/>
                <a:cs typeface="Arial" panose="020B0604020202020204"/>
              </a:rPr>
              <a:t> plus : « baroque romain »</a:t>
            </a:r>
            <a:endParaRPr lang="fr-FR" sz="1600" dirty="0">
              <a:latin typeface="Arial" panose="020B0604020202020204"/>
              <a:cs typeface="Arial" panose="020B0604020202020204"/>
            </a:endParaRPr>
          </a:p>
          <a:p>
            <a:r>
              <a:rPr lang="fr-FR" sz="1600" b="1" dirty="0">
                <a:latin typeface="Arial" panose="020B0604020202020204"/>
                <a:cs typeface="Arial" panose="020B0604020202020204"/>
              </a:rPr>
              <a:t>313 – 476</a:t>
            </a:r>
            <a:r>
              <a:rPr lang="fr-FR" sz="1600" dirty="0">
                <a:latin typeface="Arial" panose="020B0604020202020204"/>
                <a:cs typeface="Arial" panose="020B0604020202020204"/>
              </a:rPr>
              <a:t>			Rome et Constantinople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 art chrétien et byzantin)</a:t>
            </a:r>
            <a:endParaRPr lang="fr-FR" sz="1600" dirty="0">
              <a:latin typeface="Arial" panose="020B0604020202020204"/>
              <a:cs typeface="Arial" panose="020B0604020202020204"/>
            </a:endParaRPr>
          </a:p>
          <a:p>
            <a:r>
              <a:rPr lang="fr-FR" sz="1600" b="1" dirty="0">
                <a:latin typeface="Arial" panose="020B0604020202020204"/>
                <a:cs typeface="Arial" panose="020B0604020202020204"/>
              </a:rPr>
              <a:t>476 		</a:t>
            </a:r>
            <a:r>
              <a:rPr lang="fr-FR" sz="1600" dirty="0">
                <a:latin typeface="Arial" panose="020B0604020202020204"/>
                <a:cs typeface="Arial" panose="020B0604020202020204"/>
              </a:rPr>
              <a:t>		Fin de l’Empire d’Occident</a:t>
            </a:r>
            <a:endParaRPr lang="it-IT" sz="1600" dirty="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lstStyle/>
          <a:p>
            <a:r>
              <a:rPr lang="fr-FR" dirty="0">
                <a:solidFill>
                  <a:srgbClr val="FF0000"/>
                </a:solidFill>
              </a:rPr>
              <a:t>Chronologie</a:t>
            </a:r>
            <a:endParaRPr lang="fr-FR" dirty="0">
              <a:solidFill>
                <a:srgbClr val="FF0000"/>
              </a:solidFill>
            </a:endParaRPr>
          </a:p>
        </p:txBody>
      </p:sp>
      <p:pic>
        <p:nvPicPr>
          <p:cNvPr id="2" name="Image 1" descr="450px-Roman_Empire_Map.pn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002483" y="3755475"/>
            <a:ext cx="3924300" cy="268596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8463279" cy="4881562"/>
          </a:xfrm>
        </p:spPr>
        <p:txBody>
          <a:bodyPr>
            <a:noAutofit/>
          </a:bodyPr>
          <a:lstStyle/>
          <a:p>
            <a:pPr marL="0" indent="0">
              <a:buNone/>
            </a:pPr>
            <a:r>
              <a:rPr lang="fr-FR" sz="1600" dirty="0">
                <a:latin typeface="Arial" panose="020B0604020202020204"/>
                <a:cs typeface="Arial" panose="020B0604020202020204"/>
              </a:rPr>
              <a:t>L’architecture de la Rome antique adopte certains aspects celle de la Grèce antique à travers les contacts avec la Grande-Grèce et par l'utilisation des techniques de l'architecture étrusque qui trouve elle-même son origine dans l'architecture grecque. On retrouve ainsi dans les monuments romains l'esthétisme des bâtiments grecs avec l'utilisation des </a:t>
            </a:r>
            <a:r>
              <a:rPr lang="fr-FR" sz="1600" b="1" dirty="0">
                <a:latin typeface="Arial" panose="020B0604020202020204"/>
                <a:cs typeface="Arial" panose="020B0604020202020204"/>
              </a:rPr>
              <a:t>ordres architecturaux </a:t>
            </a:r>
            <a:r>
              <a:rPr lang="fr-FR" sz="1600" dirty="0">
                <a:latin typeface="Arial" panose="020B0604020202020204"/>
                <a:cs typeface="Arial" panose="020B0604020202020204"/>
              </a:rPr>
              <a:t>(dont </a:t>
            </a:r>
            <a:r>
              <a:rPr lang="fr-FR" sz="1600" b="1" dirty="0">
                <a:latin typeface="Arial" panose="020B0604020202020204"/>
                <a:cs typeface="Arial" panose="020B0604020202020204"/>
              </a:rPr>
              <a:t>l'ordre corinthien </a:t>
            </a:r>
            <a:r>
              <a:rPr lang="fr-FR" sz="1600" dirty="0">
                <a:latin typeface="Arial" panose="020B0604020202020204"/>
                <a:cs typeface="Arial" panose="020B0604020202020204"/>
              </a:rPr>
              <a:t>qui est le plus répandu) et du marbre qui se mélange aux techniques héritées des </a:t>
            </a:r>
            <a:r>
              <a:rPr lang="fr-FR" sz="1600" b="1" dirty="0">
                <a:latin typeface="Arial" panose="020B0604020202020204"/>
                <a:cs typeface="Arial" panose="020B0604020202020204"/>
              </a:rPr>
              <a:t>étrusques</a:t>
            </a:r>
            <a:r>
              <a:rPr lang="fr-FR" sz="1600" dirty="0">
                <a:latin typeface="Arial" panose="020B0604020202020204"/>
                <a:cs typeface="Arial" panose="020B0604020202020204"/>
              </a:rPr>
              <a:t>, comme leur savoir-faire en matière d'ingénierie hydraulique (systèmes d'égouts, fontaines, tunnels, ponts).</a:t>
            </a:r>
            <a:endParaRPr lang="fr-FR" sz="1600" dirty="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La forte densité de population des cités romaines et les problèmes de santé publique ont poussé les Romains à explorer de nouvelles méthodes de construction et à créer une architecture originale qui se détache des influences hellénistiques. L'utilisation de la </a:t>
            </a:r>
            <a:r>
              <a:rPr lang="fr-FR" sz="1600" b="1" dirty="0">
                <a:latin typeface="Arial" panose="020B0604020202020204"/>
                <a:cs typeface="Arial" panose="020B0604020202020204"/>
              </a:rPr>
              <a:t>voûte</a:t>
            </a:r>
            <a:r>
              <a:rPr lang="fr-FR" sz="1600" dirty="0">
                <a:latin typeface="Arial" panose="020B0604020202020204"/>
                <a:cs typeface="Arial" panose="020B0604020202020204"/>
              </a:rPr>
              <a:t> et de l'</a:t>
            </a:r>
            <a:r>
              <a:rPr lang="fr-FR" sz="1600" b="1" dirty="0">
                <a:latin typeface="Arial" panose="020B0604020202020204"/>
                <a:cs typeface="Arial" panose="020B0604020202020204"/>
              </a:rPr>
              <a:t>arche</a:t>
            </a:r>
            <a:r>
              <a:rPr lang="fr-FR" sz="1600" dirty="0">
                <a:latin typeface="Arial" panose="020B0604020202020204"/>
                <a:cs typeface="Arial" panose="020B0604020202020204"/>
              </a:rPr>
              <a:t>, combinée avec l'émergence de nouveaux matériaux de construction, ont permis aux Romains de réaliser des édifices imposants et inédits pour un usage public : les </a:t>
            </a:r>
            <a:r>
              <a:rPr lang="fr-FR" sz="1600" b="1" dirty="0">
                <a:latin typeface="Arial" panose="020B0604020202020204"/>
                <a:cs typeface="Arial" panose="020B0604020202020204"/>
              </a:rPr>
              <a:t>aqueducs</a:t>
            </a:r>
            <a:r>
              <a:rPr lang="fr-FR" sz="1600" dirty="0">
                <a:latin typeface="Arial" panose="020B0604020202020204"/>
                <a:cs typeface="Arial" panose="020B0604020202020204"/>
              </a:rPr>
              <a:t>, les </a:t>
            </a:r>
            <a:r>
              <a:rPr lang="fr-FR" sz="1600" b="1" dirty="0">
                <a:latin typeface="Arial" panose="020B0604020202020204"/>
                <a:cs typeface="Arial" panose="020B0604020202020204"/>
              </a:rPr>
              <a:t>thermes</a:t>
            </a:r>
            <a:r>
              <a:rPr lang="fr-FR" sz="1600" dirty="0">
                <a:latin typeface="Arial" panose="020B0604020202020204"/>
                <a:cs typeface="Arial" panose="020B0604020202020204"/>
              </a:rPr>
              <a:t>, les </a:t>
            </a:r>
            <a:r>
              <a:rPr lang="fr-FR" sz="1600" b="1" dirty="0">
                <a:latin typeface="Arial" panose="020B0604020202020204"/>
                <a:cs typeface="Arial" panose="020B0604020202020204"/>
              </a:rPr>
              <a:t>basiliques</a:t>
            </a:r>
            <a:r>
              <a:rPr lang="fr-FR" sz="1600" dirty="0">
                <a:latin typeface="Arial" panose="020B0604020202020204"/>
                <a:cs typeface="Arial" panose="020B0604020202020204"/>
              </a:rPr>
              <a:t> ou encore les </a:t>
            </a:r>
            <a:r>
              <a:rPr lang="fr-FR" sz="1600" b="1" dirty="0">
                <a:latin typeface="Arial" panose="020B0604020202020204"/>
                <a:cs typeface="Arial" panose="020B0604020202020204"/>
              </a:rPr>
              <a:t>amphithéâtres</a:t>
            </a:r>
            <a:r>
              <a:rPr lang="fr-FR" sz="1600" dirty="0">
                <a:latin typeface="Arial" panose="020B0604020202020204"/>
                <a:cs typeface="Arial" panose="020B0604020202020204"/>
              </a:rPr>
              <a:t>. Selon les architectes romains, les édifices publics devaient être impressionnants pour frapper l'imagination du peuple mais ils devaient aussi être pratiques et adaptés à leurs fonctions. Ces nouveaux types de bâtiments sont construits dans des dimensions impressionnantes à Rome et reproduits à plus petite échelle dans les cités de l'Empire.</a:t>
            </a:r>
            <a:endParaRPr lang="fr-FR" sz="1600" dirty="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pPr marL="0" indent="0">
              <a:buNone/>
            </a:pPr>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a:p>
            <a:pPr marL="0" indent="0">
              <a:buNone/>
            </a:pPr>
            <a:endParaRPr lang="fr-FR" sz="1600" i="1" dirty="0">
              <a:latin typeface="Arial" panose="020B0604020202020204"/>
              <a:cs typeface="Arial" panose="020B0604020202020204"/>
            </a:endParaRPr>
          </a:p>
        </p:txBody>
      </p:sp>
      <p:sp>
        <p:nvSpPr>
          <p:cNvPr id="6" name="Titre 5"/>
          <p:cNvSpPr>
            <a:spLocks noGrp="1"/>
          </p:cNvSpPr>
          <p:nvPr>
            <p:ph type="title"/>
          </p:nvPr>
        </p:nvSpPr>
        <p:spPr/>
        <p:txBody>
          <a:bodyPr>
            <a:normAutofit fontScale="90000"/>
          </a:bodyPr>
          <a:lstStyle/>
          <a:p>
            <a:pPr>
              <a:lnSpc>
                <a:spcPct val="80000"/>
              </a:lnSpc>
            </a:pPr>
            <a:r>
              <a:rPr lang="fr-FR" dirty="0">
                <a:solidFill>
                  <a:srgbClr val="FF0000"/>
                </a:solidFill>
              </a:rPr>
              <a:t>Une architecture inspirée des Grecs</a:t>
            </a:r>
            <a:endParaRPr lang="fr-FR"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4836160" cy="4881562"/>
          </a:xfrm>
        </p:spPr>
        <p:txBody>
          <a:bodyPr>
            <a:noAutofit/>
          </a:bodyPr>
          <a:lstStyle/>
          <a:p>
            <a:pPr marL="0" indent="0">
              <a:buNone/>
            </a:pPr>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a:p>
            <a:pPr marL="0" indent="0">
              <a:buNone/>
            </a:pPr>
            <a:r>
              <a:rPr lang="en-US" sz="1600" b="1" dirty="0">
                <a:latin typeface="Arial" panose="020B0604020202020204"/>
                <a:cs typeface="Arial" panose="020B0604020202020204"/>
              </a:rPr>
              <a:t>PLATE-BANDE</a:t>
            </a:r>
            <a:endParaRPr lang="en-US" sz="1600" b="1" dirty="0">
              <a:latin typeface="Arial" panose="020B0604020202020204"/>
              <a:cs typeface="Arial" panose="020B0604020202020204"/>
            </a:endParaRPr>
          </a:p>
          <a:p>
            <a:r>
              <a:rPr lang="fr-FR" sz="1600" dirty="0">
                <a:latin typeface="Arial" panose="020B0604020202020204"/>
                <a:cs typeface="Arial" panose="020B0604020202020204"/>
              </a:rPr>
              <a:t>Limitée aux portiques dans l’architecture antérieure à la Rome Chrétienne</a:t>
            </a:r>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a:p>
            <a:pPr marL="0" indent="0">
              <a:buNone/>
            </a:pPr>
            <a:r>
              <a:rPr lang="de-DE" sz="1600" b="1" dirty="0">
                <a:latin typeface="Arial" panose="020B0604020202020204"/>
                <a:cs typeface="Arial" panose="020B0604020202020204"/>
              </a:rPr>
              <a:t>VOÛTE CLAVÉE</a:t>
            </a:r>
            <a:endParaRPr lang="de-DE" sz="1600" b="1" dirty="0">
              <a:latin typeface="Arial" panose="020B0604020202020204"/>
              <a:cs typeface="Arial" panose="020B0604020202020204"/>
            </a:endParaRPr>
          </a:p>
          <a:p>
            <a:r>
              <a:rPr lang="fr-FR" sz="1600" dirty="0">
                <a:latin typeface="Arial" panose="020B0604020202020204"/>
                <a:cs typeface="Arial" panose="020B0604020202020204"/>
              </a:rPr>
              <a:t>Voûte construite en limitant le cintrage : par tranches ou berceau avec arc doubleaux</a:t>
            </a: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Constructions appareillées</a:t>
            </a:r>
            <a:endParaRPr lang="fr-FR" dirty="0">
              <a:solidFill>
                <a:srgbClr val="FF0000"/>
              </a:solidFill>
            </a:endParaRPr>
          </a:p>
        </p:txBody>
      </p:sp>
      <p:pic>
        <p:nvPicPr>
          <p:cNvPr id="4" name="Image 3" descr="ART_CM_II_4_ROME_Page_06.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200" y="4482718"/>
            <a:ext cx="7955279" cy="2208548"/>
          </a:xfrm>
          <a:prstGeom prst="rect">
            <a:avLst/>
          </a:prstGeom>
        </p:spPr>
      </p:pic>
      <p:pic>
        <p:nvPicPr>
          <p:cNvPr id="5" name="Image 4" descr="800px-MaisonCarrée.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2881" y="1557338"/>
            <a:ext cx="3352798" cy="25145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7467599" cy="4881562"/>
          </a:xfrm>
        </p:spPr>
        <p:txBody>
          <a:bodyPr>
            <a:noAutofit/>
          </a:bodyPr>
          <a:lstStyle/>
          <a:p>
            <a:pPr marL="0" indent="0">
              <a:buNone/>
            </a:pPr>
            <a:r>
              <a:rPr lang="de-DE" sz="1600" b="1" dirty="0">
                <a:latin typeface="Arial" panose="020B0604020202020204"/>
                <a:cs typeface="Arial" panose="020B0604020202020204"/>
              </a:rPr>
              <a:t>CIMENT</a:t>
            </a:r>
            <a:endParaRPr lang="de-DE"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Mode de construction privilégié à partir de l’Empire et la fin de la République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err="1">
                <a:latin typeface="Arial" panose="020B0604020202020204"/>
                <a:cs typeface="Arial" panose="020B0604020202020204"/>
              </a:rPr>
              <a:t>Ceamentum</a:t>
            </a:r>
            <a:r>
              <a:rPr lang="fr-FR" sz="1600" dirty="0">
                <a:latin typeface="Arial" panose="020B0604020202020204"/>
                <a:cs typeface="Arial" panose="020B0604020202020204"/>
              </a:rPr>
              <a:t> : ciment hydrofuge très résistant (chaux + </a:t>
            </a:r>
            <a:r>
              <a:rPr lang="fr-FR" sz="1600" b="1" dirty="0">
                <a:latin typeface="Arial" panose="020B0604020202020204"/>
                <a:cs typeface="Arial" panose="020B0604020202020204"/>
              </a:rPr>
              <a:t>pouzzolane</a:t>
            </a:r>
            <a:r>
              <a:rPr lang="fr-FR" sz="1600" dirty="0">
                <a:latin typeface="Arial" panose="020B0604020202020204"/>
                <a:cs typeface="Arial" panose="020B0604020202020204"/>
              </a:rPr>
              <a:t> ou blocage de pierres ou de briques écrasées)</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a:latin typeface="Arial" panose="020B0604020202020204"/>
                <a:cs typeface="Arial" panose="020B0604020202020204"/>
              </a:rPr>
              <a:t>Bâti de chemisage </a:t>
            </a:r>
            <a:r>
              <a:rPr lang="fr-FR" sz="1600" dirty="0">
                <a:latin typeface="Arial" panose="020B0604020202020204"/>
                <a:cs typeface="Arial" panose="020B0604020202020204"/>
              </a:rPr>
              <a:t>et non pas coffrage (cf. béton contemporain)</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petit appareil 					</a:t>
            </a:r>
            <a:r>
              <a:rPr lang="fr-FR" sz="1600" i="1" dirty="0">
                <a:latin typeface="Arial" panose="020B0604020202020204"/>
                <a:cs typeface="Arial" panose="020B0604020202020204"/>
              </a:rPr>
              <a:t>opus </a:t>
            </a:r>
            <a:r>
              <a:rPr lang="fr-FR" sz="1600" i="1" dirty="0" err="1">
                <a:latin typeface="Arial" panose="020B0604020202020204"/>
                <a:cs typeface="Arial" panose="020B0604020202020204"/>
              </a:rPr>
              <a:t>quadratum</a:t>
            </a:r>
            <a:endParaRPr lang="fr-FR" sz="1600" i="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pierre brute empilée sans ordre 	</a:t>
            </a:r>
            <a:r>
              <a:rPr lang="fr-FR" sz="1600" i="1" dirty="0">
                <a:latin typeface="Arial" panose="020B0604020202020204"/>
                <a:cs typeface="Arial" panose="020B0604020202020204"/>
              </a:rPr>
              <a:t>opus </a:t>
            </a:r>
            <a:r>
              <a:rPr lang="fr-FR" sz="1600" i="1" dirty="0" err="1">
                <a:latin typeface="Arial" panose="020B0604020202020204"/>
                <a:cs typeface="Arial" panose="020B0604020202020204"/>
              </a:rPr>
              <a:t>incertum</a:t>
            </a:r>
            <a:endParaRPr lang="fr-FR" sz="1600" i="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pierre brute entre lits plans 		</a:t>
            </a:r>
            <a:r>
              <a:rPr lang="fr-FR" sz="1600" i="1" dirty="0">
                <a:latin typeface="Arial" panose="020B0604020202020204"/>
                <a:cs typeface="Arial" panose="020B0604020202020204"/>
              </a:rPr>
              <a:t>opus </a:t>
            </a:r>
            <a:r>
              <a:rPr lang="fr-FR" sz="1600" i="1" dirty="0" err="1">
                <a:latin typeface="Arial" panose="020B0604020202020204"/>
                <a:cs typeface="Arial" panose="020B0604020202020204"/>
              </a:rPr>
              <a:t>vittatum</a:t>
            </a:r>
            <a:endParaRPr lang="fr-FR" sz="1600" i="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brique 						</a:t>
            </a:r>
            <a:r>
              <a:rPr lang="fr-FR" sz="1600" i="1" dirty="0">
                <a:latin typeface="Arial" panose="020B0604020202020204"/>
                <a:cs typeface="Arial" panose="020B0604020202020204"/>
              </a:rPr>
              <a:t>opus </a:t>
            </a:r>
            <a:r>
              <a:rPr lang="fr-FR" sz="1600" i="1" dirty="0" err="1">
                <a:latin typeface="Arial" panose="020B0604020202020204"/>
                <a:cs typeface="Arial" panose="020B0604020202020204"/>
              </a:rPr>
              <a:t>reticulatum</a:t>
            </a:r>
            <a:r>
              <a:rPr lang="fr-FR" sz="1600" i="1" dirty="0">
                <a:latin typeface="Arial" panose="020B0604020202020204"/>
                <a:cs typeface="Arial" panose="020B0604020202020204"/>
              </a:rPr>
              <a:t>, </a:t>
            </a:r>
            <a:r>
              <a:rPr lang="fr-FR" sz="1600" i="1" dirty="0" err="1">
                <a:latin typeface="Arial" panose="020B0604020202020204"/>
                <a:cs typeface="Arial" panose="020B0604020202020204"/>
              </a:rPr>
              <a:t>testaceum</a:t>
            </a:r>
            <a:r>
              <a:rPr lang="fr-FR" sz="1600" i="1" dirty="0">
                <a:latin typeface="Arial" panose="020B0604020202020204"/>
                <a:cs typeface="Arial" panose="020B0604020202020204"/>
              </a:rPr>
              <a:t>, </a:t>
            </a:r>
            <a:r>
              <a:rPr lang="fr-FR" sz="1600" i="1" dirty="0" err="1">
                <a:latin typeface="Arial" panose="020B0604020202020204"/>
                <a:cs typeface="Arial" panose="020B0604020202020204"/>
              </a:rPr>
              <a:t>spicatum</a:t>
            </a:r>
            <a:r>
              <a:rPr lang="fr-FR" sz="1600" i="1" dirty="0">
                <a:latin typeface="Arial" panose="020B0604020202020204"/>
                <a:cs typeface="Arial" panose="020B0604020202020204"/>
              </a:rPr>
              <a:t>…</a:t>
            </a:r>
            <a:endParaRPr lang="fr-FR" sz="1600"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Construction par </a:t>
            </a:r>
            <a:r>
              <a:rPr lang="fr-FR" dirty="0" err="1">
                <a:solidFill>
                  <a:srgbClr val="FF0000"/>
                </a:solidFill>
              </a:rPr>
              <a:t>concrétation</a:t>
            </a:r>
            <a:endParaRPr lang="fr-FR" dirty="0">
              <a:solidFill>
                <a:srgbClr val="FF0000"/>
              </a:solidFill>
            </a:endParaRPr>
          </a:p>
        </p:txBody>
      </p:sp>
      <p:pic>
        <p:nvPicPr>
          <p:cNvPr id="2" name="Image 1" descr="ART_CM_II_4_ROME_Page_07.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4959" y="4460241"/>
            <a:ext cx="8506639" cy="22148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0" y="1417638"/>
            <a:ext cx="7467599" cy="4881562"/>
          </a:xfrm>
        </p:spPr>
        <p:txBody>
          <a:bodyPr>
            <a:noAutofit/>
          </a:bodyPr>
          <a:lstStyle/>
          <a:p>
            <a:pPr marL="0" indent="0">
              <a:buNone/>
            </a:pPr>
            <a:r>
              <a:rPr lang="de-DE" sz="1600" b="1" dirty="0">
                <a:latin typeface="Arial" panose="020B0604020202020204"/>
                <a:cs typeface="Arial" panose="020B0604020202020204"/>
              </a:rPr>
              <a:t>VOÛTE EN CONCRÉTION</a:t>
            </a:r>
            <a:endParaRPr lang="de-DE"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Ossature légère portante (briques et dalles) surmontée de lits en ciments</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Contreforts ou voûtes orthogonales pour contenir les poussées</a:t>
            </a: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Construction par </a:t>
            </a:r>
            <a:r>
              <a:rPr lang="fr-FR" dirty="0" err="1">
                <a:solidFill>
                  <a:srgbClr val="FF0000"/>
                </a:solidFill>
              </a:rPr>
              <a:t>concrétation</a:t>
            </a:r>
            <a:endParaRPr lang="fr-FR" dirty="0">
              <a:solidFill>
                <a:srgbClr val="FF0000"/>
              </a:solidFill>
            </a:endParaRPr>
          </a:p>
        </p:txBody>
      </p:sp>
      <p:pic>
        <p:nvPicPr>
          <p:cNvPr id="4" name="Image 3" descr="ART_CM_II_4_ROME_Page_08.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0743" y="2458721"/>
            <a:ext cx="7409498" cy="39742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ART_CM_II_4_ROME_Page_09.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0378" y="1414705"/>
            <a:ext cx="8044982" cy="5030805"/>
          </a:xfrm>
          <a:prstGeom prst="rect">
            <a:avLst/>
          </a:prstGeom>
        </p:spPr>
      </p:pic>
      <p:sp>
        <p:nvSpPr>
          <p:cNvPr id="3" name="Espace réservé du contenu 2"/>
          <p:cNvSpPr>
            <a:spLocks noGrp="1"/>
          </p:cNvSpPr>
          <p:nvPr>
            <p:ph idx="1"/>
          </p:nvPr>
        </p:nvSpPr>
        <p:spPr>
          <a:xfrm>
            <a:off x="223521" y="1417638"/>
            <a:ext cx="6116319" cy="1305242"/>
          </a:xfrm>
          <a:solidFill>
            <a:schemeClr val="bg1"/>
          </a:solidFill>
        </p:spPr>
        <p:txBody>
          <a:bodyPr>
            <a:noAutofit/>
          </a:bodyPr>
          <a:lstStyle/>
          <a:p>
            <a:pPr marL="0" indent="0">
              <a:buNone/>
            </a:pPr>
            <a:r>
              <a:rPr lang="en-US" sz="1600" b="1" dirty="0">
                <a:latin typeface="Arial" panose="020B0604020202020204"/>
                <a:cs typeface="Arial" panose="020B0604020202020204"/>
              </a:rPr>
              <a:t>COUPOLE EN CONCRÉTION</a:t>
            </a:r>
            <a:endParaRPr lang="en-US"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Lits de ciment avec assises de briques en encorbellement</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Coupoles de grande portée : ossature renforcée par des arêtes en appareil</a:t>
            </a: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Construction par </a:t>
            </a:r>
            <a:r>
              <a:rPr lang="fr-FR" dirty="0" err="1">
                <a:solidFill>
                  <a:srgbClr val="FF0000"/>
                </a:solidFill>
              </a:rPr>
              <a:t>concrétation</a:t>
            </a:r>
            <a:endParaRPr lang="fr-FR"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5161279" cy="2087562"/>
          </a:xfrm>
          <a:solidFill>
            <a:schemeClr val="bg1"/>
          </a:solidFill>
        </p:spPr>
        <p:txBody>
          <a:bodyPr>
            <a:noAutofit/>
          </a:bodyPr>
          <a:lstStyle/>
          <a:p>
            <a:pPr marL="0" indent="0">
              <a:buNone/>
            </a:pPr>
            <a:r>
              <a:rPr lang="fr-FR" sz="1600" b="1" dirty="0">
                <a:latin typeface="Arial" panose="020B0604020202020204"/>
                <a:cs typeface="Arial" panose="020B0604020202020204"/>
              </a:rPr>
              <a:t>C</a:t>
            </a:r>
            <a:r>
              <a:rPr lang="en-US" sz="1600" b="1" dirty="0">
                <a:latin typeface="Arial" panose="020B0604020202020204"/>
                <a:cs typeface="Arial" panose="020B0604020202020204"/>
              </a:rPr>
              <a:t>ROISEMENT DE VOÛTES</a:t>
            </a:r>
            <a:endParaRPr lang="en-US"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La voûte d'arêtes (ou voûte d'arête) est un type de voûte très utilisé dans l'architecture depuis l'Antiquité. Ce type de voûte est obtenu par l'intersection de deux berceaux qui se croisent à angle droit en conservant les parties extérieures aux arêtes d'intersection. </a:t>
            </a:r>
            <a:endParaRPr lang="en-US"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Voûtes</a:t>
            </a:r>
            <a:endParaRPr lang="fr-FR" dirty="0">
              <a:solidFill>
                <a:srgbClr val="FF0000"/>
              </a:solidFill>
            </a:endParaRPr>
          </a:p>
        </p:txBody>
      </p:sp>
      <p:pic>
        <p:nvPicPr>
          <p:cNvPr id="5" name="Image 4" descr="ART_CM_II_4_ROME_Page_10.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98439" y="3657600"/>
            <a:ext cx="3845561" cy="2615837"/>
          </a:xfrm>
          <a:prstGeom prst="rect">
            <a:avLst/>
          </a:prstGeom>
        </p:spPr>
      </p:pic>
      <p:pic>
        <p:nvPicPr>
          <p:cNvPr id="8" name="Image 7" descr="ART_CM_II_4_ROME_Page_10.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1" y="2923793"/>
            <a:ext cx="4521200" cy="3670047"/>
          </a:xfrm>
          <a:prstGeom prst="rect">
            <a:avLst/>
          </a:prstGeom>
        </p:spPr>
      </p:pic>
      <p:sp>
        <p:nvSpPr>
          <p:cNvPr id="9" name="Rectangle 8"/>
          <p:cNvSpPr/>
          <p:nvPr/>
        </p:nvSpPr>
        <p:spPr>
          <a:xfrm>
            <a:off x="7213600" y="5553948"/>
            <a:ext cx="1788160" cy="67056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dirty="0"/>
          </a:p>
        </p:txBody>
      </p:sp>
      <p:sp>
        <p:nvSpPr>
          <p:cNvPr id="10" name="ZoneTexte 9"/>
          <p:cNvSpPr txBox="1"/>
          <p:nvPr/>
        </p:nvSpPr>
        <p:spPr>
          <a:xfrm>
            <a:off x="6085840" y="6273437"/>
            <a:ext cx="1849120" cy="369332"/>
          </a:xfrm>
          <a:prstGeom prst="rect">
            <a:avLst/>
          </a:prstGeom>
          <a:noFill/>
        </p:spPr>
        <p:txBody>
          <a:bodyPr wrap="square" rtlCol="0">
            <a:spAutoFit/>
          </a:bodyPr>
          <a:lstStyle/>
          <a:p>
            <a:r>
              <a:rPr lang="fr-FR" dirty="0"/>
              <a:t>Voûte d’arêtes</a:t>
            </a:r>
            <a:endParaRPr lang="fr-FR" dirty="0"/>
          </a:p>
        </p:txBody>
      </p:sp>
      <p:sp>
        <p:nvSpPr>
          <p:cNvPr id="11" name="ZoneTexte 10"/>
          <p:cNvSpPr txBox="1"/>
          <p:nvPr/>
        </p:nvSpPr>
        <p:spPr>
          <a:xfrm>
            <a:off x="1717040" y="6224508"/>
            <a:ext cx="2377440" cy="369332"/>
          </a:xfrm>
          <a:prstGeom prst="rect">
            <a:avLst/>
          </a:prstGeom>
          <a:noFill/>
        </p:spPr>
        <p:txBody>
          <a:bodyPr wrap="square" rtlCol="0">
            <a:spAutoFit/>
          </a:bodyPr>
          <a:lstStyle/>
          <a:p>
            <a:r>
              <a:rPr lang="fr-FR" dirty="0"/>
              <a:t>Voûtes en berceau</a:t>
            </a:r>
            <a:endParaRPr lang="fr-FR" dirty="0"/>
          </a:p>
        </p:txBody>
      </p:sp>
      <p:pic>
        <p:nvPicPr>
          <p:cNvPr id="12" name="Image 11" descr="Angeli_interior_03.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6720" y="1300610"/>
            <a:ext cx="2831081" cy="21233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ART_CM_II_4_ROME_Page_11.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53901" y="1451419"/>
            <a:ext cx="8032899" cy="5071301"/>
          </a:xfrm>
          <a:prstGeom prst="rect">
            <a:avLst/>
          </a:prstGeom>
        </p:spPr>
      </p:pic>
      <p:sp>
        <p:nvSpPr>
          <p:cNvPr id="3" name="Espace réservé du contenu 2"/>
          <p:cNvSpPr>
            <a:spLocks noGrp="1"/>
          </p:cNvSpPr>
          <p:nvPr>
            <p:ph idx="1"/>
          </p:nvPr>
        </p:nvSpPr>
        <p:spPr>
          <a:xfrm>
            <a:off x="223521" y="1417638"/>
            <a:ext cx="5618479" cy="1477962"/>
          </a:xfrm>
          <a:solidFill>
            <a:schemeClr val="bg1"/>
          </a:solidFill>
        </p:spPr>
        <p:txBody>
          <a:bodyPr>
            <a:noAutofit/>
          </a:bodyPr>
          <a:lstStyle/>
          <a:p>
            <a:pPr marL="0" indent="0">
              <a:buNone/>
            </a:pPr>
            <a:r>
              <a:rPr lang="fr-FR" sz="1600" b="1" dirty="0">
                <a:latin typeface="Arial" panose="020B0604020202020204"/>
                <a:cs typeface="Arial" panose="020B0604020202020204"/>
              </a:rPr>
              <a:t>Empire d’occident : simplicité</a:t>
            </a:r>
            <a:endParaRPr lang="fr-FR" sz="1600" b="1"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Berceaux d’élévations différentes</a:t>
            </a:r>
            <a:r>
              <a:rPr lang="fr-FR" sz="1600" dirty="0">
                <a:latin typeface="Arial" panose="020B0604020202020204"/>
                <a:cs typeface="Arial" panose="020B0604020202020204"/>
              </a:rPr>
              <a:t> préférés aux</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voûtes d’arêtes ou coupoles de croisées (assez rares).</a:t>
            </a:r>
            <a:endParaRPr lang="en-US"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Voûtes</a:t>
            </a:r>
            <a:endParaRPr lang="fr-FR" dirty="0">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6847839" cy="1477962"/>
          </a:xfrm>
          <a:solidFill>
            <a:schemeClr val="bg1"/>
          </a:solidFill>
        </p:spPr>
        <p:txBody>
          <a:bodyPr vert="horz" lIns="91440" tIns="45720" rIns="91440" bIns="45720" rtlCol="0">
            <a:noAutofit/>
          </a:bodyPr>
          <a:lstStyle/>
          <a:p>
            <a:pPr marL="0" indent="0">
              <a:buNone/>
            </a:pPr>
            <a:r>
              <a:rPr lang="es-ES_tradnl" sz="1600" b="1" dirty="0">
                <a:latin typeface="Arial" panose="020B0604020202020204"/>
                <a:cs typeface="Arial" panose="020B0604020202020204"/>
              </a:rPr>
              <a:t>ORDRES DERIVÉS DU DORIQUE</a:t>
            </a:r>
            <a:endParaRPr lang="es-ES_tradnl"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Dorique romain avec base, frise parfois sans triglyphes</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Toscan dorique austère (pas de cannelures) issu de l’art étrusque</a:t>
            </a:r>
            <a:endParaRPr lang="en-US" sz="1600" dirty="0">
              <a:latin typeface="Arial" panose="020B0604020202020204"/>
              <a:cs typeface="Arial" panose="020B0604020202020204"/>
            </a:endParaRPr>
          </a:p>
        </p:txBody>
      </p:sp>
      <p:sp>
        <p:nvSpPr>
          <p:cNvPr id="6" name="Titre 5"/>
          <p:cNvSpPr>
            <a:spLocks noGrp="1"/>
          </p:cNvSpPr>
          <p:nvPr>
            <p:ph type="title"/>
          </p:nvPr>
        </p:nvSpPr>
        <p:spPr/>
        <p:txBody>
          <a:bodyPr>
            <a:normAutofit fontScale="90000"/>
          </a:bodyPr>
          <a:lstStyle/>
          <a:p>
            <a:pPr>
              <a:lnSpc>
                <a:spcPct val="80000"/>
              </a:lnSpc>
            </a:pPr>
            <a:r>
              <a:rPr lang="fr-FR" dirty="0">
                <a:solidFill>
                  <a:srgbClr val="FF0000"/>
                </a:solidFill>
              </a:rPr>
              <a:t>Eléments architecturaux : les ordres</a:t>
            </a:r>
            <a:endParaRPr lang="fr-FR" dirty="0">
              <a:solidFill>
                <a:srgbClr val="FF0000"/>
              </a:solidFill>
            </a:endParaRPr>
          </a:p>
        </p:txBody>
      </p:sp>
      <p:pic>
        <p:nvPicPr>
          <p:cNvPr id="4" name="Image 3" descr="ART_CM_II_4_ROME_Page_13.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35280" y="2617295"/>
            <a:ext cx="8351520" cy="40673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7061199" cy="2036762"/>
          </a:xfrm>
          <a:solidFill>
            <a:schemeClr val="bg1"/>
          </a:solidFill>
        </p:spPr>
        <p:txBody>
          <a:bodyPr vert="horz" lIns="91440" tIns="45720" rIns="91440" bIns="45720" rtlCol="0">
            <a:noAutofit/>
          </a:bodyPr>
          <a:lstStyle/>
          <a:p>
            <a:pPr marL="0" indent="0">
              <a:buNone/>
            </a:pPr>
            <a:r>
              <a:rPr lang="es-ES_tradnl" sz="1600" b="1" dirty="0">
                <a:latin typeface="Arial" panose="020B0604020202020204"/>
                <a:cs typeface="Arial" panose="020B0604020202020204"/>
              </a:rPr>
              <a:t>ORDRES DERIVÉS DE L’IONIQUE</a:t>
            </a:r>
            <a:endParaRPr lang="es-ES_tradnl"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fr-FR" sz="1600" b="1" dirty="0">
                <a:latin typeface="Arial" panose="020B0604020202020204"/>
                <a:cs typeface="Arial" panose="020B0604020202020204"/>
              </a:rPr>
              <a:t>Ionique</a:t>
            </a:r>
            <a:r>
              <a:rPr lang="fr-FR" sz="1600" dirty="0">
                <a:latin typeface="Arial" panose="020B0604020202020204"/>
                <a:cs typeface="Arial" panose="020B0604020202020204"/>
              </a:rPr>
              <a:t> romain différences minimes avec l’ionique grec</a:t>
            </a:r>
            <a:endParaRPr lang="fr-FR" sz="1600" dirty="0">
              <a:latin typeface="Arial" panose="020B0604020202020204"/>
              <a:cs typeface="Arial" panose="020B0604020202020204"/>
            </a:endParaRPr>
          </a:p>
          <a:p>
            <a:pPr marL="0" indent="0">
              <a:buNone/>
            </a:pPr>
            <a:r>
              <a:rPr lang="hu-HU" sz="1600" dirty="0">
                <a:latin typeface="Arial" panose="020B0604020202020204"/>
                <a:cs typeface="Arial" panose="020B0604020202020204"/>
              </a:rPr>
              <a:t>• </a:t>
            </a:r>
            <a:r>
              <a:rPr lang="hu-HU" sz="1600" b="1" dirty="0">
                <a:latin typeface="Arial" panose="020B0604020202020204"/>
                <a:cs typeface="Arial" panose="020B0604020202020204"/>
              </a:rPr>
              <a:t>Corinthien</a:t>
            </a:r>
            <a:endParaRPr lang="hu-HU" sz="1600" b="1" dirty="0">
              <a:latin typeface="Arial" panose="020B0604020202020204"/>
              <a:cs typeface="Arial" panose="020B0604020202020204"/>
            </a:endParaRPr>
          </a:p>
          <a:p>
            <a:pPr>
              <a:buFontTx/>
              <a:buChar char="-"/>
            </a:pPr>
            <a:r>
              <a:rPr lang="fr-FR" sz="1600" dirty="0">
                <a:latin typeface="Arial" panose="020B0604020202020204"/>
                <a:cs typeface="Arial" panose="020B0604020202020204"/>
              </a:rPr>
              <a:t>ordre romain par excellence</a:t>
            </a:r>
            <a:endParaRPr lang="fr-FR" sz="1600" dirty="0">
              <a:latin typeface="Arial" panose="020B0604020202020204"/>
              <a:cs typeface="Arial" panose="020B0604020202020204"/>
            </a:endParaRPr>
          </a:p>
          <a:p>
            <a:pPr>
              <a:buFontTx/>
              <a:buChar char="-"/>
            </a:pPr>
            <a:r>
              <a:rPr lang="fr-FR" sz="1600" dirty="0">
                <a:latin typeface="Arial" panose="020B0604020202020204"/>
                <a:cs typeface="Arial" panose="020B0604020202020204"/>
              </a:rPr>
              <a:t>corinthien grec légèrement modifié (chapiteau)</a:t>
            </a:r>
            <a:endParaRPr lang="fr-FR" sz="1600" dirty="0">
              <a:latin typeface="Arial" panose="020B0604020202020204"/>
              <a:cs typeface="Arial" panose="020B0604020202020204"/>
            </a:endParaRPr>
          </a:p>
          <a:p>
            <a:pPr marL="0" indent="0">
              <a:buNone/>
            </a:pPr>
            <a:r>
              <a:rPr lang="hu-HU" sz="1600" dirty="0">
                <a:latin typeface="Arial" panose="020B0604020202020204"/>
                <a:cs typeface="Arial" panose="020B0604020202020204"/>
              </a:rPr>
              <a:t>• </a:t>
            </a:r>
            <a:r>
              <a:rPr lang="fr-FR" sz="1600" b="1" dirty="0">
                <a:latin typeface="Arial" panose="020B0604020202020204"/>
                <a:cs typeface="Arial" panose="020B0604020202020204"/>
              </a:rPr>
              <a:t>Composite</a:t>
            </a:r>
            <a:r>
              <a:rPr lang="fr-FR" sz="1600" dirty="0">
                <a:latin typeface="Arial" panose="020B0604020202020204"/>
                <a:cs typeface="Arial" panose="020B0604020202020204"/>
              </a:rPr>
              <a:t> : corinthien surmonté de volutes ioniques </a:t>
            </a: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fontScale="90000"/>
          </a:bodyPr>
          <a:lstStyle/>
          <a:p>
            <a:pPr>
              <a:lnSpc>
                <a:spcPct val="80000"/>
              </a:lnSpc>
            </a:pPr>
            <a:r>
              <a:rPr lang="fr-FR" dirty="0">
                <a:solidFill>
                  <a:srgbClr val="FF0000"/>
                </a:solidFill>
              </a:rPr>
              <a:t>Eléments architecturaux : les ordres</a:t>
            </a:r>
            <a:endParaRPr lang="fr-FR" dirty="0">
              <a:solidFill>
                <a:srgbClr val="FF0000"/>
              </a:solidFill>
            </a:endParaRPr>
          </a:p>
        </p:txBody>
      </p:sp>
      <p:pic>
        <p:nvPicPr>
          <p:cNvPr id="2" name="Image 1" descr="ART_CM_II_4_ROME_Page_14.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89281" y="3454400"/>
            <a:ext cx="8107679" cy="323498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7061199" cy="2036762"/>
          </a:xfrm>
          <a:solidFill>
            <a:schemeClr val="bg1"/>
          </a:solidFill>
        </p:spPr>
        <p:txBody>
          <a:bodyPr vert="horz" lIns="91440" tIns="45720" rIns="91440" bIns="45720" rtlCol="0">
            <a:noAutofit/>
          </a:bodyPr>
          <a:lstStyle/>
          <a:p>
            <a:pPr marL="0" indent="0">
              <a:buNone/>
            </a:pPr>
            <a:r>
              <a:rPr lang="fr-FR" sz="1600" b="1" dirty="0">
                <a:latin typeface="Arial" panose="020B0604020202020204"/>
                <a:cs typeface="Arial" panose="020B0604020202020204"/>
              </a:rPr>
              <a:t>ANALYSE DU FRONTON</a:t>
            </a:r>
            <a:endParaRPr lang="fr-FR" sz="1600" dirty="0"/>
          </a:p>
        </p:txBody>
      </p:sp>
      <p:sp>
        <p:nvSpPr>
          <p:cNvPr id="6" name="Titre 5"/>
          <p:cNvSpPr>
            <a:spLocks noGrp="1"/>
          </p:cNvSpPr>
          <p:nvPr>
            <p:ph type="title"/>
          </p:nvPr>
        </p:nvSpPr>
        <p:spPr/>
        <p:txBody>
          <a:bodyPr>
            <a:normAutofit fontScale="90000"/>
          </a:bodyPr>
          <a:lstStyle/>
          <a:p>
            <a:pPr>
              <a:lnSpc>
                <a:spcPct val="80000"/>
              </a:lnSpc>
            </a:pPr>
            <a:r>
              <a:rPr lang="fr-FR" dirty="0">
                <a:solidFill>
                  <a:srgbClr val="FF0000"/>
                </a:solidFill>
              </a:rPr>
              <a:t>Eléments architecturaux : les ordres</a:t>
            </a:r>
            <a:endParaRPr lang="fr-FR" dirty="0">
              <a:solidFill>
                <a:srgbClr val="FF0000"/>
              </a:solidFill>
            </a:endParaRPr>
          </a:p>
        </p:txBody>
      </p:sp>
      <p:pic>
        <p:nvPicPr>
          <p:cNvPr id="4" name="Image 3" descr="ART_CM_II_4_ROME_Page_15.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750" y="1831340"/>
            <a:ext cx="9112250" cy="4241800"/>
          </a:xfrm>
          <a:prstGeom prst="rect">
            <a:avLst/>
          </a:prstGeom>
        </p:spPr>
      </p:pic>
      <p:sp>
        <p:nvSpPr>
          <p:cNvPr id="5" name="Rectangle 4"/>
          <p:cNvSpPr/>
          <p:nvPr/>
        </p:nvSpPr>
        <p:spPr>
          <a:xfrm>
            <a:off x="365760" y="6125141"/>
            <a:ext cx="8321040" cy="369332"/>
          </a:xfrm>
          <a:prstGeom prst="rect">
            <a:avLst/>
          </a:prstGeom>
        </p:spPr>
        <p:txBody>
          <a:bodyPr wrap="square">
            <a:spAutoFit/>
          </a:bodyPr>
          <a:lstStyle/>
          <a:p>
            <a:pPr algn="ctr"/>
            <a:r>
              <a:rPr lang="fr-FR" dirty="0"/>
              <a:t>Rome : Modénature des rampants identique à celle de la corniche</a:t>
            </a:r>
            <a:endParaRPr lang="fr-F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7061199" cy="2036762"/>
          </a:xfrm>
          <a:solidFill>
            <a:schemeClr val="bg1"/>
          </a:solidFill>
        </p:spPr>
        <p:txBody>
          <a:bodyPr vert="horz" lIns="91440" tIns="45720" rIns="91440" bIns="45720" rtlCol="0">
            <a:noAutofit/>
          </a:bodyPr>
          <a:lstStyle/>
          <a:p>
            <a:pPr marL="0" indent="0">
              <a:buNone/>
            </a:pPr>
            <a:r>
              <a:rPr lang="es-ES_tradnl" sz="1600" b="1" dirty="0">
                <a:latin typeface="Arial" panose="020B0604020202020204"/>
                <a:cs typeface="Arial" panose="020B0604020202020204"/>
              </a:rPr>
              <a:t>BAROQUE ROMAIN</a:t>
            </a:r>
            <a:endParaRPr lang="es-ES_tradnl" sz="1600" b="1" dirty="0">
              <a:latin typeface="Arial" panose="020B0604020202020204"/>
              <a:cs typeface="Arial" panose="020B0604020202020204"/>
            </a:endParaRPr>
          </a:p>
          <a:p>
            <a:pPr marL="0" indent="0">
              <a:buNone/>
            </a:pPr>
            <a:r>
              <a:rPr lang="fr-FR" sz="1600" b="1" dirty="0">
                <a:latin typeface="Arial" panose="020B0604020202020204"/>
                <a:cs typeface="Arial" panose="020B0604020202020204"/>
              </a:rPr>
              <a:t>Empire d’Orient et Bas-Empire </a:t>
            </a:r>
            <a:r>
              <a:rPr lang="fr-FR" sz="1600" dirty="0">
                <a:latin typeface="Arial" panose="020B0604020202020204"/>
                <a:cs typeface="Arial" panose="020B0604020202020204"/>
              </a:rPr>
              <a:t>: jeu avec les formes</a:t>
            </a: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fontScale="90000"/>
          </a:bodyPr>
          <a:lstStyle/>
          <a:p>
            <a:pPr>
              <a:lnSpc>
                <a:spcPct val="80000"/>
              </a:lnSpc>
            </a:pPr>
            <a:r>
              <a:rPr lang="fr-FR" dirty="0">
                <a:solidFill>
                  <a:srgbClr val="FF0000"/>
                </a:solidFill>
              </a:rPr>
              <a:t>Eléments architecturaux : les ordres</a:t>
            </a:r>
            <a:endParaRPr lang="fr-FR" dirty="0">
              <a:solidFill>
                <a:srgbClr val="FF0000"/>
              </a:solidFill>
            </a:endParaRPr>
          </a:p>
        </p:txBody>
      </p:sp>
      <p:pic>
        <p:nvPicPr>
          <p:cNvPr id="7" name="Image 6" descr="ART_CM_II_4_ROME_Page_16.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6334" y="2075710"/>
            <a:ext cx="7711769" cy="45994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ART_CM_II_4_ROME_Page_17.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3521" y="1417638"/>
            <a:ext cx="8643674" cy="5503418"/>
          </a:xfrm>
          <a:prstGeom prst="rect">
            <a:avLst/>
          </a:prstGeom>
        </p:spPr>
      </p:pic>
      <p:sp>
        <p:nvSpPr>
          <p:cNvPr id="3" name="Espace réservé du contenu 2"/>
          <p:cNvSpPr>
            <a:spLocks noGrp="1"/>
          </p:cNvSpPr>
          <p:nvPr>
            <p:ph idx="1"/>
          </p:nvPr>
        </p:nvSpPr>
        <p:spPr>
          <a:xfrm>
            <a:off x="223521" y="1417638"/>
            <a:ext cx="5953759" cy="1671002"/>
          </a:xfrm>
          <a:solidFill>
            <a:schemeClr val="bg1"/>
          </a:solidFill>
        </p:spPr>
        <p:txBody>
          <a:bodyPr vert="horz" lIns="91440" tIns="45720" rIns="91440" bIns="45720" rtlCol="0">
            <a:noAutofit/>
          </a:bodyPr>
          <a:lstStyle/>
          <a:p>
            <a:pPr marL="0" indent="0">
              <a:buNone/>
            </a:pPr>
            <a:r>
              <a:rPr lang="de-DE" sz="1600" b="1" dirty="0">
                <a:latin typeface="Arial" panose="020B0604020202020204"/>
                <a:cs typeface="Arial" panose="020B0604020202020204"/>
              </a:rPr>
              <a:t>ÉLÉMENT ROMAIN PAR EXCELLENCE</a:t>
            </a:r>
            <a:endParaRPr lang="de-DE"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Elément étrusque systématisé par la Rome impériale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arc en plein cintre reposant sur des </a:t>
            </a:r>
            <a:r>
              <a:rPr lang="fr-FR" sz="1600" i="1" dirty="0">
                <a:latin typeface="Arial" panose="020B0604020202020204"/>
                <a:cs typeface="Arial" panose="020B0604020202020204"/>
              </a:rPr>
              <a:t>pieddroits </a:t>
            </a:r>
            <a:r>
              <a:rPr lang="fr-FR" sz="1600" dirty="0">
                <a:latin typeface="Arial" panose="020B0604020202020204"/>
                <a:cs typeface="Arial" panose="020B0604020202020204"/>
              </a:rPr>
              <a:t>(imposte)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encadrement par colonne ou pilastre semi-engagés</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entablement monolithe faisant simplement décharge</a:t>
            </a:r>
            <a:endParaRPr lang="fr-FR" sz="1600"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Eléments architecturaux : l’arcade</a:t>
            </a:r>
            <a:endParaRPr lang="fr-FR" dirty="0">
              <a:solidFill>
                <a:srgbClr val="FF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ART_CM_II_4_ROME_Page_18.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16271" y="1538330"/>
            <a:ext cx="8299409" cy="4953910"/>
          </a:xfrm>
          <a:prstGeom prst="rect">
            <a:avLst/>
          </a:prstGeom>
        </p:spPr>
      </p:pic>
      <p:sp>
        <p:nvSpPr>
          <p:cNvPr id="3" name="Espace réservé du contenu 2"/>
          <p:cNvSpPr>
            <a:spLocks noGrp="1"/>
          </p:cNvSpPr>
          <p:nvPr>
            <p:ph idx="1"/>
          </p:nvPr>
        </p:nvSpPr>
        <p:spPr>
          <a:xfrm>
            <a:off x="223521" y="1417638"/>
            <a:ext cx="5262879" cy="1203642"/>
          </a:xfrm>
          <a:solidFill>
            <a:schemeClr val="bg1"/>
          </a:solidFill>
        </p:spPr>
        <p:txBody>
          <a:bodyPr vert="horz" lIns="91440" tIns="45720" rIns="91440" bIns="45720" rtlCol="0">
            <a:noAutofit/>
          </a:bodyPr>
          <a:lstStyle/>
          <a:p>
            <a:pPr marL="0" indent="0">
              <a:buNone/>
            </a:pPr>
            <a:r>
              <a:rPr lang="fr-FR" sz="1600" b="1" dirty="0">
                <a:latin typeface="Arial" panose="020B0604020202020204"/>
                <a:cs typeface="Arial" panose="020B0604020202020204"/>
              </a:rPr>
              <a:t>ARCADES SUPERPOSÉES</a:t>
            </a:r>
            <a:endParaRPr lang="fr-FR" sz="1600" b="1" dirty="0">
              <a:latin typeface="Arial" panose="020B0604020202020204"/>
              <a:cs typeface="Arial" panose="020B0604020202020204"/>
            </a:endParaRPr>
          </a:p>
          <a:p>
            <a:pPr marL="0" indent="0">
              <a:buNone/>
            </a:pPr>
            <a:r>
              <a:rPr lang="fr-FR" sz="1600" b="1" dirty="0"/>
              <a:t>Stylobate</a:t>
            </a:r>
            <a:r>
              <a:rPr lang="fr-FR" sz="1600" dirty="0"/>
              <a:t> pour ne pas reposer sur l’entablement inférieur</a:t>
            </a:r>
            <a:endParaRPr lang="de-DE" sz="1600" b="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Eléments architecturaux : l’arcade</a:t>
            </a:r>
            <a:endParaRPr lang="fr-FR" dirty="0">
              <a:solidFill>
                <a:srgbClr val="FF0000"/>
              </a:solidFill>
            </a:endParaRPr>
          </a:p>
        </p:txBody>
      </p:sp>
      <p:sp>
        <p:nvSpPr>
          <p:cNvPr id="5" name="Rectangle 4"/>
          <p:cNvSpPr/>
          <p:nvPr/>
        </p:nvSpPr>
        <p:spPr>
          <a:xfrm>
            <a:off x="5486400" y="1635760"/>
            <a:ext cx="548640" cy="26416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7305039" cy="1203642"/>
          </a:xfrm>
          <a:solidFill>
            <a:schemeClr val="bg1"/>
          </a:solidFill>
        </p:spPr>
        <p:txBody>
          <a:bodyPr vert="horz" lIns="91440" tIns="45720" rIns="91440" bIns="45720" rtlCol="0">
            <a:noAutofit/>
          </a:bodyPr>
          <a:lstStyle/>
          <a:p>
            <a:pPr marL="0" indent="0">
              <a:buNone/>
            </a:pPr>
            <a:r>
              <a:rPr lang="de-DE" sz="1600" b="1" dirty="0">
                <a:latin typeface="Arial" panose="020B0604020202020204"/>
                <a:cs typeface="Arial" panose="020B0604020202020204"/>
              </a:rPr>
              <a:t>RÔLE NON STRUCTUREL DE LA DÉCORATION</a:t>
            </a:r>
            <a:endParaRPr lang="de-DE"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Séparation de la structure et du décor</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Revêtement de plaques de marbre agrafées sur des murs de brique / ciment</a:t>
            </a:r>
            <a:endParaRPr lang="de-DE" sz="1600" b="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Eléments architecturaux : l’arcade</a:t>
            </a:r>
            <a:endParaRPr lang="fr-FR" dirty="0">
              <a:solidFill>
                <a:srgbClr val="FF0000"/>
              </a:solidFill>
            </a:endParaRPr>
          </a:p>
        </p:txBody>
      </p:sp>
      <p:sp>
        <p:nvSpPr>
          <p:cNvPr id="5" name="Rectangle 4"/>
          <p:cNvSpPr/>
          <p:nvPr/>
        </p:nvSpPr>
        <p:spPr>
          <a:xfrm>
            <a:off x="5486400" y="1635760"/>
            <a:ext cx="548640" cy="26416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pic>
        <p:nvPicPr>
          <p:cNvPr id="2" name="Image 1" descr="ART_CM_II_4_ROME_Page_19.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200" y="2621280"/>
            <a:ext cx="8110058" cy="41612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ART_CM_II_4_ROME_Page_20.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820" y="1417638"/>
            <a:ext cx="9060180" cy="5361622"/>
          </a:xfrm>
          <a:prstGeom prst="rect">
            <a:avLst/>
          </a:prstGeom>
        </p:spPr>
      </p:pic>
      <p:sp>
        <p:nvSpPr>
          <p:cNvPr id="3" name="Espace réservé du contenu 2"/>
          <p:cNvSpPr>
            <a:spLocks noGrp="1"/>
          </p:cNvSpPr>
          <p:nvPr>
            <p:ph idx="1"/>
          </p:nvPr>
        </p:nvSpPr>
        <p:spPr>
          <a:xfrm>
            <a:off x="223521" y="1417638"/>
            <a:ext cx="5344159" cy="2615882"/>
          </a:xfrm>
          <a:solidFill>
            <a:schemeClr val="bg1"/>
          </a:solidFill>
        </p:spPr>
        <p:txBody>
          <a:bodyPr vert="horz" lIns="91440" tIns="45720" rIns="91440" bIns="45720" rtlCol="0">
            <a:noAutofit/>
          </a:bodyPr>
          <a:lstStyle/>
          <a:p>
            <a:pPr marL="0" indent="0">
              <a:buNone/>
            </a:pPr>
            <a:r>
              <a:rPr lang="da-DK" sz="1600" b="1" dirty="0">
                <a:latin typeface="Arial" panose="020B0604020202020204"/>
                <a:cs typeface="Arial" panose="020B0604020202020204"/>
              </a:rPr>
              <a:t>VILLE ROMAINE</a:t>
            </a:r>
            <a:endParaRPr lang="da-DK" sz="1600" b="1" dirty="0">
              <a:latin typeface="Arial" panose="020B0604020202020204"/>
              <a:cs typeface="Arial" panose="020B0604020202020204"/>
            </a:endParaRPr>
          </a:p>
          <a:p>
            <a:pPr marL="0" indent="0">
              <a:buNone/>
            </a:pPr>
            <a:r>
              <a:rPr lang="es-ES_tradnl" sz="1600" dirty="0">
                <a:latin typeface="Arial" panose="020B0604020202020204"/>
                <a:cs typeface="Arial" panose="020B0604020202020204"/>
              </a:rPr>
              <a:t>• Plan </a:t>
            </a:r>
            <a:r>
              <a:rPr lang="es-ES_tradnl" sz="1600" dirty="0" err="1">
                <a:latin typeface="Arial" panose="020B0604020202020204"/>
                <a:cs typeface="Arial" panose="020B0604020202020204"/>
              </a:rPr>
              <a:t>orthogonal</a:t>
            </a:r>
            <a:r>
              <a:rPr lang="es-ES_tradnl" sz="1600" dirty="0">
                <a:latin typeface="Arial" panose="020B0604020202020204"/>
                <a:cs typeface="Arial" panose="020B0604020202020204"/>
              </a:rPr>
              <a:t> </a:t>
            </a:r>
            <a:r>
              <a:rPr lang="es-ES_tradnl" sz="1600" i="1" dirty="0">
                <a:latin typeface="Arial" panose="020B0604020202020204"/>
                <a:cs typeface="Arial" panose="020B0604020202020204"/>
              </a:rPr>
              <a:t>cardo / </a:t>
            </a:r>
            <a:r>
              <a:rPr lang="es-ES_tradnl" sz="1600" i="1" dirty="0" err="1">
                <a:latin typeface="Arial" panose="020B0604020202020204"/>
                <a:cs typeface="Arial" panose="020B0604020202020204"/>
              </a:rPr>
              <a:t>decumanus</a:t>
            </a:r>
            <a:r>
              <a:rPr lang="es-ES_tradnl" sz="1600" i="1" dirty="0">
                <a:latin typeface="Arial" panose="020B0604020202020204"/>
                <a:cs typeface="Arial" panose="020B0604020202020204"/>
              </a:rPr>
              <a:t> </a:t>
            </a:r>
            <a:r>
              <a:rPr lang="es-ES_tradnl" sz="1600" dirty="0" err="1">
                <a:latin typeface="Arial" panose="020B0604020202020204"/>
                <a:cs typeface="Arial" panose="020B0604020202020204"/>
              </a:rPr>
              <a:t>étrusque</a:t>
            </a:r>
            <a:endParaRPr lang="es-ES_tradnl"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Recherche du grandiose : arcs, forums</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Importance des édifices civils</a:t>
            </a:r>
            <a:endParaRPr lang="fr-FR" sz="1600" dirty="0">
              <a:latin typeface="Arial" panose="020B0604020202020204"/>
              <a:cs typeface="Arial" panose="020B0604020202020204"/>
            </a:endParaRPr>
          </a:p>
          <a:p>
            <a:pPr marL="0" indent="0">
              <a:buNone/>
            </a:pPr>
            <a:r>
              <a:rPr lang="en-US" sz="1600" i="1" dirty="0">
                <a:latin typeface="Arial" panose="020B0604020202020204"/>
                <a:cs typeface="Arial" panose="020B0604020202020204"/>
              </a:rPr>
              <a:t>- </a:t>
            </a:r>
            <a:r>
              <a:rPr lang="en-US" sz="1600" i="1" dirty="0" err="1">
                <a:latin typeface="Arial" panose="020B0604020202020204"/>
                <a:cs typeface="Arial" panose="020B0604020202020204"/>
              </a:rPr>
              <a:t>Théâtres</a:t>
            </a:r>
            <a:r>
              <a:rPr lang="en-US" sz="1600" i="1" dirty="0">
                <a:latin typeface="Arial" panose="020B0604020202020204"/>
                <a:cs typeface="Arial" panose="020B0604020202020204"/>
              </a:rPr>
              <a:t>, </a:t>
            </a:r>
            <a:r>
              <a:rPr lang="en-US" sz="1600" i="1" dirty="0" err="1">
                <a:latin typeface="Arial" panose="020B0604020202020204"/>
                <a:cs typeface="Arial" panose="020B0604020202020204"/>
              </a:rPr>
              <a:t>amphithéàtres</a:t>
            </a:r>
            <a:r>
              <a:rPr lang="en-US" sz="1600" i="1" dirty="0">
                <a:latin typeface="Arial" panose="020B0604020202020204"/>
                <a:cs typeface="Arial" panose="020B0604020202020204"/>
              </a:rPr>
              <a:t>, cirques</a:t>
            </a:r>
            <a:endParaRPr lang="en-US" sz="1600" i="1" dirty="0">
              <a:latin typeface="Arial" panose="020B0604020202020204"/>
              <a:cs typeface="Arial" panose="020B0604020202020204"/>
            </a:endParaRPr>
          </a:p>
          <a:p>
            <a:pPr marL="0" indent="0">
              <a:buNone/>
            </a:pPr>
            <a:r>
              <a:rPr lang="en-US" sz="1600" i="1" dirty="0">
                <a:latin typeface="Arial" panose="020B0604020202020204"/>
                <a:cs typeface="Arial" panose="020B0604020202020204"/>
              </a:rPr>
              <a:t>- </a:t>
            </a:r>
            <a:r>
              <a:rPr lang="en-US" sz="1600" i="1" dirty="0" err="1">
                <a:latin typeface="Arial" panose="020B0604020202020204"/>
                <a:cs typeface="Arial" panose="020B0604020202020204"/>
              </a:rPr>
              <a:t>Thermes</a:t>
            </a:r>
            <a:endParaRPr lang="en-US" sz="1600" i="1" dirty="0">
              <a:latin typeface="Arial" panose="020B0604020202020204"/>
              <a:cs typeface="Arial" panose="020B0604020202020204"/>
            </a:endParaRPr>
          </a:p>
          <a:p>
            <a:pPr marL="0" indent="0">
              <a:buNone/>
            </a:pPr>
            <a:r>
              <a:rPr lang="pl-PL" sz="1600" i="1" dirty="0">
                <a:latin typeface="Arial" panose="020B0604020202020204"/>
                <a:cs typeface="Arial" panose="020B0604020202020204"/>
              </a:rPr>
              <a:t>- </a:t>
            </a:r>
            <a:r>
              <a:rPr lang="pl-PL" sz="1600" i="1" dirty="0" err="1">
                <a:latin typeface="Arial" panose="020B0604020202020204"/>
                <a:cs typeface="Arial" panose="020B0604020202020204"/>
              </a:rPr>
              <a:t>Marchés</a:t>
            </a:r>
            <a:endParaRPr lang="pl-PL" sz="1600" i="1" dirty="0">
              <a:latin typeface="Arial" panose="020B0604020202020204"/>
              <a:cs typeface="Arial" panose="020B0604020202020204"/>
            </a:endParaRPr>
          </a:p>
          <a:p>
            <a:pPr marL="0" indent="0">
              <a:buNone/>
            </a:pPr>
            <a:r>
              <a:rPr lang="fr-FR" sz="1600" i="1" dirty="0">
                <a:latin typeface="Arial" panose="020B0604020202020204"/>
                <a:cs typeface="Arial" panose="020B0604020202020204"/>
              </a:rPr>
              <a:t>- Basiliques</a:t>
            </a:r>
            <a:endParaRPr lang="es-ES_tradnl" sz="1600" b="1"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Urbanisme</a:t>
            </a:r>
            <a:endParaRPr lang="fr-FR"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ART_CM_II_4_ROME_Page_21.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8351" y="1417638"/>
            <a:ext cx="8175318" cy="5289826"/>
          </a:xfrm>
          <a:prstGeom prst="rect">
            <a:avLst/>
          </a:prstGeom>
        </p:spPr>
      </p:pic>
      <p:sp>
        <p:nvSpPr>
          <p:cNvPr id="3" name="Espace réservé du contenu 2"/>
          <p:cNvSpPr>
            <a:spLocks noGrp="1"/>
          </p:cNvSpPr>
          <p:nvPr>
            <p:ph idx="1"/>
          </p:nvPr>
        </p:nvSpPr>
        <p:spPr>
          <a:xfrm>
            <a:off x="223521" y="1417638"/>
            <a:ext cx="5618479" cy="1538922"/>
          </a:xfrm>
          <a:solidFill>
            <a:schemeClr val="bg1"/>
          </a:solidFill>
        </p:spPr>
        <p:txBody>
          <a:bodyPr vert="horz" lIns="91440" tIns="45720" rIns="91440" bIns="45720" rtlCol="0">
            <a:noAutofit/>
          </a:bodyPr>
          <a:lstStyle/>
          <a:p>
            <a:pPr marL="0" indent="0">
              <a:buNone/>
            </a:pPr>
            <a:r>
              <a:rPr lang="de-DE" sz="1600" b="1" dirty="0">
                <a:latin typeface="Arial" panose="020B0604020202020204"/>
                <a:cs typeface="Arial" panose="020B0604020202020204"/>
              </a:rPr>
              <a:t>ARC DE TRIOMPHE</a:t>
            </a:r>
            <a:endParaRPr lang="de-DE"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Structures permanentes à partir de l’Empire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Arcade romaine surmontée d’un </a:t>
            </a:r>
            <a:r>
              <a:rPr lang="fr-FR" sz="1600" b="1" dirty="0">
                <a:latin typeface="Arial" panose="020B0604020202020204"/>
                <a:cs typeface="Arial" panose="020B0604020202020204"/>
              </a:rPr>
              <a:t>attique</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Arc central et éventuellement passages latéraux</a:t>
            </a:r>
            <a:endParaRPr lang="es-ES_tradnl" sz="1600" b="1"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Monuments</a:t>
            </a:r>
            <a:endParaRPr lang="fr-FR" dirty="0">
              <a:solidFill>
                <a:srgbClr val="FF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5618479" cy="1538922"/>
          </a:xfrm>
          <a:solidFill>
            <a:schemeClr val="bg1"/>
          </a:solidFill>
        </p:spPr>
        <p:txBody>
          <a:bodyPr vert="horz" lIns="91440" tIns="45720" rIns="91440" bIns="45720" rtlCol="0">
            <a:noAutofit/>
          </a:bodyPr>
          <a:lstStyle/>
          <a:p>
            <a:pPr marL="0" indent="0">
              <a:buNone/>
            </a:pPr>
            <a:r>
              <a:rPr lang="de-DE" sz="1600" b="1" dirty="0">
                <a:latin typeface="Arial" panose="020B0604020202020204"/>
                <a:cs typeface="Arial" panose="020B0604020202020204"/>
              </a:rPr>
              <a:t>TEMPLE ROMAIN : ANALYSE</a:t>
            </a:r>
            <a:endParaRPr lang="de-DE" sz="1600" b="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Monuments</a:t>
            </a:r>
            <a:endParaRPr lang="fr-FR" dirty="0">
              <a:solidFill>
                <a:srgbClr val="FF0000"/>
              </a:solidFill>
            </a:endParaRPr>
          </a:p>
        </p:txBody>
      </p:sp>
      <p:pic>
        <p:nvPicPr>
          <p:cNvPr id="2" name="Image 1" descr="ART_CM_II_4_ROME_Page_22.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3521" y="1795081"/>
            <a:ext cx="8686800" cy="489718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5618479" cy="1813242"/>
          </a:xfrm>
          <a:solidFill>
            <a:schemeClr val="bg1"/>
          </a:solidFill>
        </p:spPr>
        <p:txBody>
          <a:bodyPr vert="horz" lIns="91440" tIns="45720" rIns="91440" bIns="45720" rtlCol="0">
            <a:noAutofit/>
          </a:bodyPr>
          <a:lstStyle/>
          <a:p>
            <a:pPr marL="0" indent="0">
              <a:buNone/>
            </a:pPr>
            <a:r>
              <a:rPr lang="en-US" sz="1600" b="1" dirty="0">
                <a:latin typeface="Arial" panose="020B0604020202020204"/>
                <a:cs typeface="Arial" panose="020B0604020202020204"/>
              </a:rPr>
              <a:t>TEMPLE ROMAIN</a:t>
            </a:r>
            <a:endParaRPr lang="en-US"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Edifice à portique comme en Grèce, mais plan orienté comme chez les Etrusques</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stylobate remplacé par un podium à escalier frontal</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temple </a:t>
            </a:r>
            <a:r>
              <a:rPr lang="fr-FR" sz="1600" b="1" dirty="0">
                <a:latin typeface="Arial" panose="020B0604020202020204"/>
                <a:cs typeface="Arial" panose="020B0604020202020204"/>
              </a:rPr>
              <a:t>prostyle</a:t>
            </a:r>
            <a:r>
              <a:rPr lang="fr-FR" sz="1600" dirty="0">
                <a:latin typeface="Arial" panose="020B0604020202020204"/>
                <a:cs typeface="Arial" panose="020B0604020202020204"/>
              </a:rPr>
              <a:t> avec éventuellement colonnes engagées sur les faces latérales</a:t>
            </a:r>
            <a:endParaRPr lang="de-DE" sz="1600" b="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Monuments</a:t>
            </a:r>
            <a:endParaRPr lang="fr-FR" dirty="0">
              <a:solidFill>
                <a:srgbClr val="FF0000"/>
              </a:solidFill>
            </a:endParaRPr>
          </a:p>
        </p:txBody>
      </p:sp>
      <p:pic>
        <p:nvPicPr>
          <p:cNvPr id="7" name="Image 6" descr="I_3044.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74049" y="3230880"/>
            <a:ext cx="2846671" cy="3395427"/>
          </a:xfrm>
          <a:prstGeom prst="rect">
            <a:avLst/>
          </a:prstGeom>
        </p:spPr>
      </p:pic>
      <p:pic>
        <p:nvPicPr>
          <p:cNvPr id="8" name="Image 7" descr="800px-MaisonCarrée.jpe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4160" y="3228340"/>
            <a:ext cx="4490720" cy="33680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ART_CM_II_4_ROME_Page_24.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58800" y="1417638"/>
            <a:ext cx="7823200" cy="5177278"/>
          </a:xfrm>
          <a:prstGeom prst="rect">
            <a:avLst/>
          </a:prstGeom>
        </p:spPr>
      </p:pic>
      <p:sp>
        <p:nvSpPr>
          <p:cNvPr id="3" name="Espace réservé du contenu 2"/>
          <p:cNvSpPr>
            <a:spLocks noGrp="1"/>
          </p:cNvSpPr>
          <p:nvPr>
            <p:ph idx="1"/>
          </p:nvPr>
        </p:nvSpPr>
        <p:spPr>
          <a:xfrm>
            <a:off x="223521" y="1417638"/>
            <a:ext cx="4135119" cy="817562"/>
          </a:xfrm>
          <a:solidFill>
            <a:schemeClr val="bg1"/>
          </a:solidFill>
        </p:spPr>
        <p:txBody>
          <a:bodyPr vert="horz" lIns="91440" tIns="45720" rIns="91440" bIns="45720" rtlCol="0">
            <a:noAutofit/>
          </a:bodyPr>
          <a:lstStyle/>
          <a:p>
            <a:pPr marL="0" indent="0">
              <a:buNone/>
            </a:pPr>
            <a:r>
              <a:rPr lang="pt-BR" sz="1600" b="1" dirty="0">
                <a:latin typeface="Arial" panose="020B0604020202020204"/>
                <a:cs typeface="Arial" panose="020B0604020202020204"/>
              </a:rPr>
              <a:t>TEMPLES CIRCULAIRES</a:t>
            </a:r>
            <a:endParaRPr lang="pt-B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Edifice à coupole avec portique d’entrée</a:t>
            </a:r>
            <a:endParaRPr lang="de-DE" sz="1600" b="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Monuments</a:t>
            </a:r>
            <a:endParaRPr lang="fr-FR" dirty="0">
              <a:solidFill>
                <a:srgbClr val="FF000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ART_CM_II_4_ROME_Page_25.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1279323"/>
            <a:ext cx="9144000" cy="5792875"/>
          </a:xfrm>
          <a:prstGeom prst="rect">
            <a:avLst/>
          </a:prstGeom>
        </p:spPr>
      </p:pic>
      <p:sp>
        <p:nvSpPr>
          <p:cNvPr id="3" name="Espace réservé du contenu 2"/>
          <p:cNvSpPr>
            <a:spLocks noGrp="1"/>
          </p:cNvSpPr>
          <p:nvPr>
            <p:ph idx="1"/>
          </p:nvPr>
        </p:nvSpPr>
        <p:spPr>
          <a:xfrm>
            <a:off x="223521" y="1417638"/>
            <a:ext cx="3769359" cy="390842"/>
          </a:xfrm>
          <a:solidFill>
            <a:schemeClr val="bg1"/>
          </a:solidFill>
        </p:spPr>
        <p:txBody>
          <a:bodyPr vert="horz" lIns="91440" tIns="45720" rIns="91440" bIns="45720" rtlCol="0">
            <a:noAutofit/>
          </a:bodyPr>
          <a:lstStyle/>
          <a:p>
            <a:pPr marL="0" indent="0">
              <a:buNone/>
            </a:pPr>
            <a:r>
              <a:rPr lang="pt-BR" sz="1600" b="1" dirty="0">
                <a:latin typeface="Arial" panose="020B0604020202020204"/>
                <a:cs typeface="Arial" panose="020B0604020202020204"/>
              </a:rPr>
              <a:t>THÉÂTRE : ANALYSE</a:t>
            </a:r>
            <a:endParaRPr lang="pt-BR" sz="1600" b="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Monuments</a:t>
            </a:r>
            <a:endParaRPr lang="fr-FR" dirty="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ART_CM_II_4_ROME_Page_26.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3521" y="1234598"/>
            <a:ext cx="8465507" cy="5442807"/>
          </a:xfrm>
          <a:prstGeom prst="rect">
            <a:avLst/>
          </a:prstGeom>
        </p:spPr>
      </p:pic>
      <p:sp>
        <p:nvSpPr>
          <p:cNvPr id="3" name="Espace réservé du contenu 2"/>
          <p:cNvSpPr>
            <a:spLocks noGrp="1"/>
          </p:cNvSpPr>
          <p:nvPr>
            <p:ph idx="1"/>
          </p:nvPr>
        </p:nvSpPr>
        <p:spPr>
          <a:xfrm>
            <a:off x="223521" y="1417638"/>
            <a:ext cx="4653279" cy="2179002"/>
          </a:xfrm>
          <a:solidFill>
            <a:schemeClr val="bg1"/>
          </a:solidFill>
        </p:spPr>
        <p:txBody>
          <a:bodyPr vert="horz" lIns="91440" tIns="45720" rIns="91440" bIns="45720" rtlCol="0">
            <a:noAutofit/>
          </a:bodyPr>
          <a:lstStyle/>
          <a:p>
            <a:pPr marL="0" indent="0">
              <a:buNone/>
            </a:pPr>
            <a:r>
              <a:rPr lang="pt-BR" sz="1600" b="1" dirty="0">
                <a:latin typeface="Arial" panose="020B0604020202020204"/>
                <a:cs typeface="Arial" panose="020B0604020202020204"/>
              </a:rPr>
              <a:t>THÉÂTRE </a:t>
            </a:r>
            <a:endParaRPr lang="pt-BR" sz="1600" b="1" dirty="0">
              <a:latin typeface="Arial" panose="020B0604020202020204"/>
              <a:cs typeface="Arial" panose="020B0604020202020204"/>
            </a:endParaRPr>
          </a:p>
          <a:p>
            <a:pPr marL="0" indent="0">
              <a:buNone/>
            </a:pPr>
            <a:r>
              <a:rPr lang="it-IT" sz="1600" dirty="0"/>
              <a:t>• </a:t>
            </a:r>
            <a:r>
              <a:rPr lang="it-IT" sz="1600" dirty="0" err="1"/>
              <a:t>Gradins</a:t>
            </a:r>
            <a:r>
              <a:rPr lang="it-IT" sz="1600" dirty="0"/>
              <a:t> </a:t>
            </a:r>
            <a:r>
              <a:rPr lang="it-IT" sz="1600" dirty="0" err="1"/>
              <a:t>édifiés</a:t>
            </a:r>
            <a:r>
              <a:rPr lang="it-IT" sz="1600" dirty="0"/>
              <a:t> si la topologie locale </a:t>
            </a:r>
            <a:r>
              <a:rPr lang="it-IT" sz="1600" dirty="0" err="1"/>
              <a:t>interdit</a:t>
            </a:r>
            <a:r>
              <a:rPr lang="it-IT" sz="1600" dirty="0"/>
              <a:t> </a:t>
            </a:r>
            <a:r>
              <a:rPr lang="fr-FR" sz="1600" dirty="0"/>
              <a:t>un adossement au terrain</a:t>
            </a:r>
            <a:endParaRPr lang="fr-FR" sz="1600" dirty="0"/>
          </a:p>
          <a:p>
            <a:pPr marL="0" indent="0">
              <a:buNone/>
            </a:pPr>
            <a:r>
              <a:rPr lang="it-IT" sz="1600" dirty="0"/>
              <a:t>• </a:t>
            </a:r>
            <a:r>
              <a:rPr lang="fr-FR" sz="1600" dirty="0"/>
              <a:t>Mur de scène élevé avec décor</a:t>
            </a:r>
            <a:endParaRPr lang="fr-FR" sz="1600" dirty="0"/>
          </a:p>
          <a:p>
            <a:pPr marL="0" indent="0">
              <a:buNone/>
            </a:pPr>
            <a:r>
              <a:rPr lang="fr-FR" sz="1600" dirty="0"/>
              <a:t>• </a:t>
            </a:r>
            <a:r>
              <a:rPr lang="fr-FR" sz="1600" i="1" dirty="0"/>
              <a:t>Proscenium</a:t>
            </a:r>
            <a:r>
              <a:rPr lang="fr-FR" sz="1600" dirty="0"/>
              <a:t> plus profond</a:t>
            </a:r>
            <a:endParaRPr lang="fr-FR" sz="1600" dirty="0"/>
          </a:p>
          <a:p>
            <a:pPr marL="0" indent="0">
              <a:buNone/>
            </a:pPr>
            <a:r>
              <a:rPr lang="fr-FR" sz="1600" dirty="0"/>
              <a:t>• Galeries sous tribunes (accès, protection) : vomitoires</a:t>
            </a:r>
            <a:endParaRPr lang="pt-BR" sz="1600" b="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Monuments</a:t>
            </a:r>
            <a:endParaRPr lang="fr-FR" dirty="0">
              <a:solidFill>
                <a:srgbClr val="FF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ART_CM_II_4_ROME_Page_28.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200" y="1337437"/>
            <a:ext cx="7999700" cy="5200759"/>
          </a:xfrm>
          <a:prstGeom prst="rect">
            <a:avLst/>
          </a:prstGeom>
        </p:spPr>
      </p:pic>
      <p:sp>
        <p:nvSpPr>
          <p:cNvPr id="3" name="Espace réservé du contenu 2"/>
          <p:cNvSpPr>
            <a:spLocks noGrp="1"/>
          </p:cNvSpPr>
          <p:nvPr>
            <p:ph idx="1"/>
          </p:nvPr>
        </p:nvSpPr>
        <p:spPr>
          <a:xfrm>
            <a:off x="223521" y="1417638"/>
            <a:ext cx="4135119" cy="1559242"/>
          </a:xfrm>
          <a:solidFill>
            <a:schemeClr val="bg1"/>
          </a:solidFill>
        </p:spPr>
        <p:txBody>
          <a:bodyPr vert="horz" lIns="91440" tIns="45720" rIns="91440" bIns="45720" rtlCol="0">
            <a:noAutofit/>
          </a:bodyPr>
          <a:lstStyle/>
          <a:p>
            <a:pPr marL="0" indent="0">
              <a:buNone/>
            </a:pPr>
            <a:r>
              <a:rPr lang="fr-FR" sz="1600" b="1" dirty="0">
                <a:latin typeface="Arial" panose="020B0604020202020204"/>
                <a:cs typeface="Arial" panose="020B0604020202020204"/>
              </a:rPr>
              <a:t>AMPHITHÉÂTRE</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Monument romain par excellence</a:t>
            </a:r>
            <a:endParaRPr lang="fr-FR" sz="1600" dirty="0">
              <a:latin typeface="Arial" panose="020B0604020202020204"/>
              <a:cs typeface="Arial" panose="020B0604020202020204"/>
            </a:endParaRPr>
          </a:p>
          <a:p>
            <a:pPr marL="0" indent="0">
              <a:buNone/>
            </a:pPr>
            <a:r>
              <a:rPr lang="fi-FI" sz="1600" dirty="0">
                <a:latin typeface="Arial" panose="020B0604020202020204"/>
                <a:cs typeface="Arial" panose="020B0604020202020204"/>
              </a:rPr>
              <a:t>• </a:t>
            </a:r>
            <a:r>
              <a:rPr lang="fi-FI" sz="1600" dirty="0" err="1">
                <a:latin typeface="Arial" panose="020B0604020202020204"/>
                <a:cs typeface="Arial" panose="020B0604020202020204"/>
              </a:rPr>
              <a:t>Plan</a:t>
            </a:r>
            <a:r>
              <a:rPr lang="fi-FI" sz="1600" dirty="0">
                <a:latin typeface="Arial" panose="020B0604020202020204"/>
                <a:cs typeface="Arial" panose="020B0604020202020204"/>
              </a:rPr>
              <a:t> </a:t>
            </a:r>
            <a:r>
              <a:rPr lang="fi-FI" sz="1600" dirty="0" err="1">
                <a:latin typeface="Arial" panose="020B0604020202020204"/>
                <a:cs typeface="Arial" panose="020B0604020202020204"/>
              </a:rPr>
              <a:t>ovale</a:t>
            </a:r>
            <a:endParaRPr lang="fi-FI"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Vomitoires et galeries sous tribune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Souterrains et </a:t>
            </a:r>
            <a:r>
              <a:rPr lang="fr-FR" sz="1600" dirty="0" err="1">
                <a:latin typeface="Arial" panose="020B0604020202020204"/>
                <a:cs typeface="Arial" panose="020B0604020202020204"/>
              </a:rPr>
              <a:t>acqueduc</a:t>
            </a:r>
            <a:r>
              <a:rPr lang="fr-FR" sz="1600" dirty="0">
                <a:latin typeface="Arial" panose="020B0604020202020204"/>
                <a:cs typeface="Arial" panose="020B0604020202020204"/>
              </a:rPr>
              <a:t> (</a:t>
            </a:r>
            <a:r>
              <a:rPr lang="fr-FR" sz="1600" i="1" dirty="0">
                <a:latin typeface="Arial" panose="020B0604020202020204"/>
                <a:cs typeface="Arial" panose="020B0604020202020204"/>
              </a:rPr>
              <a:t>naumachies</a:t>
            </a:r>
            <a:r>
              <a:rPr lang="fr-FR" sz="1600" dirty="0">
                <a:latin typeface="Arial" panose="020B0604020202020204"/>
                <a:cs typeface="Arial" panose="020B0604020202020204"/>
              </a:rPr>
              <a:t>)</a:t>
            </a:r>
            <a:endParaRPr lang="pt-BR" sz="1600" b="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Monuments</a:t>
            </a:r>
            <a:endParaRPr lang="fr-FR"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4135119" cy="1559242"/>
          </a:xfrm>
          <a:solidFill>
            <a:schemeClr val="bg1"/>
          </a:solidFill>
        </p:spPr>
        <p:txBody>
          <a:bodyPr vert="horz" lIns="91440" tIns="45720" rIns="91440" bIns="45720" rtlCol="0">
            <a:noAutofit/>
          </a:bodyPr>
          <a:lstStyle/>
          <a:p>
            <a:pPr marL="0" indent="0">
              <a:buNone/>
            </a:pPr>
            <a:r>
              <a:rPr lang="fr-FR" sz="1600" b="1" dirty="0">
                <a:latin typeface="Arial" panose="020B0604020202020204"/>
                <a:cs typeface="Arial" panose="020B0604020202020204"/>
              </a:rPr>
              <a:t>CIRQUES </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Courses de char ou </a:t>
            </a:r>
            <a:r>
              <a:rPr lang="fr-FR" sz="1600" i="1" dirty="0">
                <a:latin typeface="Arial" panose="020B0604020202020204"/>
                <a:cs typeface="Arial" panose="020B0604020202020204"/>
              </a:rPr>
              <a:t>naumachies</a:t>
            </a:r>
            <a:endParaRPr lang="pt-BR" sz="1600" b="1"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Monuments</a:t>
            </a:r>
            <a:endParaRPr lang="fr-FR" dirty="0">
              <a:solidFill>
                <a:srgbClr val="FF0000"/>
              </a:solidFill>
            </a:endParaRPr>
          </a:p>
        </p:txBody>
      </p:sp>
      <p:pic>
        <p:nvPicPr>
          <p:cNvPr id="2" name="Image 1" descr="ART_CM_II_4_ROME_Page_29.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4864" y="1995860"/>
            <a:ext cx="7127551" cy="4765659"/>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ART_CM_II_4_ROME_Page_30.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1402" y="1417638"/>
            <a:ext cx="8300056" cy="5155882"/>
          </a:xfrm>
          <a:prstGeom prst="rect">
            <a:avLst/>
          </a:prstGeom>
        </p:spPr>
      </p:pic>
      <p:sp>
        <p:nvSpPr>
          <p:cNvPr id="3" name="Espace réservé du contenu 2"/>
          <p:cNvSpPr>
            <a:spLocks noGrp="1"/>
          </p:cNvSpPr>
          <p:nvPr>
            <p:ph idx="1"/>
          </p:nvPr>
        </p:nvSpPr>
        <p:spPr>
          <a:xfrm>
            <a:off x="223521" y="1417638"/>
            <a:ext cx="5841999" cy="2057082"/>
          </a:xfrm>
          <a:solidFill>
            <a:schemeClr val="bg1"/>
          </a:solidFill>
        </p:spPr>
        <p:txBody>
          <a:bodyPr vert="horz" lIns="91440" tIns="45720" rIns="91440" bIns="45720" rtlCol="0">
            <a:noAutofit/>
          </a:bodyPr>
          <a:lstStyle/>
          <a:p>
            <a:pPr marL="0" indent="0">
              <a:buNone/>
            </a:pPr>
            <a:r>
              <a:rPr lang="de-DE" sz="1600" b="1" dirty="0">
                <a:latin typeface="Arial" panose="020B0604020202020204"/>
                <a:cs typeface="Arial" panose="020B0604020202020204"/>
              </a:rPr>
              <a:t>THERMES</a:t>
            </a:r>
            <a:endParaRPr lang="de-DE"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Au centre de la vie romaine : complexes combinant bains, piscines, gymnases, bibliothèques, écoles…</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Bains froids (frigidarium), tièdes (tepidarium) ou chaud </a:t>
            </a:r>
            <a:r>
              <a:rPr lang="it-IT" sz="1600" dirty="0">
                <a:latin typeface="Arial" panose="020B0604020202020204"/>
                <a:cs typeface="Arial" panose="020B0604020202020204"/>
              </a:rPr>
              <a:t>(</a:t>
            </a:r>
            <a:r>
              <a:rPr lang="it-IT" sz="1600" dirty="0" err="1">
                <a:latin typeface="Arial" panose="020B0604020202020204"/>
                <a:cs typeface="Arial" panose="020B0604020202020204"/>
              </a:rPr>
              <a:t>caldarium</a:t>
            </a:r>
            <a:r>
              <a:rPr lang="it-IT" sz="1600" dirty="0">
                <a:latin typeface="Arial" panose="020B0604020202020204"/>
                <a:cs typeface="Arial" panose="020B0604020202020204"/>
              </a:rPr>
              <a:t>)</a:t>
            </a:r>
            <a:endParaRPr lang="it-IT"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Chauffage souterrain (hypocaustes) : transmission de la chaleur par canalisations d’air (chauffage par le sol)</a:t>
            </a:r>
            <a:endParaRPr lang="pt-BR" sz="1600" b="1"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Monuments</a:t>
            </a:r>
            <a:endParaRPr lang="fr-FR"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ART_CM_II_4_ROME_Page_31.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3521" y="1652746"/>
            <a:ext cx="8463279" cy="5113443"/>
          </a:xfrm>
          <a:prstGeom prst="rect">
            <a:avLst/>
          </a:prstGeom>
        </p:spPr>
      </p:pic>
      <p:sp>
        <p:nvSpPr>
          <p:cNvPr id="3" name="Espace réservé du contenu 2"/>
          <p:cNvSpPr>
            <a:spLocks noGrp="1"/>
          </p:cNvSpPr>
          <p:nvPr>
            <p:ph idx="1"/>
          </p:nvPr>
        </p:nvSpPr>
        <p:spPr>
          <a:xfrm>
            <a:off x="223521" y="1417638"/>
            <a:ext cx="4571999" cy="594042"/>
          </a:xfrm>
          <a:solidFill>
            <a:schemeClr val="bg1"/>
          </a:solidFill>
        </p:spPr>
        <p:txBody>
          <a:bodyPr vert="horz" lIns="91440" tIns="45720" rIns="91440" bIns="45720" rtlCol="0">
            <a:noAutofit/>
          </a:bodyPr>
          <a:lstStyle/>
          <a:p>
            <a:pPr marL="0" indent="0">
              <a:buNone/>
            </a:pPr>
            <a:r>
              <a:rPr lang="pt-BR" sz="1600" b="1" dirty="0"/>
              <a:t>MARCHÉS</a:t>
            </a:r>
            <a:endParaRPr lang="pt-BR" sz="1600" b="1" dirty="0"/>
          </a:p>
          <a:p>
            <a:pPr marL="0" indent="0">
              <a:buNone/>
            </a:pPr>
            <a:r>
              <a:rPr lang="pt-BR" sz="1600" i="1" dirty="0"/>
              <a:t>Le </a:t>
            </a:r>
            <a:r>
              <a:rPr lang="pt-BR" sz="1600" i="1" dirty="0" err="1"/>
              <a:t>marché</a:t>
            </a:r>
            <a:r>
              <a:rPr lang="pt-BR" sz="1600" i="1" dirty="0"/>
              <a:t> de </a:t>
            </a:r>
            <a:r>
              <a:rPr lang="pt-BR" sz="1600" i="1" dirty="0" err="1"/>
              <a:t>Trajan</a:t>
            </a:r>
            <a:endParaRPr lang="pt-BR" sz="1600" b="1"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Monuments</a:t>
            </a:r>
            <a:endParaRPr lang="fr-FR" dirty="0">
              <a:solidFill>
                <a:srgbClr val="FF000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ART_CM_II_4_ROME_Page_32.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3521" y="1320799"/>
            <a:ext cx="8312529" cy="5364481"/>
          </a:xfrm>
          <a:prstGeom prst="rect">
            <a:avLst/>
          </a:prstGeom>
        </p:spPr>
      </p:pic>
      <p:sp>
        <p:nvSpPr>
          <p:cNvPr id="3" name="Espace réservé du contenu 2"/>
          <p:cNvSpPr>
            <a:spLocks noGrp="1"/>
          </p:cNvSpPr>
          <p:nvPr>
            <p:ph idx="1"/>
          </p:nvPr>
        </p:nvSpPr>
        <p:spPr>
          <a:xfrm>
            <a:off x="223521" y="1417638"/>
            <a:ext cx="4571999" cy="2778442"/>
          </a:xfrm>
          <a:solidFill>
            <a:schemeClr val="bg1"/>
          </a:solidFill>
        </p:spPr>
        <p:txBody>
          <a:bodyPr vert="horz" lIns="91440" tIns="45720" rIns="91440" bIns="45720" rtlCol="0">
            <a:noAutofit/>
          </a:bodyPr>
          <a:lstStyle/>
          <a:p>
            <a:pPr marL="0" indent="0">
              <a:buNone/>
            </a:pPr>
            <a:r>
              <a:rPr lang="es-ES_tradnl" sz="1600" b="1" dirty="0">
                <a:latin typeface="Arial" panose="020B0604020202020204"/>
                <a:cs typeface="Arial" panose="020B0604020202020204"/>
              </a:rPr>
              <a:t>BASILIQUE</a:t>
            </a:r>
            <a:endParaRPr lang="es-ES_tradnl"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Edifice public prototypique (tribunal, salle </a:t>
            </a:r>
            <a:r>
              <a:rPr lang="it-IT" sz="1600" dirty="0">
                <a:latin typeface="Arial" panose="020B0604020202020204"/>
                <a:cs typeface="Arial" panose="020B0604020202020204"/>
              </a:rPr>
              <a:t>de </a:t>
            </a:r>
            <a:r>
              <a:rPr lang="it-IT" sz="1600" dirty="0" err="1">
                <a:latin typeface="Arial" panose="020B0604020202020204"/>
                <a:cs typeface="Arial" panose="020B0604020202020204"/>
              </a:rPr>
              <a:t>réunion</a:t>
            </a:r>
            <a:r>
              <a:rPr lang="it-IT" sz="1600" dirty="0">
                <a:latin typeface="Arial" panose="020B0604020202020204"/>
                <a:cs typeface="Arial" panose="020B0604020202020204"/>
              </a:rPr>
              <a:t>) </a:t>
            </a:r>
            <a:r>
              <a:rPr lang="it-IT" sz="1600" dirty="0" err="1">
                <a:latin typeface="Arial" panose="020B0604020202020204"/>
                <a:cs typeface="Arial" panose="020B0604020202020204"/>
              </a:rPr>
              <a:t>dès</a:t>
            </a:r>
            <a:r>
              <a:rPr lang="it-IT" sz="1600" dirty="0">
                <a:latin typeface="Arial" panose="020B0604020202020204"/>
                <a:cs typeface="Arial" panose="020B0604020202020204"/>
              </a:rPr>
              <a:t> le </a:t>
            </a:r>
            <a:r>
              <a:rPr lang="it-IT" sz="1600" dirty="0" err="1">
                <a:latin typeface="Arial" panose="020B0604020202020204"/>
                <a:cs typeface="Arial" panose="020B0604020202020204"/>
              </a:rPr>
              <a:t>II°s</a:t>
            </a:r>
            <a:r>
              <a:rPr lang="it-IT" sz="1600" dirty="0">
                <a:latin typeface="Arial" panose="020B0604020202020204"/>
                <a:cs typeface="Arial" panose="020B0604020202020204"/>
              </a:rPr>
              <a:t>. </a:t>
            </a:r>
            <a:r>
              <a:rPr lang="it-IT" sz="1600" dirty="0" err="1">
                <a:latin typeface="Arial" panose="020B0604020202020204"/>
                <a:cs typeface="Arial" panose="020B0604020202020204"/>
              </a:rPr>
              <a:t>av</a:t>
            </a:r>
            <a:r>
              <a:rPr lang="it-IT" sz="1600" dirty="0">
                <a:latin typeface="Arial" panose="020B0604020202020204"/>
                <a:cs typeface="Arial" panose="020B0604020202020204"/>
              </a:rPr>
              <a:t>. JC</a:t>
            </a:r>
            <a:endParaRPr lang="it-IT" sz="1600" dirty="0">
              <a:latin typeface="Arial" panose="020B0604020202020204"/>
              <a:cs typeface="Arial" panose="020B0604020202020204"/>
            </a:endParaRPr>
          </a:p>
          <a:p>
            <a:pPr marL="0" indent="0">
              <a:buNone/>
            </a:pPr>
            <a:r>
              <a:rPr lang="tr-TR" sz="1600" dirty="0">
                <a:latin typeface="Arial" panose="020B0604020202020204"/>
                <a:cs typeface="Arial" panose="020B0604020202020204"/>
              </a:rPr>
              <a:t>• plan </a:t>
            </a:r>
            <a:r>
              <a:rPr lang="tr-TR" sz="1600" dirty="0" err="1">
                <a:latin typeface="Arial" panose="020B0604020202020204"/>
                <a:cs typeface="Arial" panose="020B0604020202020204"/>
              </a:rPr>
              <a:t>basilical</a:t>
            </a:r>
            <a:endParaRPr lang="tr-TR" sz="1600" dirty="0">
              <a:latin typeface="Arial" panose="020B0604020202020204"/>
              <a:cs typeface="Arial" panose="020B0604020202020204"/>
            </a:endParaRPr>
          </a:p>
          <a:p>
            <a:pPr>
              <a:buFont typeface="Wingdings" panose="05000000000000000000" pitchFamily="2" charset="2"/>
              <a:buChar char="ü"/>
            </a:pPr>
            <a:r>
              <a:rPr lang="it-IT" sz="1600" dirty="0">
                <a:latin typeface="Arial" panose="020B0604020202020204"/>
                <a:cs typeface="Arial" panose="020B0604020202020204"/>
              </a:rPr>
              <a:t> </a:t>
            </a:r>
            <a:r>
              <a:rPr lang="it-IT" sz="1600" dirty="0" err="1">
                <a:latin typeface="Arial" panose="020B0604020202020204"/>
                <a:cs typeface="Arial" panose="020B0604020202020204"/>
              </a:rPr>
              <a:t>nef</a:t>
            </a:r>
            <a:r>
              <a:rPr lang="it-IT" sz="1600" dirty="0">
                <a:latin typeface="Arial" panose="020B0604020202020204"/>
                <a:cs typeface="Arial" panose="020B0604020202020204"/>
              </a:rPr>
              <a:t> centrale</a:t>
            </a:r>
            <a:endParaRPr lang="it-IT" sz="1600" dirty="0">
              <a:latin typeface="Arial" panose="020B0604020202020204"/>
              <a:cs typeface="Arial" panose="020B0604020202020204"/>
            </a:endParaRPr>
          </a:p>
          <a:p>
            <a:pPr>
              <a:buFont typeface="Wingdings" panose="05000000000000000000" pitchFamily="2" charset="2"/>
              <a:buChar char="ü"/>
            </a:pPr>
            <a:r>
              <a:rPr lang="fr-FR" sz="1600" dirty="0">
                <a:latin typeface="Arial" panose="020B0604020202020204"/>
                <a:cs typeface="Arial" panose="020B0604020202020204"/>
              </a:rPr>
              <a:t> </a:t>
            </a:r>
            <a:r>
              <a:rPr lang="fr-FR" sz="1600" b="1" dirty="0">
                <a:latin typeface="Arial" panose="020B0604020202020204"/>
                <a:cs typeface="Arial" panose="020B0604020202020204"/>
              </a:rPr>
              <a:t>bas-côtés (collatéraux) </a:t>
            </a:r>
            <a:r>
              <a:rPr lang="fr-FR" sz="1600" dirty="0">
                <a:latin typeface="Arial" panose="020B0604020202020204"/>
                <a:cs typeface="Arial" panose="020B0604020202020204"/>
              </a:rPr>
              <a:t>à étages portés par une colonnade</a:t>
            </a:r>
            <a:endParaRPr lang="fr-FR" sz="1600" dirty="0">
              <a:latin typeface="Arial" panose="020B0604020202020204"/>
              <a:cs typeface="Arial" panose="020B0604020202020204"/>
            </a:endParaRPr>
          </a:p>
          <a:p>
            <a:pPr>
              <a:buFont typeface="Wingdings" panose="05000000000000000000" pitchFamily="2" charset="2"/>
              <a:buChar char="ü"/>
            </a:pPr>
            <a:r>
              <a:rPr lang="fr-FR" sz="1600" dirty="0">
                <a:latin typeface="Arial" panose="020B0604020202020204"/>
                <a:cs typeface="Arial" panose="020B0604020202020204"/>
              </a:rPr>
              <a:t> éventuellement, </a:t>
            </a:r>
            <a:r>
              <a:rPr lang="fr-FR" sz="1600" b="1" dirty="0">
                <a:latin typeface="Arial" panose="020B0604020202020204"/>
                <a:cs typeface="Arial" panose="020B0604020202020204"/>
              </a:rPr>
              <a:t>abside</a:t>
            </a:r>
            <a:endParaRPr lang="fr-FR" sz="1600" b="1" dirty="0">
              <a:latin typeface="Arial" panose="020B0604020202020204"/>
              <a:cs typeface="Arial" panose="020B0604020202020204"/>
            </a:endParaRPr>
          </a:p>
          <a:p>
            <a:pPr>
              <a:buFont typeface="Wingdings" panose="05000000000000000000" pitchFamily="2" charset="2"/>
              <a:buChar char="ü"/>
            </a:pPr>
            <a:r>
              <a:rPr lang="fr-FR" sz="1600" dirty="0">
                <a:latin typeface="Arial" panose="020B0604020202020204"/>
                <a:cs typeface="Arial" panose="020B0604020202020204"/>
              </a:rPr>
              <a:t> couverture à charpente apparente</a:t>
            </a:r>
            <a:endParaRPr lang="pt-BR" sz="1600" b="1"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Monuments</a:t>
            </a:r>
            <a:endParaRPr lang="fr-FR" dirty="0">
              <a:solidFill>
                <a:srgbClr val="FF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ART_CM_II_4_ROME_Page_34.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94283" y="1291337"/>
            <a:ext cx="8190917" cy="5395168"/>
          </a:xfrm>
          <a:prstGeom prst="rect">
            <a:avLst/>
          </a:prstGeom>
        </p:spPr>
      </p:pic>
      <p:sp>
        <p:nvSpPr>
          <p:cNvPr id="3" name="Espace réservé du contenu 2"/>
          <p:cNvSpPr>
            <a:spLocks noGrp="1"/>
          </p:cNvSpPr>
          <p:nvPr>
            <p:ph idx="1"/>
          </p:nvPr>
        </p:nvSpPr>
        <p:spPr>
          <a:xfrm>
            <a:off x="223521" y="1417638"/>
            <a:ext cx="5110479" cy="1305242"/>
          </a:xfrm>
          <a:solidFill>
            <a:schemeClr val="bg1"/>
          </a:solidFill>
        </p:spPr>
        <p:txBody>
          <a:bodyPr vert="horz" lIns="91440" tIns="45720" rIns="91440" bIns="45720" rtlCol="0">
            <a:noAutofit/>
          </a:bodyPr>
          <a:lstStyle/>
          <a:p>
            <a:pPr marL="0" indent="0">
              <a:buNone/>
            </a:pPr>
            <a:r>
              <a:rPr lang="hr-HR" sz="1600" b="1" dirty="0">
                <a:latin typeface="Arial" panose="020B0604020202020204"/>
                <a:cs typeface="Arial" panose="020B0604020202020204"/>
              </a:rPr>
              <a:t>HABITAT POPULAIRE URBAIN : INSULA</a:t>
            </a:r>
            <a:endParaRPr lang="hr-HR" sz="1600" b="1" dirty="0">
              <a:latin typeface="Arial" panose="020B0604020202020204"/>
              <a:cs typeface="Arial" panose="020B0604020202020204"/>
            </a:endParaRPr>
          </a:p>
          <a:p>
            <a:pPr marL="0" indent="0">
              <a:buNone/>
            </a:pPr>
            <a:r>
              <a:rPr lang="fr-FR" sz="1600" dirty="0"/>
              <a:t>• Habitat sans confort (pas d’eau courante)</a:t>
            </a:r>
            <a:endParaRPr lang="fr-FR" sz="1600" dirty="0"/>
          </a:p>
          <a:p>
            <a:pPr marL="0" indent="0">
              <a:buNone/>
            </a:pPr>
            <a:r>
              <a:rPr lang="fr-FR" sz="1600" dirty="0"/>
              <a:t>• Habitat élevé (jusque 4 étages)</a:t>
            </a:r>
            <a:endParaRPr lang="fr-FR" sz="1600" dirty="0"/>
          </a:p>
          <a:p>
            <a:pPr marL="0" indent="0">
              <a:buNone/>
            </a:pPr>
            <a:r>
              <a:rPr lang="fr-FR" sz="1600" dirty="0"/>
              <a:t>• Locataires</a:t>
            </a:r>
            <a:endParaRPr lang="pt-BR" sz="1600" b="1"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Habitat urbain</a:t>
            </a:r>
            <a:endParaRPr lang="fr-FR" dirty="0">
              <a:solidFill>
                <a:srgbClr val="FF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4023359" cy="1965642"/>
          </a:xfrm>
          <a:solidFill>
            <a:schemeClr val="bg1"/>
          </a:solidFill>
        </p:spPr>
        <p:txBody>
          <a:bodyPr vert="horz" lIns="91440" tIns="45720" rIns="91440" bIns="45720" rtlCol="0">
            <a:noAutofit/>
          </a:bodyPr>
          <a:lstStyle/>
          <a:p>
            <a:pPr marL="0" indent="0">
              <a:buNone/>
            </a:pPr>
            <a:r>
              <a:rPr lang="de-DE" sz="1600" b="1" dirty="0">
                <a:latin typeface="Arial" panose="020B0604020202020204"/>
                <a:cs typeface="Arial" panose="020B0604020202020204"/>
              </a:rPr>
              <a:t>MAISON PATRICIENNE</a:t>
            </a:r>
            <a:endParaRPr lang="de-DE"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Architecture domestique luxueuse à partir de l’Empire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Distribution autour d’un atrium totalement couvert ou non (</a:t>
            </a:r>
            <a:r>
              <a:rPr lang="fr-FR" sz="1600" i="1" dirty="0">
                <a:latin typeface="Arial" panose="020B0604020202020204"/>
                <a:cs typeface="Arial" panose="020B0604020202020204"/>
              </a:rPr>
              <a:t>impluvium</a:t>
            </a:r>
            <a:r>
              <a:rPr lang="fr-FR" sz="1600" dirty="0">
                <a:latin typeface="Arial" panose="020B0604020202020204"/>
                <a:cs typeface="Arial" panose="020B0604020202020204"/>
              </a:rPr>
              <a:t>)</a:t>
            </a:r>
            <a:endParaRPr lang="pt-BR" sz="1600" b="1"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Habitat urbain</a:t>
            </a:r>
            <a:endParaRPr lang="fr-FR" dirty="0">
              <a:solidFill>
                <a:srgbClr val="FF0000"/>
              </a:solidFill>
            </a:endParaRPr>
          </a:p>
        </p:txBody>
      </p:sp>
      <p:pic>
        <p:nvPicPr>
          <p:cNvPr id="5" name="Image 4" descr="ART_CM_II_4_ROME_Page_35.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491644" y="1829816"/>
            <a:ext cx="4378036" cy="3858768"/>
          </a:xfrm>
          <a:prstGeom prst="rect">
            <a:avLst/>
          </a:prstGeom>
        </p:spPr>
      </p:pic>
      <p:sp>
        <p:nvSpPr>
          <p:cNvPr id="7" name="Espace réservé du contenu 2"/>
          <p:cNvSpPr txBox="1"/>
          <p:nvPr/>
        </p:nvSpPr>
        <p:spPr>
          <a:xfrm>
            <a:off x="223521" y="3759200"/>
            <a:ext cx="4185920" cy="965200"/>
          </a:xfrm>
          <a:prstGeom prst="rect">
            <a:avLst/>
          </a:prstGeom>
          <a:solidFill>
            <a:schemeClr val="bg1"/>
          </a:solidFill>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None/>
            </a:pPr>
            <a:r>
              <a:rPr lang="de-DE" sz="1600" b="1" dirty="0">
                <a:latin typeface="Arial" panose="020B0604020202020204"/>
                <a:cs typeface="Arial" panose="020B0604020202020204"/>
              </a:rPr>
              <a:t>PALAIS IMPERIAUX</a:t>
            </a:r>
            <a:endParaRPr lang="de-DE" sz="1600" b="1" dirty="0">
              <a:latin typeface="Arial" panose="020B0604020202020204"/>
              <a:cs typeface="Arial" panose="020B0604020202020204"/>
            </a:endParaRPr>
          </a:p>
          <a:p>
            <a:r>
              <a:rPr lang="fr-FR" sz="1600" dirty="0">
                <a:latin typeface="Arial" panose="020B0604020202020204"/>
                <a:cs typeface="Arial" panose="020B0604020202020204"/>
              </a:rPr>
              <a:t>Domaine correspondant . une ville dans la ville</a:t>
            </a:r>
            <a:endParaRPr lang="pt-BR" sz="1600" b="1" i="1" dirty="0">
              <a:latin typeface="Arial" panose="020B0604020202020204"/>
              <a:cs typeface="Arial" panose="020B0604020202020204"/>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4023359" cy="1965642"/>
          </a:xfrm>
          <a:solidFill>
            <a:schemeClr val="bg1"/>
          </a:solidFill>
        </p:spPr>
        <p:txBody>
          <a:bodyPr vert="horz" lIns="91440" tIns="45720" rIns="91440" bIns="45720" rtlCol="0">
            <a:noAutofit/>
          </a:bodyPr>
          <a:lstStyle/>
          <a:p>
            <a:pPr marL="0" indent="0">
              <a:buNone/>
            </a:pPr>
            <a:r>
              <a:rPr lang="da-DK" sz="1600" b="1" dirty="0">
                <a:latin typeface="Arial" panose="020B0604020202020204"/>
                <a:cs typeface="Arial" panose="020B0604020202020204"/>
              </a:rPr>
              <a:t>ENCEINTES DES VILLES</a:t>
            </a:r>
            <a:endParaRPr lang="da-DK"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Courtines avec tours (carrées ou circulaires)</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Portes à doubles arcades et galerie supérieure</a:t>
            </a:r>
            <a:endParaRPr lang="pt-BR" sz="1600" b="1"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Fortifications</a:t>
            </a:r>
            <a:endParaRPr lang="fr-FR" dirty="0">
              <a:solidFill>
                <a:srgbClr val="FF0000"/>
              </a:solidFill>
            </a:endParaRPr>
          </a:p>
        </p:txBody>
      </p:sp>
      <p:pic>
        <p:nvPicPr>
          <p:cNvPr id="4" name="Image 3" descr="ART_CM_II_4_ROME_Page_36.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68961" y="2915920"/>
            <a:ext cx="8005126" cy="368919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4023359" cy="2514282"/>
          </a:xfrm>
          <a:solidFill>
            <a:schemeClr val="bg1"/>
          </a:solidFill>
        </p:spPr>
        <p:txBody>
          <a:bodyPr vert="horz" lIns="91440" tIns="45720" rIns="91440" bIns="45720" rtlCol="0">
            <a:noAutofit/>
          </a:bodyPr>
          <a:lstStyle/>
          <a:p>
            <a:pPr marL="0" indent="0">
              <a:buNone/>
            </a:pPr>
            <a:r>
              <a:rPr lang="fr-FR" sz="1600" b="1" dirty="0">
                <a:latin typeface="Arial" panose="020B0604020202020204"/>
                <a:cs typeface="Arial" panose="020B0604020202020204"/>
              </a:rPr>
              <a:t>VILLA ROMAINE</a:t>
            </a:r>
            <a:endParaRPr lang="fr-FR"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t>
            </a:r>
            <a:r>
              <a:rPr lang="en-US" sz="1600" dirty="0">
                <a:latin typeface="Arial" panose="020B0604020202020204"/>
                <a:cs typeface="Arial" panose="020B0604020202020204"/>
              </a:rPr>
              <a:t>Ensemble de </a:t>
            </a:r>
            <a:r>
              <a:rPr lang="en-US" sz="1600" dirty="0" err="1">
                <a:latin typeface="Arial" panose="020B0604020202020204"/>
                <a:cs typeface="Arial" panose="020B0604020202020204"/>
              </a:rPr>
              <a:t>bâtiments</a:t>
            </a:r>
            <a:r>
              <a:rPr lang="en-US" sz="1600" dirty="0">
                <a:latin typeface="Arial" panose="020B0604020202020204"/>
                <a:cs typeface="Arial" panose="020B0604020202020204"/>
              </a:rPr>
              <a:t> (</a:t>
            </a:r>
            <a:r>
              <a:rPr lang="en-US" sz="1600" dirty="0" err="1">
                <a:latin typeface="Arial" panose="020B0604020202020204"/>
                <a:cs typeface="Arial" panose="020B0604020202020204"/>
              </a:rPr>
              <a:t>résidence</a:t>
            </a:r>
            <a:r>
              <a:rPr lang="en-US" sz="1600" dirty="0">
                <a:latin typeface="Arial" panose="020B0604020202020204"/>
                <a:cs typeface="Arial" panose="020B0604020202020204"/>
              </a:rPr>
              <a:t>, </a:t>
            </a:r>
            <a:r>
              <a:rPr lang="en-US" sz="1600" dirty="0" err="1">
                <a:latin typeface="Arial" panose="020B0604020202020204"/>
                <a:cs typeface="Arial" panose="020B0604020202020204"/>
              </a:rPr>
              <a:t>ferme</a:t>
            </a:r>
            <a:r>
              <a:rPr lang="en-US" sz="1600" dirty="0">
                <a:latin typeface="Arial" panose="020B0604020202020204"/>
                <a:cs typeface="Arial" panose="020B0604020202020204"/>
              </a:rPr>
              <a:t>, </a:t>
            </a:r>
            <a:r>
              <a:rPr lang="en-US" sz="1600" dirty="0" err="1">
                <a:latin typeface="Arial" panose="020B0604020202020204"/>
                <a:cs typeface="Arial" panose="020B0604020202020204"/>
              </a:rPr>
              <a:t>thermes</a:t>
            </a:r>
            <a:r>
              <a:rPr lang="en-US" sz="1600" dirty="0">
                <a:latin typeface="Arial" panose="020B0604020202020204"/>
                <a:cs typeface="Arial" panose="020B0604020202020204"/>
              </a:rPr>
              <a:t>)</a:t>
            </a:r>
            <a:endParaRPr lang="en-US"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Jardins à l’italienne</a:t>
            </a:r>
            <a:endParaRPr lang="fr-FR" sz="1600" dirty="0">
              <a:latin typeface="Arial" panose="020B0604020202020204"/>
              <a:cs typeface="Arial" panose="020B0604020202020204"/>
            </a:endParaRPr>
          </a:p>
          <a:p>
            <a:pPr marL="0" indent="0">
              <a:buNone/>
            </a:pPr>
            <a:r>
              <a:rPr lang="de-DE" sz="1600" b="1" dirty="0">
                <a:latin typeface="Arial" panose="020B0604020202020204"/>
                <a:cs typeface="Arial" panose="020B0604020202020204"/>
              </a:rPr>
              <a:t>TOMBEAUX</a:t>
            </a:r>
            <a:endParaRPr lang="de-DE"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Toujours à l’extérieur des villes (</a:t>
            </a:r>
            <a:r>
              <a:rPr lang="fr-FR" sz="1600" i="1" dirty="0">
                <a:latin typeface="Arial" panose="020B0604020202020204"/>
                <a:cs typeface="Arial" panose="020B0604020202020204"/>
              </a:rPr>
              <a:t>via Appia</a:t>
            </a:r>
            <a:r>
              <a:rPr lang="fr-FR" sz="1600" dirty="0">
                <a:latin typeface="Arial" panose="020B0604020202020204"/>
                <a:cs typeface="Arial" panose="020B0604020202020204"/>
              </a:rPr>
              <a:t>)</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Généralement circulaires (étrusque) mais on trouve d’autres formes</a:t>
            </a:r>
            <a:endParaRPr lang="pt-BR" sz="1600" b="1"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Campagne</a:t>
            </a:r>
            <a:endParaRPr lang="fr-FR" dirty="0">
              <a:solidFill>
                <a:srgbClr val="FF0000"/>
              </a:solidFill>
            </a:endParaRPr>
          </a:p>
        </p:txBody>
      </p:sp>
      <p:pic>
        <p:nvPicPr>
          <p:cNvPr id="2" name="Image 1" descr="ART_CM_II_4_ROME_Page_37.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23521" y="3907401"/>
            <a:ext cx="8656319" cy="2865016"/>
          </a:xfrm>
          <a:prstGeom prst="rect">
            <a:avLst/>
          </a:prstGeom>
        </p:spPr>
      </p:pic>
      <p:pic>
        <p:nvPicPr>
          <p:cNvPr id="5" name="Image 4" descr="ART_CM_II_4_ROME_Page_37 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00634" y="274638"/>
            <a:ext cx="2497926" cy="3414477"/>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4023359" cy="2514282"/>
          </a:xfrm>
          <a:solidFill>
            <a:schemeClr val="bg1"/>
          </a:solidFill>
        </p:spPr>
        <p:txBody>
          <a:bodyPr vert="horz" lIns="91440" tIns="45720" rIns="91440" bIns="45720" rtlCol="0">
            <a:noAutofit/>
          </a:bodyPr>
          <a:lstStyle/>
          <a:p>
            <a:pPr marL="0" indent="0">
              <a:buNone/>
            </a:pPr>
            <a:r>
              <a:rPr lang="de-DE" sz="1600" b="1" dirty="0">
                <a:latin typeface="Arial" panose="020B0604020202020204"/>
                <a:cs typeface="Arial" panose="020B0604020202020204"/>
              </a:rPr>
              <a:t>VOIES ROMAINES</a:t>
            </a:r>
            <a:endParaRPr lang="de-DE"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Voies militaires rectilignes : circulation domestique sur les bas-côtés !</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Fortes fondations et dallage supérieur</a:t>
            </a:r>
            <a:endParaRPr lang="pt-BR" sz="1600" b="1"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Génie civil</a:t>
            </a:r>
            <a:endParaRPr lang="fr-FR" dirty="0">
              <a:solidFill>
                <a:srgbClr val="FF0000"/>
              </a:solidFill>
            </a:endParaRPr>
          </a:p>
        </p:txBody>
      </p:sp>
      <p:pic>
        <p:nvPicPr>
          <p:cNvPr id="4" name="Image 3" descr="ART_CM_II_4_ROME_Page_38.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1761" y="2705947"/>
            <a:ext cx="8948186" cy="2343573"/>
          </a:xfrm>
          <a:prstGeom prst="rect">
            <a:avLst/>
          </a:prstGeom>
        </p:spPr>
      </p:pic>
      <p:sp>
        <p:nvSpPr>
          <p:cNvPr id="7" name="Espace réservé du contenu 2"/>
          <p:cNvSpPr txBox="1"/>
          <p:nvPr/>
        </p:nvSpPr>
        <p:spPr>
          <a:xfrm>
            <a:off x="335281" y="5049520"/>
            <a:ext cx="3779519" cy="1467802"/>
          </a:xfrm>
          <a:prstGeom prst="rect">
            <a:avLst/>
          </a:prstGeom>
          <a:solidFill>
            <a:schemeClr val="bg1"/>
          </a:solidFill>
        </p:spPr>
        <p:txBody>
          <a:bodyPr vert="horz" lIns="91440" tIns="45720" rIns="91440" bIns="45720" rtlCol="0">
            <a:noAutofit/>
          </a:bodyPr>
          <a:lst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indent="0">
              <a:buNone/>
            </a:pPr>
            <a:r>
              <a:rPr lang="es-ES_tradnl" sz="1600" b="1" dirty="0">
                <a:latin typeface="Arial" panose="020B0604020202020204"/>
                <a:cs typeface="Arial" panose="020B0604020202020204"/>
              </a:rPr>
              <a:t>AQUEDUCS</a:t>
            </a:r>
            <a:endParaRPr lang="es-ES_tradnl"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Conduites en plomb</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Siphons pour traverser les vallées</a:t>
            </a:r>
            <a:endParaRPr lang="pt-BR" sz="1600" b="1" i="1" dirty="0">
              <a:latin typeface="Arial" panose="020B0604020202020204"/>
              <a:cs typeface="Arial" panose="020B0604020202020204"/>
            </a:endParaRPr>
          </a:p>
        </p:txBody>
      </p:sp>
      <p:pic>
        <p:nvPicPr>
          <p:cNvPr id="8" name="Image 7" descr="ART_CM_II_4_ROME.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8640" y="4876372"/>
            <a:ext cx="4263992" cy="1829227"/>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23521" y="1417638"/>
            <a:ext cx="4500879" cy="2514282"/>
          </a:xfrm>
          <a:solidFill>
            <a:schemeClr val="bg1"/>
          </a:solidFill>
        </p:spPr>
        <p:txBody>
          <a:bodyPr vert="horz" lIns="91440" tIns="45720" rIns="91440" bIns="45720" rtlCol="0">
            <a:noAutofit/>
          </a:bodyPr>
          <a:lstStyle/>
          <a:p>
            <a:pPr marL="0" indent="0">
              <a:buNone/>
            </a:pPr>
            <a:r>
              <a:rPr lang="es-ES_tradnl" sz="1600" b="1" dirty="0">
                <a:latin typeface="Arial" panose="020B0604020202020204"/>
                <a:cs typeface="Arial" panose="020B0604020202020204"/>
              </a:rPr>
              <a:t>PONTS / AQUEDUCS</a:t>
            </a:r>
            <a:endParaRPr lang="es-ES_tradnl" sz="1600" b="1"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Arches en plein cintre avec piles faisant culée</a:t>
            </a:r>
            <a:endParaRPr lang="fr-FR" sz="1600" dirty="0">
              <a:latin typeface="Arial" panose="020B0604020202020204"/>
              <a:cs typeface="Arial" panose="020B0604020202020204"/>
            </a:endParaRPr>
          </a:p>
          <a:p>
            <a:pPr marL="0" indent="0">
              <a:buNone/>
            </a:pPr>
            <a:r>
              <a:rPr lang="fr-FR" sz="1600" dirty="0">
                <a:latin typeface="Arial" panose="020B0604020202020204"/>
                <a:cs typeface="Arial" panose="020B0604020202020204"/>
              </a:rPr>
              <a:t>• Etages multiples : arcades superposées</a:t>
            </a:r>
            <a:endParaRPr lang="pt-BR" sz="1600" b="1" i="1" dirty="0">
              <a:latin typeface="Arial" panose="020B0604020202020204"/>
              <a:cs typeface="Arial" panose="020B0604020202020204"/>
            </a:endParaRPr>
          </a:p>
        </p:txBody>
      </p:sp>
      <p:sp>
        <p:nvSpPr>
          <p:cNvPr id="6" name="Titre 5"/>
          <p:cNvSpPr>
            <a:spLocks noGrp="1"/>
          </p:cNvSpPr>
          <p:nvPr>
            <p:ph type="title"/>
          </p:nvPr>
        </p:nvSpPr>
        <p:spPr/>
        <p:txBody>
          <a:bodyPr>
            <a:normAutofit/>
          </a:bodyPr>
          <a:lstStyle/>
          <a:p>
            <a:pPr>
              <a:lnSpc>
                <a:spcPct val="80000"/>
              </a:lnSpc>
            </a:pPr>
            <a:r>
              <a:rPr lang="fr-FR" dirty="0">
                <a:solidFill>
                  <a:srgbClr val="FF0000"/>
                </a:solidFill>
              </a:rPr>
              <a:t>Génie civil</a:t>
            </a:r>
            <a:endParaRPr lang="fr-FR" dirty="0">
              <a:solidFill>
                <a:srgbClr val="FF0000"/>
              </a:solidFill>
            </a:endParaRPr>
          </a:p>
        </p:txBody>
      </p:sp>
      <p:pic>
        <p:nvPicPr>
          <p:cNvPr id="2" name="Image 1" descr="pont 1.jpg"/>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230932" y="799587"/>
            <a:ext cx="2455868" cy="3994484"/>
          </a:xfrm>
          <a:prstGeom prst="rect">
            <a:avLst/>
          </a:prstGeom>
        </p:spPr>
      </p:pic>
      <p:pic>
        <p:nvPicPr>
          <p:cNvPr id="5" name="Image 4" descr="pont 2.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0932" y="4880611"/>
            <a:ext cx="2469949" cy="1642109"/>
          </a:xfrm>
          <a:prstGeom prst="rect">
            <a:avLst/>
          </a:prstGeom>
        </p:spPr>
      </p:pic>
      <p:pic>
        <p:nvPicPr>
          <p:cNvPr id="9" name="Image 8" descr="pont 3.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239" y="2796829"/>
            <a:ext cx="5909215" cy="3725891"/>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1"/>
          <p:cNvSpPr txBox="1"/>
          <p:nvPr/>
        </p:nvSpPr>
        <p:spPr>
          <a:xfrm>
            <a:off x="187412" y="280036"/>
            <a:ext cx="8844828" cy="1143000"/>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fr-FR" dirty="0">
                <a:solidFill>
                  <a:srgbClr val="FF0000"/>
                </a:solidFill>
                <a:latin typeface="Futura Std Medium"/>
                <a:cs typeface="Futura Std Medium"/>
              </a:rPr>
              <a:t>Glossaire</a:t>
            </a:r>
            <a:endParaRPr lang="fr-FR" dirty="0">
              <a:solidFill>
                <a:srgbClr val="FF0000"/>
              </a:solidFill>
              <a:latin typeface="Futura Std Medium"/>
              <a:cs typeface="Futura Std Medium"/>
            </a:endParaRPr>
          </a:p>
          <a:p>
            <a:endParaRPr lang="fr-FR" dirty="0">
              <a:solidFill>
                <a:srgbClr val="FF0000"/>
              </a:solidFill>
              <a:latin typeface="Futura Std Medium"/>
              <a:cs typeface="Futura Std Medium"/>
            </a:endParaRPr>
          </a:p>
        </p:txBody>
      </p:sp>
      <p:sp>
        <p:nvSpPr>
          <p:cNvPr id="6" name="Rectangle 5"/>
          <p:cNvSpPr/>
          <p:nvPr/>
        </p:nvSpPr>
        <p:spPr>
          <a:xfrm>
            <a:off x="187412" y="1087756"/>
            <a:ext cx="8844828" cy="3046988"/>
          </a:xfrm>
          <a:prstGeom prst="rect">
            <a:avLst/>
          </a:prstGeom>
        </p:spPr>
        <p:txBody>
          <a:bodyPr wrap="square">
            <a:spAutoFit/>
          </a:bodyPr>
          <a:lstStyle/>
          <a:p>
            <a:pPr lvl="0"/>
            <a:r>
              <a:rPr lang="fr-FR" sz="1600" b="1" dirty="0">
                <a:solidFill>
                  <a:srgbClr val="FF0000"/>
                </a:solidFill>
                <a:latin typeface="Arial" panose="020B0604020202020204"/>
                <a:cs typeface="Arial" panose="020B0604020202020204"/>
              </a:rPr>
              <a:t>Attique </a:t>
            </a:r>
            <a:r>
              <a:rPr lang="fr-FR" sz="1600" b="1" dirty="0">
                <a:solidFill>
                  <a:srgbClr val="000000"/>
                </a:solidFill>
                <a:latin typeface="Arial" panose="020B0604020202020204"/>
                <a:cs typeface="Arial" panose="020B0604020202020204"/>
              </a:rPr>
              <a:t>:</a:t>
            </a:r>
            <a:r>
              <a:rPr lang="fr-FR" sz="1600" b="1" dirty="0">
                <a:solidFill>
                  <a:srgbClr val="FF0000"/>
                </a:solidFill>
                <a:latin typeface="Arial" panose="020B0604020202020204"/>
                <a:cs typeface="Arial" panose="020B0604020202020204"/>
              </a:rPr>
              <a:t> </a:t>
            </a:r>
            <a:r>
              <a:rPr lang="fr-FR" sz="1600" dirty="0">
                <a:latin typeface="Arial" panose="020B0604020202020204"/>
                <a:cs typeface="Arial" panose="020B0604020202020204"/>
              </a:rPr>
              <a:t>partie supérieure qui vient couronner une construction. Il est placé au-dessus d'un entablement, formé d'un corps rectangulaire, plus large que haut, d'une corniche et généralement d'une base.</a:t>
            </a:r>
            <a:endParaRPr lang="fr-FR" sz="1600" dirty="0">
              <a:latin typeface="Arial" panose="020B0604020202020204"/>
              <a:cs typeface="Arial" panose="020B0604020202020204"/>
            </a:endParaRPr>
          </a:p>
          <a:p>
            <a:pPr lvl="0"/>
            <a:r>
              <a:rPr lang="fr-FR" sz="1600" b="1" dirty="0">
                <a:solidFill>
                  <a:srgbClr val="FF0000"/>
                </a:solidFill>
                <a:latin typeface="Arial" panose="020B0604020202020204"/>
                <a:cs typeface="Arial" panose="020B0604020202020204"/>
              </a:rPr>
              <a:t>Portique</a:t>
            </a:r>
            <a:r>
              <a:rPr lang="fr-FR" sz="1600" dirty="0">
                <a:latin typeface="Arial" panose="020B0604020202020204"/>
                <a:cs typeface="Arial" panose="020B0604020202020204"/>
              </a:rPr>
              <a:t> : Galerie couverte dont les voûtes ou les plafonds sont supportés par des colonnes, des piliers ou des arcades soutenues par deux rangées de colonnes, ou par un mur et une rangée de colonnes.</a:t>
            </a:r>
            <a:endParaRPr lang="fr-FR" sz="1600" dirty="0">
              <a:latin typeface="Arial" panose="020B0604020202020204"/>
              <a:cs typeface="Arial" panose="020B0604020202020204"/>
            </a:endParaRPr>
          </a:p>
          <a:p>
            <a:r>
              <a:rPr lang="fr-FR" sz="1600" b="1" dirty="0">
                <a:solidFill>
                  <a:srgbClr val="FF0000"/>
                </a:solidFill>
                <a:latin typeface="Arial" panose="020B0604020202020204"/>
                <a:cs typeface="Arial" panose="020B0604020202020204"/>
              </a:rPr>
              <a:t>Prostyle</a:t>
            </a:r>
            <a:r>
              <a:rPr lang="fr-FR" sz="1600" dirty="0">
                <a:solidFill>
                  <a:srgbClr val="FF0000"/>
                </a:solidFill>
                <a:latin typeface="Arial" panose="020B0604020202020204"/>
                <a:cs typeface="Arial" panose="020B0604020202020204"/>
              </a:rPr>
              <a:t> </a:t>
            </a:r>
            <a:r>
              <a:rPr lang="fr-FR" sz="1600" dirty="0">
                <a:latin typeface="Arial" panose="020B0604020202020204"/>
                <a:cs typeface="Arial" panose="020B0604020202020204"/>
              </a:rPr>
              <a:t>: portique à colonne uniquement devant le temple.</a:t>
            </a:r>
            <a:br>
              <a:rPr lang="fr-FR" sz="1600" dirty="0">
                <a:latin typeface="Arial" panose="020B0604020202020204"/>
                <a:cs typeface="Arial" panose="020B0604020202020204"/>
              </a:rPr>
            </a:br>
            <a:r>
              <a:rPr lang="fr-FR" sz="1600" b="1" dirty="0">
                <a:solidFill>
                  <a:srgbClr val="FF0000"/>
                </a:solidFill>
                <a:latin typeface="Arial" panose="020B0604020202020204"/>
                <a:cs typeface="Arial" panose="020B0604020202020204"/>
              </a:rPr>
              <a:t>Stylobate</a:t>
            </a:r>
            <a:r>
              <a:rPr lang="fr-FR" sz="1600" dirty="0">
                <a:latin typeface="Arial" panose="020B0604020202020204"/>
                <a:cs typeface="Arial" panose="020B0604020202020204"/>
              </a:rPr>
              <a:t> : degré supérieur constituant l'emmarchement dans certains cas d'architecture grecque ou romaine avec péristyle ou faux-péristyle de pilastres.</a:t>
            </a:r>
            <a:endParaRPr lang="fr-FR" sz="1600" dirty="0">
              <a:latin typeface="Arial" panose="020B0604020202020204"/>
              <a:cs typeface="Arial" panose="020B0604020202020204"/>
            </a:endParaRPr>
          </a:p>
          <a:p>
            <a:pPr lvl="0"/>
            <a:r>
              <a:rPr lang="fr-FR" sz="1600" b="1" dirty="0">
                <a:solidFill>
                  <a:srgbClr val="FF0000"/>
                </a:solidFill>
                <a:latin typeface="Arial" panose="020B0604020202020204"/>
                <a:cs typeface="Arial" panose="020B0604020202020204"/>
              </a:rPr>
              <a:t>plate-bande </a:t>
            </a:r>
            <a:r>
              <a:rPr lang="fr-FR" sz="1600" b="1" dirty="0">
                <a:latin typeface="Arial" panose="020B0604020202020204"/>
                <a:cs typeface="Arial" panose="020B0604020202020204"/>
              </a:rPr>
              <a:t>:</a:t>
            </a:r>
            <a:r>
              <a:rPr lang="fr-FR" sz="1600" dirty="0">
                <a:latin typeface="Arial" panose="020B0604020202020204"/>
                <a:cs typeface="Arial" panose="020B0604020202020204"/>
              </a:rPr>
              <a:t>Dalle dont les extrémités portent sur des piliers, des colonnes; pierre ou assemblage de claveaux servant de linteau à une porte, une fenêtre</a:t>
            </a:r>
            <a:endParaRPr lang="fr-FR" sz="1600" dirty="0">
              <a:latin typeface="Arial" panose="020B0604020202020204"/>
              <a:cs typeface="Arial" panose="020B0604020202020204"/>
            </a:endParaRPr>
          </a:p>
          <a:p>
            <a:endParaRPr lang="fr-FR" sz="1600" dirty="0">
              <a:latin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9503</Words>
  <Application>WPS Presentation</Application>
  <PresentationFormat>Affichage à l'écran (4:3)</PresentationFormat>
  <Paragraphs>270</Paragraphs>
  <Slides>36</Slides>
  <Notes>1</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36</vt:i4>
      </vt:variant>
    </vt:vector>
  </HeadingPairs>
  <TitlesOfParts>
    <vt:vector size="48" baseType="lpstr">
      <vt:lpstr>Arial</vt:lpstr>
      <vt:lpstr>SimSun</vt:lpstr>
      <vt:lpstr>Wingdings</vt:lpstr>
      <vt:lpstr>Arial</vt:lpstr>
      <vt:lpstr>Futura Std Medium</vt:lpstr>
      <vt:lpstr>AMGDT</vt:lpstr>
      <vt:lpstr>Calibri</vt:lpstr>
      <vt:lpstr>Microsoft YaHei</vt:lpstr>
      <vt:lpstr>Arial Unicode MS</vt:lpstr>
      <vt:lpstr>Palatino Linotype</vt:lpstr>
      <vt:lpstr>Sitka Subheading Semibold</vt:lpstr>
      <vt:lpstr>Thème Office</vt:lpstr>
      <vt:lpstr>HISTOIRE DE L’ARCHITECTURE </vt:lpstr>
      <vt:lpstr>Chapitre 3 – Rome antique  </vt:lpstr>
      <vt:lpstr>Chronologie</vt:lpstr>
      <vt:lpstr>Une architecture inspirée des Grecs</vt:lpstr>
      <vt:lpstr>Constructions appareillées</vt:lpstr>
      <vt:lpstr>Construction par concrétation</vt:lpstr>
      <vt:lpstr>Construction par concrétation</vt:lpstr>
      <vt:lpstr>Construction par concrétation</vt:lpstr>
      <vt:lpstr>Voûtes</vt:lpstr>
      <vt:lpstr>Voûtes</vt:lpstr>
      <vt:lpstr>Eléments architecturaux : les ordres</vt:lpstr>
      <vt:lpstr>Eléments architecturaux : les ordres</vt:lpstr>
      <vt:lpstr>Eléments architecturaux : les ordres</vt:lpstr>
      <vt:lpstr>Eléments architecturaux : les ordres</vt:lpstr>
      <vt:lpstr>Eléments architecturaux : l’arcade</vt:lpstr>
      <vt:lpstr>Eléments architecturaux : l’arcade</vt:lpstr>
      <vt:lpstr>Eléments architecturaux : l’arcade</vt:lpstr>
      <vt:lpstr>Urbanisme</vt:lpstr>
      <vt:lpstr>Monuments</vt:lpstr>
      <vt:lpstr>Monuments</vt:lpstr>
      <vt:lpstr>Monuments</vt:lpstr>
      <vt:lpstr>Monuments</vt:lpstr>
      <vt:lpstr>Monuments</vt:lpstr>
      <vt:lpstr>Monuments</vt:lpstr>
      <vt:lpstr>Monuments</vt:lpstr>
      <vt:lpstr>Monuments</vt:lpstr>
      <vt:lpstr>Monuments</vt:lpstr>
      <vt:lpstr>Monuments</vt:lpstr>
      <vt:lpstr>Monuments</vt:lpstr>
      <vt:lpstr>Habitat urbain</vt:lpstr>
      <vt:lpstr>Habitat urbain</vt:lpstr>
      <vt:lpstr>Fortifications</vt:lpstr>
      <vt:lpstr>Campagne</vt:lpstr>
      <vt:lpstr>Génie civil</vt:lpstr>
      <vt:lpstr>Génie civil</vt:lpstr>
      <vt:lpstr>PowerPoint 演示文稿</vt:lpstr>
    </vt:vector>
  </TitlesOfParts>
  <Company>arting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HISTOIRE DE L’ARCHITECTURE </dc:title>
  <dc:creator>Carole Diop</dc:creator>
  <cp:lastModifiedBy>Henry Moustapha Ngom</cp:lastModifiedBy>
  <cp:revision>184</cp:revision>
  <cp:lastPrinted>2016-03-07T02:06:00Z</cp:lastPrinted>
  <dcterms:created xsi:type="dcterms:W3CDTF">2015-10-25T15:26:00Z</dcterms:created>
  <dcterms:modified xsi:type="dcterms:W3CDTF">2025-06-20T09:07:18Z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9567BED7F09E4F0E98BCB6ED3169FE8E_12</vt:lpwstr>
  </property>
  <property fmtid="{D5CDD505-2E9C-101B-9397-08002B2CF9AE}" pid="3" name="KSOProductBuildVer">
    <vt:lpwstr>3084-12.2.0.21183</vt:lpwstr>
  </property>
</Properties>
</file>