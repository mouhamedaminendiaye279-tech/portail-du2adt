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60" r:id="rId6"/>
    <p:sldId id="258" r:id="rId7"/>
    <p:sldId id="261" r:id="rId8"/>
    <p:sldId id="262" r:id="rId9"/>
    <p:sldId id="268" r:id="rId10"/>
    <p:sldId id="263" r:id="rId11"/>
    <p:sldId id="265" r:id="rId12"/>
    <p:sldId id="267" r:id="rId13"/>
    <p:sldId id="266"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p:scale>
          <a:sx n="116" d="100"/>
          <a:sy n="116" d="100"/>
        </p:scale>
        <p:origin x="-624" y="6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E3A34B-0840-0446-86EF-391E62D3EC31}" type="datetimeFigureOut">
              <a:rPr lang="fr-FR" smtClean="0"/>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8F94D2-74A3-FD49-83C6-6F55007D9FD4}"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685800" y="2130425"/>
            <a:ext cx="7772400" cy="1470025"/>
          </a:xfrm>
        </p:spPr>
        <p:txBody>
          <a:bodyPr/>
          <a:lstStyle/>
          <a:p>
            <a:r>
              <a:rPr lang="fr-FR" smtClean="0"/>
              <a:t>Cliquez et modifiez le titre</a:t>
            </a:r>
            <a:endParaRPr lang="fr-FR"/>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idx="1" hasCustomPrompt="1"/>
          </p:nvPr>
        </p:nvSpPr>
        <p:spPr/>
        <p:txBody>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722313" y="4406900"/>
            <a:ext cx="7772400" cy="1362075"/>
          </a:xfrm>
        </p:spPr>
        <p:txBody>
          <a:bodyPr anchor="t"/>
          <a:lstStyle>
            <a:lvl1pPr algn="l">
              <a:defRPr sz="4000" b="1" cap="all"/>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endParaRPr lang="fr-FR" smtClean="0"/>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contenu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EC72AFA2-8D06-AC4A-BB17-A2C238DE2304}" type="datetimeFigureOut">
              <a:rPr lang="fr-FR" smtClean="0"/>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e la date 2"/>
          <p:cNvSpPr>
            <a:spLocks noGrp="1"/>
          </p:cNvSpPr>
          <p:nvPr>
            <p:ph type="dt" sz="half" idx="10"/>
          </p:nvPr>
        </p:nvSpPr>
        <p:spPr/>
        <p:txBody>
          <a:bodyPr/>
          <a:lstStyle/>
          <a:p>
            <a:fld id="{EC72AFA2-8D06-AC4A-BB17-A2C238DE2304}" type="datetimeFigureOut">
              <a:rPr lang="fr-FR" smtClean="0"/>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C72AFA2-8D06-AC4A-BB17-A2C238DE2304}" type="datetimeFigureOut">
              <a:rPr lang="fr-FR" smtClean="0"/>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457200" y="273050"/>
            <a:ext cx="3008313" cy="1162050"/>
          </a:xfrm>
        </p:spPr>
        <p:txBody>
          <a:bodyPr anchor="b"/>
          <a:lstStyle>
            <a:lvl1pPr algn="l">
              <a:defRPr sz="2000" b="1"/>
            </a:lvl1pPr>
          </a:lstStyle>
          <a:p>
            <a:r>
              <a:rPr lang="fr-FR" smtClean="0"/>
              <a:t>Cliquez et modifiez le titre</a:t>
            </a:r>
            <a:endParaRPr lang="fr-FR"/>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792288" y="4800600"/>
            <a:ext cx="5486400" cy="566738"/>
          </a:xfrm>
        </p:spPr>
        <p:txBody>
          <a:bodyPr anchor="b"/>
          <a:lstStyle>
            <a:lvl1pPr algn="l">
              <a:defRPr sz="2000" b="1"/>
            </a:lvl1pPr>
          </a:lstStyle>
          <a:p>
            <a:r>
              <a:rPr lang="fr-FR" smtClean="0"/>
              <a:t>Cliquez et modifiez le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hasCustomPrompt="1"/>
          </p:nvPr>
        </p:nvSpPr>
        <p:spPr>
          <a:xfrm>
            <a:off x="6629400" y="274638"/>
            <a:ext cx="2057400" cy="5851525"/>
          </a:xfrm>
        </p:spPr>
        <p:txBody>
          <a:bodyPr vert="eaVert"/>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a:xfrm>
            <a:off x="457200" y="274638"/>
            <a:ext cx="6019800" cy="5851525"/>
          </a:xfrm>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et modifiez le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2AFA2-8D06-AC4A-BB17-A2C238DE2304}" type="datetimeFigureOut">
              <a:rPr lang="fr-FR" smtClean="0"/>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7253EB-8335-C74A-8688-1E7F3D83491B}" type="slidenum">
              <a:rPr lang="fr-FR" smtClean="0"/>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GIF"/></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image" Target="../media/image26.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image" Target="../media/image28.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image" Target="../media/image30.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latin typeface="Quicksand" panose="00000500000000000000" charset="0"/>
                <a:cs typeface="Quicksand" panose="00000500000000000000" charset="0"/>
              </a:rPr>
              <a:t>HISTOIRE DE L’ARCHITECTURE </a:t>
            </a:r>
            <a:endParaRPr lang="fr-FR" dirty="0" smtClean="0">
              <a:latin typeface="Quicksand" panose="00000500000000000000" charset="0"/>
              <a:cs typeface="Quicksand" panose="00000500000000000000" charset="0"/>
            </a:endParaRPr>
          </a:p>
        </p:txBody>
      </p:sp>
      <p:sp>
        <p:nvSpPr>
          <p:cNvPr id="3" name="Sous-titre 2"/>
          <p:cNvSpPr>
            <a:spLocks noGrp="1"/>
          </p:cNvSpPr>
          <p:nvPr>
            <p:ph type="subTitle" idx="1"/>
          </p:nvPr>
        </p:nvSpPr>
        <p:spPr>
          <a:xfrm>
            <a:off x="685800" y="3886200"/>
            <a:ext cx="7772400" cy="1752600"/>
          </a:xfrm>
        </p:spPr>
        <p:txBody>
          <a:bodyPr/>
          <a:lstStyle/>
          <a:p>
            <a:r>
              <a:rPr lang="fr-FR" dirty="0" smtClean="0">
                <a:solidFill>
                  <a:srgbClr val="FF0000"/>
                </a:solidFill>
                <a:latin typeface="Quicksand" panose="00000500000000000000" charset="0"/>
                <a:cs typeface="Quicksand" panose="00000500000000000000" charset="0"/>
              </a:rPr>
              <a:t>PARTIE I – ARCHITECTURE DES PREMIÈRES CIVILISATIONS URBAINES</a:t>
            </a:r>
            <a:endParaRPr lang="fr-FR" dirty="0" smtClean="0">
              <a:solidFill>
                <a:srgbClr val="FF0000"/>
              </a:solidFill>
              <a:latin typeface="Quicksand" panose="00000500000000000000" charset="0"/>
              <a:cs typeface="Quicksand" panose="00000500000000000000" charset="0"/>
            </a:endParaRPr>
          </a:p>
        </p:txBody>
      </p:sp>
      <p:sp>
        <p:nvSpPr>
          <p:cNvPr id="4" name="ZoneTexte 3"/>
          <p:cNvSpPr txBox="1"/>
          <p:nvPr/>
        </p:nvSpPr>
        <p:spPr>
          <a:xfrm>
            <a:off x="327011" y="6351926"/>
            <a:ext cx="1471151" cy="369332"/>
          </a:xfrm>
          <a:prstGeom prst="rect">
            <a:avLst/>
          </a:prstGeom>
          <a:noFill/>
        </p:spPr>
        <p:txBody>
          <a:bodyPr wrap="none" rtlCol="0">
            <a:spAutoFit/>
          </a:bodyPr>
          <a:lstStyle/>
          <a:p>
            <a:pPr algn="r"/>
            <a:r>
              <a:rPr lang="fr-FR" dirty="0" smtClean="0">
                <a:latin typeface="Quicksand" panose="00000500000000000000" charset="0"/>
                <a:cs typeface="Quicksand" panose="00000500000000000000" charset="0"/>
              </a:rPr>
              <a:t>©Carole Diop</a:t>
            </a:r>
            <a:endParaRPr lang="fr-FR" dirty="0" smtClean="0">
              <a:latin typeface="Quicksand" panose="00000500000000000000" charset="0"/>
              <a:cs typeface="Quicksand" panose="00000500000000000000" charset="0"/>
            </a:endParaRPr>
          </a:p>
        </p:txBody>
      </p:sp>
      <p:sp>
        <p:nvSpPr>
          <p:cNvPr id="9" name="ZoneTexte 8"/>
          <p:cNvSpPr txBox="1"/>
          <p:nvPr/>
        </p:nvSpPr>
        <p:spPr>
          <a:xfrm>
            <a:off x="937165" y="369332"/>
            <a:ext cx="7319795" cy="368300"/>
          </a:xfrm>
          <a:prstGeom prst="rect">
            <a:avLst/>
          </a:prstGeom>
          <a:noFill/>
        </p:spPr>
        <p:txBody>
          <a:bodyPr wrap="square" rtlCol="0">
            <a:spAutoFit/>
          </a:bodyPr>
          <a:lstStyle/>
          <a:p>
            <a:pPr algn="ctr"/>
            <a:endParaRPr lang="fr-FR" dirty="0">
              <a:latin typeface="Quicksand" panose="00000500000000000000" charset="0"/>
              <a:cs typeface="Quicksand" panose="000005000000000000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4632960" cy="4525963"/>
          </a:xfrm>
        </p:spPr>
        <p:txBody>
          <a:bodyPr>
            <a:noAutofit/>
          </a:bodyPr>
          <a:lstStyle/>
          <a:p>
            <a:pPr marL="0" indent="0" algn="just">
              <a:buNone/>
            </a:pPr>
            <a:r>
              <a:rPr lang="fr-FR" sz="1600" dirty="0">
                <a:latin typeface="Arial" panose="020B0604020202020204"/>
                <a:cs typeface="Arial" panose="020B0604020202020204"/>
              </a:rPr>
              <a:t>C'est vers le début du </a:t>
            </a:r>
            <a:r>
              <a:rPr lang="fr-FR" sz="1600" b="1" dirty="0">
                <a:latin typeface="Arial" panose="020B0604020202020204"/>
                <a:cs typeface="Arial" panose="020B0604020202020204"/>
              </a:rPr>
              <a:t>Néolithiqu</a:t>
            </a:r>
            <a:r>
              <a:rPr lang="fr-FR" sz="1600" dirty="0">
                <a:latin typeface="Arial" panose="020B0604020202020204"/>
                <a:cs typeface="Arial" panose="020B0604020202020204"/>
              </a:rPr>
              <a:t>e que des tribus commencent à se rassembler dans la fertile vallée du Nil, pour aboutir à la constitution de deux royaumes politiquement distincts mais étroitement liés par une culture commune : la </a:t>
            </a:r>
            <a:r>
              <a:rPr lang="fr-FR" sz="1600" b="1" dirty="0">
                <a:latin typeface="Arial" panose="020B0604020202020204"/>
                <a:cs typeface="Arial" panose="020B0604020202020204"/>
              </a:rPr>
              <a:t>Haute-Égypte </a:t>
            </a:r>
            <a:r>
              <a:rPr lang="fr-FR" sz="1600" dirty="0">
                <a:latin typeface="Arial" panose="020B0604020202020204"/>
                <a:cs typeface="Arial" panose="020B0604020202020204"/>
              </a:rPr>
              <a:t>au sud, et la </a:t>
            </a:r>
            <a:r>
              <a:rPr lang="fr-FR" sz="1600" b="1" dirty="0">
                <a:latin typeface="Arial" panose="020B0604020202020204"/>
                <a:cs typeface="Arial" panose="020B0604020202020204"/>
              </a:rPr>
              <a:t>Basse-Égypt</a:t>
            </a:r>
            <a:r>
              <a:rPr lang="fr-FR" sz="1600" dirty="0">
                <a:latin typeface="Arial" panose="020B0604020202020204"/>
                <a:cs typeface="Arial" panose="020B0604020202020204"/>
              </a:rPr>
              <a:t>e au nord (le Nil coule du sud vers le nord, d'où ces appellations). La tradition attribue au royaume du sud mené par </a:t>
            </a:r>
            <a:r>
              <a:rPr lang="fr-FR" sz="1600" dirty="0" err="1" smtClean="0">
                <a:latin typeface="Arial" panose="020B0604020202020204"/>
                <a:cs typeface="Arial" panose="020B0604020202020204"/>
              </a:rPr>
              <a:t>Narmer</a:t>
            </a:r>
            <a:r>
              <a:rPr lang="fr-FR" sz="1600" dirty="0" smtClean="0">
                <a:latin typeface="Arial" panose="020B0604020202020204"/>
                <a:cs typeface="Arial" panose="020B0604020202020204"/>
              </a:rPr>
              <a:t> (ou </a:t>
            </a:r>
            <a:r>
              <a:rPr lang="fr-FR" sz="1600" dirty="0" err="1" smtClean="0">
                <a:latin typeface="Arial" panose="020B0604020202020204"/>
                <a:cs typeface="Arial" panose="020B0604020202020204"/>
              </a:rPr>
              <a:t>Ménes</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l'unification du pays et l'établissement des premières institutions pharaoniques.</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r>
              <a:rPr lang="fr-FR" sz="1600" dirty="0">
                <a:latin typeface="Arial" panose="020B0604020202020204"/>
                <a:cs typeface="Arial" panose="020B0604020202020204"/>
              </a:rPr>
              <a:t>Le découpage de l'histoire de l'Égypte en grandes périodes et en </a:t>
            </a:r>
            <a:r>
              <a:rPr lang="fr-FR" sz="1600" b="1" dirty="0">
                <a:latin typeface="Arial" panose="020B0604020202020204"/>
                <a:cs typeface="Arial" panose="020B0604020202020204"/>
              </a:rPr>
              <a:t>trente et une dynasties </a:t>
            </a:r>
            <a:r>
              <a:rPr lang="fr-FR" sz="1600" dirty="0">
                <a:latin typeface="Arial" panose="020B0604020202020204"/>
                <a:cs typeface="Arial" panose="020B0604020202020204"/>
              </a:rPr>
              <a:t>est hérité du prêtre-historien Manéthon qui vivait dans l'Égypte du </a:t>
            </a:r>
            <a:r>
              <a:rPr lang="fr-FR" sz="1600" dirty="0" smtClean="0">
                <a:latin typeface="Arial" panose="020B0604020202020204"/>
                <a:cs typeface="Arial" panose="020B0604020202020204"/>
              </a:rPr>
              <a:t>IIIe </a:t>
            </a:r>
            <a:r>
              <a:rPr lang="fr-FR" sz="1600" dirty="0">
                <a:latin typeface="Arial" panose="020B0604020202020204"/>
                <a:cs typeface="Arial" panose="020B0604020202020204"/>
              </a:rPr>
              <a:t>siècle avant notre ère, alors sous domination macédonienne. Les anciens Égyptiens ne faisaient pas cette distinction : pour eux la monarchie était continuelle.</a:t>
            </a:r>
            <a:endParaRPr lang="fr-FR" sz="1600" dirty="0" smtClean="0">
              <a:latin typeface="Arial" panose="020B0604020202020204"/>
              <a:cs typeface="Arial" panose="020B0604020202020204"/>
            </a:endParaRPr>
          </a:p>
        </p:txBody>
      </p:sp>
      <p:sp>
        <p:nvSpPr>
          <p:cNvPr id="6" name="Titre 1"/>
          <p:cNvSpPr>
            <a:spLocks noGrp="1"/>
          </p:cNvSpPr>
          <p:nvPr>
            <p:ph type="title"/>
          </p:nvPr>
        </p:nvSpPr>
        <p:spPr/>
        <p:txBody>
          <a:bodyPr/>
          <a:lstStyle/>
          <a:p>
            <a:r>
              <a:rPr lang="fr-FR" dirty="0" smtClean="0">
                <a:solidFill>
                  <a:srgbClr val="FF0000"/>
                </a:solidFill>
                <a:latin typeface="Quicksand" panose="00000500000000000000" charset="0"/>
                <a:cs typeface="Quicksand" panose="00000500000000000000" charset="0"/>
              </a:rPr>
              <a:t>Chapitre 3 – L’Egypte</a:t>
            </a:r>
            <a:endParaRPr lang="fr-FR" dirty="0" smtClean="0">
              <a:solidFill>
                <a:srgbClr val="FF0000"/>
              </a:solidFill>
              <a:latin typeface="Quicksand" panose="00000500000000000000" charset="0"/>
              <a:cs typeface="Quicksand" panose="00000500000000000000" charset="0"/>
            </a:endParaRPr>
          </a:p>
        </p:txBody>
      </p:sp>
      <p:pic>
        <p:nvPicPr>
          <p:cNvPr id="4" name="Image 3" descr="doc 10.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94636" y="1742440"/>
            <a:ext cx="2892164" cy="4729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345440" y="1666240"/>
            <a:ext cx="8463280" cy="3539430"/>
          </a:xfrm>
          <a:prstGeom prst="rect">
            <a:avLst/>
          </a:prstGeom>
          <a:noFill/>
        </p:spPr>
        <p:txBody>
          <a:bodyPr wrap="square" rtlCol="0">
            <a:spAutoFit/>
          </a:bodyPr>
          <a:lstStyle/>
          <a:p>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4000 </a:t>
            </a:r>
            <a:r>
              <a:rPr lang="fr-FR" sz="1600" dirty="0">
                <a:latin typeface="Arial" panose="020B0604020202020204"/>
                <a:cs typeface="Arial" panose="020B0604020202020204"/>
              </a:rPr>
              <a:t>av. J.-C</a:t>
            </a:r>
            <a:r>
              <a:rPr lang="fr-FR" sz="1600" dirty="0" smtClean="0">
                <a:latin typeface="Arial" panose="020B0604020202020204"/>
                <a:cs typeface="Arial" panose="020B0604020202020204"/>
              </a:rPr>
              <a:t>.	Période prédynastique (</a:t>
            </a:r>
            <a:r>
              <a:rPr lang="fr-FR" sz="1600" b="1" dirty="0" err="1" smtClean="0">
                <a:latin typeface="Arial" panose="020B0604020202020204"/>
                <a:cs typeface="Arial" panose="020B0604020202020204"/>
              </a:rPr>
              <a:t>Badari</a:t>
            </a:r>
            <a:r>
              <a:rPr lang="fr-FR" sz="1600" dirty="0" smtClean="0">
                <a:latin typeface="Arial" panose="020B0604020202020204"/>
                <a:cs typeface="Arial" panose="020B0604020202020204"/>
              </a:rPr>
              <a:t>, </a:t>
            </a:r>
            <a:r>
              <a:rPr lang="fr-FR" sz="1600" b="1" dirty="0" err="1" smtClean="0">
                <a:latin typeface="Arial" panose="020B0604020202020204"/>
                <a:cs typeface="Arial" panose="020B0604020202020204"/>
              </a:rPr>
              <a:t>Nagada</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a:p>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3150 av. J.-C.	Fondation, début de la période </a:t>
            </a:r>
            <a:r>
              <a:rPr lang="fr-FR" sz="1600" dirty="0" err="1">
                <a:latin typeface="Arial" panose="020B0604020202020204"/>
                <a:cs typeface="Arial" panose="020B0604020202020204"/>
              </a:rPr>
              <a:t>thinite</a:t>
            </a:r>
            <a:r>
              <a:rPr lang="fr-FR" sz="1600" dirty="0">
                <a:latin typeface="Arial" panose="020B0604020202020204"/>
                <a:cs typeface="Arial" panose="020B0604020202020204"/>
              </a:rPr>
              <a:t> (Ire et IIe dynasties)</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2685 av. J.-C.	Ancien Empire (IIIe à VIe dynasties</a:t>
            </a:r>
            <a:r>
              <a:rPr lang="fr-FR" sz="1600" dirty="0" smtClean="0">
                <a:latin typeface="Arial" panose="020B0604020202020204"/>
                <a:cs typeface="Arial" panose="020B0604020202020204"/>
              </a:rPr>
              <a:t>) – </a:t>
            </a:r>
            <a:r>
              <a:rPr lang="fr-FR" sz="1600" b="1" dirty="0" smtClean="0">
                <a:latin typeface="Arial" panose="020B0604020202020204"/>
                <a:cs typeface="Arial" panose="020B0604020202020204"/>
              </a:rPr>
              <a:t>Memphis  				        				Avancées en architecture – Pyramides de </a:t>
            </a:r>
            <a:r>
              <a:rPr lang="fr-FR" sz="1600" b="1" dirty="0" err="1" smtClean="0">
                <a:latin typeface="Arial" panose="020B0604020202020204"/>
                <a:cs typeface="Arial" panose="020B0604020202020204"/>
              </a:rPr>
              <a:t>Gyzeh</a:t>
            </a:r>
            <a:endParaRPr lang="fr-FR" sz="1600" b="1" dirty="0">
              <a:latin typeface="Arial" panose="020B0604020202020204"/>
              <a:cs typeface="Arial" panose="020B0604020202020204"/>
            </a:endParaRPr>
          </a:p>
          <a:p>
            <a:r>
              <a:rPr lang="fr-FR" sz="1600" dirty="0">
                <a:latin typeface="Arial" panose="020B0604020202020204"/>
                <a:cs typeface="Arial" panose="020B0604020202020204"/>
              </a:rPr>
              <a:t>~ 2180 av. J.-C.	Première Période intermédiaire (VIIe à XIe dynasties)</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2040 av. J-C.	</a:t>
            </a:r>
            <a:r>
              <a:rPr lang="fr-FR" sz="1600" dirty="0" smtClean="0">
                <a:latin typeface="Arial" panose="020B0604020202020204"/>
                <a:cs typeface="Arial" panose="020B0604020202020204"/>
              </a:rPr>
              <a:t>	Moyen </a:t>
            </a:r>
            <a:r>
              <a:rPr lang="fr-FR" sz="1600" dirty="0">
                <a:latin typeface="Arial" panose="020B0604020202020204"/>
                <a:cs typeface="Arial" panose="020B0604020202020204"/>
              </a:rPr>
              <a:t>Empire (XIe et XIIe dynasties</a:t>
            </a:r>
            <a:r>
              <a:rPr lang="fr-FR" sz="1600" dirty="0" smtClean="0">
                <a:latin typeface="Arial" panose="020B0604020202020204"/>
                <a:cs typeface="Arial" panose="020B0604020202020204"/>
              </a:rPr>
              <a:t>) - </a:t>
            </a:r>
            <a:r>
              <a:rPr lang="fr-FR" sz="1600" b="1" dirty="0" smtClean="0">
                <a:latin typeface="Arial" panose="020B0604020202020204"/>
                <a:cs typeface="Arial" panose="020B0604020202020204"/>
              </a:rPr>
              <a:t>Thèbes</a:t>
            </a:r>
            <a:endParaRPr lang="fr-FR" sz="1600" b="1" dirty="0">
              <a:latin typeface="Arial" panose="020B0604020202020204"/>
              <a:cs typeface="Arial" panose="020B0604020202020204"/>
            </a:endParaRPr>
          </a:p>
          <a:p>
            <a:r>
              <a:rPr lang="fr-FR" sz="1600" dirty="0">
                <a:latin typeface="Arial" panose="020B0604020202020204"/>
                <a:cs typeface="Arial" panose="020B0604020202020204"/>
              </a:rPr>
              <a:t>~ 1782 av. J.-C.	Deuxième Période intermédiaire (XIIIe à XVIIe dynasties)</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1570 av. J.-C.	Nouvel Empire (XVIIIe à XXe dynasties)</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1069 av. J.-C.	Troisième Période intermédiaire (XXIe à XXVe dynasties)</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750 av. J.-C.	</a:t>
            </a:r>
            <a:r>
              <a:rPr lang="fr-FR" sz="1600" dirty="0" smtClean="0">
                <a:latin typeface="Arial" panose="020B0604020202020204"/>
                <a:cs typeface="Arial" panose="020B0604020202020204"/>
              </a:rPr>
              <a:t>	Basse </a:t>
            </a:r>
            <a:r>
              <a:rPr lang="fr-FR" sz="1600" dirty="0">
                <a:latin typeface="Arial" panose="020B0604020202020204"/>
                <a:cs typeface="Arial" panose="020B0604020202020204"/>
              </a:rPr>
              <a:t>époque (XXVe à </a:t>
            </a:r>
            <a:r>
              <a:rPr lang="fr-FR" sz="1600" dirty="0" err="1">
                <a:latin typeface="Arial" panose="020B0604020202020204"/>
                <a:cs typeface="Arial" panose="020B0604020202020204"/>
              </a:rPr>
              <a:t>XXXIe</a:t>
            </a:r>
            <a:r>
              <a:rPr lang="fr-FR" sz="1600" dirty="0">
                <a:latin typeface="Arial" panose="020B0604020202020204"/>
                <a:cs typeface="Arial" panose="020B0604020202020204"/>
              </a:rPr>
              <a:t> dynasties)</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332 av. J.-C.	</a:t>
            </a:r>
            <a:r>
              <a:rPr lang="fr-FR" sz="1600" dirty="0" smtClean="0">
                <a:latin typeface="Arial" panose="020B0604020202020204"/>
                <a:cs typeface="Arial" panose="020B0604020202020204"/>
              </a:rPr>
              <a:t>	Période </a:t>
            </a:r>
            <a:r>
              <a:rPr lang="fr-FR" sz="1600" dirty="0">
                <a:latin typeface="Arial" panose="020B0604020202020204"/>
                <a:cs typeface="Arial" panose="020B0604020202020204"/>
              </a:rPr>
              <a:t>macédonienne</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305 av. J.-C.	</a:t>
            </a:r>
            <a:r>
              <a:rPr lang="fr-FR" sz="1600" dirty="0" smtClean="0">
                <a:latin typeface="Arial" panose="020B0604020202020204"/>
                <a:cs typeface="Arial" panose="020B0604020202020204"/>
              </a:rPr>
              <a:t>	Dynastie ptolémaïque (ou des Lagides) </a:t>
            </a:r>
            <a:r>
              <a:rPr lang="fr-FR" sz="1600" dirty="0">
                <a:latin typeface="Arial" panose="020B0604020202020204"/>
                <a:cs typeface="Arial" panose="020B0604020202020204"/>
              </a:rPr>
              <a:t>(</a:t>
            </a:r>
            <a:r>
              <a:rPr lang="fr-FR" sz="1600" dirty="0" err="1">
                <a:latin typeface="Arial" panose="020B0604020202020204"/>
                <a:cs typeface="Arial" panose="020B0604020202020204"/>
              </a:rPr>
              <a:t>XXXIIe</a:t>
            </a:r>
            <a:r>
              <a:rPr lang="fr-FR" sz="1600" dirty="0">
                <a:latin typeface="Arial" panose="020B0604020202020204"/>
                <a:cs typeface="Arial" panose="020B0604020202020204"/>
              </a:rPr>
              <a:t> dynastie</a:t>
            </a:r>
            <a:r>
              <a:rPr lang="fr-FR" sz="1600" dirty="0" smtClean="0">
                <a:latin typeface="Arial" panose="020B0604020202020204"/>
                <a:cs typeface="Arial" panose="020B0604020202020204"/>
              </a:rPr>
              <a:t>) – </a:t>
            </a:r>
            <a:r>
              <a:rPr lang="fr-FR" sz="1600" b="1" dirty="0" smtClean="0">
                <a:latin typeface="Arial" panose="020B0604020202020204"/>
                <a:cs typeface="Arial" panose="020B0604020202020204"/>
              </a:rPr>
              <a:t>Alexandrie </a:t>
            </a:r>
            <a:endParaRPr lang="fr-FR" sz="1600" b="1" dirty="0">
              <a:latin typeface="Arial" panose="020B0604020202020204"/>
              <a:cs typeface="Arial" panose="020B0604020202020204"/>
            </a:endParaRPr>
          </a:p>
          <a:p>
            <a:r>
              <a:rPr lang="fr-FR" sz="1600" dirty="0">
                <a:latin typeface="Arial" panose="020B0604020202020204"/>
                <a:cs typeface="Arial" panose="020B0604020202020204"/>
              </a:rPr>
              <a:t>30 av. J.-C.	</a:t>
            </a:r>
            <a:r>
              <a:rPr lang="fr-FR" sz="1600" dirty="0" smtClean="0">
                <a:latin typeface="Arial" panose="020B0604020202020204"/>
                <a:cs typeface="Arial" panose="020B0604020202020204"/>
              </a:rPr>
              <a:t>	Annexion </a:t>
            </a:r>
            <a:r>
              <a:rPr lang="fr-FR" sz="1600" dirty="0">
                <a:latin typeface="Arial" panose="020B0604020202020204"/>
                <a:cs typeface="Arial" panose="020B0604020202020204"/>
              </a:rPr>
              <a:t>par l'Empire romain</a:t>
            </a: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p:txBody>
      </p:sp>
      <p:sp>
        <p:nvSpPr>
          <p:cNvPr id="8" name="Titre 1"/>
          <p:cNvSpPr>
            <a:spLocks noGrp="1"/>
          </p:cNvSpPr>
          <p:nvPr>
            <p:ph type="title"/>
          </p:nvPr>
        </p:nvSpPr>
        <p:spPr>
          <a:xfrm>
            <a:off x="457200" y="274638"/>
            <a:ext cx="8229600" cy="1143000"/>
          </a:xfrm>
        </p:spPr>
        <p:txBody>
          <a:bodyPr/>
          <a:lstStyle/>
          <a:p>
            <a:r>
              <a:rPr lang="fr-FR" dirty="0" smtClean="0">
                <a:solidFill>
                  <a:srgbClr val="FF0000"/>
                </a:solidFill>
                <a:latin typeface="Quicksand" panose="00000500000000000000" charset="0"/>
                <a:cs typeface="Quicksand" panose="00000500000000000000" charset="0"/>
              </a:rPr>
              <a:t>Chronologie</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pPr marL="0" indent="0">
              <a:buNone/>
            </a:pPr>
            <a:r>
              <a:rPr lang="fr-FR" sz="1600" b="1" dirty="0">
                <a:latin typeface="Arial" panose="020B0604020202020204"/>
                <a:cs typeface="Arial" panose="020B0604020202020204"/>
              </a:rPr>
              <a:t>RELIGION ET SOCIETE </a:t>
            </a:r>
            <a:endParaRPr lang="fr-FR" sz="1600" dirty="0">
              <a:latin typeface="Arial" panose="020B0604020202020204"/>
              <a:cs typeface="Arial" panose="020B0604020202020204"/>
            </a:endParaRPr>
          </a:p>
          <a:p>
            <a:r>
              <a:rPr lang="fr-FR" sz="1600" dirty="0" smtClean="0">
                <a:latin typeface="Arial" panose="020B0604020202020204"/>
                <a:cs typeface="Arial" panose="020B0604020202020204"/>
              </a:rPr>
              <a:t>Pas </a:t>
            </a:r>
            <a:r>
              <a:rPr lang="fr-FR" sz="1600" dirty="0">
                <a:latin typeface="Arial" panose="020B0604020202020204"/>
                <a:cs typeface="Arial" panose="020B0604020202020204"/>
              </a:rPr>
              <a:t>de </a:t>
            </a:r>
            <a:r>
              <a:rPr lang="fr-FR" sz="1600" dirty="0" err="1">
                <a:latin typeface="Arial" panose="020B0604020202020204"/>
                <a:cs typeface="Arial" panose="020B0604020202020204"/>
              </a:rPr>
              <a:t>séparation</a:t>
            </a:r>
            <a:r>
              <a:rPr lang="fr-FR" sz="1600" dirty="0">
                <a:latin typeface="Arial" panose="020B0604020202020204"/>
                <a:cs typeface="Arial" panose="020B0604020202020204"/>
              </a:rPr>
              <a:t> entre temporel et intemporel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Pharaon «fils de </a:t>
            </a:r>
            <a:r>
              <a:rPr lang="fr-FR" sz="1600" dirty="0" err="1">
                <a:latin typeface="Arial" panose="020B0604020202020204"/>
                <a:cs typeface="Arial" panose="020B0604020202020204"/>
              </a:rPr>
              <a:t>Re</a:t>
            </a:r>
            <a:r>
              <a:rPr lang="fr-FR" sz="1600" dirty="0">
                <a:latin typeface="Arial" panose="020B0604020202020204"/>
                <a:cs typeface="Arial" panose="020B0604020202020204"/>
              </a:rPr>
              <a:t>́», parfois divinisé </a:t>
            </a:r>
            <a:r>
              <a:rPr lang="fr-FR" sz="1600" dirty="0" err="1">
                <a:latin typeface="Arial" panose="020B0604020202020204"/>
                <a:cs typeface="Arial" panose="020B0604020202020204"/>
              </a:rPr>
              <a:t>après</a:t>
            </a:r>
            <a:r>
              <a:rPr lang="fr-FR" sz="1600" dirty="0">
                <a:latin typeface="Arial" panose="020B0604020202020204"/>
                <a:cs typeface="Arial" panose="020B0604020202020204"/>
              </a:rPr>
              <a:t> sa mort </a:t>
            </a:r>
            <a:endParaRPr lang="fr-FR" sz="1600" dirty="0">
              <a:latin typeface="Arial" panose="020B0604020202020204"/>
              <a:cs typeface="Arial" panose="020B0604020202020204"/>
            </a:endParaRPr>
          </a:p>
          <a:p>
            <a:r>
              <a:rPr lang="fr-FR" sz="1600" dirty="0" err="1">
                <a:latin typeface="Arial" panose="020B0604020202020204"/>
                <a:cs typeface="Arial" panose="020B0604020202020204"/>
              </a:rPr>
              <a:t>Omniprésence</a:t>
            </a:r>
            <a:r>
              <a:rPr lang="fr-FR" sz="1600" dirty="0">
                <a:latin typeface="Arial" panose="020B0604020202020204"/>
                <a:cs typeface="Arial" panose="020B0604020202020204"/>
              </a:rPr>
              <a:t> du religieux dans la vie quotidienne </a:t>
            </a:r>
            <a:endParaRPr lang="fr-FR" sz="1600" dirty="0">
              <a:latin typeface="Arial" panose="020B0604020202020204"/>
              <a:cs typeface="Arial" panose="020B0604020202020204"/>
            </a:endParaRPr>
          </a:p>
          <a:p>
            <a:r>
              <a:rPr lang="fr-FR" sz="1600" dirty="0" err="1">
                <a:latin typeface="Arial" panose="020B0604020202020204"/>
                <a:cs typeface="Arial" panose="020B0604020202020204"/>
              </a:rPr>
              <a:t>Q</a:t>
            </a:r>
            <a:r>
              <a:rPr lang="fr-FR" sz="1600" dirty="0" err="1" smtClean="0">
                <a:latin typeface="Arial" panose="020B0604020202020204"/>
                <a:cs typeface="Arial" panose="020B0604020202020204"/>
              </a:rPr>
              <a:t>uête</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de </a:t>
            </a:r>
            <a:r>
              <a:rPr lang="fr-FR" sz="1600" dirty="0" smtClean="0">
                <a:latin typeface="Arial" panose="020B0604020202020204"/>
                <a:cs typeface="Arial" panose="020B0604020202020204"/>
              </a:rPr>
              <a:t>l’au delà </a:t>
            </a:r>
            <a:r>
              <a:rPr lang="fr-FR" sz="1600" dirty="0">
                <a:latin typeface="Arial" panose="020B0604020202020204"/>
                <a:cs typeface="Arial" panose="020B0604020202020204"/>
              </a:rPr>
              <a:t>et de la </a:t>
            </a:r>
            <a:r>
              <a:rPr lang="fr-FR" sz="1600" dirty="0" smtClean="0">
                <a:latin typeface="Arial" panose="020B0604020202020204"/>
                <a:cs typeface="Arial" panose="020B0604020202020204"/>
              </a:rPr>
              <a:t>préservation </a:t>
            </a:r>
            <a:r>
              <a:rPr lang="fr-FR" sz="1600" dirty="0">
                <a:latin typeface="Arial" panose="020B0604020202020204"/>
                <a:cs typeface="Arial" panose="020B0604020202020204"/>
              </a:rPr>
              <a:t>d’un lien apaisé entre Dieux et monde terrestre (</a:t>
            </a:r>
            <a:r>
              <a:rPr lang="fr-FR" sz="1600" i="1" dirty="0" err="1">
                <a:latin typeface="Arial" panose="020B0604020202020204"/>
                <a:cs typeface="Arial" panose="020B0604020202020204"/>
              </a:rPr>
              <a:t>Maat</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Importance </a:t>
            </a:r>
            <a:r>
              <a:rPr lang="fr-FR" sz="1600" dirty="0">
                <a:latin typeface="Arial" panose="020B0604020202020204"/>
                <a:cs typeface="Arial" panose="020B0604020202020204"/>
              </a:rPr>
              <a:t>de la nature : </a:t>
            </a:r>
            <a:r>
              <a:rPr lang="fr-FR" sz="1600" dirty="0" smtClean="0">
                <a:latin typeface="Arial" panose="020B0604020202020204"/>
                <a:cs typeface="Arial" panose="020B0604020202020204"/>
              </a:rPr>
              <a:t>divinités </a:t>
            </a:r>
            <a:r>
              <a:rPr lang="fr-FR" sz="1600" dirty="0">
                <a:latin typeface="Arial" panose="020B0604020202020204"/>
                <a:cs typeface="Arial" panose="020B0604020202020204"/>
              </a:rPr>
              <a:t>et </a:t>
            </a:r>
            <a:r>
              <a:rPr lang="fr-FR" sz="1600" dirty="0" smtClean="0">
                <a:latin typeface="Arial" panose="020B0604020202020204"/>
                <a:cs typeface="Arial" panose="020B0604020202020204"/>
              </a:rPr>
              <a:t>société </a:t>
            </a:r>
            <a:r>
              <a:rPr lang="fr-FR" sz="1600" dirty="0">
                <a:latin typeface="Arial" panose="020B0604020202020204"/>
                <a:cs typeface="Arial" panose="020B0604020202020204"/>
              </a:rPr>
              <a:t>agricole </a:t>
            </a:r>
            <a:endParaRPr lang="fr-FR" sz="1600" dirty="0">
              <a:latin typeface="Arial" panose="020B0604020202020204"/>
              <a:cs typeface="Arial" panose="020B0604020202020204"/>
            </a:endParaRPr>
          </a:p>
          <a:p>
            <a:pPr marL="0" indent="0">
              <a:buNone/>
            </a:pPr>
            <a:endParaRPr lang="fr-FR" sz="1600" b="1" dirty="0" smtClean="0">
              <a:latin typeface="Arial" panose="020B0604020202020204"/>
              <a:cs typeface="Arial" panose="020B0604020202020204"/>
            </a:endParaRPr>
          </a:p>
          <a:p>
            <a:pPr marL="0" indent="0">
              <a:buNone/>
            </a:pPr>
            <a:r>
              <a:rPr lang="fr-FR" sz="1600" b="1" dirty="0" smtClean="0">
                <a:latin typeface="Arial" panose="020B0604020202020204"/>
                <a:cs typeface="Arial" panose="020B0604020202020204"/>
              </a:rPr>
              <a:t>ART </a:t>
            </a:r>
            <a:r>
              <a:rPr lang="fr-FR" sz="1600" b="1" dirty="0">
                <a:latin typeface="Arial" panose="020B0604020202020204"/>
                <a:cs typeface="Arial" panose="020B0604020202020204"/>
              </a:rPr>
              <a:t>ET ARCHITECTURE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Pensée </a:t>
            </a:r>
            <a:r>
              <a:rPr lang="fr-FR" sz="1600" dirty="0">
                <a:latin typeface="Arial" panose="020B0604020202020204"/>
                <a:cs typeface="Arial" panose="020B0604020202020204"/>
              </a:rPr>
              <a:t>religieuse et non pas </a:t>
            </a:r>
            <a:r>
              <a:rPr lang="fr-FR" sz="1600" dirty="0" smtClean="0">
                <a:latin typeface="Arial" panose="020B0604020202020204"/>
                <a:cs typeface="Arial" panose="020B0604020202020204"/>
              </a:rPr>
              <a:t>esthétique</a:t>
            </a:r>
            <a:br>
              <a:rPr lang="fr-FR" sz="1600" dirty="0">
                <a:latin typeface="Arial" panose="020B0604020202020204"/>
                <a:cs typeface="Arial" panose="020B0604020202020204"/>
              </a:rPr>
            </a:br>
            <a:r>
              <a:rPr lang="fr-FR" sz="1600" dirty="0">
                <a:latin typeface="Arial" panose="020B0604020202020204"/>
                <a:cs typeface="Arial" panose="020B0604020202020204"/>
              </a:rPr>
              <a:t>• Canons (à </a:t>
            </a:r>
            <a:r>
              <a:rPr lang="fr-FR" sz="1600" dirty="0" smtClean="0">
                <a:latin typeface="Arial" panose="020B0604020202020204"/>
                <a:cs typeface="Arial" panose="020B0604020202020204"/>
              </a:rPr>
              <a:t>première </a:t>
            </a:r>
            <a:r>
              <a:rPr lang="fr-FR" sz="1600" dirty="0">
                <a:latin typeface="Arial" panose="020B0604020202020204"/>
                <a:cs typeface="Arial" panose="020B0604020202020204"/>
              </a:rPr>
              <a:t>vue) immuables. Contraintes symboliques fortes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Valeur magique des </a:t>
            </a:r>
            <a:r>
              <a:rPr lang="fr-FR" sz="1600" dirty="0" smtClean="0">
                <a:latin typeface="Arial" panose="020B0604020202020204"/>
                <a:cs typeface="Arial" panose="020B0604020202020204"/>
              </a:rPr>
              <a:t>représentations </a:t>
            </a:r>
            <a:r>
              <a:rPr lang="fr-FR" sz="1600" dirty="0">
                <a:latin typeface="Arial" panose="020B0604020202020204"/>
                <a:cs typeface="Arial" panose="020B0604020202020204"/>
              </a:rPr>
              <a:t>: pas de </a:t>
            </a:r>
            <a:r>
              <a:rPr lang="fr-FR" sz="1600" dirty="0" smtClean="0">
                <a:latin typeface="Arial" panose="020B0604020202020204"/>
                <a:cs typeface="Arial" panose="020B0604020202020204"/>
              </a:rPr>
              <a:t>perspective</a:t>
            </a:r>
            <a:endParaRPr lang="fr-FR" sz="1600"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Lien fort entre architecture et symbolique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La société Egyptienne</a:t>
            </a:r>
            <a:endParaRPr lang="fr-FR"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pPr marL="0" indent="0">
              <a:buNone/>
            </a:pPr>
            <a:r>
              <a:rPr lang="fr-FR" sz="1600" b="1" dirty="0" smtClean="0">
                <a:latin typeface="Arial" panose="020B0604020202020204"/>
                <a:cs typeface="Arial" panose="020B0604020202020204"/>
              </a:rPr>
              <a:t>GEOGRAPHIE</a:t>
            </a:r>
            <a:br>
              <a:rPr lang="fr-FR" sz="1600" b="1" dirty="0">
                <a:latin typeface="Arial" panose="020B0604020202020204"/>
                <a:cs typeface="Arial" panose="020B0604020202020204"/>
              </a:rPr>
            </a:br>
            <a:r>
              <a:rPr lang="fr-FR" sz="1600" dirty="0">
                <a:latin typeface="Arial" panose="020B0604020202020204"/>
                <a:cs typeface="Arial" panose="020B0604020202020204"/>
              </a:rPr>
              <a:t>• </a:t>
            </a:r>
            <a:r>
              <a:rPr lang="fr-FR" sz="1600" b="1" dirty="0">
                <a:latin typeface="Arial" panose="020B0604020202020204"/>
                <a:cs typeface="Arial" panose="020B0604020202020204"/>
              </a:rPr>
              <a:t>Nil </a:t>
            </a:r>
            <a:r>
              <a:rPr lang="fr-FR" sz="1600" dirty="0">
                <a:latin typeface="Arial" panose="020B0604020202020204"/>
                <a:cs typeface="Arial" panose="020B0604020202020204"/>
              </a:rPr>
              <a:t>: terres argileuses mais </a:t>
            </a:r>
            <a:r>
              <a:rPr lang="fr-FR" sz="1600" dirty="0" smtClean="0">
                <a:latin typeface="Arial" panose="020B0604020202020204"/>
                <a:cs typeface="Arial" panose="020B0604020202020204"/>
              </a:rPr>
              <a:t>vallée encaissée </a:t>
            </a:r>
            <a:r>
              <a:rPr lang="fr-FR" sz="1600" dirty="0">
                <a:latin typeface="Arial" panose="020B0604020202020204"/>
                <a:cs typeface="Arial" panose="020B0604020202020204"/>
              </a:rPr>
              <a:t>en Moyenne et Haute </a:t>
            </a:r>
            <a:r>
              <a:rPr lang="fr-FR" sz="1600" dirty="0" smtClean="0">
                <a:latin typeface="Arial" panose="020B0604020202020204"/>
                <a:cs typeface="Arial" panose="020B0604020202020204"/>
              </a:rPr>
              <a:t>Égypte </a:t>
            </a:r>
            <a:r>
              <a:rPr lang="fr-FR" sz="1600" dirty="0">
                <a:latin typeface="Arial" panose="020B0604020202020204"/>
                <a:cs typeface="Arial" panose="020B0604020202020204"/>
              </a:rPr>
              <a:t>: calcaire, granit, </a:t>
            </a:r>
            <a:r>
              <a:rPr lang="fr-FR" sz="1600" dirty="0" err="1">
                <a:latin typeface="Arial" panose="020B0604020202020204"/>
                <a:cs typeface="Arial" panose="020B0604020202020204"/>
              </a:rPr>
              <a:t>grès</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Climat </a:t>
            </a:r>
            <a:r>
              <a:rPr lang="fr-FR" sz="1600" b="1" dirty="0" smtClean="0">
                <a:latin typeface="Arial" panose="020B0604020202020204"/>
                <a:cs typeface="Arial" panose="020B0604020202020204"/>
              </a:rPr>
              <a:t>désertique </a:t>
            </a:r>
            <a:r>
              <a:rPr lang="fr-FR" sz="1600" dirty="0">
                <a:latin typeface="Arial" panose="020B0604020202020204"/>
                <a:cs typeface="Arial" panose="020B0604020202020204"/>
              </a:rPr>
              <a:t>: bois de mauvaise </a:t>
            </a:r>
            <a:r>
              <a:rPr lang="fr-FR" sz="1600" dirty="0" smtClean="0">
                <a:latin typeface="Arial" panose="020B0604020202020204"/>
                <a:cs typeface="Arial" panose="020B0604020202020204"/>
              </a:rPr>
              <a:t>qualité </a:t>
            </a:r>
            <a:r>
              <a:rPr lang="fr-FR" sz="1600" dirty="0">
                <a:latin typeface="Arial" panose="020B0604020202020204"/>
                <a:cs typeface="Arial" panose="020B0604020202020204"/>
              </a:rPr>
              <a:t>architecturale (palmier). Bois </a:t>
            </a:r>
            <a:r>
              <a:rPr lang="fr-FR" sz="1600" dirty="0" smtClean="0">
                <a:latin typeface="Arial" panose="020B0604020202020204"/>
                <a:cs typeface="Arial" panose="020B0604020202020204"/>
              </a:rPr>
              <a:t>importés </a:t>
            </a:r>
            <a:r>
              <a:rPr lang="fr-FR" sz="1600" dirty="0">
                <a:latin typeface="Arial" panose="020B0604020202020204"/>
                <a:cs typeface="Arial" panose="020B0604020202020204"/>
              </a:rPr>
              <a:t>(Liban, Nubie) </a:t>
            </a:r>
            <a:endParaRPr lang="fr-FR" sz="1600" dirty="0" smtClean="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r>
              <a:rPr lang="fr-FR" sz="1600" b="1" dirty="0" smtClean="0">
                <a:latin typeface="Arial" panose="020B0604020202020204"/>
                <a:cs typeface="Arial" panose="020B0604020202020204"/>
              </a:rPr>
              <a:t>MATERIAUX</a:t>
            </a:r>
            <a:endParaRPr lang="fr-FR" sz="1600" b="1" dirty="0" smtClean="0">
              <a:latin typeface="Arial" panose="020B0604020202020204"/>
              <a:cs typeface="Arial" panose="020B0604020202020204"/>
            </a:endParaRPr>
          </a:p>
          <a:p>
            <a:pPr marL="0" indent="0">
              <a:buNone/>
            </a:pPr>
            <a:r>
              <a:rPr lang="fr-FR" sz="1600" b="1" dirty="0" smtClean="0">
                <a:latin typeface="Arial" panose="020B0604020202020204"/>
                <a:cs typeface="Arial" panose="020B0604020202020204"/>
              </a:rPr>
              <a:t>Brique </a:t>
            </a:r>
            <a:r>
              <a:rPr lang="fr-FR" sz="1600" b="1" dirty="0">
                <a:latin typeface="Arial" panose="020B0604020202020204"/>
                <a:cs typeface="Arial" panose="020B0604020202020204"/>
              </a:rPr>
              <a:t>crue </a:t>
            </a:r>
            <a:endParaRPr lang="fr-FR" sz="1600" dirty="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Utilisée dès </a:t>
            </a:r>
            <a:r>
              <a:rPr lang="fr-FR" sz="1600" dirty="0">
                <a:latin typeface="Arial" panose="020B0604020202020204"/>
                <a:cs typeface="Arial" panose="020B0604020202020204"/>
              </a:rPr>
              <a:t>la </a:t>
            </a:r>
            <a:r>
              <a:rPr lang="fr-FR" sz="1600" dirty="0" smtClean="0">
                <a:latin typeface="Arial" panose="020B0604020202020204"/>
                <a:cs typeface="Arial" panose="020B0604020202020204"/>
              </a:rPr>
              <a:t>période </a:t>
            </a:r>
            <a:r>
              <a:rPr lang="fr-FR" sz="1600" dirty="0" err="1">
                <a:latin typeface="Arial" panose="020B0604020202020204"/>
                <a:cs typeface="Arial" panose="020B0604020202020204"/>
              </a:rPr>
              <a:t>Nagada</a:t>
            </a:r>
            <a:r>
              <a:rPr lang="fr-FR" sz="1600" dirty="0">
                <a:latin typeface="Arial" panose="020B0604020202020204"/>
                <a:cs typeface="Arial" panose="020B0604020202020204"/>
              </a:rPr>
              <a:t>. Se </a:t>
            </a:r>
            <a:r>
              <a:rPr lang="fr-FR" sz="1600" dirty="0" smtClean="0">
                <a:latin typeface="Arial" panose="020B0604020202020204"/>
                <a:cs typeface="Arial" panose="020B0604020202020204"/>
              </a:rPr>
              <a:t>perpétuera </a:t>
            </a:r>
            <a:r>
              <a:rPr lang="fr-FR" sz="1600" dirty="0">
                <a:latin typeface="Arial" panose="020B0604020202020204"/>
                <a:cs typeface="Arial" panose="020B0604020202020204"/>
              </a:rPr>
              <a:t>dans la construction civile (avec le pisé) comme dans l’architecture religieuse (pour les parties les moins nobles) </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Pierre </a:t>
            </a:r>
            <a:r>
              <a:rPr lang="fr-FR" sz="1600" b="1" dirty="0" smtClean="0">
                <a:latin typeface="Arial" panose="020B0604020202020204"/>
                <a:cs typeface="Arial" panose="020B0604020202020204"/>
              </a:rPr>
              <a:t>appareillée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i="1" dirty="0">
                <a:latin typeface="Arial" panose="020B0604020202020204"/>
                <a:cs typeface="Arial" panose="020B0604020202020204"/>
              </a:rPr>
              <a:t>Petit appareil </a:t>
            </a:r>
            <a:r>
              <a:rPr lang="fr-FR" sz="1600" dirty="0" err="1">
                <a:latin typeface="Arial" panose="020B0604020202020204"/>
                <a:cs typeface="Arial" panose="020B0604020202020204"/>
              </a:rPr>
              <a:t>dès</a:t>
            </a:r>
            <a:r>
              <a:rPr lang="fr-FR" sz="1600" dirty="0">
                <a:latin typeface="Arial" panose="020B0604020202020204"/>
                <a:cs typeface="Arial" panose="020B0604020202020204"/>
              </a:rPr>
              <a:t> la </a:t>
            </a:r>
            <a:r>
              <a:rPr lang="fr-FR" sz="1600" dirty="0" err="1">
                <a:latin typeface="Arial" panose="020B0604020202020204"/>
                <a:cs typeface="Arial" panose="020B0604020202020204"/>
              </a:rPr>
              <a:t>période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Thinite</a:t>
            </a:r>
            <a:r>
              <a:rPr lang="fr-FR" sz="1600" dirty="0">
                <a:latin typeface="Arial" panose="020B0604020202020204"/>
                <a:cs typeface="Arial" panose="020B0604020202020204"/>
              </a:rPr>
              <a:t> (≈ 3000 av. JC)</a:t>
            </a:r>
            <a:br>
              <a:rPr lang="fr-FR" sz="1600" dirty="0">
                <a:latin typeface="Arial" panose="020B0604020202020204"/>
                <a:cs typeface="Arial" panose="020B0604020202020204"/>
              </a:rPr>
            </a:br>
            <a:r>
              <a:rPr lang="fr-FR" sz="1600" dirty="0">
                <a:latin typeface="Arial" panose="020B0604020202020204"/>
                <a:cs typeface="Arial" panose="020B0604020202020204"/>
              </a:rPr>
              <a:t>• </a:t>
            </a:r>
            <a:r>
              <a:rPr lang="fr-FR" sz="1600" i="1" dirty="0">
                <a:latin typeface="Arial" panose="020B0604020202020204"/>
                <a:cs typeface="Arial" panose="020B0604020202020204"/>
              </a:rPr>
              <a:t>Grand appareil </a:t>
            </a:r>
            <a:r>
              <a:rPr lang="fr-FR" sz="1600" dirty="0" err="1">
                <a:latin typeface="Arial" panose="020B0604020202020204"/>
                <a:cs typeface="Arial" panose="020B0604020202020204"/>
              </a:rPr>
              <a:t>dès</a:t>
            </a:r>
            <a:r>
              <a:rPr lang="fr-FR" sz="1600" dirty="0">
                <a:latin typeface="Arial" panose="020B0604020202020204"/>
                <a:cs typeface="Arial" panose="020B0604020202020204"/>
              </a:rPr>
              <a:t> la </a:t>
            </a:r>
            <a:r>
              <a:rPr lang="fr-FR" sz="1600" dirty="0" err="1">
                <a:latin typeface="Arial" panose="020B0604020202020204"/>
                <a:cs typeface="Arial" panose="020B0604020202020204"/>
              </a:rPr>
              <a:t>IV°dynastie</a:t>
            </a:r>
            <a:r>
              <a:rPr lang="fr-FR" sz="1600" dirty="0">
                <a:latin typeface="Arial" panose="020B0604020202020204"/>
                <a:cs typeface="Arial" panose="020B0604020202020204"/>
              </a:rPr>
              <a:t> (Ancien Empire ; ≈ 2600 av. JC)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Procédés de construction</a:t>
            </a:r>
            <a:endParaRPr lang="fr-FR"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pPr marL="0" indent="0">
              <a:buNone/>
            </a:pPr>
            <a:r>
              <a:rPr lang="fr-FR" sz="1600" b="1" dirty="0" smtClean="0">
                <a:latin typeface="Arial" panose="020B0604020202020204"/>
                <a:cs typeface="Arial" panose="020B0604020202020204"/>
              </a:rPr>
              <a:t>VOÛTES </a:t>
            </a:r>
            <a:r>
              <a:rPr lang="fr-FR" sz="1600" b="1" dirty="0">
                <a:latin typeface="Arial" panose="020B0604020202020204"/>
                <a:cs typeface="Arial" panose="020B0604020202020204"/>
              </a:rPr>
              <a:t>EN BRIQUE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Construction sans cintres par tranches sur lits </a:t>
            </a:r>
            <a:r>
              <a:rPr lang="fr-FR" sz="1600" dirty="0" smtClean="0">
                <a:latin typeface="Arial" panose="020B0604020202020204"/>
                <a:cs typeface="Arial" panose="020B0604020202020204"/>
              </a:rPr>
              <a:t>inclinés</a:t>
            </a:r>
            <a:br>
              <a:rPr lang="fr-FR" sz="1600" dirty="0">
                <a:latin typeface="Arial" panose="020B0604020202020204"/>
                <a:cs typeface="Arial" panose="020B0604020202020204"/>
              </a:rPr>
            </a:br>
            <a:r>
              <a:rPr lang="fr-FR" sz="1600" dirty="0">
                <a:latin typeface="Arial" panose="020B0604020202020204"/>
                <a:cs typeface="Arial" panose="020B0604020202020204"/>
              </a:rPr>
              <a:t>• Doublement </a:t>
            </a:r>
            <a:r>
              <a:rPr lang="fr-FR" sz="1600" dirty="0" smtClean="0">
                <a:latin typeface="Arial" panose="020B0604020202020204"/>
                <a:cs typeface="Arial" panose="020B0604020202020204"/>
              </a:rPr>
              <a:t>éventuel </a:t>
            </a:r>
            <a:r>
              <a:rPr lang="fr-FR" sz="1600" dirty="0">
                <a:latin typeface="Arial" panose="020B0604020202020204"/>
                <a:cs typeface="Arial" panose="020B0604020202020204"/>
              </a:rPr>
              <a:t>par un </a:t>
            </a:r>
            <a:r>
              <a:rPr lang="fr-FR" sz="1600" b="1" dirty="0">
                <a:latin typeface="Arial" panose="020B0604020202020204"/>
                <a:cs typeface="Arial" panose="020B0604020202020204"/>
              </a:rPr>
              <a:t>second berceau</a:t>
            </a:r>
            <a:br>
              <a:rPr lang="fr-FR" sz="1600" i="1" dirty="0">
                <a:latin typeface="Arial" panose="020B0604020202020204"/>
                <a:cs typeface="Arial" panose="020B0604020202020204"/>
              </a:rPr>
            </a:b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Première </a:t>
            </a:r>
            <a:r>
              <a:rPr lang="fr-FR" sz="1600" dirty="0">
                <a:latin typeface="Arial" panose="020B0604020202020204"/>
                <a:cs typeface="Arial" panose="020B0604020202020204"/>
              </a:rPr>
              <a:t>partie de la </a:t>
            </a:r>
            <a:r>
              <a:rPr lang="fr-FR" sz="1600" dirty="0" smtClean="0">
                <a:latin typeface="Arial" panose="020B0604020202020204"/>
                <a:cs typeface="Arial" panose="020B0604020202020204"/>
              </a:rPr>
              <a:t>voûte éventuellement </a:t>
            </a:r>
            <a:r>
              <a:rPr lang="fr-FR" sz="1600" dirty="0">
                <a:latin typeface="Arial" panose="020B0604020202020204"/>
                <a:cs typeface="Arial" panose="020B0604020202020204"/>
              </a:rPr>
              <a:t>en </a:t>
            </a:r>
            <a:r>
              <a:rPr lang="fr-FR" sz="1600" b="1" dirty="0">
                <a:latin typeface="Arial" panose="020B0604020202020204"/>
                <a:cs typeface="Arial" panose="020B0604020202020204"/>
              </a:rPr>
              <a:t>encorbellement </a:t>
            </a:r>
            <a:endParaRPr lang="fr-FR" sz="1600" b="1"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Procédés de construction</a:t>
            </a:r>
            <a:endParaRPr lang="fr-FR" dirty="0">
              <a:solidFill>
                <a:srgbClr val="FF0000"/>
              </a:solidFill>
            </a:endParaRPr>
          </a:p>
        </p:txBody>
      </p:sp>
      <p:pic>
        <p:nvPicPr>
          <p:cNvPr id="2" name="Image 1" descr="VOUTE.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2588260"/>
            <a:ext cx="9144000" cy="41214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pPr marL="0" indent="0">
              <a:buNone/>
            </a:pPr>
            <a:r>
              <a:rPr lang="fr-FR" sz="1600" b="1" dirty="0">
                <a:latin typeface="Arial" panose="020B0604020202020204"/>
                <a:cs typeface="Arial" panose="020B0604020202020204"/>
              </a:rPr>
              <a:t>VOÛTE EN PIERRE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i="1" dirty="0">
                <a:latin typeface="Arial" panose="020B0604020202020204"/>
                <a:cs typeface="Arial" panose="020B0604020202020204"/>
              </a:rPr>
              <a:t>Encorbellements </a:t>
            </a:r>
            <a:r>
              <a:rPr lang="fr-FR" sz="1600" dirty="0">
                <a:latin typeface="Arial" panose="020B0604020202020204"/>
                <a:cs typeface="Arial" panose="020B0604020202020204"/>
              </a:rPr>
              <a:t>successifs</a:t>
            </a:r>
            <a:br>
              <a:rPr lang="fr-FR" sz="1600" dirty="0">
                <a:latin typeface="Arial" panose="020B0604020202020204"/>
                <a:cs typeface="Arial" panose="020B0604020202020204"/>
              </a:rPr>
            </a:br>
            <a:r>
              <a:rPr lang="fr-FR" sz="1600" dirty="0">
                <a:latin typeface="Arial" panose="020B0604020202020204"/>
                <a:cs typeface="Arial" panose="020B0604020202020204"/>
              </a:rPr>
              <a:t>• </a:t>
            </a:r>
            <a:r>
              <a:rPr lang="fr-FR" sz="1600" dirty="0" err="1">
                <a:latin typeface="Arial" panose="020B0604020202020204"/>
                <a:cs typeface="Arial" panose="020B0604020202020204"/>
              </a:rPr>
              <a:t>Proto-voûte</a:t>
            </a:r>
            <a:r>
              <a:rPr lang="fr-FR" sz="1600" dirty="0">
                <a:latin typeface="Arial" panose="020B0604020202020204"/>
                <a:cs typeface="Arial" panose="020B0604020202020204"/>
              </a:rPr>
              <a:t> : </a:t>
            </a:r>
            <a:r>
              <a:rPr lang="fr-FR" sz="1600" i="1" dirty="0" smtClean="0">
                <a:latin typeface="Arial" panose="020B0604020202020204"/>
                <a:cs typeface="Arial" panose="020B0604020202020204"/>
              </a:rPr>
              <a:t>décharge </a:t>
            </a:r>
            <a:r>
              <a:rPr lang="fr-FR" sz="1600" dirty="0">
                <a:latin typeface="Arial" panose="020B0604020202020204"/>
                <a:cs typeface="Arial" panose="020B0604020202020204"/>
              </a:rPr>
              <a:t>par dalles </a:t>
            </a:r>
            <a:r>
              <a:rPr lang="fr-FR" sz="1600" dirty="0" smtClean="0">
                <a:latin typeface="Arial" panose="020B0604020202020204"/>
                <a:cs typeface="Arial" panose="020B0604020202020204"/>
              </a:rPr>
              <a:t>inclinées </a:t>
            </a:r>
            <a:endParaRPr lang="fr-FR" sz="1600" dirty="0">
              <a:latin typeface="Arial" panose="020B0604020202020204"/>
              <a:cs typeface="Arial" panose="020B0604020202020204"/>
            </a:endParaRPr>
          </a:p>
          <a:p>
            <a:pPr marL="0" indent="0" algn="just">
              <a:buNone/>
            </a:pPr>
            <a:endParaRPr lang="fr-FR" sz="1600" dirty="0" smtClean="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Procédés de construction</a:t>
            </a:r>
            <a:endParaRPr lang="fr-FR" dirty="0">
              <a:solidFill>
                <a:srgbClr val="FF0000"/>
              </a:solidFill>
            </a:endParaRPr>
          </a:p>
        </p:txBody>
      </p:sp>
      <p:pic>
        <p:nvPicPr>
          <p:cNvPr id="4" name="Image 3" descr="Snefrou 10.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8340" y="2506979"/>
            <a:ext cx="3223260" cy="4315891"/>
          </a:xfrm>
          <a:prstGeom prst="rect">
            <a:avLst/>
          </a:prstGeom>
        </p:spPr>
      </p:pic>
      <p:pic>
        <p:nvPicPr>
          <p:cNvPr id="5" name="Image 4" descr="810.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8840" y="1417638"/>
            <a:ext cx="3901440" cy="5201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pPr marL="0" indent="0">
              <a:buNone/>
            </a:pPr>
            <a:r>
              <a:rPr lang="fr-FR" sz="1600" b="1" dirty="0">
                <a:latin typeface="Arial" panose="020B0604020202020204"/>
                <a:cs typeface="Arial" panose="020B0604020202020204"/>
              </a:rPr>
              <a:t>COUVERTURE EN PLATE-BANDE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err="1">
                <a:latin typeface="Arial" panose="020B0604020202020204"/>
                <a:cs typeface="Arial" panose="020B0604020202020204"/>
              </a:rPr>
              <a:t>Dès</a:t>
            </a:r>
            <a:r>
              <a:rPr lang="fr-FR" sz="1600" dirty="0">
                <a:latin typeface="Arial" panose="020B0604020202020204"/>
                <a:cs typeface="Arial" panose="020B0604020202020204"/>
              </a:rPr>
              <a:t> la </a:t>
            </a:r>
            <a:r>
              <a:rPr lang="fr-FR" sz="1600" dirty="0" err="1">
                <a:latin typeface="Arial" panose="020B0604020202020204"/>
                <a:cs typeface="Arial" panose="020B0604020202020204"/>
              </a:rPr>
              <a:t>IV°dynastie</a:t>
            </a:r>
            <a:r>
              <a:rPr lang="fr-FR" sz="1600" dirty="0">
                <a:latin typeface="Arial" panose="020B0604020202020204"/>
                <a:cs typeface="Arial" panose="020B0604020202020204"/>
              </a:rPr>
              <a:t> ( ≈ 2600 av. JC</a:t>
            </a:r>
            <a:r>
              <a:rPr lang="fr-FR" sz="1600">
                <a:latin typeface="Arial" panose="020B0604020202020204"/>
                <a:cs typeface="Arial" panose="020B0604020202020204"/>
              </a:rPr>
              <a:t>) </a:t>
            </a:r>
            <a:r>
              <a:rPr lang="fr-FR" sz="1600" smtClean="0">
                <a:latin typeface="Arial" panose="020B0604020202020204"/>
                <a:cs typeface="Arial" panose="020B0604020202020204"/>
              </a:rPr>
              <a:t>• </a:t>
            </a:r>
            <a:r>
              <a:rPr lang="fr-FR" sz="1600" dirty="0">
                <a:latin typeface="Arial" panose="020B0604020202020204"/>
                <a:cs typeface="Arial" panose="020B0604020202020204"/>
              </a:rPr>
              <a:t>Piliers puis colonnes</a:t>
            </a:r>
            <a:br>
              <a:rPr lang="fr-FR" sz="1600" dirty="0">
                <a:latin typeface="Arial" panose="020B0604020202020204"/>
                <a:cs typeface="Arial" panose="020B0604020202020204"/>
              </a:rPr>
            </a:br>
            <a:r>
              <a:rPr lang="fr-FR" sz="1600" dirty="0">
                <a:latin typeface="Arial" panose="020B0604020202020204"/>
                <a:cs typeface="Arial" panose="020B0604020202020204"/>
              </a:rPr>
              <a:t>• </a:t>
            </a:r>
            <a:r>
              <a:rPr lang="fr-FR" sz="1600" i="1" dirty="0">
                <a:latin typeface="Arial" panose="020B0604020202020204"/>
                <a:cs typeface="Arial" panose="020B0604020202020204"/>
              </a:rPr>
              <a:t>Architraves </a:t>
            </a:r>
            <a:r>
              <a:rPr lang="fr-FR" sz="1600" dirty="0">
                <a:latin typeface="Arial" panose="020B0604020202020204"/>
                <a:cs typeface="Arial" panose="020B0604020202020204"/>
              </a:rPr>
              <a:t>monolithes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Procédés de construction</a:t>
            </a:r>
            <a:endParaRPr lang="fr-FR" dirty="0">
              <a:solidFill>
                <a:srgbClr val="FF0000"/>
              </a:solidFill>
            </a:endParaRPr>
          </a:p>
        </p:txBody>
      </p:sp>
      <p:pic>
        <p:nvPicPr>
          <p:cNvPr id="4" name="Image 3" descr="DOC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14288" y="1135380"/>
            <a:ext cx="2859024" cy="2511552"/>
          </a:xfrm>
          <a:prstGeom prst="rect">
            <a:avLst/>
          </a:prstGeom>
        </p:spPr>
      </p:pic>
      <p:pic>
        <p:nvPicPr>
          <p:cNvPr id="5" name="Image 4" descr="DOC3.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3515360"/>
            <a:ext cx="8820912" cy="31882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pPr marL="0" indent="0">
              <a:buNone/>
            </a:pPr>
            <a:r>
              <a:rPr lang="fr-FR" sz="1600" b="1" dirty="0" smtClean="0">
                <a:latin typeface="Arial" panose="020B0604020202020204"/>
                <a:cs typeface="Arial" panose="020B0604020202020204"/>
              </a:rPr>
              <a:t>COLONNES ET CHAPITEAUX</a:t>
            </a:r>
            <a:endParaRPr lang="fr-FR" sz="1600" b="1" dirty="0" smtClean="0">
              <a:latin typeface="Arial" panose="020B0604020202020204"/>
              <a:cs typeface="Arial" panose="020B0604020202020204"/>
            </a:endParaRPr>
          </a:p>
          <a:p>
            <a:pPr marL="0" indent="0">
              <a:buNone/>
            </a:pPr>
            <a:r>
              <a:rPr lang="fr-FR" sz="1600" b="1" dirty="0">
                <a:latin typeface="Arial" panose="020B0604020202020204"/>
                <a:cs typeface="Arial" panose="020B0604020202020204"/>
              </a:rPr>
              <a:t>Ordre </a:t>
            </a:r>
            <a:r>
              <a:rPr lang="fr-FR" sz="1600" b="1" dirty="0" err="1" smtClean="0">
                <a:latin typeface="Arial" panose="020B0604020202020204"/>
                <a:cs typeface="Arial" panose="020B0604020202020204"/>
              </a:rPr>
              <a:t>palmiforme</a:t>
            </a:r>
            <a:r>
              <a:rPr lang="fr-FR" sz="1600" b="1" dirty="0" smtClean="0">
                <a:latin typeface="Arial" panose="020B0604020202020204"/>
                <a:cs typeface="Arial" panose="020B0604020202020204"/>
              </a:rPr>
              <a:t> </a:t>
            </a:r>
            <a:r>
              <a:rPr lang="fr-FR" sz="1600" dirty="0" smtClean="0">
                <a:latin typeface="Arial" panose="020B0604020202020204"/>
                <a:cs typeface="Arial" panose="020B0604020202020204"/>
              </a:rPr>
              <a:t>: De </a:t>
            </a:r>
            <a:r>
              <a:rPr lang="fr-FR" sz="1600" dirty="0">
                <a:latin typeface="Arial" panose="020B0604020202020204"/>
                <a:cs typeface="Arial" panose="020B0604020202020204"/>
              </a:rPr>
              <a:t>l'Ancien Empire égyptien, ces colonnes sont très </a:t>
            </a:r>
            <a:r>
              <a:rPr lang="fr-FR" sz="1600" dirty="0" smtClean="0">
                <a:latin typeface="Arial" panose="020B0604020202020204"/>
                <a:cs typeface="Arial" panose="020B0604020202020204"/>
              </a:rPr>
              <a:t>massives - Le </a:t>
            </a:r>
            <a:r>
              <a:rPr lang="fr-FR" sz="1600" dirty="0">
                <a:latin typeface="Arial" panose="020B0604020202020204"/>
                <a:cs typeface="Arial" panose="020B0604020202020204"/>
              </a:rPr>
              <a:t>chapiteau comprend 9 feuilles de palmier </a:t>
            </a:r>
            <a:r>
              <a:rPr lang="fr-FR" sz="1600" dirty="0" smtClean="0">
                <a:latin typeface="Arial" panose="020B0604020202020204"/>
                <a:cs typeface="Arial" panose="020B0604020202020204"/>
              </a:rPr>
              <a:t>ligaturées- Le </a:t>
            </a:r>
            <a:r>
              <a:rPr lang="fr-FR" sz="1600" dirty="0">
                <a:latin typeface="Arial" panose="020B0604020202020204"/>
                <a:cs typeface="Arial" panose="020B0604020202020204"/>
              </a:rPr>
              <a:t>fût est </a:t>
            </a:r>
            <a:r>
              <a:rPr lang="fr-FR" sz="1600" dirty="0" smtClean="0">
                <a:latin typeface="Arial" panose="020B0604020202020204"/>
                <a:cs typeface="Arial" panose="020B0604020202020204"/>
              </a:rPr>
              <a:t>lisse - La </a:t>
            </a:r>
            <a:r>
              <a:rPr lang="fr-FR" sz="1600" dirty="0">
                <a:latin typeface="Arial" panose="020B0604020202020204"/>
                <a:cs typeface="Arial" panose="020B0604020202020204"/>
              </a:rPr>
              <a:t>base est simple.</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Ordre </a:t>
            </a:r>
            <a:r>
              <a:rPr lang="fr-FR" sz="1600" b="1" dirty="0" err="1">
                <a:latin typeface="Arial" panose="020B0604020202020204"/>
                <a:cs typeface="Arial" panose="020B0604020202020204"/>
              </a:rPr>
              <a:t>proto-</a:t>
            </a:r>
            <a:r>
              <a:rPr lang="fr-FR" sz="1600" b="1" dirty="0" err="1" smtClean="0">
                <a:latin typeface="Arial" panose="020B0604020202020204"/>
                <a:cs typeface="Arial" panose="020B0604020202020204"/>
              </a:rPr>
              <a:t>dorique</a:t>
            </a:r>
            <a:r>
              <a:rPr lang="fr-FR" sz="1600" b="1" dirty="0" smtClean="0">
                <a:latin typeface="Arial" panose="020B0604020202020204"/>
                <a:cs typeface="Arial" panose="020B0604020202020204"/>
              </a:rPr>
              <a:t> </a:t>
            </a:r>
            <a:r>
              <a:rPr lang="fr-FR" sz="1600" dirty="0" smtClean="0">
                <a:latin typeface="Arial" panose="020B0604020202020204"/>
                <a:cs typeface="Arial" panose="020B0604020202020204"/>
              </a:rPr>
              <a:t>: Du </a:t>
            </a:r>
            <a:r>
              <a:rPr lang="fr-FR" sz="1600" dirty="0">
                <a:latin typeface="Arial" panose="020B0604020202020204"/>
                <a:cs typeface="Arial" panose="020B0604020202020204"/>
              </a:rPr>
              <a:t>Moyen Empire égyptien, ces colonnes sont très </a:t>
            </a:r>
            <a:r>
              <a:rPr lang="fr-FR" sz="1600" dirty="0" smtClean="0">
                <a:latin typeface="Arial" panose="020B0604020202020204"/>
                <a:cs typeface="Arial" panose="020B0604020202020204"/>
              </a:rPr>
              <a:t>massives - Le </a:t>
            </a:r>
            <a:r>
              <a:rPr lang="fr-FR" sz="1600" dirty="0">
                <a:latin typeface="Arial" panose="020B0604020202020204"/>
                <a:cs typeface="Arial" panose="020B0604020202020204"/>
              </a:rPr>
              <a:t>chapiteau géométrique très simple se confond avec </a:t>
            </a:r>
            <a:r>
              <a:rPr lang="fr-FR" sz="1600" dirty="0" smtClean="0">
                <a:latin typeface="Arial" panose="020B0604020202020204"/>
                <a:cs typeface="Arial" panose="020B0604020202020204"/>
              </a:rPr>
              <a:t>l'abaque - Le </a:t>
            </a:r>
            <a:r>
              <a:rPr lang="fr-FR" sz="1600" dirty="0">
                <a:latin typeface="Arial" panose="020B0604020202020204"/>
                <a:cs typeface="Arial" panose="020B0604020202020204"/>
              </a:rPr>
              <a:t>fût possède des </a:t>
            </a:r>
            <a:r>
              <a:rPr lang="fr-FR" sz="1600" dirty="0" smtClean="0">
                <a:latin typeface="Arial" panose="020B0604020202020204"/>
                <a:cs typeface="Arial" panose="020B0604020202020204"/>
              </a:rPr>
              <a:t>cannelures - La </a:t>
            </a:r>
            <a:r>
              <a:rPr lang="fr-FR" sz="1600" dirty="0">
                <a:latin typeface="Arial" panose="020B0604020202020204"/>
                <a:cs typeface="Arial" panose="020B0604020202020204"/>
              </a:rPr>
              <a:t>base est très petite ou totalement inexistante.</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Ordre </a:t>
            </a:r>
            <a:r>
              <a:rPr lang="fr-FR" sz="1600" b="1" dirty="0" err="1" smtClean="0">
                <a:latin typeface="Arial" panose="020B0604020202020204"/>
                <a:cs typeface="Arial" panose="020B0604020202020204"/>
              </a:rPr>
              <a:t>lotiforme</a:t>
            </a:r>
            <a:r>
              <a:rPr lang="fr-FR" sz="1600" b="1" dirty="0" smtClean="0">
                <a:latin typeface="Arial" panose="020B0604020202020204"/>
                <a:cs typeface="Arial" panose="020B0604020202020204"/>
              </a:rPr>
              <a:t> </a:t>
            </a:r>
            <a:r>
              <a:rPr lang="fr-FR" sz="1600" dirty="0" smtClean="0">
                <a:latin typeface="Arial" panose="020B0604020202020204"/>
                <a:cs typeface="Arial" panose="020B0604020202020204"/>
              </a:rPr>
              <a:t>: En </a:t>
            </a:r>
            <a:r>
              <a:rPr lang="fr-FR" sz="1600" dirty="0">
                <a:latin typeface="Arial" panose="020B0604020202020204"/>
                <a:cs typeface="Arial" panose="020B0604020202020204"/>
              </a:rPr>
              <a:t>forme de lotus </a:t>
            </a:r>
            <a:r>
              <a:rPr lang="fr-FR" sz="1600" dirty="0" smtClean="0">
                <a:latin typeface="Arial" panose="020B0604020202020204"/>
                <a:cs typeface="Arial" panose="020B0604020202020204"/>
              </a:rPr>
              <a:t>fermé  </a:t>
            </a:r>
            <a:endParaRPr lang="fr-FR" sz="1600" dirty="0" smtClean="0">
              <a:latin typeface="Arial" panose="020B0604020202020204"/>
              <a:cs typeface="Arial" panose="020B0604020202020204"/>
            </a:endParaRPr>
          </a:p>
          <a:p>
            <a:pPr marL="0" indent="0">
              <a:buNone/>
            </a:pPr>
            <a:r>
              <a:rPr lang="fr-FR" sz="1600" b="1" dirty="0" smtClean="0">
                <a:latin typeface="Arial" panose="020B0604020202020204"/>
                <a:cs typeface="Arial" panose="020B0604020202020204"/>
              </a:rPr>
              <a:t>Ordre papyriforme</a:t>
            </a: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 Il </a:t>
            </a:r>
            <a:r>
              <a:rPr lang="fr-FR" sz="1600" dirty="0">
                <a:latin typeface="Arial" panose="020B0604020202020204"/>
                <a:cs typeface="Arial" panose="020B0604020202020204"/>
              </a:rPr>
              <a:t>se manifeste à partir du Moyen </a:t>
            </a:r>
            <a:r>
              <a:rPr lang="fr-FR" sz="1600" dirty="0" smtClean="0">
                <a:latin typeface="Arial" panose="020B0604020202020204"/>
                <a:cs typeface="Arial" panose="020B0604020202020204"/>
              </a:rPr>
              <a:t>Empire - Les </a:t>
            </a:r>
            <a:r>
              <a:rPr lang="fr-FR" sz="1600" dirty="0">
                <a:latin typeface="Arial" panose="020B0604020202020204"/>
                <a:cs typeface="Arial" panose="020B0604020202020204"/>
              </a:rPr>
              <a:t>tiges sont ligaturées sur le chapiteau et se prolongent dans le </a:t>
            </a:r>
            <a:r>
              <a:rPr lang="fr-FR" sz="1600" dirty="0" smtClean="0">
                <a:latin typeface="Arial" panose="020B0604020202020204"/>
                <a:cs typeface="Arial" panose="020B0604020202020204"/>
              </a:rPr>
              <a:t>fût - L'abaque </a:t>
            </a:r>
            <a:r>
              <a:rPr lang="fr-FR" sz="1600" dirty="0">
                <a:latin typeface="Arial" panose="020B0604020202020204"/>
                <a:cs typeface="Arial" panose="020B0604020202020204"/>
              </a:rPr>
              <a:t>peut contenir un </a:t>
            </a:r>
            <a:r>
              <a:rPr lang="fr-FR" sz="1600" dirty="0" smtClean="0">
                <a:latin typeface="Arial" panose="020B0604020202020204"/>
                <a:cs typeface="Arial" panose="020B0604020202020204"/>
              </a:rPr>
              <a:t>cartouche -La </a:t>
            </a:r>
            <a:r>
              <a:rPr lang="fr-FR" sz="1600" dirty="0">
                <a:latin typeface="Arial" panose="020B0604020202020204"/>
                <a:cs typeface="Arial" panose="020B0604020202020204"/>
              </a:rPr>
              <a:t>base est simple.</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Ordre </a:t>
            </a:r>
            <a:r>
              <a:rPr lang="fr-FR" sz="1600" b="1" dirty="0" smtClean="0">
                <a:latin typeface="Arial" panose="020B0604020202020204"/>
                <a:cs typeface="Arial" panose="020B0604020202020204"/>
              </a:rPr>
              <a:t>campaniforme </a:t>
            </a:r>
            <a:r>
              <a:rPr lang="fr-FR" sz="1600" dirty="0" smtClean="0">
                <a:latin typeface="Arial" panose="020B0604020202020204"/>
                <a:cs typeface="Arial" panose="020B0604020202020204"/>
              </a:rPr>
              <a:t>:</a:t>
            </a:r>
            <a:r>
              <a:rPr lang="fr-FR" sz="1600" b="1" dirty="0" smtClean="0">
                <a:latin typeface="Arial" panose="020B0604020202020204"/>
                <a:cs typeface="Arial" panose="020B0604020202020204"/>
              </a:rPr>
              <a:t> </a:t>
            </a:r>
            <a:r>
              <a:rPr lang="fr-FR" sz="1600" dirty="0" smtClean="0">
                <a:latin typeface="Arial" panose="020B0604020202020204"/>
                <a:cs typeface="Arial" panose="020B0604020202020204"/>
              </a:rPr>
              <a:t>Il </a:t>
            </a:r>
            <a:r>
              <a:rPr lang="fr-FR" sz="1600" dirty="0">
                <a:latin typeface="Arial" panose="020B0604020202020204"/>
                <a:cs typeface="Arial" panose="020B0604020202020204"/>
              </a:rPr>
              <a:t>existe à partir du Moyen </a:t>
            </a:r>
            <a:r>
              <a:rPr lang="fr-FR" sz="1600" dirty="0" smtClean="0">
                <a:latin typeface="Arial" panose="020B0604020202020204"/>
                <a:cs typeface="Arial" panose="020B0604020202020204"/>
              </a:rPr>
              <a:t>Empire-  Le </a:t>
            </a:r>
            <a:r>
              <a:rPr lang="fr-FR" sz="1600" dirty="0">
                <a:latin typeface="Arial" panose="020B0604020202020204"/>
                <a:cs typeface="Arial" panose="020B0604020202020204"/>
              </a:rPr>
              <a:t>fût est lisse, mais peut être couvert de bas </a:t>
            </a:r>
            <a:r>
              <a:rPr lang="fr-FR" sz="1600" dirty="0" smtClean="0">
                <a:latin typeface="Arial" panose="020B0604020202020204"/>
                <a:cs typeface="Arial" panose="020B0604020202020204"/>
              </a:rPr>
              <a:t>reliefs - Le </a:t>
            </a:r>
            <a:r>
              <a:rPr lang="fr-FR" sz="1600" dirty="0">
                <a:latin typeface="Arial" panose="020B0604020202020204"/>
                <a:cs typeface="Arial" panose="020B0604020202020204"/>
              </a:rPr>
              <a:t>chapiteau s'évase en forme de cloche inversée couvert de bas relief (quand le bas relief représente des papyrus, on l'appelle parfois « papyrus ouvert »</a:t>
            </a:r>
            <a:r>
              <a:rPr lang="fr-FR" sz="1600" dirty="0" smtClean="0">
                <a:latin typeface="Arial" panose="020B0604020202020204"/>
                <a:cs typeface="Arial" panose="020B0604020202020204"/>
              </a:rPr>
              <a:t>) - La </a:t>
            </a:r>
            <a:r>
              <a:rPr lang="fr-FR" sz="1600" dirty="0">
                <a:latin typeface="Arial" panose="020B0604020202020204"/>
                <a:cs typeface="Arial" panose="020B0604020202020204"/>
              </a:rPr>
              <a:t>base est </a:t>
            </a:r>
            <a:r>
              <a:rPr lang="fr-FR" sz="1600" dirty="0" smtClean="0">
                <a:latin typeface="Arial" panose="020B0604020202020204"/>
                <a:cs typeface="Arial" panose="020B0604020202020204"/>
              </a:rPr>
              <a:t>simple - L'abaque </a:t>
            </a:r>
            <a:r>
              <a:rPr lang="fr-FR" sz="1600" dirty="0">
                <a:latin typeface="Arial" panose="020B0604020202020204"/>
                <a:cs typeface="Arial" panose="020B0604020202020204"/>
              </a:rPr>
              <a:t>ne se voit pas d'en bas, car le chapiteau évasé le dissimule.</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Ordre hathorique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Le chapiteau représente la déesse Hathor vue de face sur les 4 </a:t>
            </a:r>
            <a:r>
              <a:rPr lang="fr-FR" sz="1600" dirty="0" smtClean="0">
                <a:latin typeface="Arial" panose="020B0604020202020204"/>
                <a:cs typeface="Arial" panose="020B0604020202020204"/>
              </a:rPr>
              <a:t>côtés - Le </a:t>
            </a:r>
            <a:r>
              <a:rPr lang="fr-FR" sz="1600" dirty="0">
                <a:latin typeface="Arial" panose="020B0604020202020204"/>
                <a:cs typeface="Arial" panose="020B0604020202020204"/>
              </a:rPr>
              <a:t>fût est lisse, mais peut être couvert de bas-</a:t>
            </a:r>
            <a:r>
              <a:rPr lang="fr-FR" sz="1600" dirty="0" smtClean="0">
                <a:latin typeface="Arial" panose="020B0604020202020204"/>
                <a:cs typeface="Arial" panose="020B0604020202020204"/>
              </a:rPr>
              <a:t>reliefs - La </a:t>
            </a:r>
            <a:r>
              <a:rPr lang="fr-FR" sz="1600" dirty="0">
                <a:latin typeface="Arial" panose="020B0604020202020204"/>
                <a:cs typeface="Arial" panose="020B0604020202020204"/>
              </a:rPr>
              <a:t>base est </a:t>
            </a:r>
            <a:r>
              <a:rPr lang="fr-FR" sz="1600" dirty="0" smtClean="0">
                <a:latin typeface="Arial" panose="020B0604020202020204"/>
                <a:cs typeface="Arial" panose="020B0604020202020204"/>
              </a:rPr>
              <a:t>simple - L'abaque </a:t>
            </a:r>
            <a:r>
              <a:rPr lang="fr-FR" sz="1600" dirty="0">
                <a:latin typeface="Arial" panose="020B0604020202020204"/>
                <a:cs typeface="Arial" panose="020B0604020202020204"/>
              </a:rPr>
              <a:t>est assez grand.</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Procédés de construction</a:t>
            </a:r>
            <a:endParaRPr lang="fr-FR"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solidFill>
                  <a:srgbClr val="FF0000"/>
                </a:solidFill>
              </a:rPr>
              <a:t>Procédés de construction</a:t>
            </a:r>
            <a:endParaRPr lang="fr-FR" dirty="0"/>
          </a:p>
        </p:txBody>
      </p:sp>
      <p:pic>
        <p:nvPicPr>
          <p:cNvPr id="4" name="Image 3" descr="DOC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151" y="1878245"/>
            <a:ext cx="9126849" cy="4685115"/>
          </a:xfrm>
          <a:prstGeom prst="rect">
            <a:avLst/>
          </a:prstGeom>
        </p:spPr>
      </p:pic>
      <p:sp>
        <p:nvSpPr>
          <p:cNvPr id="6" name="Rectangle 5"/>
          <p:cNvSpPr/>
          <p:nvPr/>
        </p:nvSpPr>
        <p:spPr>
          <a:xfrm>
            <a:off x="457200" y="1874951"/>
            <a:ext cx="3416545" cy="369332"/>
          </a:xfrm>
          <a:prstGeom prst="rect">
            <a:avLst/>
          </a:prstGeom>
        </p:spPr>
        <p:txBody>
          <a:bodyPr wrap="none">
            <a:spAutoFit/>
          </a:bodyPr>
          <a:lstStyle/>
          <a:p>
            <a:r>
              <a:rPr lang="fr-FR" b="1" dirty="0">
                <a:latin typeface="Arial" panose="020B0604020202020204"/>
                <a:cs typeface="Arial" panose="020B0604020202020204"/>
              </a:rPr>
              <a:t>COLONNES ET CHAPITEAUX</a:t>
            </a:r>
            <a:endParaRPr lang="fr-FR" b="1" dirty="0">
              <a:latin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pPr marL="0" indent="0">
              <a:buNone/>
            </a:pPr>
            <a:r>
              <a:rPr lang="fr-FR" sz="1600" b="1" dirty="0" smtClean="0">
                <a:latin typeface="Arial" panose="020B0604020202020204"/>
                <a:cs typeface="Arial" panose="020B0604020202020204"/>
              </a:rPr>
              <a:t>MISE EN PLACE DES OBELISQUES ET DES COUVERTURES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Procédés de construction</a:t>
            </a:r>
            <a:endParaRPr lang="fr-FR" dirty="0">
              <a:solidFill>
                <a:srgbClr val="FF0000"/>
              </a:solidFill>
            </a:endParaRPr>
          </a:p>
        </p:txBody>
      </p:sp>
      <p:pic>
        <p:nvPicPr>
          <p:cNvPr id="5" name="Image 4" descr="DOC5.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0" y="1877060"/>
            <a:ext cx="4318000" cy="4641446"/>
          </a:xfrm>
          <a:prstGeom prst="rect">
            <a:avLst/>
          </a:prstGeom>
        </p:spPr>
      </p:pic>
      <p:pic>
        <p:nvPicPr>
          <p:cNvPr id="8" name="Image 7" descr="mise-en-place-des-obelisques-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8060" y="2390140"/>
            <a:ext cx="4029761" cy="34696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pPr marL="0" indent="0">
              <a:buNone/>
            </a:pPr>
            <a:r>
              <a:rPr lang="fr-FR" sz="1600" b="1" dirty="0">
                <a:latin typeface="Arial" panose="020B0604020202020204"/>
                <a:cs typeface="Arial" panose="020B0604020202020204"/>
              </a:rPr>
              <a:t>ARCHITECTURE RELIGIEUSE </a:t>
            </a: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Tombeaux et temples </a:t>
            </a:r>
            <a:r>
              <a:rPr lang="fr-FR" sz="1600" dirty="0">
                <a:latin typeface="Arial" panose="020B0604020202020204"/>
                <a:cs typeface="Arial" panose="020B0604020202020204"/>
              </a:rPr>
              <a:t>: seuls les monuments religieux sont </a:t>
            </a:r>
            <a:r>
              <a:rPr lang="fr-FR" sz="1600" dirty="0" smtClean="0">
                <a:latin typeface="Arial" panose="020B0604020202020204"/>
                <a:cs typeface="Arial" panose="020B0604020202020204"/>
              </a:rPr>
              <a:t>édifiés </a:t>
            </a:r>
            <a:r>
              <a:rPr lang="fr-FR" sz="1600" dirty="0">
                <a:latin typeface="Arial" panose="020B0604020202020204"/>
                <a:cs typeface="Arial" panose="020B0604020202020204"/>
              </a:rPr>
              <a:t>de </a:t>
            </a:r>
            <a:r>
              <a:rPr lang="fr-FR" sz="1600" dirty="0" smtClean="0">
                <a:latin typeface="Arial" panose="020B0604020202020204"/>
                <a:cs typeface="Arial" panose="020B0604020202020204"/>
              </a:rPr>
              <a:t>manière pérenne </a:t>
            </a:r>
            <a:r>
              <a:rPr lang="fr-FR" sz="1600" dirty="0">
                <a:latin typeface="Arial" panose="020B0604020202020204"/>
                <a:cs typeface="Arial" panose="020B0604020202020204"/>
              </a:rPr>
              <a:t>en pierre </a:t>
            </a:r>
            <a:r>
              <a:rPr lang="fr-FR" sz="1600" dirty="0" smtClean="0">
                <a:latin typeface="Arial" panose="020B0604020202020204"/>
                <a:cs typeface="Arial" panose="020B0604020202020204"/>
              </a:rPr>
              <a:t>appareillée </a:t>
            </a:r>
            <a:endParaRPr lang="fr-FR" sz="1600" dirty="0" smtClean="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ARCHITECTURE CIVILE : MAISONS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Brique crue, roseaux et palmier (toitures, corniches...)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Murs enduits et / ou peints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Un </a:t>
            </a:r>
            <a:r>
              <a:rPr lang="fr-FR" sz="1600" dirty="0" err="1">
                <a:latin typeface="Arial" panose="020B0604020202020204"/>
                <a:cs typeface="Arial" panose="020B0604020202020204"/>
              </a:rPr>
              <a:t>étage</a:t>
            </a:r>
            <a:r>
              <a:rPr lang="fr-FR" sz="1600" dirty="0">
                <a:latin typeface="Arial" panose="020B0604020202020204"/>
                <a:cs typeface="Arial" panose="020B0604020202020204"/>
              </a:rPr>
              <a:t> et terrasse au maximum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Jardins, celliers, greniers, habitations des esclaves </a:t>
            </a:r>
            <a:endParaRPr lang="fr-FR" sz="1600" dirty="0" smtClean="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ARCHITECTURE PALATIALE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Brique crue, roseaux et palmier • Colonne en bois</a:t>
            </a:r>
            <a:br>
              <a:rPr lang="fr-FR" sz="1600" dirty="0">
                <a:latin typeface="Arial" panose="020B0604020202020204"/>
                <a:cs typeface="Arial" panose="020B0604020202020204"/>
              </a:rPr>
            </a:br>
            <a:r>
              <a:rPr lang="fr-FR" sz="1600" dirty="0">
                <a:latin typeface="Arial" panose="020B0604020202020204"/>
                <a:cs typeface="Arial" panose="020B0604020202020204"/>
              </a:rPr>
              <a:t>• Seuils et linteaux en pierre</a:t>
            </a:r>
            <a:br>
              <a:rPr lang="fr-FR" sz="1600" dirty="0">
                <a:latin typeface="Arial" panose="020B0604020202020204"/>
                <a:cs typeface="Arial" panose="020B0604020202020204"/>
              </a:rPr>
            </a:br>
            <a:r>
              <a:rPr lang="fr-FR" sz="1600" dirty="0">
                <a:latin typeface="Arial" panose="020B0604020202020204"/>
                <a:cs typeface="Arial" panose="020B0604020202020204"/>
              </a:rPr>
              <a:t>• Parois </a:t>
            </a:r>
            <a:r>
              <a:rPr lang="fr-FR" sz="1600" dirty="0" err="1">
                <a:latin typeface="Arial" panose="020B0604020202020204"/>
                <a:cs typeface="Arial" panose="020B0604020202020204"/>
              </a:rPr>
              <a:t>décorées</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Typologies architecturales</a:t>
            </a:r>
            <a:endParaRPr lang="fr-FR"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5679440" cy="1843722"/>
          </a:xfrm>
        </p:spPr>
        <p:txBody>
          <a:bodyPr>
            <a:noAutofit/>
          </a:bodyPr>
          <a:lstStyle/>
          <a:p>
            <a:pPr marL="0" indent="0">
              <a:buNone/>
            </a:pPr>
            <a:r>
              <a:rPr lang="fr-FR" sz="1600" b="1" dirty="0">
                <a:latin typeface="Arial" panose="020B0604020202020204"/>
                <a:cs typeface="Arial" panose="020B0604020202020204"/>
              </a:rPr>
              <a:t>MASTABA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err="1">
                <a:latin typeface="Arial" panose="020B0604020202020204"/>
                <a:cs typeface="Arial" panose="020B0604020202020204"/>
              </a:rPr>
              <a:t>Nécropoles</a:t>
            </a:r>
            <a:r>
              <a:rPr lang="fr-FR" sz="1600" dirty="0">
                <a:latin typeface="Arial" panose="020B0604020202020204"/>
                <a:cs typeface="Arial" panose="020B0604020202020204"/>
              </a:rPr>
              <a:t> royales : apparition au cours de la </a:t>
            </a:r>
            <a:r>
              <a:rPr lang="fr-FR" sz="1600" dirty="0" err="1">
                <a:latin typeface="Arial" panose="020B0604020202020204"/>
                <a:cs typeface="Arial" panose="020B0604020202020204"/>
              </a:rPr>
              <a:t>période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Thinite</a:t>
            </a:r>
            <a:r>
              <a:rPr lang="fr-FR" sz="1600" dirty="0">
                <a:latin typeface="Arial" panose="020B0604020202020204"/>
                <a:cs typeface="Arial" panose="020B0604020202020204"/>
              </a:rPr>
              <a:t> (Abydos, ≈ 3000 av. JC). Se </a:t>
            </a:r>
            <a:r>
              <a:rPr lang="fr-FR" sz="1600" dirty="0" err="1">
                <a:latin typeface="Arial" panose="020B0604020202020204"/>
                <a:cs typeface="Arial" panose="020B0604020202020204"/>
              </a:rPr>
              <a:t>perpétuera</a:t>
            </a:r>
            <a:r>
              <a:rPr lang="fr-FR" sz="1600" dirty="0">
                <a:latin typeface="Arial" panose="020B0604020202020204"/>
                <a:cs typeface="Arial" panose="020B0604020202020204"/>
              </a:rPr>
              <a:t> pour les </a:t>
            </a:r>
            <a:r>
              <a:rPr lang="fr-FR" sz="1600" dirty="0" err="1">
                <a:latin typeface="Arial" panose="020B0604020202020204"/>
                <a:cs typeface="Arial" panose="020B0604020202020204"/>
              </a:rPr>
              <a:t>sépultures</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privées</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Massif </a:t>
            </a:r>
            <a:r>
              <a:rPr lang="fr-FR" sz="1600" dirty="0" err="1">
                <a:latin typeface="Arial" panose="020B0604020202020204"/>
                <a:cs typeface="Arial" panose="020B0604020202020204"/>
              </a:rPr>
              <a:t>trapézoïdal</a:t>
            </a:r>
            <a:r>
              <a:rPr lang="fr-FR" sz="1600" dirty="0">
                <a:latin typeface="Arial" panose="020B0604020202020204"/>
                <a:cs typeface="Arial" panose="020B0604020202020204"/>
              </a:rPr>
              <a:t> en brique crue puis </a:t>
            </a:r>
            <a:r>
              <a:rPr lang="fr-FR" sz="1600" dirty="0" smtClean="0">
                <a:latin typeface="Arial" panose="020B0604020202020204"/>
                <a:cs typeface="Arial" panose="020B0604020202020204"/>
              </a:rPr>
              <a:t>ultérieurement </a:t>
            </a:r>
            <a:r>
              <a:rPr lang="fr-FR" sz="1600" dirty="0">
                <a:latin typeface="Arial" panose="020B0604020202020204"/>
                <a:cs typeface="Arial" panose="020B0604020202020204"/>
              </a:rPr>
              <a:t>en petit appareil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Tombeaux : Mastaba</a:t>
            </a:r>
            <a:endParaRPr lang="fr-FR" dirty="0">
              <a:solidFill>
                <a:srgbClr val="FF0000"/>
              </a:solidFill>
            </a:endParaRPr>
          </a:p>
        </p:txBody>
      </p:sp>
      <p:pic>
        <p:nvPicPr>
          <p:cNvPr id="2" name="Image 1" descr="mastabashepseskaf10.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3395980"/>
            <a:ext cx="7475690" cy="2883481"/>
          </a:xfrm>
          <a:prstGeom prst="rect">
            <a:avLst/>
          </a:prstGeom>
        </p:spPr>
      </p:pic>
      <p:pic>
        <p:nvPicPr>
          <p:cNvPr id="4" name="Image 3" descr="Mastaba_plan.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2961" y="1194867"/>
            <a:ext cx="2728044" cy="2066493"/>
          </a:xfrm>
          <a:prstGeom prst="rect">
            <a:avLst/>
          </a:prstGeom>
        </p:spPr>
      </p:pic>
      <p:sp>
        <p:nvSpPr>
          <p:cNvPr id="5" name="ZoneTexte 4"/>
          <p:cNvSpPr txBox="1"/>
          <p:nvPr/>
        </p:nvSpPr>
        <p:spPr>
          <a:xfrm>
            <a:off x="457200" y="6409471"/>
            <a:ext cx="2635657" cy="307777"/>
          </a:xfrm>
          <a:prstGeom prst="rect">
            <a:avLst/>
          </a:prstGeom>
          <a:noFill/>
        </p:spPr>
        <p:txBody>
          <a:bodyPr wrap="none" rtlCol="0">
            <a:spAutoFit/>
          </a:bodyPr>
          <a:lstStyle/>
          <a:p>
            <a:r>
              <a:rPr lang="en-US" sz="1400" i="1" dirty="0" err="1" smtClean="0"/>
              <a:t>Mastaba</a:t>
            </a:r>
            <a:r>
              <a:rPr lang="en-US" sz="1400" i="1" dirty="0" smtClean="0"/>
              <a:t> de </a:t>
            </a:r>
            <a:r>
              <a:rPr lang="en-US" sz="1400" i="1" dirty="0" err="1" smtClean="0"/>
              <a:t>Shepseskaf</a:t>
            </a:r>
            <a:r>
              <a:rPr lang="en-US" sz="1400" i="1" dirty="0" smtClean="0"/>
              <a:t>, Saqqara </a:t>
            </a:r>
            <a:endParaRPr lang="fr-FR" sz="1400" i="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1843722"/>
          </a:xfrm>
        </p:spPr>
        <p:txBody>
          <a:bodyPr>
            <a:noAutofit/>
          </a:bodyPr>
          <a:lstStyle/>
          <a:p>
            <a:pPr marL="0" indent="0" algn="just">
              <a:buNone/>
            </a:pPr>
            <a:r>
              <a:rPr lang="nb-NO" sz="1600" b="1" dirty="0">
                <a:latin typeface="Arial" panose="020B0604020202020204"/>
                <a:cs typeface="Arial" panose="020B0604020202020204"/>
              </a:rPr>
              <a:t>Pyramide à </a:t>
            </a:r>
            <a:r>
              <a:rPr lang="nb-NO" sz="1600" b="1" dirty="0" err="1">
                <a:latin typeface="Arial" panose="020B0604020202020204"/>
                <a:cs typeface="Arial" panose="020B0604020202020204"/>
              </a:rPr>
              <a:t>degrés</a:t>
            </a:r>
            <a:r>
              <a:rPr lang="nb-NO" sz="1600" b="1" dirty="0">
                <a:latin typeface="Arial" panose="020B0604020202020204"/>
                <a:cs typeface="Arial" panose="020B0604020202020204"/>
              </a:rPr>
              <a:t> de </a:t>
            </a:r>
            <a:r>
              <a:rPr lang="nb-NO" sz="1600" b="1" dirty="0" err="1">
                <a:latin typeface="Arial" panose="020B0604020202020204"/>
                <a:cs typeface="Arial" panose="020B0604020202020204"/>
              </a:rPr>
              <a:t>Djeser</a:t>
            </a:r>
            <a:r>
              <a:rPr lang="nb-NO" sz="1600" b="1" dirty="0">
                <a:latin typeface="Arial" panose="020B0604020202020204"/>
                <a:cs typeface="Arial" panose="020B0604020202020204"/>
              </a:rPr>
              <a:t> </a:t>
            </a:r>
            <a:r>
              <a:rPr lang="nb-NO" sz="1600" dirty="0">
                <a:latin typeface="Arial" panose="020B0604020202020204"/>
                <a:cs typeface="Arial" panose="020B0604020202020204"/>
              </a:rPr>
              <a:t>(</a:t>
            </a:r>
            <a:r>
              <a:rPr lang="nb-NO" sz="1600" dirty="0" err="1">
                <a:latin typeface="Arial" panose="020B0604020202020204"/>
                <a:cs typeface="Arial" panose="020B0604020202020204"/>
              </a:rPr>
              <a:t>III°Dynastie</a:t>
            </a:r>
            <a:r>
              <a:rPr lang="nb-NO" sz="1600" dirty="0">
                <a:latin typeface="Arial" panose="020B0604020202020204"/>
                <a:cs typeface="Arial" panose="020B0604020202020204"/>
              </a:rPr>
              <a:t>, 2700 av. JC - </a:t>
            </a:r>
            <a:r>
              <a:rPr lang="nb-NO" sz="1600" dirty="0" err="1">
                <a:latin typeface="Arial" panose="020B0604020202020204"/>
                <a:cs typeface="Arial" panose="020B0604020202020204"/>
              </a:rPr>
              <a:t>Imhotep</a:t>
            </a:r>
            <a:r>
              <a:rPr lang="nb-NO" sz="1600" dirty="0">
                <a:latin typeface="Arial" panose="020B0604020202020204"/>
                <a:cs typeface="Arial" panose="020B0604020202020204"/>
              </a:rPr>
              <a:t>) </a:t>
            </a:r>
            <a:endParaRPr lang="nb-NO"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Tombeaux : Pyramides</a:t>
            </a:r>
            <a:endParaRPr lang="fr-FR" dirty="0">
              <a:solidFill>
                <a:srgbClr val="FF0000"/>
              </a:solidFill>
            </a:endParaRPr>
          </a:p>
        </p:txBody>
      </p:sp>
      <p:pic>
        <p:nvPicPr>
          <p:cNvPr id="7" name="Image 6" descr="Sakkara_0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0" y="2352040"/>
            <a:ext cx="5054557" cy="3784600"/>
          </a:xfrm>
          <a:prstGeom prst="rect">
            <a:avLst/>
          </a:prstGeom>
        </p:spPr>
      </p:pic>
      <p:pic>
        <p:nvPicPr>
          <p:cNvPr id="8" name="Image 7" descr="EGANEMPLANSAQQA005.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6976" y="2352039"/>
            <a:ext cx="3663610" cy="378460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5033962"/>
          </a:xfrm>
        </p:spPr>
        <p:txBody>
          <a:bodyPr>
            <a:noAutofit/>
          </a:bodyPr>
          <a:lstStyle/>
          <a:p>
            <a:pPr marL="0" indent="0" algn="just">
              <a:buNone/>
            </a:pPr>
            <a:r>
              <a:rPr lang="pt-BR" sz="1600" b="1" dirty="0" err="1">
                <a:latin typeface="Arial" panose="020B0604020202020204"/>
                <a:cs typeface="Arial" panose="020B0604020202020204"/>
              </a:rPr>
              <a:t>Pyramide</a:t>
            </a:r>
            <a:r>
              <a:rPr lang="pt-BR" sz="1600" b="1" dirty="0">
                <a:latin typeface="Arial" panose="020B0604020202020204"/>
                <a:cs typeface="Arial" panose="020B0604020202020204"/>
              </a:rPr>
              <a:t> de </a:t>
            </a:r>
            <a:r>
              <a:rPr lang="pt-BR" sz="1600" b="1" dirty="0" err="1">
                <a:latin typeface="Arial" panose="020B0604020202020204"/>
                <a:cs typeface="Arial" panose="020B0604020202020204"/>
              </a:rPr>
              <a:t>Meidoum</a:t>
            </a:r>
            <a:r>
              <a:rPr lang="pt-BR" sz="1600" b="1" dirty="0">
                <a:latin typeface="Arial" panose="020B0604020202020204"/>
                <a:cs typeface="Arial" panose="020B0604020202020204"/>
              </a:rPr>
              <a:t> </a:t>
            </a:r>
            <a:r>
              <a:rPr lang="pt-BR" sz="1600" dirty="0">
                <a:latin typeface="Arial" panose="020B0604020202020204"/>
                <a:cs typeface="Arial" panose="020B0604020202020204"/>
              </a:rPr>
              <a:t>(</a:t>
            </a:r>
            <a:r>
              <a:rPr lang="pt-BR" sz="1600" dirty="0" err="1">
                <a:latin typeface="Arial" panose="020B0604020202020204"/>
                <a:cs typeface="Arial" panose="020B0604020202020204"/>
              </a:rPr>
              <a:t>Sefrou</a:t>
            </a:r>
            <a:r>
              <a:rPr lang="pt-BR" sz="1600" dirty="0">
                <a:latin typeface="Arial" panose="020B0604020202020204"/>
                <a:cs typeface="Arial" panose="020B0604020202020204"/>
              </a:rPr>
              <a:t>, 2613-2589 av. JC) </a:t>
            </a:r>
            <a:endParaRPr lang="pt-BR" sz="1600" dirty="0">
              <a:latin typeface="Arial" panose="020B0604020202020204"/>
              <a:cs typeface="Arial" panose="020B0604020202020204"/>
            </a:endParaRPr>
          </a:p>
          <a:p>
            <a:pPr marL="0" indent="0" algn="just">
              <a:buNone/>
            </a:pPr>
            <a:r>
              <a:rPr lang="fr-FR" sz="1600" dirty="0">
                <a:latin typeface="Arial" panose="020B0604020202020204"/>
                <a:cs typeface="Arial" panose="020B0604020202020204"/>
              </a:rPr>
              <a:t>Pyramide à </a:t>
            </a:r>
            <a:r>
              <a:rPr lang="fr-FR" sz="1600" dirty="0" err="1">
                <a:latin typeface="Arial" panose="020B0604020202020204"/>
                <a:cs typeface="Arial" panose="020B0604020202020204"/>
              </a:rPr>
              <a:t>degre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ravalée</a:t>
            </a:r>
            <a:r>
              <a:rPr lang="fr-FR" sz="1600" dirty="0">
                <a:latin typeface="Arial" panose="020B0604020202020204"/>
                <a:cs typeface="Arial" panose="020B0604020202020204"/>
              </a:rPr>
              <a:t> ensuite avec un </a:t>
            </a:r>
            <a:r>
              <a:rPr lang="fr-FR" sz="1600" dirty="0" err="1">
                <a:latin typeface="Arial" panose="020B0604020202020204"/>
                <a:cs typeface="Arial" panose="020B0604020202020204"/>
              </a:rPr>
              <a:t>revêtement</a:t>
            </a:r>
            <a:r>
              <a:rPr lang="fr-FR" sz="1600" dirty="0">
                <a:latin typeface="Arial" panose="020B0604020202020204"/>
                <a:cs typeface="Arial" panose="020B0604020202020204"/>
              </a:rPr>
              <a:t> en calcaire </a:t>
            </a:r>
            <a:endParaRPr lang="fr-FR" sz="1600" dirty="0">
              <a:latin typeface="Arial" panose="020B0604020202020204"/>
              <a:cs typeface="Arial" panose="020B0604020202020204"/>
            </a:endParaRPr>
          </a:p>
          <a:p>
            <a:pPr marL="0" indent="0" algn="just">
              <a:buNone/>
            </a:pPr>
            <a:endParaRPr lang="fr-FR" sz="1600" dirty="0" smtClean="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smtClean="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smtClean="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smtClean="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smtClean="0">
              <a:latin typeface="Arial" panose="020B0604020202020204"/>
              <a:cs typeface="Arial" panose="020B0604020202020204"/>
            </a:endParaRPr>
          </a:p>
          <a:p>
            <a:pPr marL="0" indent="0">
              <a:buNone/>
            </a:pPr>
            <a:endParaRPr lang="fr-FR" sz="1600" b="1" dirty="0" smtClean="0">
              <a:latin typeface="Arial" panose="020B0604020202020204"/>
              <a:cs typeface="Arial" panose="020B0604020202020204"/>
            </a:endParaRPr>
          </a:p>
          <a:p>
            <a:pPr marL="0" indent="0">
              <a:buNone/>
            </a:pPr>
            <a:r>
              <a:rPr lang="fr-FR" sz="1600" b="1" dirty="0" smtClean="0">
                <a:latin typeface="Arial" panose="020B0604020202020204"/>
                <a:cs typeface="Arial" panose="020B0604020202020204"/>
              </a:rPr>
              <a:t>Pyramide </a:t>
            </a:r>
            <a:r>
              <a:rPr lang="fr-FR" sz="1600" b="1" dirty="0">
                <a:latin typeface="Arial" panose="020B0604020202020204"/>
                <a:cs typeface="Arial" panose="020B0604020202020204"/>
              </a:rPr>
              <a:t>de </a:t>
            </a:r>
            <a:r>
              <a:rPr lang="fr-FR" sz="1600" b="1" dirty="0" err="1">
                <a:latin typeface="Arial" panose="020B0604020202020204"/>
                <a:cs typeface="Arial" panose="020B0604020202020204"/>
              </a:rPr>
              <a:t>Sefrou</a:t>
            </a:r>
            <a:r>
              <a:rPr lang="fr-FR" sz="1600" b="1" dirty="0">
                <a:latin typeface="Arial" panose="020B0604020202020204"/>
                <a:cs typeface="Arial" panose="020B0604020202020204"/>
              </a:rPr>
              <a:t> à </a:t>
            </a:r>
            <a:r>
              <a:rPr lang="fr-FR" sz="1600" b="1" dirty="0" err="1">
                <a:latin typeface="Arial" panose="020B0604020202020204"/>
                <a:cs typeface="Arial" panose="020B0604020202020204"/>
              </a:rPr>
              <a:t>Dahshour</a:t>
            </a:r>
            <a:r>
              <a:rPr lang="fr-FR" sz="1600" b="1"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Pyramide </a:t>
            </a:r>
            <a:r>
              <a:rPr lang="fr-FR" sz="1600" b="1" dirty="0" err="1">
                <a:latin typeface="Arial" panose="020B0604020202020204"/>
                <a:cs typeface="Arial" panose="020B0604020202020204"/>
              </a:rPr>
              <a:t>rhomboïdale</a:t>
            </a:r>
            <a:br>
              <a:rPr lang="fr-FR" sz="1600" dirty="0">
                <a:latin typeface="Arial" panose="020B0604020202020204"/>
                <a:cs typeface="Arial" panose="020B0604020202020204"/>
              </a:rPr>
            </a:br>
            <a:r>
              <a:rPr lang="fr-FR" sz="1600" dirty="0">
                <a:latin typeface="Arial" panose="020B0604020202020204"/>
                <a:cs typeface="Arial" panose="020B0604020202020204"/>
              </a:rPr>
              <a:t>• Fixation par assise du </a:t>
            </a:r>
            <a:r>
              <a:rPr lang="fr-FR" sz="1600" dirty="0" err="1">
                <a:latin typeface="Arial" panose="020B0604020202020204"/>
                <a:cs typeface="Arial" panose="020B0604020202020204"/>
              </a:rPr>
              <a:t>revêtement</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Tombeaux : Pyramides</a:t>
            </a:r>
            <a:endParaRPr lang="fr-FR" dirty="0">
              <a:solidFill>
                <a:srgbClr val="FF0000"/>
              </a:solidFill>
            </a:endParaRPr>
          </a:p>
        </p:txBody>
      </p:sp>
      <p:pic>
        <p:nvPicPr>
          <p:cNvPr id="2" name="Image 1" descr="Snefrou 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83920" y="2190181"/>
            <a:ext cx="2783840" cy="2138543"/>
          </a:xfrm>
          <a:prstGeom prst="rect">
            <a:avLst/>
          </a:prstGeom>
        </p:spPr>
      </p:pic>
      <p:pic>
        <p:nvPicPr>
          <p:cNvPr id="4" name="Image 3" descr="meidoum_Page_3.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721" y="2190181"/>
            <a:ext cx="3718039" cy="2402139"/>
          </a:xfrm>
          <a:prstGeom prst="rect">
            <a:avLst/>
          </a:prstGeom>
        </p:spPr>
      </p:pic>
      <p:pic>
        <p:nvPicPr>
          <p:cNvPr id="5" name="Image 4" descr="pyram-rhomboid.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8160" y="4592320"/>
            <a:ext cx="3657600" cy="21717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5033962"/>
          </a:xfrm>
        </p:spPr>
        <p:txBody>
          <a:bodyPr>
            <a:noAutofit/>
          </a:bodyPr>
          <a:lstStyle/>
          <a:p>
            <a:pPr marL="0" indent="0" algn="just">
              <a:buNone/>
            </a:pPr>
            <a:r>
              <a:rPr lang="fr-FR" sz="1600" b="1" dirty="0">
                <a:latin typeface="Arial" panose="020B0604020202020204"/>
                <a:cs typeface="Arial" panose="020B0604020202020204"/>
              </a:rPr>
              <a:t>Pyramides de Gizeh </a:t>
            </a:r>
            <a:r>
              <a:rPr lang="fr-FR" sz="1600" dirty="0">
                <a:latin typeface="Arial" panose="020B0604020202020204"/>
                <a:cs typeface="Arial" panose="020B0604020202020204"/>
              </a:rPr>
              <a:t>(</a:t>
            </a:r>
            <a:r>
              <a:rPr lang="fr-FR" sz="1600" dirty="0" err="1">
                <a:latin typeface="Arial" panose="020B0604020202020204"/>
                <a:cs typeface="Arial" panose="020B0604020202020204"/>
              </a:rPr>
              <a:t>IV°dynastie</a:t>
            </a:r>
            <a:r>
              <a:rPr lang="fr-FR" sz="1600" dirty="0">
                <a:latin typeface="Arial" panose="020B0604020202020204"/>
                <a:cs typeface="Arial" panose="020B0604020202020204"/>
              </a:rPr>
              <a:t> ; 2600-2500 av. JC)</a:t>
            </a:r>
            <a:br>
              <a:rPr lang="fr-FR" sz="1600" dirty="0">
                <a:latin typeface="Arial" panose="020B0604020202020204"/>
                <a:cs typeface="Arial" panose="020B0604020202020204"/>
              </a:rPr>
            </a:b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Tombeaux : Pyramides</a:t>
            </a:r>
            <a:endParaRPr lang="fr-FR" dirty="0">
              <a:solidFill>
                <a:srgbClr val="FF0000"/>
              </a:solidFill>
            </a:endParaRPr>
          </a:p>
        </p:txBody>
      </p:sp>
      <p:pic>
        <p:nvPicPr>
          <p:cNvPr id="7" name="Image 6" descr="DOC7.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460" y="1831984"/>
            <a:ext cx="8145780" cy="49244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5033962"/>
          </a:xfrm>
        </p:spPr>
        <p:txBody>
          <a:bodyPr>
            <a:noAutofit/>
          </a:bodyPr>
          <a:lstStyle/>
          <a:p>
            <a:pPr marL="0" indent="0" algn="just">
              <a:buNone/>
            </a:pPr>
            <a:r>
              <a:rPr lang="fr-FR" sz="1600" b="1" dirty="0" err="1">
                <a:latin typeface="Arial" panose="020B0604020202020204"/>
                <a:cs typeface="Arial" panose="020B0604020202020204"/>
              </a:rPr>
              <a:t>Dernières</a:t>
            </a:r>
            <a:r>
              <a:rPr lang="fr-FR" sz="1600" b="1" dirty="0">
                <a:latin typeface="Arial" panose="020B0604020202020204"/>
                <a:cs typeface="Arial" panose="020B0604020202020204"/>
              </a:rPr>
              <a:t> pyramides </a:t>
            </a:r>
            <a:r>
              <a:rPr lang="fr-FR" sz="1600" dirty="0">
                <a:latin typeface="Arial" panose="020B0604020202020204"/>
                <a:cs typeface="Arial" panose="020B0604020202020204"/>
              </a:rPr>
              <a:t>(Moyen Empire)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buNone/>
            </a:pPr>
            <a:r>
              <a:rPr lang="it-IT" sz="1600" dirty="0">
                <a:latin typeface="Arial" panose="020B0604020202020204"/>
                <a:cs typeface="Arial" panose="020B0604020202020204"/>
              </a:rPr>
              <a:t>• </a:t>
            </a:r>
            <a:r>
              <a:rPr lang="it-IT" sz="1600" dirty="0" err="1">
                <a:latin typeface="Arial" panose="020B0604020202020204"/>
                <a:cs typeface="Arial" panose="020B0604020202020204"/>
              </a:rPr>
              <a:t>Sesostris</a:t>
            </a:r>
            <a:r>
              <a:rPr lang="it-IT" sz="1600" dirty="0">
                <a:latin typeface="Arial" panose="020B0604020202020204"/>
                <a:cs typeface="Arial" panose="020B0604020202020204"/>
              </a:rPr>
              <a:t> I </a:t>
            </a:r>
            <a:endParaRPr lang="it-IT" sz="1600" dirty="0">
              <a:latin typeface="Arial" panose="020B0604020202020204"/>
              <a:cs typeface="Arial" panose="020B0604020202020204"/>
            </a:endParaRPr>
          </a:p>
          <a:p>
            <a:pPr marL="0" indent="0">
              <a:buNone/>
            </a:pPr>
            <a:r>
              <a:rPr lang="it-IT" sz="1600" i="1" dirty="0" smtClean="0">
                <a:latin typeface="Arial" panose="020B0604020202020204"/>
                <a:cs typeface="Arial" panose="020B0604020202020204"/>
              </a:rPr>
              <a:t>(</a:t>
            </a:r>
            <a:r>
              <a:rPr lang="it-IT" sz="1600" i="1" dirty="0">
                <a:latin typeface="Arial" panose="020B0604020202020204"/>
                <a:cs typeface="Arial" panose="020B0604020202020204"/>
              </a:rPr>
              <a:t>1956-1911 </a:t>
            </a:r>
            <a:r>
              <a:rPr lang="it-IT" sz="1600" i="1" dirty="0" err="1">
                <a:latin typeface="Arial" panose="020B0604020202020204"/>
                <a:cs typeface="Arial" panose="020B0604020202020204"/>
              </a:rPr>
              <a:t>av</a:t>
            </a:r>
            <a:r>
              <a:rPr lang="it-IT" sz="1600" i="1" dirty="0">
                <a:latin typeface="Arial" panose="020B0604020202020204"/>
                <a:cs typeface="Arial" panose="020B0604020202020204"/>
              </a:rPr>
              <a:t>. JC) </a:t>
            </a:r>
            <a:endParaRPr lang="it-IT" sz="1600" i="1" dirty="0" smtClean="0">
              <a:latin typeface="Arial" panose="020B0604020202020204"/>
              <a:cs typeface="Arial" panose="020B0604020202020204"/>
            </a:endParaRPr>
          </a:p>
          <a:p>
            <a:pPr marL="0" indent="0">
              <a:buNone/>
            </a:pPr>
            <a:endParaRPr lang="it-IT" sz="1600" i="1" dirty="0">
              <a:latin typeface="Arial" panose="020B0604020202020204"/>
              <a:cs typeface="Arial" panose="020B0604020202020204"/>
            </a:endParaRPr>
          </a:p>
          <a:p>
            <a:pPr marL="0" indent="0">
              <a:buNone/>
            </a:pPr>
            <a:endParaRPr lang="it-IT" sz="1600" i="1" dirty="0" smtClean="0">
              <a:latin typeface="Arial" panose="020B0604020202020204"/>
              <a:cs typeface="Arial" panose="020B0604020202020204"/>
            </a:endParaRPr>
          </a:p>
          <a:p>
            <a:pPr marL="0" indent="0">
              <a:buNone/>
            </a:pPr>
            <a:endParaRPr lang="it-IT" sz="1600" i="1" dirty="0">
              <a:latin typeface="Arial" panose="020B0604020202020204"/>
              <a:cs typeface="Arial" panose="020B0604020202020204"/>
            </a:endParaRPr>
          </a:p>
          <a:p>
            <a:pPr marL="0" indent="0">
              <a:buNone/>
            </a:pPr>
            <a:endParaRPr lang="it-IT" sz="1600" dirty="0">
              <a:latin typeface="Arial" panose="020B0604020202020204"/>
              <a:cs typeface="Arial" panose="020B0604020202020204"/>
            </a:endParaRPr>
          </a:p>
          <a:p>
            <a:pPr marL="0" indent="0">
              <a:buNone/>
            </a:pPr>
            <a:r>
              <a:rPr lang="it-IT" sz="1600" dirty="0">
                <a:latin typeface="Arial" panose="020B0604020202020204"/>
                <a:cs typeface="Arial" panose="020B0604020202020204"/>
              </a:rPr>
              <a:t>• </a:t>
            </a:r>
            <a:r>
              <a:rPr lang="it-IT" sz="1600" dirty="0" err="1">
                <a:latin typeface="Arial" panose="020B0604020202020204"/>
                <a:cs typeface="Arial" panose="020B0604020202020204"/>
              </a:rPr>
              <a:t>Sésostris</a:t>
            </a:r>
            <a:r>
              <a:rPr lang="it-IT" sz="1600" dirty="0">
                <a:latin typeface="Arial" panose="020B0604020202020204"/>
                <a:cs typeface="Arial" panose="020B0604020202020204"/>
              </a:rPr>
              <a:t> II </a:t>
            </a:r>
            <a:endParaRPr lang="it-IT" sz="1600" dirty="0">
              <a:latin typeface="Arial" panose="020B0604020202020204"/>
              <a:cs typeface="Arial" panose="020B0604020202020204"/>
            </a:endParaRPr>
          </a:p>
          <a:p>
            <a:pPr marL="0" indent="0">
              <a:buNone/>
            </a:pPr>
            <a:r>
              <a:rPr lang="it-IT" sz="1600" i="1" dirty="0">
                <a:latin typeface="Arial" panose="020B0604020202020204"/>
                <a:cs typeface="Arial" panose="020B0604020202020204"/>
              </a:rPr>
              <a:t>(1877-1870 </a:t>
            </a:r>
            <a:r>
              <a:rPr lang="it-IT" sz="1600" i="1" dirty="0" err="1">
                <a:latin typeface="Arial" panose="020B0604020202020204"/>
                <a:cs typeface="Arial" panose="020B0604020202020204"/>
              </a:rPr>
              <a:t>av</a:t>
            </a:r>
            <a:r>
              <a:rPr lang="it-IT" sz="1600" i="1" dirty="0">
                <a:latin typeface="Arial" panose="020B0604020202020204"/>
                <a:cs typeface="Arial" panose="020B0604020202020204"/>
              </a:rPr>
              <a:t>. JC) </a:t>
            </a:r>
            <a:endParaRPr lang="it-IT" sz="1600" i="1" dirty="0" smtClean="0">
              <a:latin typeface="Arial" panose="020B0604020202020204"/>
              <a:cs typeface="Arial" panose="020B0604020202020204"/>
            </a:endParaRPr>
          </a:p>
          <a:p>
            <a:pPr marL="0" indent="0">
              <a:buNone/>
            </a:pPr>
            <a:endParaRPr lang="it-IT" sz="1600" i="1" dirty="0">
              <a:latin typeface="Arial" panose="020B0604020202020204"/>
              <a:cs typeface="Arial" panose="020B0604020202020204"/>
            </a:endParaRPr>
          </a:p>
          <a:p>
            <a:pPr marL="0" indent="0">
              <a:buNone/>
            </a:pPr>
            <a:endParaRPr lang="it-IT" sz="1600" i="1" dirty="0" smtClean="0">
              <a:latin typeface="Arial" panose="020B0604020202020204"/>
              <a:cs typeface="Arial" panose="020B0604020202020204"/>
            </a:endParaRPr>
          </a:p>
          <a:p>
            <a:pPr marL="0" indent="0">
              <a:buNone/>
            </a:pPr>
            <a:endParaRPr lang="it-IT" sz="1600" dirty="0">
              <a:latin typeface="Arial" panose="020B0604020202020204"/>
              <a:cs typeface="Arial" panose="020B0604020202020204"/>
            </a:endParaRPr>
          </a:p>
          <a:p>
            <a:pPr marL="0" indent="0">
              <a:buNone/>
            </a:pPr>
            <a:r>
              <a:rPr lang="it-IT" sz="1600" dirty="0">
                <a:latin typeface="Arial" panose="020B0604020202020204"/>
                <a:cs typeface="Arial" panose="020B0604020202020204"/>
              </a:rPr>
              <a:t>• </a:t>
            </a:r>
            <a:r>
              <a:rPr lang="it-IT" sz="1600" dirty="0" err="1">
                <a:latin typeface="Arial" panose="020B0604020202020204"/>
                <a:cs typeface="Arial" panose="020B0604020202020204"/>
              </a:rPr>
              <a:t>Sésostris</a:t>
            </a:r>
            <a:r>
              <a:rPr lang="it-IT" sz="1600" dirty="0">
                <a:latin typeface="Arial" panose="020B0604020202020204"/>
                <a:cs typeface="Arial" panose="020B0604020202020204"/>
              </a:rPr>
              <a:t> III </a:t>
            </a:r>
            <a:endParaRPr lang="it-IT" sz="1600" dirty="0">
              <a:latin typeface="Arial" panose="020B0604020202020204"/>
              <a:cs typeface="Arial" panose="020B0604020202020204"/>
            </a:endParaRPr>
          </a:p>
          <a:p>
            <a:pPr marL="0" indent="0">
              <a:buNone/>
            </a:pPr>
            <a:r>
              <a:rPr lang="it-IT" sz="1600" i="1" dirty="0">
                <a:latin typeface="Arial" panose="020B0604020202020204"/>
                <a:cs typeface="Arial" panose="020B0604020202020204"/>
              </a:rPr>
              <a:t>(1870-1830 </a:t>
            </a:r>
            <a:r>
              <a:rPr lang="it-IT" sz="1600" i="1" dirty="0" err="1">
                <a:latin typeface="Arial" panose="020B0604020202020204"/>
                <a:cs typeface="Arial" panose="020B0604020202020204"/>
              </a:rPr>
              <a:t>av</a:t>
            </a:r>
            <a:r>
              <a:rPr lang="it-IT" sz="1600" i="1" dirty="0">
                <a:latin typeface="Arial" panose="020B0604020202020204"/>
                <a:cs typeface="Arial" panose="020B0604020202020204"/>
              </a:rPr>
              <a:t>. JC) </a:t>
            </a:r>
            <a:endParaRPr lang="it-IT"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Tombeaux : Pyramides</a:t>
            </a:r>
            <a:endParaRPr lang="fr-FR" dirty="0">
              <a:solidFill>
                <a:srgbClr val="FF0000"/>
              </a:solidFill>
            </a:endParaRPr>
          </a:p>
        </p:txBody>
      </p:sp>
      <p:pic>
        <p:nvPicPr>
          <p:cNvPr id="2" name="Image 1" descr="DOC8.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72279" y="1905766"/>
            <a:ext cx="4414520" cy="470382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5033962"/>
          </a:xfrm>
        </p:spPr>
        <p:txBody>
          <a:bodyPr>
            <a:noAutofit/>
          </a:bodyPr>
          <a:lstStyle/>
          <a:p>
            <a:pPr marL="0" indent="0" algn="just">
              <a:buNone/>
            </a:pPr>
            <a:r>
              <a:rPr lang="fr-FR" sz="1600" dirty="0">
                <a:latin typeface="Arial" panose="020B0604020202020204"/>
                <a:cs typeface="Arial" panose="020B0604020202020204"/>
              </a:rPr>
              <a:t>La pyramide n’est pas </a:t>
            </a:r>
            <a:r>
              <a:rPr lang="fr-FR" sz="1600" dirty="0" err="1">
                <a:latin typeface="Arial" panose="020B0604020202020204"/>
                <a:cs typeface="Arial" panose="020B0604020202020204"/>
              </a:rPr>
              <a:t>isolée</a:t>
            </a:r>
            <a:r>
              <a:rPr lang="fr-FR" sz="1600" dirty="0">
                <a:latin typeface="Arial" panose="020B0604020202020204"/>
                <a:cs typeface="Arial" panose="020B0604020202020204"/>
              </a:rPr>
              <a:t> : organisation immuable </a:t>
            </a:r>
            <a:r>
              <a:rPr lang="fr-FR" sz="1600" dirty="0" err="1">
                <a:latin typeface="Arial" panose="020B0604020202020204"/>
                <a:cs typeface="Arial" panose="020B0604020202020204"/>
              </a:rPr>
              <a:t>établie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dès</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Djeser</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lgn="just">
              <a:buNone/>
            </a:pPr>
            <a:endParaRPr lang="fr-FR" sz="1600" dirty="0" smtClean="0">
              <a:latin typeface="Arial" panose="020B0604020202020204"/>
              <a:cs typeface="Arial" panose="020B0604020202020204"/>
            </a:endParaRPr>
          </a:p>
          <a:p>
            <a:pPr marL="0" indent="0" algn="just">
              <a:buNone/>
            </a:pPr>
            <a:r>
              <a:rPr lang="fr-FR" sz="1600" dirty="0">
                <a:latin typeface="Arial" panose="020B0604020202020204"/>
                <a:cs typeface="Arial" panose="020B0604020202020204"/>
              </a:rPr>
              <a:t>• Tombe royale (pyramide)</a:t>
            </a:r>
            <a:br>
              <a:rPr lang="fr-FR" sz="1600" dirty="0">
                <a:latin typeface="Arial" panose="020B0604020202020204"/>
                <a:cs typeface="Arial" panose="020B0604020202020204"/>
              </a:rPr>
            </a:br>
            <a:r>
              <a:rPr lang="fr-FR" sz="1600" dirty="0">
                <a:latin typeface="Arial" panose="020B0604020202020204"/>
                <a:cs typeface="Arial" panose="020B0604020202020204"/>
              </a:rPr>
              <a:t>• Tombeaux des dignitaires et de la </a:t>
            </a:r>
            <a:r>
              <a:rPr lang="fr-FR" sz="1600" dirty="0" smtClean="0">
                <a:latin typeface="Arial" panose="020B0604020202020204"/>
                <a:cs typeface="Arial" panose="020B0604020202020204"/>
              </a:rPr>
              <a:t>famille</a:t>
            </a:r>
            <a:endParaRPr lang="fr-FR" sz="1600" dirty="0" smtClean="0">
              <a:latin typeface="Arial" panose="020B0604020202020204"/>
              <a:cs typeface="Arial" panose="020B0604020202020204"/>
            </a:endParaRPr>
          </a:p>
          <a:p>
            <a:pPr marL="0" indent="0" algn="just">
              <a:buNone/>
            </a:pP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Temple </a:t>
            </a:r>
            <a:r>
              <a:rPr lang="fr-FR" sz="1600" dirty="0" err="1">
                <a:latin typeface="Arial" panose="020B0604020202020204"/>
                <a:cs typeface="Arial" panose="020B0604020202020204"/>
              </a:rPr>
              <a:t>funéraire</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Tombeaux : Nécropoles royales</a:t>
            </a:r>
            <a:endParaRPr lang="fr-FR" dirty="0">
              <a:solidFill>
                <a:srgbClr val="FF0000"/>
              </a:solidFill>
            </a:endParaRPr>
          </a:p>
        </p:txBody>
      </p:sp>
      <p:pic>
        <p:nvPicPr>
          <p:cNvPr id="4" name="Image 3" descr="saqqarah2.p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0436" y="2001520"/>
            <a:ext cx="4116363" cy="2326640"/>
          </a:xfrm>
          <a:prstGeom prst="rect">
            <a:avLst/>
          </a:prstGeom>
        </p:spPr>
      </p:pic>
      <p:pic>
        <p:nvPicPr>
          <p:cNvPr id="5" name="Image 4" descr="djo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8300" y="4434840"/>
            <a:ext cx="4018499" cy="2128520"/>
          </a:xfrm>
          <a:prstGeom prst="rect">
            <a:avLst/>
          </a:prstGeom>
        </p:spPr>
      </p:pic>
      <p:pic>
        <p:nvPicPr>
          <p:cNvPr id="8" name="Image 7" descr="150.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19" y="3202940"/>
            <a:ext cx="4209627" cy="31572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5033962"/>
          </a:xfrm>
        </p:spPr>
        <p:txBody>
          <a:bodyPr>
            <a:noAutofit/>
          </a:bodyPr>
          <a:lstStyle/>
          <a:p>
            <a:pPr marL="0" indent="0">
              <a:buNone/>
            </a:pPr>
            <a:r>
              <a:rPr lang="fr-FR" sz="1600" b="1" dirty="0">
                <a:latin typeface="Arial" panose="020B0604020202020204"/>
                <a:cs typeface="Arial" panose="020B0604020202020204"/>
              </a:rPr>
              <a:t>Tombeaux souterrains </a:t>
            </a:r>
            <a:r>
              <a:rPr lang="fr-FR" sz="1600" dirty="0">
                <a:latin typeface="Arial" panose="020B0604020202020204"/>
                <a:cs typeface="Arial" panose="020B0604020202020204"/>
              </a:rPr>
              <a:t>(</a:t>
            </a:r>
            <a:r>
              <a:rPr lang="fr-FR" sz="1600" dirty="0" err="1">
                <a:latin typeface="Arial" panose="020B0604020202020204"/>
                <a:cs typeface="Arial" panose="020B0604020202020204"/>
              </a:rPr>
              <a:t>vallée</a:t>
            </a:r>
            <a:r>
              <a:rPr lang="fr-FR" sz="1600" dirty="0">
                <a:latin typeface="Arial" panose="020B0604020202020204"/>
                <a:cs typeface="Arial" panose="020B0604020202020204"/>
              </a:rPr>
              <a:t> des Rois)</a:t>
            </a:r>
            <a:br>
              <a:rPr lang="fr-FR" sz="1600" dirty="0">
                <a:latin typeface="Arial" panose="020B0604020202020204"/>
                <a:cs typeface="Arial" panose="020B0604020202020204"/>
              </a:rPr>
            </a:br>
            <a:r>
              <a:rPr lang="fr-FR" sz="1600" dirty="0">
                <a:latin typeface="Arial" panose="020B0604020202020204"/>
                <a:cs typeface="Arial" panose="020B0604020202020204"/>
              </a:rPr>
              <a:t>• Nouvel Empire (</a:t>
            </a:r>
            <a:r>
              <a:rPr lang="fr-FR" sz="1600" dirty="0" err="1">
                <a:latin typeface="Arial" panose="020B0604020202020204"/>
                <a:cs typeface="Arial" panose="020B0604020202020204"/>
              </a:rPr>
              <a:t>XVIII°a</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XX°dynasties</a:t>
            </a:r>
            <a:r>
              <a:rPr lang="fr-FR" sz="1600" dirty="0">
                <a:latin typeface="Arial" panose="020B0604020202020204"/>
                <a:cs typeface="Arial" panose="020B0604020202020204"/>
              </a:rPr>
              <a:t> ; 1500-1100 av. JC)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Organisation </a:t>
            </a:r>
            <a:r>
              <a:rPr lang="fr-FR" sz="1600" dirty="0" err="1">
                <a:latin typeface="Arial" panose="020B0604020202020204"/>
                <a:cs typeface="Arial" panose="020B0604020202020204"/>
              </a:rPr>
              <a:t>inchangée</a:t>
            </a:r>
            <a:r>
              <a:rPr lang="fr-FR" sz="1600" dirty="0">
                <a:latin typeface="Arial" panose="020B0604020202020204"/>
                <a:cs typeface="Arial" panose="020B0604020202020204"/>
              </a:rPr>
              <a:t> de la </a:t>
            </a:r>
            <a:r>
              <a:rPr lang="fr-FR" sz="1600" dirty="0" err="1">
                <a:latin typeface="Arial" panose="020B0604020202020204"/>
                <a:cs typeface="Arial" panose="020B0604020202020204"/>
              </a:rPr>
              <a:t>nécropole</a:t>
            </a:r>
            <a:r>
              <a:rPr lang="fr-FR" sz="1600" dirty="0">
                <a:latin typeface="Arial" panose="020B0604020202020204"/>
                <a:cs typeface="Arial" panose="020B0604020202020204"/>
              </a:rPr>
              <a:t> : tombe royale, tombeaux des dignitaires et membres de la famille, temple </a:t>
            </a:r>
            <a:r>
              <a:rPr lang="fr-FR" sz="1600" dirty="0" err="1">
                <a:latin typeface="Arial" panose="020B0604020202020204"/>
                <a:cs typeface="Arial" panose="020B0604020202020204"/>
              </a:rPr>
              <a:t>funéraire</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smtClean="0">
                <a:solidFill>
                  <a:srgbClr val="FF0000"/>
                </a:solidFill>
              </a:rPr>
              <a:t>Tombeaux : Hypogées</a:t>
            </a:r>
            <a:endParaRPr lang="fr-FR" dirty="0">
              <a:solidFill>
                <a:srgbClr val="FF0000"/>
              </a:solidFill>
            </a:endParaRPr>
          </a:p>
        </p:txBody>
      </p:sp>
      <p:pic>
        <p:nvPicPr>
          <p:cNvPr id="2" name="Image 1" descr="DOC9.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2941320"/>
            <a:ext cx="9144000" cy="3232666"/>
          </a:xfrm>
          <a:prstGeom prst="rect">
            <a:avLst/>
          </a:prstGeom>
        </p:spPr>
      </p:pic>
      <p:sp>
        <p:nvSpPr>
          <p:cNvPr id="9" name="ZoneTexte 8"/>
          <p:cNvSpPr txBox="1"/>
          <p:nvPr/>
        </p:nvSpPr>
        <p:spPr>
          <a:xfrm>
            <a:off x="142240" y="6143823"/>
            <a:ext cx="2463122" cy="523220"/>
          </a:xfrm>
          <a:prstGeom prst="rect">
            <a:avLst/>
          </a:prstGeom>
          <a:noFill/>
        </p:spPr>
        <p:txBody>
          <a:bodyPr wrap="none" rtlCol="0">
            <a:spAutoFit/>
          </a:bodyPr>
          <a:lstStyle/>
          <a:p>
            <a:r>
              <a:rPr lang="fr-FR" sz="1400" dirty="0" err="1"/>
              <a:t>Vallée</a:t>
            </a:r>
            <a:r>
              <a:rPr lang="fr-FR" sz="1400" dirty="0"/>
              <a:t> des Rois (</a:t>
            </a:r>
            <a:r>
              <a:rPr lang="fr-FR" sz="1400" i="1" dirty="0"/>
              <a:t>versant Ouest) </a:t>
            </a:r>
            <a:endParaRPr lang="fr-FR" sz="1400" dirty="0"/>
          </a:p>
          <a:p>
            <a:endParaRPr lang="fr-FR" sz="1400" i="1" dirty="0"/>
          </a:p>
        </p:txBody>
      </p:sp>
      <p:sp>
        <p:nvSpPr>
          <p:cNvPr id="10" name="ZoneTexte 9"/>
          <p:cNvSpPr txBox="1"/>
          <p:nvPr/>
        </p:nvSpPr>
        <p:spPr>
          <a:xfrm>
            <a:off x="4358640" y="6143823"/>
            <a:ext cx="2601807" cy="523220"/>
          </a:xfrm>
          <a:prstGeom prst="rect">
            <a:avLst/>
          </a:prstGeom>
          <a:noFill/>
        </p:spPr>
        <p:txBody>
          <a:bodyPr wrap="none" rtlCol="0">
            <a:spAutoFit/>
          </a:bodyPr>
          <a:lstStyle/>
          <a:p>
            <a:r>
              <a:rPr lang="nl-NL" sz="1400" dirty="0" err="1"/>
              <a:t>Hatschepsout</a:t>
            </a:r>
            <a:r>
              <a:rPr lang="nl-NL" sz="1400" dirty="0"/>
              <a:t> </a:t>
            </a:r>
            <a:r>
              <a:rPr lang="nl-NL" sz="1400" i="1" dirty="0"/>
              <a:t>(1479-1458 av. JC) </a:t>
            </a:r>
            <a:endParaRPr lang="nl-NL" sz="1400" dirty="0"/>
          </a:p>
          <a:p>
            <a:endParaRPr lang="fr-FR" sz="1400" i="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5033962"/>
          </a:xfrm>
        </p:spPr>
        <p:txBody>
          <a:bodyPr>
            <a:noAutofit/>
          </a:bodyPr>
          <a:lstStyle/>
          <a:p>
            <a:pPr marL="0" indent="0">
              <a:buNone/>
            </a:pPr>
            <a:r>
              <a:rPr lang="fr-FR" sz="1600" b="1" dirty="0">
                <a:latin typeface="Arial" panose="020B0604020202020204"/>
                <a:cs typeface="Arial" panose="020B0604020202020204"/>
              </a:rPr>
              <a:t>ORGANISATION ET SYMBOLIQUE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Dromos </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allée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sacrée</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bordée</a:t>
            </a:r>
            <a:r>
              <a:rPr lang="fr-FR" sz="1600" dirty="0">
                <a:latin typeface="Arial" panose="020B0604020202020204"/>
                <a:cs typeface="Arial" panose="020B0604020202020204"/>
              </a:rPr>
              <a:t> de sphinx</a:t>
            </a:r>
            <a:br>
              <a:rPr lang="fr-FR" sz="1600" dirty="0">
                <a:latin typeface="Arial" panose="020B0604020202020204"/>
                <a:cs typeface="Arial" panose="020B0604020202020204"/>
              </a:rPr>
            </a:br>
            <a:r>
              <a:rPr lang="fr-FR" sz="1600" dirty="0">
                <a:latin typeface="Arial" panose="020B0604020202020204"/>
                <a:cs typeface="Arial" panose="020B0604020202020204"/>
              </a:rPr>
              <a:t>• </a:t>
            </a:r>
            <a:r>
              <a:rPr lang="fr-FR" sz="1600" b="1" dirty="0" err="1">
                <a:latin typeface="Arial" panose="020B0604020202020204"/>
                <a:cs typeface="Arial" panose="020B0604020202020204"/>
              </a:rPr>
              <a:t>Obélisques</a:t>
            </a:r>
            <a:r>
              <a:rPr lang="fr-FR" sz="1600" b="1" dirty="0">
                <a:latin typeface="Arial" panose="020B0604020202020204"/>
                <a:cs typeface="Arial" panose="020B0604020202020204"/>
              </a:rPr>
              <a:t> </a:t>
            </a:r>
            <a:r>
              <a:rPr lang="fr-FR" sz="1600" dirty="0">
                <a:latin typeface="Arial" panose="020B0604020202020204"/>
                <a:cs typeface="Arial" panose="020B0604020202020204"/>
              </a:rPr>
              <a:t>et </a:t>
            </a:r>
            <a:r>
              <a:rPr lang="fr-FR" sz="1600" b="1" dirty="0" err="1">
                <a:latin typeface="Arial" panose="020B0604020202020204"/>
                <a:cs typeface="Arial" panose="020B0604020202020204"/>
              </a:rPr>
              <a:t>Pylônes</a:t>
            </a:r>
            <a:r>
              <a:rPr lang="fr-FR" sz="1600" b="1" dirty="0">
                <a:latin typeface="Arial" panose="020B0604020202020204"/>
                <a:cs typeface="Arial" panose="020B0604020202020204"/>
              </a:rPr>
              <a:t> </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évoquent</a:t>
            </a:r>
            <a:r>
              <a:rPr lang="fr-FR" sz="1600" dirty="0">
                <a:latin typeface="Arial" panose="020B0604020202020204"/>
                <a:cs typeface="Arial" panose="020B0604020202020204"/>
              </a:rPr>
              <a:t> la montagne où </a:t>
            </a:r>
            <a:r>
              <a:rPr lang="fr-FR" sz="1600" dirty="0" err="1">
                <a:latin typeface="Arial" panose="020B0604020202020204"/>
                <a:cs typeface="Arial" panose="020B0604020202020204"/>
              </a:rPr>
              <a:t>paraît</a:t>
            </a:r>
            <a:r>
              <a:rPr lang="fr-FR" sz="1600" dirty="0">
                <a:latin typeface="Arial" panose="020B0604020202020204"/>
                <a:cs typeface="Arial" panose="020B0604020202020204"/>
              </a:rPr>
              <a:t> </a:t>
            </a:r>
            <a:r>
              <a:rPr lang="fr-FR" sz="1600" i="1" dirty="0" err="1">
                <a:latin typeface="Arial" panose="020B0604020202020204"/>
                <a:cs typeface="Arial" panose="020B0604020202020204"/>
              </a:rPr>
              <a:t>Re</a:t>
            </a:r>
            <a:r>
              <a:rPr lang="fr-FR" sz="1600" i="1" dirty="0">
                <a:latin typeface="Arial" panose="020B0604020202020204"/>
                <a:cs typeface="Arial" panose="020B0604020202020204"/>
              </a:rPr>
              <a:t>́ </a:t>
            </a:r>
            <a:endParaRPr lang="fr-FR" sz="1600" i="1" dirty="0" smtClean="0">
              <a:latin typeface="Arial" panose="020B0604020202020204"/>
              <a:cs typeface="Arial" panose="020B0604020202020204"/>
            </a:endParaRPr>
          </a:p>
          <a:p>
            <a:pPr marL="0" indent="0">
              <a:buNone/>
            </a:pPr>
            <a:r>
              <a:rPr lang="fr-FR" sz="1600" dirty="0" smtClean="0">
                <a:latin typeface="Arial" panose="020B0604020202020204"/>
                <a:cs typeface="Arial" panose="020B0604020202020204"/>
              </a:rPr>
              <a:t>• </a:t>
            </a:r>
            <a:r>
              <a:rPr lang="fr-FR" sz="1600" b="1" dirty="0">
                <a:latin typeface="Arial" panose="020B0604020202020204"/>
                <a:cs typeface="Arial" panose="020B0604020202020204"/>
              </a:rPr>
              <a:t>Cour </a:t>
            </a:r>
            <a:r>
              <a:rPr lang="fr-FR" sz="1600" dirty="0">
                <a:latin typeface="Arial" panose="020B0604020202020204"/>
                <a:cs typeface="Arial" panose="020B0604020202020204"/>
              </a:rPr>
              <a:t>à </a:t>
            </a:r>
            <a:r>
              <a:rPr lang="fr-FR" sz="1600" i="1" dirty="0" err="1">
                <a:latin typeface="Arial" panose="020B0604020202020204"/>
                <a:cs typeface="Arial" panose="020B0604020202020204"/>
              </a:rPr>
              <a:t>péristyle</a:t>
            </a:r>
            <a:br>
              <a:rPr lang="fr-FR" sz="1600" i="1" dirty="0">
                <a:latin typeface="Arial" panose="020B0604020202020204"/>
                <a:cs typeface="Arial" panose="020B0604020202020204"/>
              </a:rPr>
            </a:br>
            <a:r>
              <a:rPr lang="fr-FR" sz="1600" dirty="0">
                <a:latin typeface="Arial" panose="020B0604020202020204"/>
                <a:cs typeface="Arial" panose="020B0604020202020204"/>
              </a:rPr>
              <a:t>• </a:t>
            </a:r>
            <a:r>
              <a:rPr lang="fr-FR" sz="1600" b="1" dirty="0">
                <a:latin typeface="Arial" panose="020B0604020202020204"/>
                <a:cs typeface="Arial" panose="020B0604020202020204"/>
              </a:rPr>
              <a:t>Salle hypostyle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colonnes : monde </a:t>
            </a:r>
            <a:r>
              <a:rPr lang="fr-FR" sz="1600" dirty="0" err="1">
                <a:latin typeface="Arial" panose="020B0604020202020204"/>
                <a:cs typeface="Arial" panose="020B0604020202020204"/>
              </a:rPr>
              <a:t>végétal</a:t>
            </a:r>
            <a:r>
              <a:rPr lang="fr-FR" sz="1600" dirty="0">
                <a:latin typeface="Arial" panose="020B0604020202020204"/>
                <a:cs typeface="Arial" panose="020B0604020202020204"/>
              </a:rPr>
              <a:t> plafond : ciel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Naos </a:t>
            </a:r>
            <a:r>
              <a:rPr lang="fr-FR" sz="1600" dirty="0">
                <a:latin typeface="Arial" panose="020B0604020202020204"/>
                <a:cs typeface="Arial" panose="020B0604020202020204"/>
              </a:rPr>
              <a:t>: saint des saints</a:t>
            </a:r>
            <a:br>
              <a:rPr lang="fr-FR" sz="1600" dirty="0">
                <a:latin typeface="Arial" panose="020B0604020202020204"/>
                <a:cs typeface="Arial" panose="020B0604020202020204"/>
              </a:rPr>
            </a:br>
            <a:r>
              <a:rPr lang="fr-FR" sz="1600" dirty="0">
                <a:latin typeface="Arial" panose="020B0604020202020204"/>
                <a:cs typeface="Arial" panose="020B0604020202020204"/>
              </a:rPr>
              <a:t>• </a:t>
            </a:r>
            <a:r>
              <a:rPr lang="fr-FR" sz="1600" b="1" dirty="0">
                <a:latin typeface="Arial" panose="020B0604020202020204"/>
                <a:cs typeface="Arial" panose="020B0604020202020204"/>
              </a:rPr>
              <a:t>Lac artificiel </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évoque</a:t>
            </a:r>
            <a:r>
              <a:rPr lang="fr-FR" sz="1600" dirty="0">
                <a:latin typeface="Arial" panose="020B0604020202020204"/>
                <a:cs typeface="Arial" panose="020B0604020202020204"/>
              </a:rPr>
              <a:t> le </a:t>
            </a:r>
            <a:r>
              <a:rPr lang="fr-FR" sz="1600" i="1" dirty="0" err="1">
                <a:latin typeface="Arial" panose="020B0604020202020204"/>
                <a:cs typeface="Arial" panose="020B0604020202020204"/>
              </a:rPr>
              <a:t>Noûn</a:t>
            </a:r>
            <a:r>
              <a:rPr lang="fr-FR" sz="1600" i="1"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a:solidFill>
                  <a:srgbClr val="FF0000"/>
                </a:solidFill>
              </a:rPr>
              <a:t>T</a:t>
            </a:r>
            <a:r>
              <a:rPr lang="fr-FR" dirty="0" smtClean="0">
                <a:solidFill>
                  <a:srgbClr val="FF0000"/>
                </a:solidFill>
              </a:rPr>
              <a:t>emples</a:t>
            </a:r>
            <a:endParaRPr lang="fr-FR" dirty="0">
              <a:solidFill>
                <a:srgbClr val="FF0000"/>
              </a:solidFill>
            </a:endParaRPr>
          </a:p>
        </p:txBody>
      </p:sp>
      <p:pic>
        <p:nvPicPr>
          <p:cNvPr id="4" name="Image 3" descr="karnak_plan_masse.GIF"/>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5280" y="3847440"/>
            <a:ext cx="4013200" cy="2797200"/>
          </a:xfrm>
          <a:prstGeom prst="rect">
            <a:avLst/>
          </a:prstGeom>
        </p:spPr>
      </p:pic>
      <p:pic>
        <p:nvPicPr>
          <p:cNvPr id="5" name="Image 4" descr="Karnak Temple Amon 1Maquette 0085.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8240" y="4406900"/>
            <a:ext cx="3119120" cy="2339340"/>
          </a:xfrm>
          <a:prstGeom prst="rect">
            <a:avLst/>
          </a:prstGeom>
        </p:spPr>
      </p:pic>
      <p:pic>
        <p:nvPicPr>
          <p:cNvPr id="11" name="Image 10" descr="bv000002 (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0740" y="2407120"/>
            <a:ext cx="3670300" cy="189317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5033962"/>
          </a:xfrm>
        </p:spPr>
        <p:txBody>
          <a:bodyPr>
            <a:noAutofit/>
          </a:bodyPr>
          <a:lstStyle/>
          <a:p>
            <a:pPr marL="0" indent="0" algn="just">
              <a:buNone/>
            </a:pP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a:solidFill>
                  <a:srgbClr val="FF0000"/>
                </a:solidFill>
              </a:rPr>
              <a:t>T</a:t>
            </a:r>
            <a:r>
              <a:rPr lang="fr-FR" dirty="0" smtClean="0">
                <a:solidFill>
                  <a:srgbClr val="FF0000"/>
                </a:solidFill>
              </a:rPr>
              <a:t>emples</a:t>
            </a:r>
            <a:endParaRPr lang="fr-FR" dirty="0">
              <a:solidFill>
                <a:srgbClr val="FF0000"/>
              </a:solidFill>
            </a:endParaRPr>
          </a:p>
        </p:txBody>
      </p:sp>
      <p:pic>
        <p:nvPicPr>
          <p:cNvPr id="2" name="Image 1" descr="pt6432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4639" y="2298700"/>
            <a:ext cx="4068133" cy="3055620"/>
          </a:xfrm>
          <a:prstGeom prst="rect">
            <a:avLst/>
          </a:prstGeom>
        </p:spPr>
      </p:pic>
      <p:pic>
        <p:nvPicPr>
          <p:cNvPr id="7" name="Image 6" descr="5242710792_d22b2a0c50_b.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2289" y="2298700"/>
            <a:ext cx="4569151" cy="3055620"/>
          </a:xfrm>
          <a:prstGeom prst="rect">
            <a:avLst/>
          </a:prstGeom>
        </p:spPr>
      </p:pic>
      <p:sp>
        <p:nvSpPr>
          <p:cNvPr id="9" name="ZoneTexte 8"/>
          <p:cNvSpPr txBox="1"/>
          <p:nvPr/>
        </p:nvSpPr>
        <p:spPr>
          <a:xfrm>
            <a:off x="1046480" y="5371663"/>
            <a:ext cx="1782434" cy="523220"/>
          </a:xfrm>
          <a:prstGeom prst="rect">
            <a:avLst/>
          </a:prstGeom>
          <a:noFill/>
        </p:spPr>
        <p:txBody>
          <a:bodyPr wrap="none" rtlCol="0">
            <a:spAutoFit/>
          </a:bodyPr>
          <a:lstStyle/>
          <a:p>
            <a:r>
              <a:rPr lang="fr-FR" sz="1400" dirty="0" smtClean="0"/>
              <a:t>Obélisques et Pylônes </a:t>
            </a:r>
            <a:endParaRPr lang="fr-FR" sz="1400" dirty="0"/>
          </a:p>
          <a:p>
            <a:endParaRPr lang="fr-FR" sz="1400" i="1" dirty="0"/>
          </a:p>
        </p:txBody>
      </p:sp>
      <p:sp>
        <p:nvSpPr>
          <p:cNvPr id="10" name="ZoneTexte 9"/>
          <p:cNvSpPr txBox="1"/>
          <p:nvPr/>
        </p:nvSpPr>
        <p:spPr>
          <a:xfrm>
            <a:off x="5791200" y="5371663"/>
            <a:ext cx="760708" cy="523220"/>
          </a:xfrm>
          <a:prstGeom prst="rect">
            <a:avLst/>
          </a:prstGeom>
          <a:noFill/>
        </p:spPr>
        <p:txBody>
          <a:bodyPr wrap="none" rtlCol="0">
            <a:spAutoFit/>
          </a:bodyPr>
          <a:lstStyle/>
          <a:p>
            <a:r>
              <a:rPr lang="fr-FR" sz="1400" dirty="0" smtClean="0"/>
              <a:t>Dromos</a:t>
            </a:r>
            <a:endParaRPr lang="fr-FR" sz="1400" dirty="0"/>
          </a:p>
          <a:p>
            <a:endParaRPr lang="fr-FR" sz="1400" i="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5033962"/>
          </a:xfrm>
        </p:spPr>
        <p:txBody>
          <a:bodyPr>
            <a:noAutofit/>
          </a:bodyPr>
          <a:lstStyle/>
          <a:p>
            <a:pPr marL="0" indent="0" algn="just">
              <a:buNone/>
            </a:pPr>
            <a:r>
              <a:rPr lang="fr-FR" sz="1600" b="1" dirty="0" err="1" smtClean="0">
                <a:latin typeface="Arial" panose="020B0604020202020204"/>
                <a:cs typeface="Arial" panose="020B0604020202020204"/>
              </a:rPr>
              <a:t>Modénature</a:t>
            </a:r>
            <a:r>
              <a:rPr lang="fr-FR" sz="1600" b="1" dirty="0" smtClean="0">
                <a:latin typeface="Arial" panose="020B0604020202020204"/>
                <a:cs typeface="Arial" panose="020B0604020202020204"/>
              </a:rPr>
              <a:t> </a:t>
            </a:r>
            <a:r>
              <a:rPr lang="fr-FR" sz="1600" b="1" dirty="0">
                <a:latin typeface="Arial" panose="020B0604020202020204"/>
                <a:cs typeface="Arial" panose="020B0604020202020204"/>
              </a:rPr>
              <a:t>des </a:t>
            </a:r>
            <a:r>
              <a:rPr lang="fr-FR" sz="1600" b="1" dirty="0" err="1">
                <a:latin typeface="Arial" panose="020B0604020202020204"/>
                <a:cs typeface="Arial" panose="020B0604020202020204"/>
              </a:rPr>
              <a:t>pylônes</a:t>
            </a:r>
            <a:r>
              <a:rPr lang="fr-FR" sz="1600" b="1" dirty="0">
                <a:latin typeface="Arial" panose="020B0604020202020204"/>
                <a:cs typeface="Arial" panose="020B0604020202020204"/>
              </a:rPr>
              <a:t> : </a:t>
            </a:r>
            <a:r>
              <a:rPr lang="fr-FR" sz="1600" dirty="0">
                <a:latin typeface="Arial" panose="020B0604020202020204"/>
                <a:cs typeface="Arial" panose="020B0604020202020204"/>
              </a:rPr>
              <a:t>gorge, baguette et corniche </a:t>
            </a:r>
            <a:r>
              <a:rPr lang="fr-FR" sz="1600" dirty="0" err="1">
                <a:latin typeface="Arial" panose="020B0604020202020204"/>
                <a:cs typeface="Arial" panose="020B0604020202020204"/>
              </a:rPr>
              <a:t>égyptienne</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a:solidFill>
                  <a:srgbClr val="FF0000"/>
                </a:solidFill>
              </a:rPr>
              <a:t>T</a:t>
            </a:r>
            <a:r>
              <a:rPr lang="fr-FR" dirty="0" smtClean="0">
                <a:solidFill>
                  <a:srgbClr val="FF0000"/>
                </a:solidFill>
              </a:rPr>
              <a:t>emples</a:t>
            </a:r>
            <a:endParaRPr lang="fr-FR" dirty="0">
              <a:solidFill>
                <a:srgbClr val="FF0000"/>
              </a:solidFill>
            </a:endParaRPr>
          </a:p>
        </p:txBody>
      </p:sp>
      <p:sp>
        <p:nvSpPr>
          <p:cNvPr id="4" name="ZoneTexte 3"/>
          <p:cNvSpPr txBox="1"/>
          <p:nvPr/>
        </p:nvSpPr>
        <p:spPr>
          <a:xfrm>
            <a:off x="1209040" y="2011680"/>
            <a:ext cx="184666" cy="369332"/>
          </a:xfrm>
          <a:prstGeom prst="rect">
            <a:avLst/>
          </a:prstGeom>
          <a:noFill/>
        </p:spPr>
        <p:txBody>
          <a:bodyPr wrap="none" rtlCol="0">
            <a:spAutoFit/>
          </a:bodyPr>
          <a:lstStyle/>
          <a:p>
            <a:endParaRPr lang="fr-FR" dirty="0"/>
          </a:p>
        </p:txBody>
      </p:sp>
      <p:pic>
        <p:nvPicPr>
          <p:cNvPr id="8" name="Image 7" descr="pylones.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521" y="1899920"/>
            <a:ext cx="3056351" cy="4754880"/>
          </a:xfrm>
          <a:prstGeom prst="rect">
            <a:avLst/>
          </a:prstGeom>
        </p:spPr>
      </p:pic>
      <p:pic>
        <p:nvPicPr>
          <p:cNvPr id="11" name="Image 10" descr="pylones 2.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4478" y="1899920"/>
            <a:ext cx="4844146" cy="47548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5033962"/>
          </a:xfrm>
        </p:spPr>
        <p:txBody>
          <a:bodyPr>
            <a:noAutofit/>
          </a:bodyPr>
          <a:lstStyle/>
          <a:p>
            <a:pPr marL="0" indent="0">
              <a:buNone/>
            </a:pPr>
            <a:r>
              <a:rPr lang="fr-FR" sz="1600" b="1" dirty="0" err="1" smtClean="0">
                <a:latin typeface="Arial" panose="020B0604020202020204"/>
                <a:cs typeface="Arial" panose="020B0604020202020204"/>
              </a:rPr>
              <a:t>Péristyle</a:t>
            </a:r>
            <a:r>
              <a:rPr lang="fr-FR" sz="1600" b="1" dirty="0" smtClean="0">
                <a:latin typeface="Arial" panose="020B0604020202020204"/>
                <a:cs typeface="Arial" panose="020B0604020202020204"/>
              </a:rPr>
              <a:t> </a:t>
            </a:r>
            <a:r>
              <a:rPr lang="fr-FR" sz="1600" dirty="0">
                <a:latin typeface="Arial" panose="020B0604020202020204"/>
                <a:cs typeface="Arial" panose="020B0604020202020204"/>
              </a:rPr>
              <a:t>de la cour </a:t>
            </a:r>
            <a:r>
              <a:rPr lang="fr-FR" sz="1600" dirty="0" err="1">
                <a:latin typeface="Arial" panose="020B0604020202020204"/>
                <a:cs typeface="Arial" panose="020B0604020202020204"/>
              </a:rPr>
              <a:t>après</a:t>
            </a:r>
            <a:r>
              <a:rPr lang="fr-FR" sz="1600" dirty="0">
                <a:latin typeface="Arial" panose="020B0604020202020204"/>
                <a:cs typeface="Arial" panose="020B0604020202020204"/>
              </a:rPr>
              <a:t> </a:t>
            </a:r>
            <a:r>
              <a:rPr lang="fr-FR" sz="1600" dirty="0" err="1">
                <a:latin typeface="Arial" panose="020B0604020202020204"/>
                <a:cs typeface="Arial" panose="020B0604020202020204"/>
              </a:rPr>
              <a:t>pylône</a:t>
            </a:r>
            <a:r>
              <a:rPr lang="fr-FR" sz="1600" dirty="0">
                <a:latin typeface="Arial" panose="020B0604020202020204"/>
                <a:cs typeface="Arial" panose="020B0604020202020204"/>
              </a:rPr>
              <a:t> </a:t>
            </a:r>
            <a:endParaRPr lang="fr-FR" sz="1600" dirty="0">
              <a:latin typeface="Arial" panose="020B0604020202020204"/>
              <a:cs typeface="Arial" panose="020B0604020202020204"/>
            </a:endParaRPr>
          </a:p>
          <a:p>
            <a:pPr marL="0" indent="0">
              <a:buNone/>
            </a:pPr>
            <a:r>
              <a:rPr lang="fr-FR" sz="1600" b="1" dirty="0" smtClean="0">
                <a:latin typeface="Arial" panose="020B0604020202020204"/>
                <a:cs typeface="Arial" panose="020B0604020202020204"/>
              </a:rPr>
              <a:t>Salles </a:t>
            </a:r>
            <a:r>
              <a:rPr lang="fr-FR" sz="1600" b="1" dirty="0">
                <a:latin typeface="Arial" panose="020B0604020202020204"/>
                <a:cs typeface="Arial" panose="020B0604020202020204"/>
              </a:rPr>
              <a:t>hypostyles </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a:solidFill>
                  <a:srgbClr val="FF0000"/>
                </a:solidFill>
              </a:rPr>
              <a:t>T</a:t>
            </a:r>
            <a:r>
              <a:rPr lang="fr-FR" dirty="0" smtClean="0">
                <a:solidFill>
                  <a:srgbClr val="FF0000"/>
                </a:solidFill>
              </a:rPr>
              <a:t>emples</a:t>
            </a:r>
            <a:endParaRPr lang="fr-FR" dirty="0">
              <a:solidFill>
                <a:srgbClr val="FF0000"/>
              </a:solidFill>
            </a:endParaRPr>
          </a:p>
        </p:txBody>
      </p:sp>
      <p:sp>
        <p:nvSpPr>
          <p:cNvPr id="4" name="ZoneTexte 3"/>
          <p:cNvSpPr txBox="1"/>
          <p:nvPr/>
        </p:nvSpPr>
        <p:spPr>
          <a:xfrm>
            <a:off x="1209040" y="2011680"/>
            <a:ext cx="184666" cy="369332"/>
          </a:xfrm>
          <a:prstGeom prst="rect">
            <a:avLst/>
          </a:prstGeom>
          <a:noFill/>
        </p:spPr>
        <p:txBody>
          <a:bodyPr wrap="none" rtlCol="0">
            <a:spAutoFit/>
          </a:bodyPr>
          <a:lstStyle/>
          <a:p>
            <a:endParaRPr lang="fr-FR" dirty="0"/>
          </a:p>
        </p:txBody>
      </p:sp>
      <p:pic>
        <p:nvPicPr>
          <p:cNvPr id="2" name="Image 1" descr="hypostyle .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0" y="2194560"/>
            <a:ext cx="4048068" cy="4561840"/>
          </a:xfrm>
          <a:prstGeom prst="rect">
            <a:avLst/>
          </a:prstGeom>
        </p:spPr>
      </p:pic>
      <p:pic>
        <p:nvPicPr>
          <p:cNvPr id="5" name="Image 4" descr="hypostyle 2.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548" y="1417638"/>
            <a:ext cx="3871579" cy="533876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smtClean="0">
                <a:solidFill>
                  <a:srgbClr val="FF0000"/>
                </a:solidFill>
              </a:rPr>
              <a:t>Temples rupestres</a:t>
            </a:r>
            <a:endParaRPr lang="fr-FR" dirty="0">
              <a:solidFill>
                <a:srgbClr val="FF0000"/>
              </a:solidFill>
            </a:endParaRPr>
          </a:p>
        </p:txBody>
      </p:sp>
      <p:sp>
        <p:nvSpPr>
          <p:cNvPr id="4" name="ZoneTexte 3"/>
          <p:cNvSpPr txBox="1"/>
          <p:nvPr/>
        </p:nvSpPr>
        <p:spPr>
          <a:xfrm>
            <a:off x="1209040" y="2011680"/>
            <a:ext cx="184666" cy="369332"/>
          </a:xfrm>
          <a:prstGeom prst="rect">
            <a:avLst/>
          </a:prstGeom>
          <a:noFill/>
        </p:spPr>
        <p:txBody>
          <a:bodyPr wrap="none" rtlCol="0">
            <a:spAutoFit/>
          </a:bodyPr>
          <a:lstStyle/>
          <a:p>
            <a:endParaRPr lang="fr-FR" dirty="0"/>
          </a:p>
        </p:txBody>
      </p:sp>
      <p:pic>
        <p:nvPicPr>
          <p:cNvPr id="9" name="Image 8" descr="ART_CM_I_2_EGYPTE.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5800" y="1417638"/>
            <a:ext cx="7614920" cy="509267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Glossaire</a:t>
            </a:r>
            <a:endParaRPr lang="fr-FR" dirty="0">
              <a:solidFill>
                <a:srgbClr val="FF0000"/>
              </a:solidFill>
              <a:latin typeface="Quicksand" panose="00000500000000000000" charset="0"/>
              <a:cs typeface="Quicksand" panose="00000500000000000000" charset="0"/>
            </a:endParaRPr>
          </a:p>
          <a:p>
            <a:endParaRPr lang="fr-FR" dirty="0">
              <a:solidFill>
                <a:srgbClr val="FF0000"/>
              </a:solidFill>
              <a:latin typeface="Quicksand" panose="00000500000000000000" charset="0"/>
              <a:cs typeface="Quicksand" panose="00000500000000000000" charset="0"/>
            </a:endParaRPr>
          </a:p>
        </p:txBody>
      </p:sp>
      <p:sp>
        <p:nvSpPr>
          <p:cNvPr id="6" name="Rectangle 5"/>
          <p:cNvSpPr/>
          <p:nvPr/>
        </p:nvSpPr>
        <p:spPr>
          <a:xfrm>
            <a:off x="187412" y="1087756"/>
            <a:ext cx="8844828" cy="5262980"/>
          </a:xfrm>
          <a:prstGeom prst="rect">
            <a:avLst/>
          </a:prstGeom>
        </p:spPr>
        <p:txBody>
          <a:bodyPr wrap="square">
            <a:spAutoFit/>
          </a:bodyPr>
          <a:lstStyle/>
          <a:p>
            <a:pPr lvl="0"/>
            <a:r>
              <a:rPr lang="fr-FR" sz="1600" b="1" dirty="0" smtClean="0">
                <a:solidFill>
                  <a:srgbClr val="FF0000"/>
                </a:solidFill>
                <a:latin typeface="Arial" panose="020B0604020202020204"/>
                <a:cs typeface="Arial" panose="020B0604020202020204"/>
              </a:rPr>
              <a:t>Modénature </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En architecture, on appelle modénature les proportions et dispositions de l'ensemble des éléments d’ornement que constituent les moulures et profils des moulures de corniche ainsi que les proportions et dispositions des membres de façade constituant le style architectural1</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Plafond </a:t>
            </a:r>
            <a:r>
              <a:rPr lang="fr-FR" sz="1600" dirty="0">
                <a:latin typeface="Arial" panose="020B0604020202020204"/>
                <a:cs typeface="Arial" panose="020B0604020202020204"/>
              </a:rPr>
              <a:t>:</a:t>
            </a:r>
            <a:r>
              <a:rPr lang="fr-FR" sz="1600" dirty="0" smtClean="0">
                <a:latin typeface="Arial" panose="020B0604020202020204"/>
                <a:cs typeface="Arial" panose="020B0604020202020204"/>
              </a:rPr>
              <a:t> Système de couverture le plus répandu. Il peut s’agir d’une seule dalle (pierre) ou d’un assemblage de dalles supportés par des colonnes (couverture en </a:t>
            </a:r>
            <a:r>
              <a:rPr lang="fr-FR" sz="1600" dirty="0" err="1" smtClean="0">
                <a:latin typeface="Arial" panose="020B0604020202020204"/>
                <a:cs typeface="Arial" panose="020B0604020202020204"/>
              </a:rPr>
              <a:t>plate-bandes</a:t>
            </a:r>
            <a:r>
              <a:rPr lang="fr-FR" sz="1600" dirty="0" smtClean="0">
                <a:latin typeface="Arial" panose="020B0604020202020204"/>
                <a:cs typeface="Arial" panose="020B0604020202020204"/>
              </a:rPr>
              <a:t>)</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Obélisques</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Monument </a:t>
            </a:r>
            <a:r>
              <a:rPr lang="fr-FR" sz="1600" dirty="0">
                <a:latin typeface="Arial" panose="020B0604020202020204"/>
                <a:cs typeface="Arial" panose="020B0604020202020204"/>
              </a:rPr>
              <a:t>monolithe élevé, utilisé notamment dans l'architecture sacrée de l'Égypte </a:t>
            </a:r>
            <a:r>
              <a:rPr lang="fr-FR" sz="1600" dirty="0" smtClean="0">
                <a:latin typeface="Arial" panose="020B0604020202020204"/>
                <a:cs typeface="Arial" panose="020B0604020202020204"/>
              </a:rPr>
              <a:t>antique. Il </a:t>
            </a:r>
            <a:r>
              <a:rPr lang="fr-FR" sz="1600" dirty="0">
                <a:latin typeface="Arial" panose="020B0604020202020204"/>
                <a:cs typeface="Arial" panose="020B0604020202020204"/>
              </a:rPr>
              <a:t>est composé de trois parties </a:t>
            </a:r>
            <a:r>
              <a:rPr lang="fr-FR" sz="1600" dirty="0" smtClean="0">
                <a:latin typeface="Arial" panose="020B0604020202020204"/>
                <a:cs typeface="Arial" panose="020B0604020202020204"/>
              </a:rPr>
              <a:t>:</a:t>
            </a:r>
            <a:endParaRPr lang="fr-FR" sz="1600" dirty="0">
              <a:latin typeface="Arial" panose="020B0604020202020204"/>
              <a:cs typeface="Arial" panose="020B0604020202020204"/>
            </a:endParaRPr>
          </a:p>
          <a:p>
            <a:pPr lvl="0"/>
            <a:r>
              <a:rPr lang="fr-FR" sz="1600" dirty="0">
                <a:latin typeface="Arial" panose="020B0604020202020204"/>
                <a:cs typeface="Arial" panose="020B0604020202020204"/>
              </a:rPr>
              <a:t>un piédestal qui assure l'équilibre de l'ensemble ;</a:t>
            </a:r>
            <a:endParaRPr lang="fr-FR" sz="1600" dirty="0">
              <a:latin typeface="Arial" panose="020B0604020202020204"/>
              <a:cs typeface="Arial" panose="020B0604020202020204"/>
            </a:endParaRPr>
          </a:p>
          <a:p>
            <a:pPr lvl="0"/>
            <a:r>
              <a:rPr lang="fr-FR" sz="1600" dirty="0">
                <a:latin typeface="Arial" panose="020B0604020202020204"/>
                <a:cs typeface="Arial" panose="020B0604020202020204"/>
              </a:rPr>
              <a:t>un fût quadrangulaire s'amincissant vers le sommet ;</a:t>
            </a:r>
            <a:endParaRPr lang="fr-FR" sz="1600" dirty="0">
              <a:latin typeface="Arial" panose="020B0604020202020204"/>
              <a:cs typeface="Arial" panose="020B0604020202020204"/>
            </a:endParaRPr>
          </a:p>
          <a:p>
            <a:pPr lvl="0"/>
            <a:r>
              <a:rPr lang="fr-FR" sz="1600" dirty="0">
                <a:latin typeface="Arial" panose="020B0604020202020204"/>
                <a:cs typeface="Arial" panose="020B0604020202020204"/>
              </a:rPr>
              <a:t>une cassure de la pente au sommet pour obtenir la forme d'une pyramide, c'est le pyramidion.</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Pylônes</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 Composition monumentale, constituée de deux grands massifs trapézoïdaux, qui encadre le portail d'entrée d'un temple dans l'Égypte pharaonique.  </a:t>
            </a:r>
            <a:endParaRPr lang="fr-FR" sz="1600" dirty="0" smtClean="0">
              <a:latin typeface="Arial" panose="020B0604020202020204"/>
              <a:cs typeface="Arial" panose="020B0604020202020204"/>
            </a:endParaRPr>
          </a:p>
          <a:p>
            <a:pPr lvl="0"/>
            <a:r>
              <a:rPr lang="fr-FR" sz="1600" dirty="0" smtClean="0">
                <a:latin typeface="Arial" panose="020B0604020202020204"/>
                <a:cs typeface="Arial" panose="020B0604020202020204"/>
              </a:rPr>
              <a:t>Rupestre : Creusé dans la roche. </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Rhomboïdale</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 Se dit de certains polyèdres </a:t>
            </a:r>
            <a:r>
              <a:rPr lang="fr-FR" sz="1600" dirty="0" smtClean="0">
                <a:latin typeface="Arial" panose="020B0604020202020204"/>
                <a:cs typeface="Arial" panose="020B0604020202020204"/>
              </a:rPr>
              <a:t>(forme </a:t>
            </a:r>
            <a:r>
              <a:rPr lang="fr-FR" sz="1600" dirty="0">
                <a:latin typeface="Arial" panose="020B0604020202020204"/>
                <a:cs typeface="Arial" panose="020B0604020202020204"/>
              </a:rPr>
              <a:t>géométrique à trois dimensions </a:t>
            </a:r>
            <a:r>
              <a:rPr lang="fr-FR" sz="1600" dirty="0" smtClean="0">
                <a:latin typeface="Arial" panose="020B0604020202020204"/>
                <a:cs typeface="Arial" panose="020B0604020202020204"/>
              </a:rPr>
              <a:t>ayant </a:t>
            </a:r>
            <a:r>
              <a:rPr lang="fr-FR" sz="1600" dirty="0">
                <a:latin typeface="Arial" panose="020B0604020202020204"/>
                <a:cs typeface="Arial" panose="020B0604020202020204"/>
              </a:rPr>
              <a:t>des faces planes polygonales qui se rencontrent selon des segments de droite qu'on appelle </a:t>
            </a:r>
            <a:r>
              <a:rPr lang="fr-FR" sz="1600" dirty="0" smtClean="0">
                <a:latin typeface="Arial" panose="020B0604020202020204"/>
                <a:cs typeface="Arial" panose="020B0604020202020204"/>
              </a:rPr>
              <a:t>arêtes), ou </a:t>
            </a:r>
            <a:r>
              <a:rPr lang="fr-FR" sz="1600" dirty="0">
                <a:latin typeface="Arial" panose="020B0604020202020204"/>
                <a:cs typeface="Arial" panose="020B0604020202020204"/>
              </a:rPr>
              <a:t>solides dont les faces sont des parallélogrammes</a:t>
            </a:r>
            <a:r>
              <a:rPr lang="fr-FR" sz="1600" dirty="0" smtClean="0">
                <a:latin typeface="Arial" panose="020B0604020202020204"/>
                <a:cs typeface="Arial" panose="020B0604020202020204"/>
              </a:rPr>
              <a:t>.</a:t>
            </a:r>
            <a:br>
              <a:rPr lang="fr-FR" sz="1600" dirty="0" smtClean="0">
                <a:latin typeface="Arial" panose="020B0604020202020204"/>
                <a:cs typeface="Arial" panose="020B0604020202020204"/>
              </a:rPr>
            </a:br>
            <a:r>
              <a:rPr lang="fr-FR" sz="1600" b="1" dirty="0" smtClean="0">
                <a:solidFill>
                  <a:srgbClr val="FF0000"/>
                </a:solidFill>
                <a:latin typeface="Arial" panose="020B0604020202020204"/>
                <a:cs typeface="Arial" panose="020B0604020202020204"/>
              </a:rPr>
              <a:t>Hypogées</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 En archéologie, un hypogée est une construction souterraine et plus spécifiquement une tombe creusée dans le sol (sous-sol, flanc de colline</a:t>
            </a:r>
            <a:r>
              <a:rPr lang="fr-FR" sz="1600">
                <a:latin typeface="Arial" panose="020B0604020202020204"/>
                <a:cs typeface="Arial" panose="020B0604020202020204"/>
              </a:rPr>
              <a:t>)</a:t>
            </a:r>
            <a:r>
              <a:rPr lang="fr-FR" sz="1600" smtClean="0">
                <a:latin typeface="Arial" panose="020B0604020202020204"/>
                <a:cs typeface="Arial" panose="020B0604020202020204"/>
              </a:rPr>
              <a:t>.</a:t>
            </a:r>
            <a:r>
              <a:rPr lang="fr-FR" sz="1600" dirty="0" smtClean="0">
                <a:latin typeface="Arial" panose="020B0604020202020204"/>
                <a:cs typeface="Arial" panose="020B0604020202020204"/>
              </a:rPr>
              <a:t> </a:t>
            </a:r>
            <a:r>
              <a:rPr lang="fr-FR" sz="1600" smtClean="0">
                <a:latin typeface="Arial" panose="020B0604020202020204"/>
                <a:cs typeface="Arial" panose="020B0604020202020204"/>
              </a:rPr>
              <a:t>En </a:t>
            </a:r>
            <a:r>
              <a:rPr lang="fr-FR" sz="1600" dirty="0">
                <a:latin typeface="Arial" panose="020B0604020202020204"/>
                <a:cs typeface="Arial" panose="020B0604020202020204"/>
              </a:rPr>
              <a:t>égyptologie, cette tombe désigne plus précisément une tombe souterraine (comme dans la vallée des rois) par opposition aux tombes aériennes comme les mastabas</a:t>
            </a:r>
            <a:endParaRPr lang="fr-FR" sz="1600" dirty="0" smtClean="0">
              <a:latin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8561</Words>
  <Application>WPS Presentation</Application>
  <PresentationFormat>Présentation à l'écran (4:3)</PresentationFormat>
  <Paragraphs>236</Paragraphs>
  <Slides>25</Slides>
  <Notes>13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Arial</vt:lpstr>
      <vt:lpstr>SimSun</vt:lpstr>
      <vt:lpstr>Wingdings</vt:lpstr>
      <vt:lpstr>Arial</vt:lpstr>
      <vt:lpstr>Futura Std Medium</vt:lpstr>
      <vt:lpstr>AMGDT</vt:lpstr>
      <vt:lpstr>Calibri</vt:lpstr>
      <vt:lpstr>Microsoft YaHei</vt:lpstr>
      <vt:lpstr>Arial Unicode MS</vt:lpstr>
      <vt:lpstr>Noto Sans</vt:lpstr>
      <vt:lpstr>Quicksand</vt:lpstr>
      <vt:lpstr>Thème Office</vt:lpstr>
      <vt:lpstr>HISTOIRE DE L’ARCHITECTURE </vt:lpstr>
      <vt:lpstr>Chapitre 3 – L’Egypte</vt:lpstr>
      <vt:lpstr>Chronologie</vt:lpstr>
      <vt:lpstr>La société Egyptienne</vt:lpstr>
      <vt:lpstr>Procédés de construction</vt:lpstr>
      <vt:lpstr>Procédés de construction</vt:lpstr>
      <vt:lpstr>Procédés de construction</vt:lpstr>
      <vt:lpstr>Procédés de construction</vt:lpstr>
      <vt:lpstr>Procédés de construction</vt:lpstr>
      <vt:lpstr>Procédés de construction</vt:lpstr>
      <vt:lpstr>Procédés de construction</vt:lpstr>
      <vt:lpstr>Typologies architecturales</vt:lpstr>
      <vt:lpstr>Tombeaux : Mastaba</vt:lpstr>
      <vt:lpstr>Tombeaux : Pyramides</vt:lpstr>
      <vt:lpstr>Tombeaux : Pyramides</vt:lpstr>
      <vt:lpstr>Tombeaux : Pyramides</vt:lpstr>
      <vt:lpstr>Tombeaux : Pyramides</vt:lpstr>
      <vt:lpstr>Tombeaux : Nécropoles royales</vt:lpstr>
      <vt:lpstr>Tombeaux : Hypogées</vt:lpstr>
      <vt:lpstr>Temples</vt:lpstr>
      <vt:lpstr>Temples</vt:lpstr>
      <vt:lpstr>Temples</vt:lpstr>
      <vt:lpstr>Temples</vt:lpstr>
      <vt:lpstr>Temples rupestres</vt:lpstr>
      <vt:lpstr>PowerPoint 演示文稿</vt:lpstr>
    </vt:vector>
  </TitlesOfParts>
  <Company>arting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DE L’ARCHITECTURE </dc:title>
  <dc:creator>Carole Diop</dc:creator>
  <cp:lastModifiedBy>Henry Moustapha Ngom</cp:lastModifiedBy>
  <cp:revision>130</cp:revision>
  <dcterms:created xsi:type="dcterms:W3CDTF">2015-10-25T15:26:00Z</dcterms:created>
  <dcterms:modified xsi:type="dcterms:W3CDTF">2025-07-09T15:09:25Z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48B07A8B4BD748E8B4FF262A0D47BCF1_12</vt:lpwstr>
  </property>
  <property fmtid="{D5CDD505-2E9C-101B-9397-08002B2CF9AE}" pid="3" name="KSOProductBuildVer">
    <vt:lpwstr>3084-12.2.0.21602</vt:lpwstr>
  </property>
</Properties>
</file>