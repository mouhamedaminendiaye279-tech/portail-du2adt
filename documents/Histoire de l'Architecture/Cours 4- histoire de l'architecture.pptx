
<file path=[Content_Types].xml><?xml version="1.0" encoding="utf-8"?>
<Types xmlns="http://schemas.openxmlformats.org/package/2006/content-types">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58" r:id="rId6"/>
    <p:sldId id="280" r:id="rId7"/>
    <p:sldId id="281" r:id="rId8"/>
    <p:sldId id="282" r:id="rId9"/>
    <p:sldId id="283" r:id="rId10"/>
    <p:sldId id="279" r:id="rId11"/>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125" d="100"/>
          <a:sy n="125" d="100"/>
        </p:scale>
        <p:origin x="784" y="-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latin typeface="Sitka Subheading Semibold" charset="0"/>
                <a:cs typeface="Sitka Subheading Semibold" charset="0"/>
              </a:rPr>
              <a:t>HISTOIRE DE L’ARCHITECTURE </a:t>
            </a:r>
            <a:endParaRPr lang="fr-FR" dirty="0" smtClean="0">
              <a:latin typeface="Sitka Subheading Semibold" charset="0"/>
              <a:cs typeface="Sitka Subheading Semibold" charset="0"/>
            </a:endParaRPr>
          </a:p>
        </p:txBody>
      </p:sp>
      <p:sp>
        <p:nvSpPr>
          <p:cNvPr id="3" name="Sous-titre 2"/>
          <p:cNvSpPr>
            <a:spLocks noGrp="1"/>
          </p:cNvSpPr>
          <p:nvPr>
            <p:ph type="subTitle" idx="1"/>
          </p:nvPr>
        </p:nvSpPr>
        <p:spPr>
          <a:xfrm>
            <a:off x="685800" y="3886200"/>
            <a:ext cx="7772400" cy="1752600"/>
          </a:xfrm>
        </p:spPr>
        <p:txBody>
          <a:bodyPr/>
          <a:lstStyle/>
          <a:p>
            <a:r>
              <a:rPr lang="fr-FR" dirty="0" smtClean="0">
                <a:solidFill>
                  <a:srgbClr val="FF0000"/>
                </a:solidFill>
                <a:latin typeface="Sitka Subheading Semibold" charset="0"/>
                <a:cs typeface="Sitka Subheading Semibold" charset="0"/>
              </a:rPr>
              <a:t>PARTIE II – ANTIQUITÉ OCCIDENTALE</a:t>
            </a:r>
            <a:endParaRPr lang="fr-FR" dirty="0" smtClean="0">
              <a:solidFill>
                <a:srgbClr val="FF0000"/>
              </a:solidFill>
              <a:latin typeface="Sitka Subheading Semibold" charset="0"/>
              <a:cs typeface="Sitka Subheading Semibold" charset="0"/>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latin typeface="Sitka Subheading Semibold" charset="0"/>
                <a:cs typeface="Sitka Subheading Semibold" charset="0"/>
              </a:rPr>
              <a:t>©Carole Diop</a:t>
            </a:r>
            <a:endParaRPr lang="fr-FR" dirty="0" smtClean="0">
              <a:latin typeface="Sitka Subheading Semibold" charset="0"/>
              <a:cs typeface="Sitka Subheading Semibold" charset="0"/>
            </a:endParaRPr>
          </a:p>
        </p:txBody>
      </p:sp>
      <p:sp>
        <p:nvSpPr>
          <p:cNvPr id="9" name="ZoneTexte 8"/>
          <p:cNvSpPr txBox="1"/>
          <p:nvPr/>
        </p:nvSpPr>
        <p:spPr>
          <a:xfrm>
            <a:off x="937165" y="369332"/>
            <a:ext cx="7319795" cy="368300"/>
          </a:xfrm>
          <a:prstGeom prst="rect">
            <a:avLst/>
          </a:prstGeom>
          <a:noFill/>
        </p:spPr>
        <p:txBody>
          <a:bodyPr wrap="square" rtlCol="0">
            <a:spAutoFit/>
          </a:bodyPr>
          <a:lstStyle/>
          <a:p>
            <a:pPr algn="ctr"/>
            <a:endParaRPr lang="fr-FR" dirty="0">
              <a:latin typeface="Sitka Subheading Semibold" charset="0"/>
              <a:cs typeface="Sitka Subheading Semibold"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229600" cy="4800600"/>
          </a:xfrm>
        </p:spPr>
        <p:txBody>
          <a:bodyPr>
            <a:noAutofit/>
          </a:bodyPr>
          <a:lstStyle/>
          <a:p>
            <a:pPr marL="0" indent="0" algn="just">
              <a:buNone/>
            </a:pPr>
            <a:r>
              <a:rPr lang="fr-FR" sz="1600" dirty="0" smtClean="0">
                <a:latin typeface="Sitka Subheading Semibold" charset="0"/>
                <a:cs typeface="Sitka Subheading Semibold" charset="0"/>
              </a:rPr>
              <a:t>L'âge du bronze dans la mer Égée à duré à peu près 2000 ans, de 3200 à 1000 av. JC environ. La culture qui se développa à cette époque en Grèce continentale est appelée </a:t>
            </a:r>
            <a:r>
              <a:rPr lang="fr-FR" sz="1600" b="1" dirty="0" smtClean="0">
                <a:latin typeface="Sitka Subheading Semibold" charset="0"/>
                <a:cs typeface="Sitka Subheading Semibold" charset="0"/>
              </a:rPr>
              <a:t>Helladique (terme créé </a:t>
            </a:r>
            <a:r>
              <a:rPr lang="fr-FR" sz="1600" b="1" dirty="0">
                <a:latin typeface="Sitka Subheading Semibold" charset="0"/>
                <a:cs typeface="Sitka Subheading Semibold" charset="0"/>
              </a:rPr>
              <a:t>comme le pendant des termes « cycladique » désignant la civilisation des Cyclades et « minoen » désignant la civilisation </a:t>
            </a:r>
            <a:r>
              <a:rPr lang="fr-FR" sz="1600" b="1" dirty="0" smtClean="0">
                <a:latin typeface="Sitka Subheading Semibold" charset="0"/>
                <a:cs typeface="Sitka Subheading Semibold" charset="0"/>
              </a:rPr>
              <a:t>minoenne</a:t>
            </a:r>
            <a:r>
              <a:rPr lang="fr-FR" sz="1600" dirty="0" smtClean="0">
                <a:latin typeface="Sitka Subheading Semibold" charset="0"/>
                <a:cs typeface="Sitka Subheading Semibold" charset="0"/>
              </a:rPr>
              <a:t>).</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L’Helladique est subdivisé en 3 périodes :</a:t>
            </a:r>
            <a:endParaRPr lang="fr-FR" sz="1600" dirty="0" smtClean="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Helladique </a:t>
            </a:r>
            <a:r>
              <a:rPr lang="fr-FR" sz="1600" dirty="0" smtClean="0">
                <a:latin typeface="Sitka Subheading Semibold" charset="0"/>
                <a:cs typeface="Sitka Subheading Semibold" charset="0"/>
              </a:rPr>
              <a:t>ancien : </a:t>
            </a:r>
            <a:r>
              <a:rPr lang="fr-FR" sz="1600" dirty="0">
                <a:latin typeface="Sitka Subheading Semibold" charset="0"/>
                <a:cs typeface="Sitka Subheading Semibold" charset="0"/>
              </a:rPr>
              <a:t>de </a:t>
            </a:r>
            <a:r>
              <a:rPr lang="fr-FR" sz="1600" dirty="0" smtClean="0">
                <a:latin typeface="Sitka Subheading Semibold" charset="0"/>
                <a:cs typeface="Sitka Subheading Semibold" charset="0"/>
              </a:rPr>
              <a:t>3200 </a:t>
            </a:r>
            <a:r>
              <a:rPr lang="fr-FR" sz="1600" dirty="0">
                <a:latin typeface="Sitka Subheading Semibold" charset="0"/>
                <a:cs typeface="Sitka Subheading Semibold" charset="0"/>
              </a:rPr>
              <a:t>à </a:t>
            </a:r>
            <a:r>
              <a:rPr lang="fr-FR" sz="1600" dirty="0" smtClean="0">
                <a:latin typeface="Sitka Subheading Semibold" charset="0"/>
                <a:cs typeface="Sitka Subheading Semibold" charset="0"/>
              </a:rPr>
              <a:t>2000 av. JC </a:t>
            </a:r>
            <a:r>
              <a:rPr lang="fr-FR" sz="1600" dirty="0">
                <a:latin typeface="Sitka Subheading Semibold" charset="0"/>
                <a:cs typeface="Sitka Subheading Semibold" charset="0"/>
              </a:rPr>
              <a:t>;</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Helladique </a:t>
            </a:r>
            <a:r>
              <a:rPr lang="fr-FR" sz="1600" dirty="0" smtClean="0">
                <a:latin typeface="Sitka Subheading Semibold" charset="0"/>
                <a:cs typeface="Sitka Subheading Semibold" charset="0"/>
              </a:rPr>
              <a:t>moyen </a:t>
            </a:r>
            <a:r>
              <a:rPr lang="fr-FR" sz="1600" dirty="0">
                <a:latin typeface="Sitka Subheading Semibold" charset="0"/>
                <a:cs typeface="Sitka Subheading Semibold" charset="0"/>
              </a:rPr>
              <a:t>: de 2000 à </a:t>
            </a:r>
            <a:r>
              <a:rPr lang="fr-FR" sz="1600" dirty="0" smtClean="0">
                <a:latin typeface="Sitka Subheading Semibold" charset="0"/>
                <a:cs typeface="Sitka Subheading Semibold" charset="0"/>
              </a:rPr>
              <a:t>1600 av. JC;</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Helladique récent </a:t>
            </a:r>
            <a:r>
              <a:rPr lang="fr-FR" sz="1600" dirty="0" smtClean="0">
                <a:latin typeface="Sitka Subheading Semibold" charset="0"/>
                <a:cs typeface="Sitka Subheading Semibold" charset="0"/>
              </a:rPr>
              <a:t>: de 1600 à 1000 av. JC</a:t>
            </a:r>
            <a:endParaRPr lang="fr-FR" sz="1600" dirty="0">
              <a:latin typeface="Sitka Subheading Semibold" charset="0"/>
              <a:cs typeface="Sitka Subheading Semibold" charset="0"/>
            </a:endParaRPr>
          </a:p>
          <a:p>
            <a:pPr marL="0" indent="0" algn="just">
              <a:buNone/>
            </a:pPr>
            <a:r>
              <a:rPr lang="fr-FR" sz="1600" dirty="0" smtClean="0">
                <a:latin typeface="Sitka Subheading Semibold" charset="0"/>
                <a:cs typeface="Sitka Subheading Semibold" charset="0"/>
              </a:rPr>
              <a:t>L’Helladique récent est aussi connu sous le nom de « </a:t>
            </a:r>
            <a:r>
              <a:rPr lang="fr-FR" sz="1600" b="1" dirty="0">
                <a:latin typeface="Sitka Subheading Semibold" charset="0"/>
                <a:cs typeface="Sitka Subheading Semibold" charset="0"/>
              </a:rPr>
              <a:t>c</a:t>
            </a:r>
            <a:r>
              <a:rPr lang="fr-FR" sz="1600" b="1" dirty="0" smtClean="0">
                <a:latin typeface="Sitka Subheading Semibold" charset="0"/>
                <a:cs typeface="Sitka Subheading Semibold" charset="0"/>
              </a:rPr>
              <a:t>ivilisation mycénienne</a:t>
            </a:r>
            <a:r>
              <a:rPr lang="fr-FR" sz="1600" dirty="0" smtClean="0">
                <a:latin typeface="Sitka Subheading Semibold" charset="0"/>
                <a:cs typeface="Sitka Subheading Semibold" charset="0"/>
              </a:rPr>
              <a:t> » d’après le nom du principal centre de cette civilisation </a:t>
            </a:r>
            <a:r>
              <a:rPr lang="fr-FR" sz="1600" b="1" dirty="0" smtClean="0">
                <a:latin typeface="Sitka Subheading Semibold" charset="0"/>
                <a:cs typeface="Sitka Subheading Semibold" charset="0"/>
              </a:rPr>
              <a:t>Mycènes</a:t>
            </a:r>
            <a:r>
              <a:rPr lang="fr-FR" sz="1600" dirty="0" smtClean="0">
                <a:latin typeface="Sitka Subheading Semibold" charset="0"/>
                <a:cs typeface="Sitka Subheading Semibold" charset="0"/>
              </a:rPr>
              <a:t> (Péloponnèse). </a:t>
            </a:r>
            <a:r>
              <a:rPr lang="fr-FR" sz="1600" dirty="0">
                <a:latin typeface="Sitka Subheading Semibold" charset="0"/>
                <a:cs typeface="Sitka Subheading Semibold" charset="0"/>
              </a:rPr>
              <a:t>Le développement de la Grèce continentale à la période mycénienne est lié à l'évolution de la Crète, le foyer de la brillante </a:t>
            </a:r>
            <a:r>
              <a:rPr lang="fr-FR" sz="1600" b="1" dirty="0">
                <a:latin typeface="Sitka Subheading Semibold" charset="0"/>
                <a:cs typeface="Sitka Subheading Semibold" charset="0"/>
              </a:rPr>
              <a:t>civilisation minoenne</a:t>
            </a:r>
            <a:r>
              <a:rPr lang="fr-FR" sz="1600" dirty="0">
                <a:latin typeface="Sitka Subheading Semibold" charset="0"/>
                <a:cs typeface="Sitka Subheading Semibold" charset="0"/>
              </a:rPr>
              <a:t> que la civilisation mycénienne supplante dans le monde égéen après lui avoir tant emprunté</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C</a:t>
            </a:r>
            <a:r>
              <a:rPr lang="fr-FR" sz="1600" dirty="0" smtClean="0">
                <a:latin typeface="Sitka Subheading Semibold" charset="0"/>
                <a:cs typeface="Sitka Subheading Semibold" charset="0"/>
              </a:rPr>
              <a:t>onnue </a:t>
            </a:r>
            <a:r>
              <a:rPr lang="fr-FR" sz="1600" dirty="0">
                <a:latin typeface="Sitka Subheading Semibold" charset="0"/>
                <a:cs typeface="Sitka Subheading Semibold" charset="0"/>
              </a:rPr>
              <a:t>à la fois par des vestiges archéologiques et des documents épigraphiques (inscriptions réalisées sur des matières non putrescibles telles que la </a:t>
            </a:r>
            <a:r>
              <a:rPr lang="fr-FR" sz="1600" dirty="0" smtClean="0">
                <a:latin typeface="Sitka Subheading Semibold" charset="0"/>
                <a:cs typeface="Sitka Subheading Semibold" charset="0"/>
              </a:rPr>
              <a:t>pierre, </a:t>
            </a:r>
            <a:r>
              <a:rPr lang="fr-FR" sz="1600" dirty="0">
                <a:latin typeface="Sitka Subheading Semibold" charset="0"/>
                <a:cs typeface="Sitka Subheading Semibold" charset="0"/>
              </a:rPr>
              <a:t>l’argile ou le </a:t>
            </a:r>
            <a:r>
              <a:rPr lang="fr-FR" sz="1600" dirty="0" smtClean="0">
                <a:latin typeface="Sitka Subheading Semibold" charset="0"/>
                <a:cs typeface="Sitka Subheading Semibold" charset="0"/>
              </a:rPr>
              <a:t>métal), la civilisation mycénienne est </a:t>
            </a:r>
            <a:r>
              <a:rPr lang="fr-FR" sz="1600" dirty="0">
                <a:latin typeface="Sitka Subheading Semibold" charset="0"/>
                <a:cs typeface="Sitka Subheading Semibold" charset="0"/>
              </a:rPr>
              <a:t>caractérisée par ses palais-forteresses, ses différents types de </a:t>
            </a:r>
            <a:r>
              <a:rPr lang="fr-FR" sz="1600" dirty="0" smtClean="0">
                <a:latin typeface="Sitka Subheading Semibold" charset="0"/>
                <a:cs typeface="Sitka Subheading Semibold" charset="0"/>
              </a:rPr>
              <a:t>poterie, </a:t>
            </a:r>
            <a:r>
              <a:rPr lang="fr-FR" sz="1600" dirty="0">
                <a:latin typeface="Sitka Subheading Semibold" charset="0"/>
                <a:cs typeface="Sitka Subheading Semibold" charset="0"/>
              </a:rPr>
              <a:t>ainsi que son écriture, le linéaire B </a:t>
            </a:r>
            <a:r>
              <a:rPr lang="fr-FR" sz="1600" dirty="0" smtClean="0">
                <a:latin typeface="Sitka Subheading Semibold" charset="0"/>
                <a:cs typeface="Sitka Subheading Semibold" charset="0"/>
              </a:rPr>
              <a:t>(forme </a:t>
            </a:r>
            <a:r>
              <a:rPr lang="fr-FR" sz="1600" dirty="0">
                <a:latin typeface="Sitka Subheading Semibold" charset="0"/>
                <a:cs typeface="Sitka Subheading Semibold" charset="0"/>
              </a:rPr>
              <a:t>archaïque du grec </a:t>
            </a:r>
            <a:r>
              <a:rPr lang="fr-FR" sz="1600" dirty="0" smtClean="0">
                <a:latin typeface="Sitka Subheading Semibold" charset="0"/>
                <a:cs typeface="Sitka Subheading Semibold" charset="0"/>
              </a:rPr>
              <a:t>ancien).</a:t>
            </a:r>
            <a:endParaRPr lang="fr-FR" sz="1600" dirty="0" smtClean="0">
              <a:latin typeface="Sitka Subheading Semibold" charset="0"/>
              <a:cs typeface="Sitka Subheading Semibold" charset="0"/>
            </a:endParaRPr>
          </a:p>
        </p:txBody>
      </p:sp>
      <p:sp>
        <p:nvSpPr>
          <p:cNvPr id="6" name="Titre 1"/>
          <p:cNvSpPr>
            <a:spLocks noGrp="1"/>
          </p:cNvSpPr>
          <p:nvPr>
            <p:ph type="title"/>
          </p:nvPr>
        </p:nvSpPr>
        <p:spPr/>
        <p:txBody>
          <a:bodyPr>
            <a:normAutofit fontScale="90000"/>
          </a:bodyPr>
          <a:lstStyle/>
          <a:p>
            <a:r>
              <a:rPr lang="fr-FR" dirty="0" smtClean="0">
                <a:solidFill>
                  <a:srgbClr val="FF0000"/>
                </a:solidFill>
                <a:latin typeface="Sitka Subheading Semibold" charset="0"/>
                <a:cs typeface="Sitka Subheading Semibold" charset="0"/>
              </a:rPr>
              <a:t>Chapitre 1 – </a:t>
            </a:r>
            <a:r>
              <a:rPr lang="fr-FR" dirty="0">
                <a:solidFill>
                  <a:srgbClr val="FF0000"/>
                </a:solidFill>
                <a:latin typeface="Sitka Subheading Semibold" charset="0"/>
                <a:cs typeface="Sitka Subheading Semibold" charset="0"/>
              </a:rPr>
              <a:t>Civilisations </a:t>
            </a:r>
            <a:r>
              <a:rPr lang="fr-FR" dirty="0" smtClean="0">
                <a:solidFill>
                  <a:srgbClr val="FF0000"/>
                </a:solidFill>
                <a:latin typeface="Sitka Subheading Semibold" charset="0"/>
                <a:cs typeface="Sitka Subheading Semibold" charset="0"/>
              </a:rPr>
              <a:t>préhelléniques </a:t>
            </a:r>
            <a:r>
              <a:rPr lang="fr-FR" dirty="0">
                <a:solidFill>
                  <a:srgbClr val="FF0000"/>
                </a:solidFill>
                <a:latin typeface="Sitka Subheading Semibold" charset="0"/>
                <a:cs typeface="Sitka Subheading Semibold" charset="0"/>
              </a:rPr>
              <a:t>: Crête et Mycènes </a:t>
            </a:r>
            <a:endParaRPr lang="fr-FR" dirty="0">
              <a:solidFill>
                <a:srgbClr val="FF0000"/>
              </a:solidFill>
              <a:latin typeface="Sitka Subheading Semibold" charset="0"/>
              <a:cs typeface="Sitka Subheading Semibold"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r>
              <a:rPr lang="pt-BR" sz="1600" dirty="0" smtClean="0">
                <a:latin typeface="Sitka Subheading Semibold" charset="0"/>
                <a:cs typeface="Sitka Subheading Semibold" charset="0"/>
              </a:rPr>
              <a:t>3000 </a:t>
            </a:r>
            <a:r>
              <a:rPr lang="pt-BR" sz="1600" dirty="0">
                <a:latin typeface="Sitka Subheading Semibold" charset="0"/>
                <a:cs typeface="Sitka Subheading Semibold" charset="0"/>
              </a:rPr>
              <a:t>av. JC </a:t>
            </a:r>
            <a:r>
              <a:rPr lang="pt-BR" sz="1600">
                <a:latin typeface="Sitka Subheading Semibold" charset="0"/>
                <a:cs typeface="Sitka Subheading Semibold" charset="0"/>
              </a:rPr>
              <a:t>/ </a:t>
            </a:r>
            <a:r>
              <a:rPr lang="pt-BR" sz="1600" smtClean="0">
                <a:latin typeface="Sitka Subheading Semibold" charset="0"/>
                <a:cs typeface="Sitka Subheading Semibold" charset="0"/>
              </a:rPr>
              <a:t>2400 </a:t>
            </a:r>
            <a:r>
              <a:rPr lang="pt-BR" sz="1600" dirty="0">
                <a:latin typeface="Sitka Subheading Semibold" charset="0"/>
                <a:cs typeface="Sitka Subheading Semibold" charset="0"/>
              </a:rPr>
              <a:t>av. JC </a:t>
            </a:r>
            <a:r>
              <a:rPr lang="pt-BR" sz="1600" dirty="0" err="1">
                <a:latin typeface="Sitka Subheading Semibold" charset="0"/>
                <a:cs typeface="Sitka Subheading Semibold" charset="0"/>
              </a:rPr>
              <a:t>Chalcolithique</a:t>
            </a:r>
            <a:r>
              <a:rPr lang="pt-BR" sz="1600" dirty="0">
                <a:latin typeface="Sitka Subheading Semibold" charset="0"/>
                <a:cs typeface="Sitka Subheading Semibold" charset="0"/>
              </a:rPr>
              <a:t> (1°</a:t>
            </a:r>
            <a:r>
              <a:rPr lang="pt-BR" sz="1600" dirty="0" smtClean="0">
                <a:latin typeface="Sitka Subheading Semibold" charset="0"/>
                <a:cs typeface="Sitka Subheading Semibold" charset="0"/>
              </a:rPr>
              <a:t>sociétés </a:t>
            </a:r>
            <a:r>
              <a:rPr lang="pt-BR" sz="1600" dirty="0" err="1" smtClean="0">
                <a:latin typeface="Sitka Subheading Semibold" charset="0"/>
                <a:cs typeface="Sitka Subheading Semibold" charset="0"/>
              </a:rPr>
              <a:t>organisées</a:t>
            </a:r>
            <a:r>
              <a:rPr lang="pt-BR" sz="1600" dirty="0">
                <a:latin typeface="Sitka Subheading Semibold" charset="0"/>
                <a:cs typeface="Sitka Subheading Semibold" charset="0"/>
              </a:rPr>
              <a:t>)</a:t>
            </a:r>
            <a:endParaRPr lang="pt-BR" sz="1600" dirty="0">
              <a:latin typeface="Sitka Subheading Semibold" charset="0"/>
              <a:cs typeface="Sitka Subheading Semibold" charset="0"/>
            </a:endParaRPr>
          </a:p>
          <a:p>
            <a:r>
              <a:rPr lang="fr-FR" sz="1600" dirty="0" smtClean="0">
                <a:latin typeface="Sitka Subheading Semibold" charset="0"/>
                <a:cs typeface="Sitka Subheading Semibold" charset="0"/>
              </a:rPr>
              <a:t>2400 </a:t>
            </a:r>
            <a:r>
              <a:rPr lang="fr-FR" sz="1600" dirty="0">
                <a:latin typeface="Sitka Subheading Semibold" charset="0"/>
                <a:cs typeface="Sitka Subheading Semibold" charset="0"/>
              </a:rPr>
              <a:t>av. JC / 1400 av. JC </a:t>
            </a:r>
            <a:r>
              <a:rPr lang="fr-FR" sz="1600" dirty="0" smtClean="0">
                <a:latin typeface="Sitka Subheading Semibold" charset="0"/>
                <a:cs typeface="Sitka Subheading Semibold" charset="0"/>
              </a:rPr>
              <a:t>époque </a:t>
            </a:r>
            <a:r>
              <a:rPr lang="fr-FR" sz="1600" dirty="0">
                <a:latin typeface="Sitka Subheading Semibold" charset="0"/>
                <a:cs typeface="Sitka Subheading Semibold" charset="0"/>
              </a:rPr>
              <a:t>Minoenne </a:t>
            </a:r>
            <a:r>
              <a:rPr lang="fr-FR" sz="1600" dirty="0" smtClean="0">
                <a:latin typeface="Sitka Subheading Semibold" charset="0"/>
                <a:cs typeface="Sitka Subheading Semibold" charset="0"/>
              </a:rPr>
              <a:t>(Crète </a:t>
            </a:r>
            <a:r>
              <a:rPr lang="fr-FR" sz="1600" dirty="0">
                <a:latin typeface="Sitka Subheading Semibold" charset="0"/>
                <a:cs typeface="Sitka Subheading Semibold" charset="0"/>
              </a:rPr>
              <a:t>: </a:t>
            </a:r>
            <a:r>
              <a:rPr lang="fr-FR" sz="1600" dirty="0" err="1">
                <a:latin typeface="Sitka Subheading Semibold" charset="0"/>
                <a:cs typeface="Sitka Subheading Semibold" charset="0"/>
              </a:rPr>
              <a:t>Knossos</a:t>
            </a:r>
            <a:r>
              <a:rPr lang="fr-FR" sz="1600" dirty="0">
                <a:latin typeface="Sitka Subheading Semibold" charset="0"/>
                <a:cs typeface="Sitka Subheading Semibold" charset="0"/>
              </a:rPr>
              <a:t>)</a:t>
            </a:r>
            <a:endParaRPr lang="fr-FR" sz="1600" dirty="0">
              <a:latin typeface="Sitka Subheading Semibold" charset="0"/>
              <a:cs typeface="Sitka Subheading Semibold" charset="0"/>
            </a:endParaRPr>
          </a:p>
          <a:p>
            <a:r>
              <a:rPr lang="fr-FR" sz="1600" dirty="0" smtClean="0">
                <a:latin typeface="Sitka Subheading Semibold" charset="0"/>
                <a:cs typeface="Sitka Subheading Semibold" charset="0"/>
              </a:rPr>
              <a:t>1400 </a:t>
            </a:r>
            <a:r>
              <a:rPr lang="fr-FR" sz="1600" dirty="0">
                <a:latin typeface="Sitka Subheading Semibold" charset="0"/>
                <a:cs typeface="Sitka Subheading Semibold" charset="0"/>
              </a:rPr>
              <a:t>av. JC / 1200 av. JC </a:t>
            </a:r>
            <a:r>
              <a:rPr lang="fr-FR" sz="1600" dirty="0" smtClean="0">
                <a:latin typeface="Sitka Subheading Semibold" charset="0"/>
                <a:cs typeface="Sitka Subheading Semibold" charset="0"/>
              </a:rPr>
              <a:t>époque achéenne (Mycènes, </a:t>
            </a:r>
            <a:r>
              <a:rPr lang="fr-FR" sz="1600" dirty="0" err="1">
                <a:latin typeface="Sitka Subheading Semibold" charset="0"/>
                <a:cs typeface="Sitka Subheading Semibold" charset="0"/>
              </a:rPr>
              <a:t>Tyrinthe</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r>
              <a:rPr lang="fr-FR" sz="1600" dirty="0" smtClean="0">
                <a:latin typeface="Sitka Subheading Semibold" charset="0"/>
                <a:cs typeface="Sitka Subheading Semibold" charset="0"/>
              </a:rPr>
              <a:t>1200 av. JC Invasion Dorienne (début de la période appelée </a:t>
            </a:r>
            <a:r>
              <a:rPr lang="fr-FR" sz="1600" i="1" dirty="0" smtClean="0">
                <a:latin typeface="Sitka Subheading Semibold" charset="0"/>
                <a:cs typeface="Sitka Subheading Semibold" charset="0"/>
              </a:rPr>
              <a:t>siècles obscurs </a:t>
            </a:r>
            <a:r>
              <a:rPr lang="fr-FR" sz="1600" dirty="0" smtClean="0">
                <a:latin typeface="Sitka Subheading Semibold" charset="0"/>
                <a:cs typeface="Sitka Subheading Semibold" charset="0"/>
              </a:rPr>
              <a:t>ou </a:t>
            </a:r>
            <a:r>
              <a:rPr lang="fr-FR" sz="1600" i="1" dirty="0" smtClean="0">
                <a:latin typeface="Sitka Subheading Semibold" charset="0"/>
                <a:cs typeface="Sitka Subheading Semibold" charset="0"/>
              </a:rPr>
              <a:t>temps homériques</a:t>
            </a:r>
            <a:r>
              <a:rPr lang="fr-FR" sz="1600" dirty="0" smtClean="0">
                <a:latin typeface="Sitka Subheading Semibold" charset="0"/>
                <a:cs typeface="Sitka Subheading Semibold" charset="0"/>
              </a:rPr>
              <a:t>)</a:t>
            </a:r>
            <a:r>
              <a:rPr lang="fr-FR" sz="1600" i="1" dirty="0" smtClean="0">
                <a:latin typeface="Sitka Subheading Semibold" charset="0"/>
                <a:cs typeface="Sitka Subheading Semibold" charset="0"/>
              </a:rPr>
              <a:t> </a:t>
            </a:r>
            <a:endParaRPr lang="fr-FR" sz="1600" i="1" dirty="0">
              <a:latin typeface="Sitka Subheading Semibold" charset="0"/>
              <a:cs typeface="Sitka Subheading Semibold" charset="0"/>
            </a:endParaRPr>
          </a:p>
        </p:txBody>
      </p:sp>
      <p:sp>
        <p:nvSpPr>
          <p:cNvPr id="6" name="Titre 5"/>
          <p:cNvSpPr>
            <a:spLocks noGrp="1"/>
          </p:cNvSpPr>
          <p:nvPr>
            <p:ph type="title"/>
          </p:nvPr>
        </p:nvSpPr>
        <p:spPr/>
        <p:txBody>
          <a:bodyPr/>
          <a:lstStyle/>
          <a:p>
            <a:r>
              <a:rPr lang="fr-FR" dirty="0" smtClean="0">
                <a:solidFill>
                  <a:srgbClr val="FF0000"/>
                </a:solidFill>
                <a:latin typeface="Sitka Subheading Semibold" charset="0"/>
                <a:cs typeface="Sitka Subheading Semibold" charset="0"/>
              </a:rPr>
              <a:t>Chronologie</a:t>
            </a:r>
            <a:endParaRPr lang="fr-FR" dirty="0" smtClean="0">
              <a:solidFill>
                <a:srgbClr val="FF0000"/>
              </a:solidFill>
              <a:latin typeface="Sitka Subheading Semibold" charset="0"/>
              <a:cs typeface="Sitka Subheading Semibold" charset="0"/>
            </a:endParaRPr>
          </a:p>
        </p:txBody>
      </p:sp>
      <p:pic>
        <p:nvPicPr>
          <p:cNvPr id="2" name="Image 1" descr="mycènnes.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30780" y="2763520"/>
            <a:ext cx="4285866" cy="3799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676140" cy="4881562"/>
          </a:xfrm>
        </p:spPr>
        <p:txBody>
          <a:bodyPr>
            <a:noAutofit/>
          </a:bodyPr>
          <a:lstStyle/>
          <a:p>
            <a:pPr marL="0" indent="0">
              <a:buNone/>
            </a:pPr>
            <a:r>
              <a:rPr lang="fr-FR" sz="1400" dirty="0">
                <a:latin typeface="Sitka Subheading Semibold" charset="0"/>
                <a:cs typeface="Sitka Subheading Semibold" charset="0"/>
              </a:rPr>
              <a:t>La civilisation minoenne se caractérise, d'abord par ses palais à l'image de ceux de </a:t>
            </a:r>
            <a:r>
              <a:rPr lang="fr-FR" sz="1400" dirty="0" err="1" smtClean="0">
                <a:latin typeface="Sitka Subheading Semibold" charset="0"/>
                <a:cs typeface="Sitka Subheading Semibold" charset="0"/>
              </a:rPr>
              <a:t>Knossos</a:t>
            </a:r>
            <a:r>
              <a:rPr lang="fr-FR" sz="1400" dirty="0" smtClean="0">
                <a:latin typeface="Sitka Subheading Semibold" charset="0"/>
                <a:cs typeface="Sitka Subheading Semibold" charset="0"/>
              </a:rPr>
              <a:t> (ou </a:t>
            </a:r>
            <a:r>
              <a:rPr lang="pt-BR" sz="1400" dirty="0" err="1" smtClean="0">
                <a:latin typeface="Sitka Subheading Semibold" charset="0"/>
                <a:cs typeface="Sitka Subheading Semibold" charset="0"/>
              </a:rPr>
              <a:t>Cnossos</a:t>
            </a:r>
            <a:r>
              <a:rPr lang="pt-BR" sz="1400" dirty="0" smtClean="0">
                <a:latin typeface="Sitka Subheading Semibold" charset="0"/>
                <a:cs typeface="Sitka Subheading Semibold" charset="0"/>
              </a:rPr>
              <a:t>)</a:t>
            </a:r>
            <a:r>
              <a:rPr lang="fr-FR" sz="1400" dirty="0" smtClean="0">
                <a:latin typeface="Sitka Subheading Semibold" charset="0"/>
                <a:cs typeface="Sitka Subheading Semibold" charset="0"/>
              </a:rPr>
              <a:t>, </a:t>
            </a:r>
            <a:r>
              <a:rPr lang="fr-FR" sz="1400" dirty="0">
                <a:latin typeface="Sitka Subheading Semibold" charset="0"/>
                <a:cs typeface="Sitka Subheading Semibold" charset="0"/>
              </a:rPr>
              <a:t>Phaistos, Malia ou encore de Zakros. De 2000 à 1700 av. J.-C., une première période dite « </a:t>
            </a:r>
            <a:r>
              <a:rPr lang="fr-FR" sz="1400" dirty="0" err="1">
                <a:latin typeface="Sitka Subheading Semibold" charset="0"/>
                <a:cs typeface="Sitka Subheading Semibold" charset="0"/>
              </a:rPr>
              <a:t>protopalatiale</a:t>
            </a:r>
            <a:r>
              <a:rPr lang="fr-FR" sz="1400" dirty="0">
                <a:latin typeface="Sitka Subheading Semibold" charset="0"/>
                <a:cs typeface="Sitka Subheading Semibold" charset="0"/>
              </a:rPr>
              <a:t> » voit finalement ses palais être détruits ; de 1700 à 1400 av. J.-C</a:t>
            </a:r>
            <a:r>
              <a:rPr lang="fr-FR" sz="1400" dirty="0" smtClean="0">
                <a:latin typeface="Sitka Subheading Semibold" charset="0"/>
                <a:cs typeface="Sitka Subheading Semibold" charset="0"/>
              </a:rPr>
              <a:t>.</a:t>
            </a:r>
            <a:endParaRPr lang="fr-FR" sz="1400" dirty="0" smtClean="0">
              <a:latin typeface="Sitka Subheading Semibold" charset="0"/>
              <a:cs typeface="Sitka Subheading Semibold" charset="0"/>
            </a:endParaRPr>
          </a:p>
          <a:p>
            <a:pPr marL="0" indent="0">
              <a:buNone/>
            </a:pPr>
            <a:r>
              <a:rPr lang="fr-FR" sz="1400" b="1" dirty="0" smtClean="0">
                <a:latin typeface="Sitka Subheading Semibold" charset="0"/>
                <a:cs typeface="Sitka Subheading Semibold" charset="0"/>
              </a:rPr>
              <a:t>Caractéristiques de l’architecture minoenne :</a:t>
            </a:r>
            <a:endParaRPr lang="fr-FR" sz="1400" b="1" dirty="0">
              <a:latin typeface="Sitka Subheading Semibold" charset="0"/>
              <a:cs typeface="Sitka Subheading Semibold" charset="0"/>
            </a:endParaRPr>
          </a:p>
          <a:p>
            <a:r>
              <a:rPr lang="fr-FR" sz="1400" dirty="0" err="1" smtClean="0">
                <a:latin typeface="Sitka Subheading Semibold" charset="0"/>
                <a:cs typeface="Sitka Subheading Semibold" charset="0"/>
              </a:rPr>
              <a:t>Cités</a:t>
            </a:r>
            <a:r>
              <a:rPr lang="fr-FR" sz="1400" dirty="0" err="1">
                <a:latin typeface="Sitka Subheading Semibold" charset="0"/>
                <a:cs typeface="Sitka Subheading Semibold" charset="0"/>
              </a:rPr>
              <a:t>-états</a:t>
            </a:r>
            <a:r>
              <a:rPr lang="fr-FR" sz="1400" dirty="0">
                <a:latin typeface="Sitka Subheading Semibold" charset="0"/>
                <a:cs typeface="Sitka Subheading Semibold" charset="0"/>
              </a:rPr>
              <a:t> sans fortifications </a:t>
            </a:r>
            <a:endParaRPr lang="fr-FR" sz="1400" dirty="0">
              <a:latin typeface="Sitka Subheading Semibold" charset="0"/>
              <a:cs typeface="Sitka Subheading Semibold" charset="0"/>
            </a:endParaRPr>
          </a:p>
          <a:p>
            <a:r>
              <a:rPr lang="fr-FR" sz="1400" dirty="0">
                <a:latin typeface="Sitka Subheading Semibold" charset="0"/>
                <a:cs typeface="Sitka Subheading Semibold" charset="0"/>
              </a:rPr>
              <a:t>Plan sans organisation jouant du relief </a:t>
            </a:r>
            <a:endParaRPr lang="fr-FR" sz="1400" dirty="0">
              <a:latin typeface="Sitka Subheading Semibold" charset="0"/>
              <a:cs typeface="Sitka Subheading Semibold" charset="0"/>
            </a:endParaRPr>
          </a:p>
          <a:p>
            <a:r>
              <a:rPr lang="fr-FR" sz="1400" b="1" dirty="0">
                <a:latin typeface="Sitka Subheading Semibold" charset="0"/>
                <a:cs typeface="Sitka Subheading Semibold" charset="0"/>
              </a:rPr>
              <a:t>Maisons</a:t>
            </a:r>
            <a:r>
              <a:rPr lang="fr-FR" sz="1400" dirty="0">
                <a:latin typeface="Sitka Subheading Semibold" charset="0"/>
                <a:cs typeface="Sitka Subheading Semibold" charset="0"/>
              </a:rPr>
              <a:t>: Brique crue avec </a:t>
            </a:r>
            <a:r>
              <a:rPr lang="fr-FR" sz="1400" i="1" dirty="0" err="1">
                <a:latin typeface="Sitka Subheading Semibold" charset="0"/>
                <a:cs typeface="Sitka Subheading Semibold" charset="0"/>
              </a:rPr>
              <a:t>chaînage</a:t>
            </a:r>
            <a:r>
              <a:rPr lang="fr-FR" sz="1400" i="1" dirty="0">
                <a:latin typeface="Sitka Subheading Semibold" charset="0"/>
                <a:cs typeface="Sitka Subheading Semibold" charset="0"/>
              </a:rPr>
              <a:t> </a:t>
            </a:r>
            <a:r>
              <a:rPr lang="fr-FR" sz="1400" dirty="0">
                <a:latin typeface="Sitka Subheading Semibold" charset="0"/>
                <a:cs typeface="Sitka Subheading Semibold" charset="0"/>
              </a:rPr>
              <a:t>de bois </a:t>
            </a:r>
            <a:endParaRPr lang="fr-FR" sz="1400" dirty="0">
              <a:latin typeface="Sitka Subheading Semibold" charset="0"/>
              <a:cs typeface="Sitka Subheading Semibold" charset="0"/>
            </a:endParaRPr>
          </a:p>
          <a:p>
            <a:r>
              <a:rPr lang="fr-FR" sz="1400" b="1" dirty="0">
                <a:latin typeface="Sitka Subheading Semibold" charset="0"/>
                <a:cs typeface="Sitka Subheading Semibold" charset="0"/>
              </a:rPr>
              <a:t>Palais </a:t>
            </a:r>
            <a:r>
              <a:rPr lang="fr-FR" sz="1400" dirty="0">
                <a:latin typeface="Sitka Subheading Semibold" charset="0"/>
                <a:cs typeface="Sitka Subheading Semibold" charset="0"/>
              </a:rPr>
              <a:t>: superstructure en grand appareil, </a:t>
            </a:r>
            <a:endParaRPr lang="fr-FR" sz="1400" dirty="0">
              <a:latin typeface="Sitka Subheading Semibold" charset="0"/>
              <a:cs typeface="Sitka Subheading Semibold" charset="0"/>
            </a:endParaRPr>
          </a:p>
          <a:p>
            <a:r>
              <a:rPr lang="fr-FR" sz="1400" dirty="0">
                <a:latin typeface="Sitka Subheading Semibold" charset="0"/>
                <a:cs typeface="Sitka Subheading Semibold" charset="0"/>
              </a:rPr>
              <a:t>murs internes en petit </a:t>
            </a:r>
            <a:r>
              <a:rPr lang="fr-FR" sz="1400" dirty="0" smtClean="0">
                <a:latin typeface="Sitka Subheading Semibold" charset="0"/>
                <a:cs typeface="Sitka Subheading Semibold" charset="0"/>
              </a:rPr>
              <a:t>appareil</a:t>
            </a:r>
            <a:endParaRPr lang="fr-FR" sz="1400" dirty="0">
              <a:latin typeface="Sitka Subheading Semibold" charset="0"/>
              <a:cs typeface="Sitka Subheading Semibold" charset="0"/>
            </a:endParaRPr>
          </a:p>
          <a:p>
            <a:r>
              <a:rPr lang="fr-FR" sz="1400" dirty="0" smtClean="0">
                <a:latin typeface="Sitka Subheading Semibold" charset="0"/>
                <a:cs typeface="Sitka Subheading Semibold" charset="0"/>
              </a:rPr>
              <a:t>Nombreux </a:t>
            </a:r>
            <a:r>
              <a:rPr lang="fr-FR" sz="1400" b="1" dirty="0">
                <a:latin typeface="Sitka Subheading Semibold" charset="0"/>
                <a:cs typeface="Sitka Subheading Semibold" charset="0"/>
              </a:rPr>
              <a:t>portiques</a:t>
            </a:r>
            <a:r>
              <a:rPr lang="fr-FR" sz="1400" dirty="0">
                <a:latin typeface="Sitka Subheading Semibold" charset="0"/>
                <a:cs typeface="Sitka Subheading Semibold" charset="0"/>
              </a:rPr>
              <a:t> ou </a:t>
            </a:r>
            <a:r>
              <a:rPr lang="fr-FR" sz="1400" b="1" dirty="0" smtClean="0">
                <a:latin typeface="Sitka Subheading Semibold" charset="0"/>
                <a:cs typeface="Sitka Subheading Semibold" charset="0"/>
              </a:rPr>
              <a:t>propylées</a:t>
            </a:r>
            <a:r>
              <a:rPr lang="fr-FR" sz="1400" dirty="0" smtClean="0">
                <a:latin typeface="Sitka Subheading Semibold" charset="0"/>
                <a:cs typeface="Sitka Subheading Semibold" charset="0"/>
              </a:rPr>
              <a:t> </a:t>
            </a:r>
            <a:endParaRPr lang="fr-FR" sz="1400" dirty="0" smtClean="0">
              <a:latin typeface="Sitka Subheading Semibold" charset="0"/>
              <a:cs typeface="Sitka Subheading Semibold" charset="0"/>
            </a:endParaRPr>
          </a:p>
          <a:p>
            <a:endParaRPr lang="fr-FR" sz="1400" dirty="0">
              <a:latin typeface="Sitka Subheading Semibold" charset="0"/>
              <a:cs typeface="Sitka Subheading Semibold" charset="0"/>
            </a:endParaRPr>
          </a:p>
          <a:p>
            <a:endParaRPr lang="fr-FR" sz="1400" dirty="0">
              <a:latin typeface="Sitka Subheading Semibold" charset="0"/>
              <a:cs typeface="Sitka Subheading Semibold" charset="0"/>
            </a:endParaRPr>
          </a:p>
          <a:p>
            <a:pPr marL="0" indent="0">
              <a:buNone/>
            </a:pPr>
            <a:endParaRPr lang="fr-FR" sz="1400" i="1" dirty="0">
              <a:latin typeface="Sitka Subheading Semibold" charset="0"/>
              <a:cs typeface="Sitka Subheading Semibold" charset="0"/>
            </a:endParaRPr>
          </a:p>
        </p:txBody>
      </p:sp>
      <p:sp>
        <p:nvSpPr>
          <p:cNvPr id="6" name="Titre 5"/>
          <p:cNvSpPr>
            <a:spLocks noGrp="1"/>
          </p:cNvSpPr>
          <p:nvPr>
            <p:ph type="title"/>
          </p:nvPr>
        </p:nvSpPr>
        <p:spPr/>
        <p:txBody>
          <a:bodyPr/>
          <a:lstStyle/>
          <a:p>
            <a:r>
              <a:rPr lang="fr-FR" dirty="0" smtClean="0">
                <a:solidFill>
                  <a:srgbClr val="FF0000"/>
                </a:solidFill>
                <a:latin typeface="Sitka Subheading Semibold" charset="0"/>
                <a:cs typeface="Sitka Subheading Semibold" charset="0"/>
              </a:rPr>
              <a:t>Architecture minoenne (Crête) </a:t>
            </a:r>
            <a:endParaRPr lang="fr-FR" dirty="0" smtClean="0">
              <a:solidFill>
                <a:srgbClr val="FF0000"/>
              </a:solidFill>
              <a:latin typeface="Sitka Subheading Semibold" charset="0"/>
              <a:cs typeface="Sitka Subheading Semibold" charset="0"/>
            </a:endParaRPr>
          </a:p>
        </p:txBody>
      </p:sp>
      <p:pic>
        <p:nvPicPr>
          <p:cNvPr id="4" name="Image 3" descr="archi minoenne.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26001" y="1417638"/>
            <a:ext cx="3708030" cy="5400324"/>
          </a:xfrm>
          <a:prstGeom prst="rect">
            <a:avLst/>
          </a:prstGeom>
        </p:spPr>
      </p:pic>
      <p:pic>
        <p:nvPicPr>
          <p:cNvPr id="5" name="Image 4" descr="knossosPalai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080" y="4602480"/>
            <a:ext cx="3157938" cy="21663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917439" cy="4881562"/>
          </a:xfrm>
        </p:spPr>
        <p:txBody>
          <a:bodyPr>
            <a:noAutofit/>
          </a:bodyPr>
          <a:lstStyle/>
          <a:p>
            <a:pPr marL="0" indent="0">
              <a:buNone/>
            </a:pPr>
            <a:r>
              <a:rPr lang="fr-FR" sz="1600" dirty="0">
                <a:latin typeface="Sitka Subheading Semibold" charset="0"/>
                <a:cs typeface="Sitka Subheading Semibold" charset="0"/>
              </a:rPr>
              <a:t>Mycènes </a:t>
            </a:r>
            <a:r>
              <a:rPr lang="fr-FR" sz="1600" dirty="0" smtClean="0">
                <a:latin typeface="Sitka Subheading Semibold" charset="0"/>
                <a:cs typeface="Sitka Subheading Semibold" charset="0"/>
              </a:rPr>
              <a:t>était </a:t>
            </a:r>
            <a:r>
              <a:rPr lang="fr-FR" sz="1600" dirty="0">
                <a:latin typeface="Sitka Subheading Semibold" charset="0"/>
                <a:cs typeface="Sitka Subheading Semibold" charset="0"/>
              </a:rPr>
              <a:t>située sur une colline au Nord-est de la plaine d'Argos, dans le Péloponnèse à environ 90 km au Sud-ouest </a:t>
            </a:r>
            <a:r>
              <a:rPr lang="fr-FR" sz="1600" dirty="0" smtClean="0">
                <a:latin typeface="Sitka Subheading Semibold" charset="0"/>
                <a:cs typeface="Sitka Subheading Semibold" charset="0"/>
              </a:rPr>
              <a:t>d'Athènes. </a:t>
            </a:r>
            <a:r>
              <a:rPr lang="fr-FR" sz="1600" dirty="0">
                <a:latin typeface="Sitka Subheading Semibold" charset="0"/>
                <a:cs typeface="Sitka Subheading Semibold" charset="0"/>
              </a:rPr>
              <a:t>Au IIe millénaire Mycènes fut l'un des principaux centres de la civilisation Grecque. Elle était entourée de murs, </a:t>
            </a:r>
            <a:r>
              <a:rPr lang="fr-FR" sz="1600" dirty="0" smtClean="0">
                <a:latin typeface="Sitka Subheading Semibold" charset="0"/>
                <a:cs typeface="Sitka Subheading Semibold" charset="0"/>
              </a:rPr>
              <a:t>dit "</a:t>
            </a:r>
            <a:r>
              <a:rPr lang="fr-FR" sz="1600" dirty="0">
                <a:latin typeface="Sitka Subheading Semibold" charset="0"/>
                <a:cs typeface="Sitka Subheading Semibold" charset="0"/>
              </a:rPr>
              <a:t>cyclopéens" (Assemblage de blocs énormes). Cette forteresse militaire domina une grande partie du Sud de la Grèce. </a:t>
            </a:r>
            <a:endParaRPr lang="fr-FR" sz="1600" dirty="0">
              <a:latin typeface="Sitka Subheading Semibold" charset="0"/>
              <a:cs typeface="Sitka Subheading Semibold" charset="0"/>
            </a:endParaRPr>
          </a:p>
          <a:p>
            <a:pPr marL="0" indent="0">
              <a:buNone/>
            </a:pPr>
            <a:r>
              <a:rPr lang="fr-FR" sz="1400" b="1" dirty="0">
                <a:latin typeface="Sitka Subheading Semibold" charset="0"/>
                <a:cs typeface="Sitka Subheading Semibold" charset="0"/>
              </a:rPr>
              <a:t>Caractéristiques de la cité mycénienne</a:t>
            </a:r>
            <a:endParaRPr lang="fr-FR" sz="1400" b="1" dirty="0">
              <a:latin typeface="Sitka Subheading Semibold" charset="0"/>
              <a:cs typeface="Sitka Subheading Semibold" charset="0"/>
            </a:endParaRPr>
          </a:p>
          <a:p>
            <a:pPr marL="0" indent="0">
              <a:buNone/>
            </a:pPr>
            <a:r>
              <a:rPr lang="fr-FR" sz="1400" dirty="0">
                <a:latin typeface="Sitka Subheading Semibold" charset="0"/>
                <a:cs typeface="Sitka Subheading Semibold" charset="0"/>
              </a:rPr>
              <a:t>• </a:t>
            </a:r>
            <a:r>
              <a:rPr lang="fr-FR" sz="1400" b="1" dirty="0">
                <a:latin typeface="Sitka Subheading Semibold" charset="0"/>
                <a:cs typeface="Sitka Subheading Semibold" charset="0"/>
              </a:rPr>
              <a:t>Cité-forteresse</a:t>
            </a:r>
            <a:endParaRPr lang="fr-FR" sz="1400" b="1" dirty="0">
              <a:latin typeface="Sitka Subheading Semibold" charset="0"/>
              <a:cs typeface="Sitka Subheading Semibold" charset="0"/>
            </a:endParaRPr>
          </a:p>
          <a:p>
            <a:pPr marL="0" indent="0">
              <a:buNone/>
            </a:pPr>
            <a:r>
              <a:rPr lang="fr-FR" sz="1400" dirty="0">
                <a:latin typeface="Sitka Subheading Semibold" charset="0"/>
                <a:cs typeface="Sitka Subheading Semibold" charset="0"/>
              </a:rPr>
              <a:t>•</a:t>
            </a:r>
            <a:r>
              <a:rPr lang="fr-FR" sz="1400" b="1" dirty="0">
                <a:latin typeface="Sitka Subheading Semibold" charset="0"/>
                <a:cs typeface="Sitka Subheading Semibold" charset="0"/>
              </a:rPr>
              <a:t> Appareil </a:t>
            </a:r>
            <a:r>
              <a:rPr lang="fr-FR" sz="1400" b="1" dirty="0" smtClean="0">
                <a:latin typeface="Sitka Subheading Semibold" charset="0"/>
                <a:cs typeface="Sitka Subheading Semibold" charset="0"/>
              </a:rPr>
              <a:t>cyclopéen </a:t>
            </a:r>
            <a:r>
              <a:rPr lang="fr-FR" sz="1400" dirty="0">
                <a:latin typeface="Sitka Subheading Semibold" charset="0"/>
                <a:cs typeface="Sitka Subheading Semibold" charset="0"/>
              </a:rPr>
              <a:t>avec ou sans blocage interne</a:t>
            </a:r>
            <a:endParaRPr lang="fr-FR" sz="1400" dirty="0">
              <a:latin typeface="Sitka Subheading Semibold" charset="0"/>
              <a:cs typeface="Sitka Subheading Semibold" charset="0"/>
            </a:endParaRPr>
          </a:p>
        </p:txBody>
      </p:sp>
      <p:sp>
        <p:nvSpPr>
          <p:cNvPr id="6" name="Titre 5"/>
          <p:cNvSpPr>
            <a:spLocks noGrp="1"/>
          </p:cNvSpPr>
          <p:nvPr>
            <p:ph type="title"/>
          </p:nvPr>
        </p:nvSpPr>
        <p:spPr/>
        <p:txBody>
          <a:bodyPr>
            <a:normAutofit fontScale="90000"/>
          </a:bodyPr>
          <a:lstStyle/>
          <a:p>
            <a:pPr>
              <a:lnSpc>
                <a:spcPct val="80000"/>
              </a:lnSpc>
            </a:pPr>
            <a:r>
              <a:rPr lang="fr-FR" dirty="0" smtClean="0">
                <a:solidFill>
                  <a:srgbClr val="FF0000"/>
                </a:solidFill>
                <a:latin typeface="Sitka Subheading Semibold" charset="0"/>
                <a:cs typeface="Sitka Subheading Semibold" charset="0"/>
              </a:rPr>
              <a:t>Architecture achéenne </a:t>
            </a:r>
            <a:br>
              <a:rPr lang="fr-FR" dirty="0" smtClean="0">
                <a:solidFill>
                  <a:srgbClr val="FF0000"/>
                </a:solidFill>
                <a:latin typeface="Sitka Subheading Semibold" charset="0"/>
                <a:cs typeface="Sitka Subheading Semibold" charset="0"/>
              </a:rPr>
            </a:br>
            <a:r>
              <a:rPr lang="fr-FR" dirty="0" smtClean="0">
                <a:solidFill>
                  <a:srgbClr val="FF0000"/>
                </a:solidFill>
                <a:latin typeface="Sitka Subheading Semibold" charset="0"/>
                <a:cs typeface="Sitka Subheading Semibold" charset="0"/>
              </a:rPr>
              <a:t>(</a:t>
            </a:r>
            <a:r>
              <a:rPr lang="fr-FR" dirty="0">
                <a:solidFill>
                  <a:srgbClr val="FF0000"/>
                </a:solidFill>
                <a:latin typeface="Sitka Subheading Semibold" charset="0"/>
                <a:cs typeface="Sitka Subheading Semibold" charset="0"/>
              </a:rPr>
              <a:t>Mycènes, </a:t>
            </a:r>
            <a:r>
              <a:rPr lang="fr-FR" dirty="0" err="1">
                <a:solidFill>
                  <a:srgbClr val="FF0000"/>
                </a:solidFill>
                <a:latin typeface="Sitka Subheading Semibold" charset="0"/>
                <a:cs typeface="Sitka Subheading Semibold" charset="0"/>
              </a:rPr>
              <a:t>Tyrinthe</a:t>
            </a:r>
            <a:r>
              <a:rPr lang="fr-FR" dirty="0">
                <a:solidFill>
                  <a:srgbClr val="FF0000"/>
                </a:solidFill>
                <a:latin typeface="Sitka Subheading Semibold" charset="0"/>
                <a:cs typeface="Sitka Subheading Semibold" charset="0"/>
              </a:rPr>
              <a:t>) </a:t>
            </a:r>
            <a:endParaRPr lang="fr-FR" dirty="0">
              <a:solidFill>
                <a:srgbClr val="FF0000"/>
              </a:solidFill>
              <a:latin typeface="Sitka Subheading Semibold" charset="0"/>
              <a:cs typeface="Sitka Subheading Semibold" charset="0"/>
            </a:endParaRPr>
          </a:p>
        </p:txBody>
      </p:sp>
      <p:pic>
        <p:nvPicPr>
          <p:cNvPr id="2" name="Image 1" descr="téléchargement (1).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70280" y="4300220"/>
            <a:ext cx="3049257" cy="2463800"/>
          </a:xfrm>
          <a:prstGeom prst="rect">
            <a:avLst/>
          </a:prstGeom>
        </p:spPr>
      </p:pic>
      <p:pic>
        <p:nvPicPr>
          <p:cNvPr id="7" name="Image 6" descr="Mycen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560" y="4320540"/>
            <a:ext cx="3580190" cy="2443480"/>
          </a:xfrm>
          <a:prstGeom prst="rect">
            <a:avLst/>
          </a:prstGeom>
        </p:spPr>
      </p:pic>
      <p:pic>
        <p:nvPicPr>
          <p:cNvPr id="8" name="Image 7" descr="images.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6390" y="1417638"/>
            <a:ext cx="2118360" cy="27333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917439" cy="4881562"/>
          </a:xfrm>
        </p:spPr>
        <p:txBody>
          <a:bodyPr>
            <a:noAutofit/>
          </a:bodyPr>
          <a:lstStyle/>
          <a:p>
            <a:pPr marL="0" indent="0">
              <a:buNone/>
            </a:pPr>
            <a:r>
              <a:rPr lang="de-DE" sz="1600" b="1" dirty="0">
                <a:latin typeface="Sitka Subheading Semibold" charset="0"/>
                <a:cs typeface="Sitka Subheading Semibold" charset="0"/>
              </a:rPr>
              <a:t>TOMBEAUX MYCENIENS</a:t>
            </a:r>
            <a:endParaRPr lang="de-DE" sz="1600" b="1" dirty="0">
              <a:latin typeface="Sitka Subheading Semibold" charset="0"/>
              <a:cs typeface="Sitka Subheading Semibold" charset="0"/>
            </a:endParaRPr>
          </a:p>
          <a:p>
            <a:r>
              <a:rPr lang="fr-FR" sz="1600" dirty="0">
                <a:latin typeface="Sitka Subheading Semibold" charset="0"/>
                <a:cs typeface="Sitka Subheading Semibold" charset="0"/>
              </a:rPr>
              <a:t>Tombes à coupole </a:t>
            </a:r>
            <a:r>
              <a:rPr lang="fr-FR" sz="1600" dirty="0" smtClean="0">
                <a:latin typeface="Sitka Subheading Semibold" charset="0"/>
                <a:cs typeface="Sitka Subheading Semibold" charset="0"/>
              </a:rPr>
              <a:t>enterrées (tombes à </a:t>
            </a:r>
            <a:r>
              <a:rPr lang="fr-FR" sz="1600" i="1" dirty="0">
                <a:latin typeface="Sitka Subheading Semibold" charset="0"/>
                <a:cs typeface="Sitka Subheading Semibold" charset="0"/>
              </a:rPr>
              <a:t>T</a:t>
            </a:r>
            <a:r>
              <a:rPr lang="fr-FR" sz="1600" i="1" dirty="0" smtClean="0">
                <a:latin typeface="Sitka Subheading Semibold" charset="0"/>
                <a:cs typeface="Sitka Subheading Semibold" charset="0"/>
              </a:rPr>
              <a:t>holos</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pPr marL="0" indent="0">
              <a:buNone/>
            </a:pPr>
            <a:r>
              <a:rPr lang="fr-FR" sz="1600" dirty="0" smtClean="0">
                <a:latin typeface="Sitka Subheading Semibold" charset="0"/>
                <a:cs typeface="Sitka Subheading Semibold" charset="0"/>
              </a:rPr>
              <a:t>(ex : Le Trésor d’Atrée)</a:t>
            </a:r>
            <a:endParaRPr lang="fr-FR" sz="1600" dirty="0">
              <a:latin typeface="Sitka Subheading Semibold" charset="0"/>
              <a:cs typeface="Sitka Subheading Semibold" charset="0"/>
            </a:endParaRPr>
          </a:p>
        </p:txBody>
      </p:sp>
      <p:sp>
        <p:nvSpPr>
          <p:cNvPr id="6" name="Titre 5"/>
          <p:cNvSpPr>
            <a:spLocks noGrp="1"/>
          </p:cNvSpPr>
          <p:nvPr>
            <p:ph type="title"/>
          </p:nvPr>
        </p:nvSpPr>
        <p:spPr/>
        <p:txBody>
          <a:bodyPr>
            <a:normAutofit fontScale="90000"/>
          </a:bodyPr>
          <a:lstStyle/>
          <a:p>
            <a:pPr>
              <a:lnSpc>
                <a:spcPct val="80000"/>
              </a:lnSpc>
            </a:pPr>
            <a:r>
              <a:rPr lang="fr-FR" dirty="0" smtClean="0">
                <a:solidFill>
                  <a:srgbClr val="FF0000"/>
                </a:solidFill>
                <a:latin typeface="Sitka Subheading Semibold" charset="0"/>
                <a:cs typeface="Sitka Subheading Semibold" charset="0"/>
              </a:rPr>
              <a:t>Architecture achéenne </a:t>
            </a:r>
            <a:br>
              <a:rPr lang="fr-FR" dirty="0" smtClean="0">
                <a:solidFill>
                  <a:srgbClr val="FF0000"/>
                </a:solidFill>
                <a:latin typeface="Sitka Subheading Semibold" charset="0"/>
                <a:cs typeface="Sitka Subheading Semibold" charset="0"/>
              </a:rPr>
            </a:br>
            <a:r>
              <a:rPr lang="fr-FR" dirty="0" smtClean="0">
                <a:solidFill>
                  <a:srgbClr val="FF0000"/>
                </a:solidFill>
                <a:latin typeface="Sitka Subheading Semibold" charset="0"/>
                <a:cs typeface="Sitka Subheading Semibold" charset="0"/>
              </a:rPr>
              <a:t>(</a:t>
            </a:r>
            <a:r>
              <a:rPr lang="fr-FR" dirty="0">
                <a:solidFill>
                  <a:srgbClr val="FF0000"/>
                </a:solidFill>
                <a:latin typeface="Sitka Subheading Semibold" charset="0"/>
                <a:cs typeface="Sitka Subheading Semibold" charset="0"/>
              </a:rPr>
              <a:t>Mycènes, </a:t>
            </a:r>
            <a:r>
              <a:rPr lang="fr-FR" dirty="0" err="1">
                <a:solidFill>
                  <a:srgbClr val="FF0000"/>
                </a:solidFill>
                <a:latin typeface="Sitka Subheading Semibold" charset="0"/>
                <a:cs typeface="Sitka Subheading Semibold" charset="0"/>
              </a:rPr>
              <a:t>Tyrinthe</a:t>
            </a:r>
            <a:r>
              <a:rPr lang="fr-FR" dirty="0">
                <a:solidFill>
                  <a:srgbClr val="FF0000"/>
                </a:solidFill>
                <a:latin typeface="Sitka Subheading Semibold" charset="0"/>
                <a:cs typeface="Sitka Subheading Semibold" charset="0"/>
              </a:rPr>
              <a:t>) </a:t>
            </a:r>
            <a:endParaRPr lang="fr-FR" dirty="0">
              <a:solidFill>
                <a:srgbClr val="FF0000"/>
              </a:solidFill>
              <a:latin typeface="Sitka Subheading Semibold" charset="0"/>
              <a:cs typeface="Sitka Subheading Semibold" charset="0"/>
            </a:endParaRPr>
          </a:p>
        </p:txBody>
      </p:sp>
      <p:pic>
        <p:nvPicPr>
          <p:cNvPr id="4" name="Image 3" descr="162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2262212"/>
            <a:ext cx="4248438" cy="3172170"/>
          </a:xfrm>
          <a:prstGeom prst="rect">
            <a:avLst/>
          </a:prstGeom>
        </p:spPr>
      </p:pic>
      <p:pic>
        <p:nvPicPr>
          <p:cNvPr id="5" name="Image 4" descr="images (3).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090" y="3505200"/>
            <a:ext cx="4112548" cy="3352800"/>
          </a:xfrm>
          <a:prstGeom prst="rect">
            <a:avLst/>
          </a:prstGeom>
        </p:spPr>
      </p:pic>
      <p:pic>
        <p:nvPicPr>
          <p:cNvPr id="9" name="Image 8" descr="Treasury_of_Atreus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8720" y="1417638"/>
            <a:ext cx="3794450" cy="2479040"/>
          </a:xfrm>
          <a:prstGeom prst="rect">
            <a:avLst/>
          </a:prstGeom>
        </p:spPr>
      </p:pic>
      <p:pic>
        <p:nvPicPr>
          <p:cNvPr id="10" name="Image 9" descr="téléchargement (2).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2972" y="4104640"/>
            <a:ext cx="3770197" cy="2508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561840" cy="4881562"/>
          </a:xfrm>
        </p:spPr>
        <p:txBody>
          <a:bodyPr>
            <a:noAutofit/>
          </a:bodyPr>
          <a:lstStyle/>
          <a:p>
            <a:pPr marL="0" indent="0">
              <a:buNone/>
            </a:pPr>
            <a:r>
              <a:rPr lang="de-DE" sz="1600" b="1" dirty="0">
                <a:latin typeface="Sitka Subheading Semibold" charset="0"/>
                <a:cs typeface="Sitka Subheading Semibold" charset="0"/>
              </a:rPr>
              <a:t>MEGARON</a:t>
            </a:r>
            <a:endParaRPr lang="de-DE" sz="1600" b="1" dirty="0">
              <a:latin typeface="Sitka Subheading Semibold" charset="0"/>
              <a:cs typeface="Sitka Subheading Semibold" charset="0"/>
            </a:endParaRPr>
          </a:p>
          <a:p>
            <a:r>
              <a:rPr lang="fr-FR" sz="1600" dirty="0">
                <a:latin typeface="Sitka Subheading Semibold" charset="0"/>
                <a:cs typeface="Sitka Subheading Semibold" charset="0"/>
              </a:rPr>
              <a:t>Salle d’apparat du palais, précurseur du temple grec</a:t>
            </a:r>
            <a:endParaRPr lang="fr-FR" sz="1600" dirty="0">
              <a:latin typeface="Sitka Subheading Semibold" charset="0"/>
              <a:cs typeface="Sitka Subheading Semibold" charset="0"/>
            </a:endParaRPr>
          </a:p>
        </p:txBody>
      </p:sp>
      <p:sp>
        <p:nvSpPr>
          <p:cNvPr id="6" name="Titre 5"/>
          <p:cNvSpPr>
            <a:spLocks noGrp="1"/>
          </p:cNvSpPr>
          <p:nvPr>
            <p:ph type="title"/>
          </p:nvPr>
        </p:nvSpPr>
        <p:spPr/>
        <p:txBody>
          <a:bodyPr>
            <a:normAutofit fontScale="90000"/>
          </a:bodyPr>
          <a:lstStyle/>
          <a:p>
            <a:pPr>
              <a:lnSpc>
                <a:spcPct val="80000"/>
              </a:lnSpc>
            </a:pPr>
            <a:r>
              <a:rPr lang="fr-FR" dirty="0" smtClean="0">
                <a:solidFill>
                  <a:srgbClr val="FF0000"/>
                </a:solidFill>
                <a:latin typeface="Sitka Subheading Semibold" charset="0"/>
                <a:cs typeface="Sitka Subheading Semibold" charset="0"/>
              </a:rPr>
              <a:t>Architecture achéenne </a:t>
            </a:r>
            <a:br>
              <a:rPr lang="fr-FR" dirty="0" smtClean="0">
                <a:solidFill>
                  <a:srgbClr val="FF0000"/>
                </a:solidFill>
                <a:latin typeface="Sitka Subheading Semibold" charset="0"/>
                <a:cs typeface="Sitka Subheading Semibold" charset="0"/>
              </a:rPr>
            </a:br>
            <a:r>
              <a:rPr lang="fr-FR" dirty="0" smtClean="0">
                <a:solidFill>
                  <a:srgbClr val="FF0000"/>
                </a:solidFill>
                <a:latin typeface="Sitka Subheading Semibold" charset="0"/>
                <a:cs typeface="Sitka Subheading Semibold" charset="0"/>
              </a:rPr>
              <a:t>(</a:t>
            </a:r>
            <a:r>
              <a:rPr lang="fr-FR" dirty="0">
                <a:solidFill>
                  <a:srgbClr val="FF0000"/>
                </a:solidFill>
                <a:latin typeface="Sitka Subheading Semibold" charset="0"/>
                <a:cs typeface="Sitka Subheading Semibold" charset="0"/>
              </a:rPr>
              <a:t>Mycènes, </a:t>
            </a:r>
            <a:r>
              <a:rPr lang="fr-FR" dirty="0" err="1">
                <a:solidFill>
                  <a:srgbClr val="FF0000"/>
                </a:solidFill>
                <a:latin typeface="Sitka Subheading Semibold" charset="0"/>
                <a:cs typeface="Sitka Subheading Semibold" charset="0"/>
              </a:rPr>
              <a:t>Tyrinthe</a:t>
            </a:r>
            <a:r>
              <a:rPr lang="fr-FR" dirty="0">
                <a:solidFill>
                  <a:srgbClr val="FF0000"/>
                </a:solidFill>
                <a:latin typeface="Sitka Subheading Semibold" charset="0"/>
                <a:cs typeface="Sitka Subheading Semibold" charset="0"/>
              </a:rPr>
              <a:t>) </a:t>
            </a:r>
            <a:endParaRPr lang="fr-FR" dirty="0">
              <a:solidFill>
                <a:srgbClr val="FF0000"/>
              </a:solidFill>
              <a:latin typeface="Sitka Subheading Semibold" charset="0"/>
              <a:cs typeface="Sitka Subheading Semibold" charset="0"/>
            </a:endParaRPr>
          </a:p>
        </p:txBody>
      </p:sp>
      <p:pic>
        <p:nvPicPr>
          <p:cNvPr id="2" name="Image 1" descr="9479d37c94b0a8a55934bb81dcd07450.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74054" y="1539558"/>
            <a:ext cx="4024506" cy="2228850"/>
          </a:xfrm>
          <a:prstGeom prst="rect">
            <a:avLst/>
          </a:prstGeom>
        </p:spPr>
      </p:pic>
      <p:pic>
        <p:nvPicPr>
          <p:cNvPr id="7" name="Image 6" descr="images (5).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0152" y="3860800"/>
            <a:ext cx="4048407" cy="2814320"/>
          </a:xfrm>
          <a:prstGeom prst="rect">
            <a:avLst/>
          </a:prstGeom>
        </p:spPr>
      </p:pic>
      <p:pic>
        <p:nvPicPr>
          <p:cNvPr id="8" name="Image 7" descr="plan-secction-megar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1" y="2346960"/>
            <a:ext cx="4244176" cy="4511040"/>
          </a:xfrm>
          <a:prstGeom prst="rect">
            <a:avLst/>
          </a:prstGeom>
        </p:spPr>
      </p:pic>
      <p:cxnSp>
        <p:nvCxnSpPr>
          <p:cNvPr id="12" name="Connecteur droit 11"/>
          <p:cNvCxnSpPr/>
          <p:nvPr/>
        </p:nvCxnSpPr>
        <p:spPr>
          <a:xfrm flipV="1">
            <a:off x="1778000" y="4644906"/>
            <a:ext cx="0" cy="7398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ZoneTexte 12"/>
          <p:cNvSpPr txBox="1"/>
          <p:nvPr/>
        </p:nvSpPr>
        <p:spPr>
          <a:xfrm>
            <a:off x="2595880" y="4277360"/>
            <a:ext cx="1107440" cy="369332"/>
          </a:xfrm>
          <a:prstGeom prst="rect">
            <a:avLst/>
          </a:prstGeom>
          <a:noFill/>
        </p:spPr>
        <p:txBody>
          <a:bodyPr wrap="square" rtlCol="0">
            <a:spAutoFit/>
          </a:bodyPr>
          <a:lstStyle/>
          <a:p>
            <a:pPr algn="ctr"/>
            <a:r>
              <a:rPr lang="fr-FR" dirty="0" smtClean="0">
                <a:latin typeface="Sitka Subheading Semibold" charset="0"/>
                <a:cs typeface="Sitka Subheading Semibold" charset="0"/>
              </a:rPr>
              <a:t>naos</a:t>
            </a:r>
            <a:endParaRPr lang="fr-FR" dirty="0" smtClean="0">
              <a:latin typeface="Sitka Subheading Semibold" charset="0"/>
              <a:cs typeface="Sitka Subheading Semibold" charset="0"/>
            </a:endParaRPr>
          </a:p>
        </p:txBody>
      </p:sp>
      <p:cxnSp>
        <p:nvCxnSpPr>
          <p:cNvPr id="16" name="Connecteur droit 15"/>
          <p:cNvCxnSpPr/>
          <p:nvPr/>
        </p:nvCxnSpPr>
        <p:spPr>
          <a:xfrm flipV="1">
            <a:off x="3149600" y="4644906"/>
            <a:ext cx="0" cy="587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ZoneTexte 17"/>
          <p:cNvSpPr txBox="1"/>
          <p:nvPr/>
        </p:nvSpPr>
        <p:spPr>
          <a:xfrm>
            <a:off x="1305560" y="4275574"/>
            <a:ext cx="1107440" cy="369332"/>
          </a:xfrm>
          <a:prstGeom prst="rect">
            <a:avLst/>
          </a:prstGeom>
          <a:noFill/>
        </p:spPr>
        <p:txBody>
          <a:bodyPr wrap="square" rtlCol="0">
            <a:spAutoFit/>
          </a:bodyPr>
          <a:lstStyle/>
          <a:p>
            <a:r>
              <a:rPr lang="fr-FR" dirty="0" smtClean="0">
                <a:latin typeface="Sitka Subheading Semibold" charset="0"/>
                <a:cs typeface="Sitka Subheading Semibold" charset="0"/>
              </a:rPr>
              <a:t>pronaos</a:t>
            </a:r>
            <a:endParaRPr lang="fr-FR" dirty="0" smtClean="0">
              <a:latin typeface="Sitka Subheading Semibold" charset="0"/>
              <a:cs typeface="Sitka Subheading Semibold" charset="0"/>
            </a:endParaRPr>
          </a:p>
        </p:txBody>
      </p:sp>
      <p:cxnSp>
        <p:nvCxnSpPr>
          <p:cNvPr id="20" name="Connecteur droit 19"/>
          <p:cNvCxnSpPr/>
          <p:nvPr/>
        </p:nvCxnSpPr>
        <p:spPr>
          <a:xfrm flipV="1">
            <a:off x="853440" y="4644906"/>
            <a:ext cx="0" cy="7398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1" name="ZoneTexte 20"/>
          <p:cNvSpPr txBox="1"/>
          <p:nvPr/>
        </p:nvSpPr>
        <p:spPr>
          <a:xfrm>
            <a:off x="381000" y="4258826"/>
            <a:ext cx="1107440" cy="369332"/>
          </a:xfrm>
          <a:prstGeom prst="rect">
            <a:avLst/>
          </a:prstGeom>
          <a:noFill/>
        </p:spPr>
        <p:txBody>
          <a:bodyPr wrap="square" rtlCol="0">
            <a:spAutoFit/>
          </a:bodyPr>
          <a:lstStyle/>
          <a:p>
            <a:r>
              <a:rPr lang="fr-FR" dirty="0" smtClean="0">
                <a:latin typeface="Sitka Subheading Semibold" charset="0"/>
                <a:cs typeface="Sitka Subheading Semibold" charset="0"/>
              </a:rPr>
              <a:t>portique</a:t>
            </a:r>
            <a:endParaRPr lang="fr-FR" dirty="0" smtClean="0">
              <a:latin typeface="Sitka Subheading Semibold" charset="0"/>
              <a:cs typeface="Sitka Subheading Semibold"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Glossaire</a:t>
            </a:r>
            <a:endParaRPr lang="fr-FR" dirty="0">
              <a:solidFill>
                <a:srgbClr val="FF0000"/>
              </a:solidFill>
              <a:latin typeface="Sitka Subheading Semibold" charset="0"/>
              <a:cs typeface="Sitka Subheading Semibold" charset="0"/>
            </a:endParaRPr>
          </a:p>
          <a:p>
            <a:endParaRPr lang="fr-FR" dirty="0">
              <a:solidFill>
                <a:srgbClr val="FF0000"/>
              </a:solidFill>
              <a:latin typeface="Sitka Subheading Semibold" charset="0"/>
              <a:cs typeface="Sitka Subheading Semibold" charset="0"/>
            </a:endParaRPr>
          </a:p>
        </p:txBody>
      </p:sp>
      <p:sp>
        <p:nvSpPr>
          <p:cNvPr id="6" name="Rectangle 5"/>
          <p:cNvSpPr/>
          <p:nvPr/>
        </p:nvSpPr>
        <p:spPr>
          <a:xfrm>
            <a:off x="187412" y="1087756"/>
            <a:ext cx="8844828" cy="5016759"/>
          </a:xfrm>
          <a:prstGeom prst="rect">
            <a:avLst/>
          </a:prstGeom>
        </p:spPr>
        <p:txBody>
          <a:bodyPr wrap="square">
            <a:spAutoFit/>
          </a:bodyPr>
          <a:lstStyle/>
          <a:p>
            <a:pPr lvl="0"/>
            <a:r>
              <a:rPr lang="fr-FR" sz="1600" b="1" dirty="0" smtClean="0">
                <a:solidFill>
                  <a:srgbClr val="FF0000"/>
                </a:solidFill>
                <a:latin typeface="Sitka Subheading Semibold" charset="0"/>
                <a:cs typeface="Sitka Subheading Semibold" charset="0"/>
              </a:rPr>
              <a:t>Propylées</a:t>
            </a:r>
            <a:r>
              <a:rPr lang="fr-FR" sz="1600" dirty="0" smtClean="0">
                <a:latin typeface="Sitka Subheading Semibold" charset="0"/>
                <a:cs typeface="Sitka Subheading Semibold" charset="0"/>
              </a:rPr>
              <a:t>: Accès monumental (peut être composé de plusieurs </a:t>
            </a:r>
            <a:r>
              <a:rPr lang="fr-FR" sz="1600" b="1" dirty="0" smtClean="0">
                <a:latin typeface="Sitka Subheading Semibold" charset="0"/>
                <a:cs typeface="Sitka Subheading Semibold" charset="0"/>
              </a:rPr>
              <a:t>portiques</a:t>
            </a:r>
            <a:r>
              <a:rPr lang="fr-FR" sz="1600" dirty="0" smtClean="0">
                <a:latin typeface="Sitka Subheading Semibold" charset="0"/>
                <a:cs typeface="Sitka Subheading Semibold" charset="0"/>
              </a:rPr>
              <a:t>) conduisant </a:t>
            </a:r>
            <a:r>
              <a:rPr lang="fr-FR" sz="1600" dirty="0">
                <a:latin typeface="Sitka Subheading Semibold" charset="0"/>
                <a:cs typeface="Sitka Subheading Semibold" charset="0"/>
              </a:rPr>
              <a:t>à un </a:t>
            </a:r>
            <a:r>
              <a:rPr lang="fr-FR" sz="1600" dirty="0" smtClean="0">
                <a:latin typeface="Sitka Subheading Semibold" charset="0"/>
                <a:cs typeface="Sitka Subheading Semibold" charset="0"/>
              </a:rPr>
              <a:t>sanctuaire</a:t>
            </a:r>
            <a:r>
              <a:rPr lang="fr-FR" sz="1600" dirty="0">
                <a:latin typeface="Sitka Subheading Semibold" charset="0"/>
                <a:cs typeface="Sitka Subheading Semibold" charset="0"/>
              </a:rPr>
              <a:t>. C'est la porte d'entrée d'un sanctuaire, la séparation entre un lieu profane (la cité) et un monde divin (le sanctuaire).</a:t>
            </a:r>
            <a:endParaRPr lang="fr-FR" sz="1600" dirty="0" smtClean="0">
              <a:latin typeface="Sitka Subheading Semibold" charset="0"/>
              <a:cs typeface="Sitka Subheading Semibold" charset="0"/>
            </a:endParaRPr>
          </a:p>
          <a:p>
            <a:pPr lvl="0"/>
            <a:r>
              <a:rPr lang="fr-FR" sz="1600" b="1" dirty="0" smtClean="0">
                <a:solidFill>
                  <a:srgbClr val="FF0000"/>
                </a:solidFill>
                <a:latin typeface="Sitka Subheading Semibold" charset="0"/>
                <a:cs typeface="Sitka Subheading Semibold" charset="0"/>
              </a:rPr>
              <a:t>Portique</a:t>
            </a:r>
            <a:r>
              <a:rPr lang="fr-FR" sz="1600" dirty="0" smtClean="0">
                <a:latin typeface="Sitka Subheading Semibold" charset="0"/>
                <a:cs typeface="Sitka Subheading Semibold" charset="0"/>
              </a:rPr>
              <a:t> : Galerie </a:t>
            </a:r>
            <a:r>
              <a:rPr lang="fr-FR" sz="1600" dirty="0">
                <a:latin typeface="Sitka Subheading Semibold" charset="0"/>
                <a:cs typeface="Sitka Subheading Semibold" charset="0"/>
              </a:rPr>
              <a:t>couverte dont les voûtes ou les plafonds sont supportés par des colonnes, des piliers ou des arcades soutenues par deux rangées de colonnes, ou par un mur et une rangée de colonnes</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pPr lvl="0"/>
            <a:r>
              <a:rPr lang="fr-FR" sz="1600" b="1" dirty="0">
                <a:solidFill>
                  <a:srgbClr val="FF0000"/>
                </a:solidFill>
                <a:latin typeface="Sitka Subheading Semibold" charset="0"/>
                <a:cs typeface="Sitka Subheading Semibold" charset="0"/>
              </a:rPr>
              <a:t>Blocaille, </a:t>
            </a:r>
            <a:r>
              <a:rPr lang="fr-FR" sz="1600" b="1" dirty="0" err="1">
                <a:solidFill>
                  <a:srgbClr val="FF0000"/>
                </a:solidFill>
                <a:latin typeface="Sitka Subheading Semibold" charset="0"/>
                <a:cs typeface="Sitka Subheading Semibold" charset="0"/>
              </a:rPr>
              <a:t>bloquaille</a:t>
            </a:r>
            <a:r>
              <a:rPr lang="fr-FR" sz="1600" b="1" dirty="0">
                <a:solidFill>
                  <a:srgbClr val="FF0000"/>
                </a:solidFill>
                <a:latin typeface="Sitka Subheading Semibold" charset="0"/>
                <a:cs typeface="Sitka Subheading Semibold" charset="0"/>
              </a:rPr>
              <a:t> ou blocaux </a:t>
            </a:r>
            <a:r>
              <a:rPr lang="fr-FR" sz="1600" dirty="0">
                <a:latin typeface="Sitka Subheading Semibold" charset="0"/>
                <a:cs typeface="Sitka Subheading Semibold" charset="0"/>
              </a:rPr>
              <a:t>: Pierres sans forme précise de format moyen, trop petites pour être </a:t>
            </a:r>
            <a:r>
              <a:rPr lang="fr-FR" sz="1600" dirty="0" err="1" smtClean="0">
                <a:latin typeface="Sitka Subheading Semibold" charset="0"/>
                <a:cs typeface="Sitka Subheading Semibold" charset="0"/>
              </a:rPr>
              <a:t>assisées</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en parement mais utilisées en blocage (noyées dans un bain de mortier entre deux parois appareillées).</a:t>
            </a:r>
            <a:endParaRPr lang="fr-FR" sz="1600" dirty="0" smtClean="0">
              <a:latin typeface="Sitka Subheading Semibold" charset="0"/>
              <a:cs typeface="Sitka Subheading Semibold" charset="0"/>
            </a:endParaRPr>
          </a:p>
          <a:p>
            <a:pPr lvl="0"/>
            <a:r>
              <a:rPr lang="fr-FR" sz="1600" b="1" dirty="0">
                <a:solidFill>
                  <a:srgbClr val="FF0000"/>
                </a:solidFill>
                <a:latin typeface="Sitka Subheading Semibold" charset="0"/>
                <a:cs typeface="Sitka Subheading Semibold" charset="0"/>
              </a:rPr>
              <a:t>A</a:t>
            </a:r>
            <a:r>
              <a:rPr lang="fr-FR" sz="1600" b="1" dirty="0" smtClean="0">
                <a:solidFill>
                  <a:srgbClr val="FF0000"/>
                </a:solidFill>
                <a:latin typeface="Sitka Subheading Semibold" charset="0"/>
                <a:cs typeface="Sitka Subheading Semibold" charset="0"/>
              </a:rPr>
              <a:t>ppareil </a:t>
            </a:r>
            <a:r>
              <a:rPr lang="fr-FR" sz="1600" b="1" dirty="0">
                <a:solidFill>
                  <a:srgbClr val="FF0000"/>
                </a:solidFill>
                <a:latin typeface="Sitka Subheading Semibold" charset="0"/>
                <a:cs typeface="Sitka Subheading Semibold" charset="0"/>
              </a:rPr>
              <a:t>cyclopéen </a:t>
            </a:r>
            <a:r>
              <a:rPr lang="fr-FR" sz="1600" dirty="0">
                <a:latin typeface="Sitka Subheading Semibold" charset="0"/>
                <a:cs typeface="Sitka Subheading Semibold" charset="0"/>
              </a:rPr>
              <a:t>: appareil constitué de pierres énormes </a:t>
            </a:r>
            <a:r>
              <a:rPr lang="fr-FR" sz="1600" dirty="0" smtClean="0">
                <a:latin typeface="Sitka Subheading Semibold" charset="0"/>
                <a:cs typeface="Sitka Subheading Semibold" charset="0"/>
              </a:rPr>
              <a:t>(mégalithes) comme </a:t>
            </a:r>
            <a:r>
              <a:rPr lang="fr-FR" sz="1600" dirty="0">
                <a:latin typeface="Sitka Subheading Semibold" charset="0"/>
                <a:cs typeface="Sitka Subheading Semibold" charset="0"/>
              </a:rPr>
              <a:t>les murs de Mycènes (Mur cyclopéen</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pPr lvl="0"/>
            <a:r>
              <a:rPr lang="fr-FR" sz="1600" b="1" dirty="0" smtClean="0">
                <a:solidFill>
                  <a:srgbClr val="FF0000"/>
                </a:solidFill>
                <a:latin typeface="Sitka Subheading Semibold" charset="0"/>
                <a:cs typeface="Sitka Subheading Semibold" charset="0"/>
              </a:rPr>
              <a:t>Mégaron</a:t>
            </a:r>
            <a:r>
              <a:rPr lang="fr-FR" sz="1600" dirty="0" smtClean="0">
                <a:latin typeface="Sitka Subheading Semibold" charset="0"/>
                <a:cs typeface="Sitka Subheading Semibold" charset="0"/>
              </a:rPr>
              <a:t> : Le </a:t>
            </a:r>
            <a:r>
              <a:rPr lang="fr-FR" sz="1600" dirty="0">
                <a:latin typeface="Sitka Subheading Semibold" charset="0"/>
                <a:cs typeface="Sitka Subheading Semibold" charset="0"/>
              </a:rPr>
              <a:t>mot mégaron </a:t>
            </a:r>
            <a:r>
              <a:rPr lang="fr-FR" sz="1600" dirty="0" smtClean="0">
                <a:latin typeface="Sitka Subheading Semibold" charset="0"/>
                <a:cs typeface="Sitka Subheading Semibold" charset="0"/>
              </a:rPr>
              <a:t>désigne </a:t>
            </a:r>
            <a:r>
              <a:rPr lang="fr-FR" sz="1600" dirty="0">
                <a:latin typeface="Sitka Subheading Semibold" charset="0"/>
                <a:cs typeface="Sitka Subheading Semibold" charset="0"/>
              </a:rPr>
              <a:t>la pièce principale (parfois unique) des habitations de l'âge du bronze, en Grèce et en Anatolie, et par extension le nom de ce type de maison. Elle dispose d'un foyer central entouré de deux ou quatre </a:t>
            </a:r>
            <a:r>
              <a:rPr lang="fr-FR" sz="1600" dirty="0" smtClean="0">
                <a:latin typeface="Sitka Subheading Semibold" charset="0"/>
                <a:cs typeface="Sitka Subheading Semibold" charset="0"/>
              </a:rPr>
              <a:t>colonnes. </a:t>
            </a:r>
            <a:r>
              <a:rPr lang="fr-FR" sz="1600" dirty="0">
                <a:latin typeface="Sitka Subheading Semibold" charset="0"/>
                <a:cs typeface="Sitka Subheading Semibold" charset="0"/>
              </a:rPr>
              <a:t>Chez Homère, le terme « mégaron » ne désigne qu'une grande salle sans plus de précision, mais en archéologie, l'usage limite aujourd'hui sa signification à une certaine forme architecturale que l'on trouve dans toutes les habitations et palais mycéniens</a:t>
            </a:r>
            <a:r>
              <a:rPr lang="fr-FR" sz="1600" dirty="0" smtClean="0">
                <a:latin typeface="Sitka Subheading Semibold" charset="0"/>
                <a:cs typeface="Sitka Subheading Semibold" charset="0"/>
              </a:rPr>
              <a:t>.</a:t>
            </a:r>
            <a:br>
              <a:rPr lang="fr-FR" sz="1600" dirty="0">
                <a:latin typeface="Sitka Subheading Semibold" charset="0"/>
                <a:cs typeface="Sitka Subheading Semibold" charset="0"/>
              </a:rPr>
            </a:br>
            <a:r>
              <a:rPr lang="fr-FR" sz="1600" dirty="0">
                <a:latin typeface="Sitka Subheading Semibold" charset="0"/>
                <a:cs typeface="Sitka Subheading Semibold" charset="0"/>
              </a:rPr>
              <a:t>Le mégaron mycénien se compose d'un </a:t>
            </a:r>
            <a:r>
              <a:rPr lang="fr-FR" sz="1600" dirty="0" smtClean="0">
                <a:latin typeface="Sitka Subheading Semibold" charset="0"/>
                <a:cs typeface="Sitka Subheading Semibold" charset="0"/>
              </a:rPr>
              <a:t>porche (</a:t>
            </a:r>
            <a:r>
              <a:rPr lang="fr-FR" sz="1600" b="1" dirty="0" smtClean="0">
                <a:latin typeface="Sitka Subheading Semibold" charset="0"/>
                <a:cs typeface="Sitka Subheading Semibold" charset="0"/>
              </a:rPr>
              <a:t>portique</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d'un vestibule </a:t>
            </a:r>
            <a:r>
              <a:rPr lang="fr-FR" sz="1600" dirty="0" smtClean="0">
                <a:latin typeface="Sitka Subheading Semibold" charset="0"/>
                <a:cs typeface="Sitka Subheading Semibold" charset="0"/>
              </a:rPr>
              <a:t>(</a:t>
            </a:r>
            <a:r>
              <a:rPr lang="fr-FR" sz="1600" b="1" dirty="0" smtClean="0">
                <a:latin typeface="Sitka Subheading Semibold" charset="0"/>
                <a:cs typeface="Sitka Subheading Semibold" charset="0"/>
              </a:rPr>
              <a:t>pronaos</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et d'une grande salle abritant un foyer central et un </a:t>
            </a:r>
            <a:r>
              <a:rPr lang="fr-FR" sz="1600" dirty="0" smtClean="0">
                <a:latin typeface="Sitka Subheading Semibold" charset="0"/>
                <a:cs typeface="Sitka Subheading Semibold" charset="0"/>
              </a:rPr>
              <a:t>trône (</a:t>
            </a:r>
            <a:r>
              <a:rPr lang="fr-FR" sz="1600" b="1" dirty="0" smtClean="0">
                <a:latin typeface="Sitka Subheading Semibold" charset="0"/>
                <a:cs typeface="Sitka Subheading Semibold" charset="0"/>
              </a:rPr>
              <a:t>naos, cella ou </a:t>
            </a:r>
            <a:r>
              <a:rPr lang="fr-FR" sz="1600" b="1" dirty="0" err="1" smtClean="0">
                <a:latin typeface="Sitka Subheading Semibold" charset="0"/>
                <a:cs typeface="Sitka Subheading Semibold" charset="0"/>
              </a:rPr>
              <a:t>domos</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Le porche donne sur une cour à laquelle on accède par un portail </a:t>
            </a:r>
            <a:r>
              <a:rPr lang="fr-FR" sz="1600" dirty="0" smtClean="0">
                <a:latin typeface="Sitka Subheading Semibold" charset="0"/>
                <a:cs typeface="Sitka Subheading Semibold" charset="0"/>
              </a:rPr>
              <a:t>ornemental.</a:t>
            </a:r>
            <a:endParaRPr lang="fr-FR" sz="1600" dirty="0" smtClean="0">
              <a:latin typeface="Sitka Subheading Semibold" charset="0"/>
              <a:cs typeface="Sitka Subheading Semibold" charset="0"/>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4515</Words>
  <Application>WPS Presentation</Application>
  <PresentationFormat>Présentation à l'écran (4:3)</PresentationFormat>
  <Paragraphs>68</Paragraphs>
  <Slides>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Futura Std Medium</vt:lpstr>
      <vt:lpstr>AMGDT</vt:lpstr>
      <vt:lpstr>Calibri</vt:lpstr>
      <vt:lpstr>Microsoft YaHei</vt:lpstr>
      <vt:lpstr>Arial Unicode MS</vt:lpstr>
      <vt:lpstr>Sitka Subheading Semibold</vt:lpstr>
      <vt:lpstr>Palatino Linotype</vt:lpstr>
      <vt:lpstr>Thème Office</vt:lpstr>
      <vt:lpstr>HISTOIRE DE L’ARCHITECTURE </vt:lpstr>
      <vt:lpstr>Chapitre 1 – Civilisations préhelléniques : Crête et Mycènes </vt:lpstr>
      <vt:lpstr>Chronologie</vt:lpstr>
      <vt:lpstr>Architecture minoenne (Crête) </vt:lpstr>
      <vt:lpstr>Architecture achéenne  (Mycènes, Tyrinthe) </vt:lpstr>
      <vt:lpstr>Architecture achéenne  (Mycènes, Tyrinthe) </vt:lpstr>
      <vt:lpstr>Architecture achéenne  (Mycènes, Tyrinthe) </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109</cp:revision>
  <dcterms:created xsi:type="dcterms:W3CDTF">2015-10-25T15:26:00Z</dcterms:created>
  <dcterms:modified xsi:type="dcterms:W3CDTF">2025-05-30T15:02:49Z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B814659EC94D42A98A9A397B9167DAD5_12</vt:lpwstr>
  </property>
  <property fmtid="{D5CDD505-2E9C-101B-9397-08002B2CF9AE}" pid="3" name="KSOProductBuildVer">
    <vt:lpwstr>3084-12.2.0.21183</vt:lpwstr>
  </property>
</Properties>
</file>