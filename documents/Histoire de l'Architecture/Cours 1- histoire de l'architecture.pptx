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56" r:id="rId3"/>
    <p:sldId id="257" r:id="rId4"/>
    <p:sldId id="260" r:id="rId6"/>
    <p:sldId id="258" r:id="rId7"/>
    <p:sldId id="259" r:id="rId8"/>
    <p:sldId id="28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x="9144000" cy="6858000" type="screen4x3"/>
  <p:notesSz cx="6858000" cy="9144000"/>
  <p:defaultText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p:scale>
          <a:sx n="134" d="100"/>
          <a:sy n="134" d="100"/>
        </p:scale>
        <p:origin x="-80" y="125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E3A34B-0840-0446-86EF-391E62D3EC31}" type="datetimeFigureOut">
              <a:rPr lang="fr-FR" smtClean="0"/>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8F94D2-74A3-FD49-83C6-6F55007D9FD4}" type="slidenum">
              <a:rPr lang="fr-FR" smtClean="0"/>
            </a:fld>
            <a:endParaRPr lang="fr-FR"/>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hasCustomPrompt="1"/>
          </p:nvPr>
        </p:nvSpPr>
        <p:spPr>
          <a:xfrm>
            <a:off x="685800" y="2130425"/>
            <a:ext cx="7772400" cy="1470025"/>
          </a:xfrm>
        </p:spPr>
        <p:txBody>
          <a:bodyPr/>
          <a:lstStyle/>
          <a:p>
            <a:r>
              <a:rPr lang="fr-FR" smtClean="0"/>
              <a:t>Cliquez et modifiez le titre</a:t>
            </a:r>
            <a:endParaRPr lang="fr-FR"/>
          </a:p>
        </p:txBody>
      </p:sp>
      <p:sp>
        <p:nvSpPr>
          <p:cNvPr id="3" name="Sous-titre 2"/>
          <p:cNvSpPr>
            <a:spLocks noGrp="1"/>
          </p:cNvSpPr>
          <p:nvPr>
            <p:ph type="subTitle" idx="1" hasCustomPrompt="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u contenu 2"/>
          <p:cNvSpPr>
            <a:spLocks noGrp="1"/>
          </p:cNvSpPr>
          <p:nvPr>
            <p:ph idx="1" hasCustomPrompt="1"/>
          </p:nvPr>
        </p:nvSpPr>
        <p:spPr/>
        <p:txBody>
          <a:body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722313" y="4406900"/>
            <a:ext cx="7772400" cy="1362075"/>
          </a:xfrm>
        </p:spPr>
        <p:txBody>
          <a:bodyPr anchor="t"/>
          <a:lstStyle>
            <a:lvl1pPr algn="l">
              <a:defRPr sz="4000" b="1" cap="all"/>
            </a:lvl1pPr>
          </a:lstStyle>
          <a:p>
            <a:r>
              <a:rPr lang="fr-FR" smtClean="0"/>
              <a:t>Cliquez et modifiez le titre</a:t>
            </a:r>
            <a:endParaRPr lang="fr-FR"/>
          </a:p>
        </p:txBody>
      </p:sp>
      <p:sp>
        <p:nvSpPr>
          <p:cNvPr id="3" name="Espace réservé du texte 2"/>
          <p:cNvSpPr>
            <a:spLocks noGrp="1"/>
          </p:cNvSpPr>
          <p:nvPr>
            <p:ph type="body" idx="1" hasCustomPrompt="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endParaRPr lang="fr-FR" smtClean="0"/>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u contenu 2"/>
          <p:cNvSpPr>
            <a:spLocks noGrp="1"/>
          </p:cNvSpPr>
          <p:nvPr>
            <p:ph sz="half" idx="1" hasCustomPrompt="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u contenu 3"/>
          <p:cNvSpPr>
            <a:spLocks noGrp="1"/>
          </p:cNvSpPr>
          <p:nvPr>
            <p:ph sz="half" idx="2" hasCustomPrompt="1"/>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EC72AFA2-8D06-AC4A-BB17-A2C238DE2304}" type="datetimeFigureOut">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lvl1pPr>
              <a:defRPr/>
            </a:lvl1pPr>
          </a:lstStyle>
          <a:p>
            <a:r>
              <a:rPr lang="fr-FR" smtClean="0"/>
              <a:t>Cliquez et modifiez le titre</a:t>
            </a:r>
            <a:endParaRPr lang="fr-FR"/>
          </a:p>
        </p:txBody>
      </p:sp>
      <p:sp>
        <p:nvSpPr>
          <p:cNvPr id="3" name="Espace réservé du texte 2"/>
          <p:cNvSpPr>
            <a:spLocks noGrp="1"/>
          </p:cNvSpPr>
          <p:nvPr>
            <p:ph type="body" idx="1" hasCustomPrompt="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endParaRPr lang="fr-FR" smtClean="0"/>
          </a:p>
        </p:txBody>
      </p:sp>
      <p:sp>
        <p:nvSpPr>
          <p:cNvPr id="4" name="Espace réservé du contenu 3"/>
          <p:cNvSpPr>
            <a:spLocks noGrp="1"/>
          </p:cNvSpPr>
          <p:nvPr>
            <p:ph sz="half" idx="2" hasCustomPrompt="1"/>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5" name="Espace réservé du texte 4"/>
          <p:cNvSpPr>
            <a:spLocks noGrp="1"/>
          </p:cNvSpPr>
          <p:nvPr>
            <p:ph type="body" sz="quarter" idx="3" hasCustomPrompt="1"/>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endParaRPr lang="fr-FR" smtClean="0"/>
          </a:p>
        </p:txBody>
      </p:sp>
      <p:sp>
        <p:nvSpPr>
          <p:cNvPr id="6" name="Espace réservé du contenu 5"/>
          <p:cNvSpPr>
            <a:spLocks noGrp="1"/>
          </p:cNvSpPr>
          <p:nvPr>
            <p:ph sz="quarter" idx="4" hasCustomPrompt="1"/>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EC72AFA2-8D06-AC4A-BB17-A2C238DE2304}" type="datetimeFigureOut">
              <a:rPr lang="fr-FR" smtClean="0"/>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e la date 2"/>
          <p:cNvSpPr>
            <a:spLocks noGrp="1"/>
          </p:cNvSpPr>
          <p:nvPr>
            <p:ph type="dt" sz="half" idx="10"/>
          </p:nvPr>
        </p:nvSpPr>
        <p:spPr/>
        <p:txBody>
          <a:bodyPr/>
          <a:lstStyle/>
          <a:p>
            <a:fld id="{EC72AFA2-8D06-AC4A-BB17-A2C238DE2304}" type="datetimeFigureOut">
              <a:rPr lang="fr-FR" smtClean="0"/>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EC72AFA2-8D06-AC4A-BB17-A2C238DE2304}" type="datetimeFigureOut">
              <a:rPr lang="fr-FR" smtClean="0"/>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457200" y="273050"/>
            <a:ext cx="3008313" cy="1162050"/>
          </a:xfrm>
        </p:spPr>
        <p:txBody>
          <a:bodyPr anchor="b"/>
          <a:lstStyle>
            <a:lvl1pPr algn="l">
              <a:defRPr sz="2000" b="1"/>
            </a:lvl1pPr>
          </a:lstStyle>
          <a:p>
            <a:r>
              <a:rPr lang="fr-FR" smtClean="0"/>
              <a:t>Cliquez et modifiez le titre</a:t>
            </a:r>
            <a:endParaRPr lang="fr-FR"/>
          </a:p>
        </p:txBody>
      </p:sp>
      <p:sp>
        <p:nvSpPr>
          <p:cNvPr id="3" name="Espace réservé du contenu 2"/>
          <p:cNvSpPr>
            <a:spLocks noGrp="1"/>
          </p:cNvSpPr>
          <p:nvPr>
            <p:ph idx="1" hasCustomPrompt="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u texte 3"/>
          <p:cNvSpPr>
            <a:spLocks noGrp="1"/>
          </p:cNvSpPr>
          <p:nvPr>
            <p:ph type="body" sz="half" idx="2" hasCustomPrompt="1"/>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endParaRPr lang="fr-FR" smtClean="0"/>
          </a:p>
        </p:txBody>
      </p:sp>
      <p:sp>
        <p:nvSpPr>
          <p:cNvPr id="5" name="Espace réservé de la date 4"/>
          <p:cNvSpPr>
            <a:spLocks noGrp="1"/>
          </p:cNvSpPr>
          <p:nvPr>
            <p:ph type="dt" sz="half" idx="10"/>
          </p:nvPr>
        </p:nvSpPr>
        <p:spPr/>
        <p:txBody>
          <a:bodyPr/>
          <a:lstStyle/>
          <a:p>
            <a:fld id="{EC72AFA2-8D06-AC4A-BB17-A2C238DE2304}" type="datetimeFigureOut">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792288" y="4800600"/>
            <a:ext cx="5486400" cy="566738"/>
          </a:xfrm>
        </p:spPr>
        <p:txBody>
          <a:bodyPr anchor="b"/>
          <a:lstStyle>
            <a:lvl1pPr algn="l">
              <a:defRPr sz="2000" b="1"/>
            </a:lvl1pPr>
          </a:lstStyle>
          <a:p>
            <a:r>
              <a:rPr lang="fr-FR" smtClean="0"/>
              <a:t>Cliquez et modifiez le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endParaRPr lang="fr-FR" smtClean="0"/>
          </a:p>
        </p:txBody>
      </p:sp>
      <p:sp>
        <p:nvSpPr>
          <p:cNvPr id="5" name="Espace réservé de la date 4"/>
          <p:cNvSpPr>
            <a:spLocks noGrp="1"/>
          </p:cNvSpPr>
          <p:nvPr>
            <p:ph type="dt" sz="half" idx="10"/>
          </p:nvPr>
        </p:nvSpPr>
        <p:spPr/>
        <p:txBody>
          <a:bodyPr/>
          <a:lstStyle/>
          <a:p>
            <a:fld id="{EC72AFA2-8D06-AC4A-BB17-A2C238DE2304}" type="datetimeFigureOut">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u texte vertical 2"/>
          <p:cNvSpPr>
            <a:spLocks noGrp="1"/>
          </p:cNvSpPr>
          <p:nvPr>
            <p:ph type="body" orient="vert" idx="1" hasCustomPrompt="1"/>
          </p:nvPr>
        </p:nvSpPr>
        <p:spPr/>
        <p:txBody>
          <a:bodyPr vert="eaVert"/>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hasCustomPrompt="1"/>
          </p:nvPr>
        </p:nvSpPr>
        <p:spPr>
          <a:xfrm>
            <a:off x="6629400" y="274638"/>
            <a:ext cx="2057400" cy="5851525"/>
          </a:xfrm>
        </p:spPr>
        <p:txBody>
          <a:bodyPr vert="eaVert"/>
          <a:lstStyle/>
          <a:p>
            <a:r>
              <a:rPr lang="fr-FR" smtClean="0"/>
              <a:t>Cliquez et modifiez le titre</a:t>
            </a:r>
            <a:endParaRPr lang="fr-FR"/>
          </a:p>
        </p:txBody>
      </p:sp>
      <p:sp>
        <p:nvSpPr>
          <p:cNvPr id="3" name="Espace réservé du texte vertical 2"/>
          <p:cNvSpPr>
            <a:spLocks noGrp="1"/>
          </p:cNvSpPr>
          <p:nvPr>
            <p:ph type="body" orient="vert" idx="1" hasCustomPrompt="1"/>
          </p:nvPr>
        </p:nvSpPr>
        <p:spPr>
          <a:xfrm>
            <a:off x="457200" y="274638"/>
            <a:ext cx="6019800" cy="5851525"/>
          </a:xfrm>
        </p:spPr>
        <p:txBody>
          <a:bodyPr vert="eaVert"/>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et modifiez le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72AFA2-8D06-AC4A-BB17-A2C238DE2304}" type="datetimeFigureOut">
              <a:rPr lang="fr-FR" smtClean="0"/>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7253EB-8335-C74A-8688-1E7F3D83491B}" type="slidenum">
              <a:rPr lang="fr-FR" smtClean="0"/>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jpeg"/><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GIF"/></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25.jpeg"/><Relationship Id="rId1" Type="http://schemas.openxmlformats.org/officeDocument/2006/relationships/image" Target="../media/image24.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jpeg"/><Relationship Id="rId1" Type="http://schemas.openxmlformats.org/officeDocument/2006/relationships/image" Target="../media/image27.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jpeg"/><Relationship Id="rId1" Type="http://schemas.openxmlformats.org/officeDocument/2006/relationships/image" Target="../media/image29.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2.jpeg"/><Relationship Id="rId1" Type="http://schemas.openxmlformats.org/officeDocument/2006/relationships/image" Target="../media/image31.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dirty="0" smtClean="0">
                <a:latin typeface="Quicksand" panose="00000500000000000000" charset="0"/>
                <a:cs typeface="Quicksand" panose="00000500000000000000" charset="0"/>
              </a:rPr>
              <a:t>HISTOIRE DE L’ARCHITECTURE </a:t>
            </a:r>
            <a:endParaRPr lang="fr-FR" dirty="0" smtClean="0">
              <a:latin typeface="Quicksand" panose="00000500000000000000" charset="0"/>
              <a:cs typeface="Quicksand" panose="00000500000000000000" charset="0"/>
            </a:endParaRPr>
          </a:p>
        </p:txBody>
      </p:sp>
      <p:sp>
        <p:nvSpPr>
          <p:cNvPr id="3" name="Sous-titre 2"/>
          <p:cNvSpPr>
            <a:spLocks noGrp="1"/>
          </p:cNvSpPr>
          <p:nvPr>
            <p:ph type="subTitle" idx="1"/>
          </p:nvPr>
        </p:nvSpPr>
        <p:spPr>
          <a:xfrm>
            <a:off x="685800" y="3890645"/>
            <a:ext cx="7772400" cy="1748155"/>
          </a:xfrm>
        </p:spPr>
        <p:txBody>
          <a:bodyPr/>
          <a:lstStyle/>
          <a:p>
            <a:r>
              <a:rPr lang="fr-FR" dirty="0" smtClean="0">
                <a:solidFill>
                  <a:srgbClr val="FF0000"/>
                </a:solidFill>
                <a:latin typeface="Quicksand" panose="00000500000000000000" charset="0"/>
                <a:cs typeface="Quicksand" panose="00000500000000000000" charset="0"/>
              </a:rPr>
              <a:t>PARTIE I – ARCHITECTURE DES PREMIÈRES CIVILISATIONS URBAINES</a:t>
            </a:r>
            <a:endParaRPr lang="fr-FR" dirty="0" smtClean="0">
              <a:solidFill>
                <a:srgbClr val="FF0000"/>
              </a:solidFill>
              <a:latin typeface="Quicksand" panose="00000500000000000000" charset="0"/>
              <a:cs typeface="Quicksand" panose="00000500000000000000" charset="0"/>
            </a:endParaRPr>
          </a:p>
        </p:txBody>
      </p:sp>
      <p:sp>
        <p:nvSpPr>
          <p:cNvPr id="4" name="ZoneTexte 3"/>
          <p:cNvSpPr txBox="1"/>
          <p:nvPr/>
        </p:nvSpPr>
        <p:spPr>
          <a:xfrm>
            <a:off x="327011" y="6351926"/>
            <a:ext cx="1471151" cy="369332"/>
          </a:xfrm>
          <a:prstGeom prst="rect">
            <a:avLst/>
          </a:prstGeom>
          <a:noFill/>
        </p:spPr>
        <p:txBody>
          <a:bodyPr wrap="none" rtlCol="0">
            <a:spAutoFit/>
          </a:bodyPr>
          <a:lstStyle/>
          <a:p>
            <a:pPr algn="r"/>
            <a:r>
              <a:rPr lang="fr-FR" dirty="0" smtClean="0"/>
              <a:t>©Carole Diop</a:t>
            </a:r>
            <a:endParaRPr lang="fr-FR" dirty="0"/>
          </a:p>
        </p:txBody>
      </p:sp>
      <p:sp>
        <p:nvSpPr>
          <p:cNvPr id="9" name="ZoneTexte 8"/>
          <p:cNvSpPr txBox="1"/>
          <p:nvPr/>
        </p:nvSpPr>
        <p:spPr>
          <a:xfrm>
            <a:off x="937165" y="369332"/>
            <a:ext cx="7319795" cy="368300"/>
          </a:xfrm>
          <a:prstGeom prst="rect">
            <a:avLst/>
          </a:prstGeom>
          <a:noFill/>
        </p:spPr>
        <p:txBody>
          <a:bodyPr wrap="square" rtlCol="0">
            <a:spAutoFit/>
          </a:bodyPr>
          <a:lstStyle/>
          <a:p>
            <a:pPr algn="ctr"/>
            <a:endParaRPr lang="fr-FR" dirty="0">
              <a:latin typeface="Futura Std Medium"/>
              <a:cs typeface="Futura Std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Autofit/>
          </a:bodyPr>
          <a:lstStyle/>
          <a:p>
            <a:pPr marL="0" indent="0" algn="just">
              <a:buNone/>
            </a:pPr>
            <a:r>
              <a:rPr lang="fr-FR" sz="1800" dirty="0" smtClean="0">
                <a:latin typeface="Quicksand" panose="00000500000000000000" charset="0"/>
                <a:cs typeface="Quicksand" panose="00000500000000000000" charset="0"/>
              </a:rPr>
              <a:t>L'architecture est l'art majeur de concevoir des espaces et de bâtir des édifices, en respectant des règles de construction empiriques ou scientifiques, ainsi que des concepts esthétiques, classiques ou nouveaux, de forme et d'agencement d'espace, en y incluant les aspects sociaux et environnementaux liés à la fonction de l'édifice et à son intégration dans son environnement, quelle que soit cette fonction : habitable, sépulcrale, rituelle, institutionnelle, religieuse, défensive, artisanale, commerciale, scientifique, signalétique, muséale, industrielle, monumentale, décorative, paysagère, voire purement artistique.</a:t>
            </a:r>
            <a:endParaRPr lang="fr-FR" sz="1800" dirty="0">
              <a:latin typeface="Quicksand" panose="00000500000000000000" charset="0"/>
              <a:cs typeface="Quicksand" panose="00000500000000000000" charset="0"/>
            </a:endParaRPr>
          </a:p>
          <a:p>
            <a:pPr marL="0" indent="0" algn="just">
              <a:buNone/>
            </a:pPr>
            <a:r>
              <a:rPr lang="fr-FR" sz="1800" dirty="0" smtClean="0">
                <a:latin typeface="Quicksand" panose="00000500000000000000" charset="0"/>
                <a:cs typeface="Quicksand" panose="00000500000000000000" charset="0"/>
              </a:rPr>
              <a:t>Si l’on s’en tient à cette définition les premiers édifices architecturaux apparaissent à la préhistoire, dès le dixième millénaire (10000 ans avant JC). Les tout premiers édifices porteurs d'architecture sont outre les grottes aménagées, les </a:t>
            </a:r>
            <a:r>
              <a:rPr lang="fr-FR" sz="1800" b="1" dirty="0" smtClean="0">
                <a:latin typeface="Quicksand" panose="00000500000000000000" charset="0"/>
                <a:cs typeface="Quicksand" panose="00000500000000000000" charset="0"/>
              </a:rPr>
              <a:t>tumulus</a:t>
            </a:r>
            <a:r>
              <a:rPr lang="fr-FR" sz="1800" dirty="0" smtClean="0">
                <a:latin typeface="Quicksand" panose="00000500000000000000" charset="0"/>
                <a:cs typeface="Quicksand" panose="00000500000000000000" charset="0"/>
              </a:rPr>
              <a:t> (amas artificiel composé de pierres et/ou de terre recouvrant une sépulture. </a:t>
            </a:r>
            <a:r>
              <a:rPr lang="fr-FR" sz="1800" dirty="0">
                <a:latin typeface="Quicksand" panose="00000500000000000000" charset="0"/>
                <a:cs typeface="Quicksand" panose="00000500000000000000" charset="0"/>
              </a:rPr>
              <a:t>O</a:t>
            </a:r>
            <a:r>
              <a:rPr lang="fr-FR" sz="1800" dirty="0" smtClean="0">
                <a:latin typeface="Quicksand" panose="00000500000000000000" charset="0"/>
                <a:cs typeface="Quicksand" panose="00000500000000000000" charset="0"/>
              </a:rPr>
              <a:t>n parle de </a:t>
            </a:r>
            <a:r>
              <a:rPr lang="fr-FR" sz="1800" b="1" dirty="0" smtClean="0">
                <a:latin typeface="Quicksand" panose="00000500000000000000" charset="0"/>
                <a:cs typeface="Quicksand" panose="00000500000000000000" charset="0"/>
              </a:rPr>
              <a:t>cairn</a:t>
            </a:r>
            <a:r>
              <a:rPr lang="fr-FR" sz="1800" dirty="0" smtClean="0">
                <a:latin typeface="Quicksand" panose="00000500000000000000" charset="0"/>
                <a:cs typeface="Quicksand" panose="00000500000000000000" charset="0"/>
              </a:rPr>
              <a:t> lorsque l’édifice est composé exclusivement de pierres sèches et de </a:t>
            </a:r>
            <a:r>
              <a:rPr lang="fr-FR" sz="1800" b="1" dirty="0" smtClean="0">
                <a:latin typeface="Quicksand" panose="00000500000000000000" charset="0"/>
                <a:cs typeface="Quicksand" panose="00000500000000000000" charset="0"/>
              </a:rPr>
              <a:t>tertre</a:t>
            </a:r>
            <a:r>
              <a:rPr lang="fr-FR" sz="1800" dirty="0" smtClean="0">
                <a:latin typeface="Quicksand" panose="00000500000000000000" charset="0"/>
                <a:cs typeface="Quicksand" panose="00000500000000000000" charset="0"/>
              </a:rPr>
              <a:t> quand il est composé uniquement de terre) et autres </a:t>
            </a:r>
            <a:r>
              <a:rPr lang="fr-FR" sz="1800" b="1" dirty="0" smtClean="0">
                <a:latin typeface="Quicksand" panose="00000500000000000000" charset="0"/>
                <a:cs typeface="Quicksand" panose="00000500000000000000" charset="0"/>
              </a:rPr>
              <a:t>monuments mégalithiques (dolmens, menhirs, allées couvertes)</a:t>
            </a:r>
            <a:r>
              <a:rPr lang="fr-FR" sz="1800" dirty="0" smtClean="0">
                <a:latin typeface="Quicksand" panose="00000500000000000000" charset="0"/>
                <a:cs typeface="Quicksand" panose="00000500000000000000" charset="0"/>
              </a:rPr>
              <a:t> on en trouve des exemples sur les cinq continents.</a:t>
            </a:r>
            <a:endParaRPr lang="fr-FR" sz="1800" dirty="0">
              <a:latin typeface="Quicksand" panose="00000500000000000000" charset="0"/>
              <a:cs typeface="Quicksand" panose="00000500000000000000" charset="0"/>
            </a:endParaRPr>
          </a:p>
        </p:txBody>
      </p:sp>
      <p:sp>
        <p:nvSpPr>
          <p:cNvPr id="6" name="Titre 1"/>
          <p:cNvSpPr>
            <a:spLocks noGrp="1"/>
          </p:cNvSpPr>
          <p:nvPr>
            <p:ph type="title"/>
          </p:nvPr>
        </p:nvSpPr>
        <p:spPr>
          <a:xfrm>
            <a:off x="456565" y="278765"/>
            <a:ext cx="8230235" cy="1139190"/>
          </a:xfrm>
        </p:spPr>
        <p:txBody>
          <a:bodyPr>
            <a:normAutofit/>
          </a:bodyPr>
          <a:lstStyle/>
          <a:p>
            <a:r>
              <a:rPr lang="fr-FR" dirty="0" smtClean="0">
                <a:solidFill>
                  <a:srgbClr val="FF0000"/>
                </a:solidFill>
                <a:latin typeface="Quicksand" panose="00000500000000000000" charset="0"/>
                <a:cs typeface="Quicksand" panose="00000500000000000000" charset="0"/>
              </a:rPr>
              <a:t>Chapitre I – Mégalithisme</a:t>
            </a:r>
            <a:endParaRPr lang="fr-FR" dirty="0" smtClean="0">
              <a:solidFill>
                <a:srgbClr val="FF0000"/>
              </a:solidFill>
              <a:latin typeface="Quicksand" panose="00000500000000000000" charset="0"/>
              <a:cs typeface="Quicksand" panose="00000500000000000000"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Tumulusmarathon.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84772" y="568192"/>
            <a:ext cx="3609695" cy="2707271"/>
          </a:xfrm>
          <a:prstGeom prst="rect">
            <a:avLst/>
          </a:prstGeom>
        </p:spPr>
      </p:pic>
      <p:pic>
        <p:nvPicPr>
          <p:cNvPr id="6" name="Image 5" descr="800px-Barnenez_front2.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6372" y="568192"/>
            <a:ext cx="3609696" cy="2707271"/>
          </a:xfrm>
          <a:prstGeom prst="rect">
            <a:avLst/>
          </a:prstGeom>
        </p:spPr>
      </p:pic>
      <p:pic>
        <p:nvPicPr>
          <p:cNvPr id="7" name="Image 6" descr="800px-Paulnabron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999" y="3696559"/>
            <a:ext cx="3632467" cy="2724351"/>
          </a:xfrm>
          <a:prstGeom prst="rect">
            <a:avLst/>
          </a:prstGeom>
        </p:spPr>
      </p:pic>
      <p:pic>
        <p:nvPicPr>
          <p:cNvPr id="8" name="Image 7" descr="téléchargement.jpeg"/>
          <p:cNvPicPr>
            <a:picLocks noChangeAspect="1"/>
          </p:cNvPicPr>
          <p:nvPr/>
        </p:nvPicPr>
        <p:blipFill rotWithShape="1">
          <a:blip r:embed="rId4">
            <a:extLst>
              <a:ext uri="{28A0092B-C50C-407E-A947-70E740481C1C}">
                <a14:useLocalDpi xmlns:a14="http://schemas.microsoft.com/office/drawing/2010/main" val="0"/>
              </a:ext>
            </a:extLst>
          </a:blip>
          <a:srcRect l="11829"/>
          <a:stretch>
            <a:fillRect/>
          </a:stretch>
        </p:blipFill>
        <p:spPr>
          <a:xfrm>
            <a:off x="4776372" y="3696558"/>
            <a:ext cx="3609696" cy="2724351"/>
          </a:xfrm>
          <a:prstGeom prst="rect">
            <a:avLst/>
          </a:prstGeom>
        </p:spPr>
      </p:pic>
      <p:sp>
        <p:nvSpPr>
          <p:cNvPr id="9" name="ZoneTexte 8"/>
          <p:cNvSpPr txBox="1"/>
          <p:nvPr/>
        </p:nvSpPr>
        <p:spPr>
          <a:xfrm>
            <a:off x="2282236" y="6420910"/>
            <a:ext cx="921910" cy="369332"/>
          </a:xfrm>
          <a:prstGeom prst="rect">
            <a:avLst/>
          </a:prstGeom>
          <a:noFill/>
        </p:spPr>
        <p:txBody>
          <a:bodyPr wrap="none" rtlCol="0">
            <a:spAutoFit/>
          </a:bodyPr>
          <a:lstStyle/>
          <a:p>
            <a:r>
              <a:rPr lang="fr-FR" dirty="0" smtClean="0"/>
              <a:t>Dolmen</a:t>
            </a:r>
            <a:endParaRPr lang="fr-FR" dirty="0"/>
          </a:p>
        </p:txBody>
      </p:sp>
      <p:sp>
        <p:nvSpPr>
          <p:cNvPr id="10" name="ZoneTexte 9"/>
          <p:cNvSpPr txBox="1"/>
          <p:nvPr/>
        </p:nvSpPr>
        <p:spPr>
          <a:xfrm>
            <a:off x="6091888" y="3275463"/>
            <a:ext cx="673043" cy="369332"/>
          </a:xfrm>
          <a:prstGeom prst="rect">
            <a:avLst/>
          </a:prstGeom>
          <a:noFill/>
        </p:spPr>
        <p:txBody>
          <a:bodyPr wrap="none" rtlCol="0">
            <a:spAutoFit/>
          </a:bodyPr>
          <a:lstStyle/>
          <a:p>
            <a:r>
              <a:rPr lang="fr-FR" dirty="0" smtClean="0"/>
              <a:t>Cairn</a:t>
            </a:r>
            <a:endParaRPr lang="fr-FR" dirty="0"/>
          </a:p>
        </p:txBody>
      </p:sp>
      <p:sp>
        <p:nvSpPr>
          <p:cNvPr id="11" name="ZoneTexte 10"/>
          <p:cNvSpPr txBox="1"/>
          <p:nvPr/>
        </p:nvSpPr>
        <p:spPr>
          <a:xfrm>
            <a:off x="2399199" y="3275463"/>
            <a:ext cx="992579" cy="369332"/>
          </a:xfrm>
          <a:prstGeom prst="rect">
            <a:avLst/>
          </a:prstGeom>
          <a:noFill/>
        </p:spPr>
        <p:txBody>
          <a:bodyPr wrap="none" rtlCol="0">
            <a:spAutoFit/>
          </a:bodyPr>
          <a:lstStyle/>
          <a:p>
            <a:r>
              <a:rPr lang="fr-FR" dirty="0" smtClean="0"/>
              <a:t>Tumulus</a:t>
            </a:r>
            <a:endParaRPr lang="fr-FR" dirty="0"/>
          </a:p>
        </p:txBody>
      </p:sp>
      <p:sp>
        <p:nvSpPr>
          <p:cNvPr id="12" name="ZoneTexte 11"/>
          <p:cNvSpPr txBox="1"/>
          <p:nvPr/>
        </p:nvSpPr>
        <p:spPr>
          <a:xfrm>
            <a:off x="6091888" y="6420909"/>
            <a:ext cx="872880" cy="369332"/>
          </a:xfrm>
          <a:prstGeom prst="rect">
            <a:avLst/>
          </a:prstGeom>
          <a:noFill/>
        </p:spPr>
        <p:txBody>
          <a:bodyPr wrap="none" rtlCol="0">
            <a:spAutoFit/>
          </a:bodyPr>
          <a:lstStyle/>
          <a:p>
            <a:r>
              <a:rPr lang="fr-FR" dirty="0" smtClean="0"/>
              <a:t>Menhir</a:t>
            </a:r>
            <a:endParaRPr lang="fr-F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337574" y="518058"/>
            <a:ext cx="4589209" cy="5407568"/>
          </a:xfrm>
        </p:spPr>
        <p:txBody>
          <a:bodyPr>
            <a:noAutofit/>
          </a:bodyPr>
          <a:lstStyle/>
          <a:p>
            <a:pPr marL="0" indent="0" algn="just">
              <a:buNone/>
            </a:pPr>
            <a:r>
              <a:rPr lang="fr-FR" sz="1800" dirty="0" smtClean="0">
                <a:latin typeface="Arial" panose="020B0604020202020204"/>
                <a:cs typeface="Arial" panose="020B0604020202020204"/>
              </a:rPr>
              <a:t>Le </a:t>
            </a:r>
            <a:r>
              <a:rPr lang="fr-FR" sz="1800" b="1" dirty="0" smtClean="0">
                <a:latin typeface="Arial" panose="020B0604020202020204"/>
                <a:cs typeface="Arial" panose="020B0604020202020204"/>
              </a:rPr>
              <a:t>mégalithisme</a:t>
            </a:r>
            <a:r>
              <a:rPr lang="fr-FR" sz="1800" dirty="0" smtClean="0">
                <a:latin typeface="Arial" panose="020B0604020202020204"/>
                <a:cs typeface="Arial" panose="020B0604020202020204"/>
              </a:rPr>
              <a:t> est un phénomène complexe, présent dans de nombreuses régions du monde, de la fin de la Préhistoire à nos jours. Le terme désigne une forme d'architecture consistant à ériger des mégalithes (du grec méga = grand ; lithos = pierre, littéralement de grandes pierres), la période au cours de laquelle ces édifices ont été érigés et leur étude scientifique par les archéologues qui tentent d'en comprendre le sens. Le mégalithisme a notamment revêtu une importance particulière pour les peuples de l’</a:t>
            </a:r>
            <a:r>
              <a:rPr lang="fr-FR" sz="1800" b="1" dirty="0" smtClean="0">
                <a:latin typeface="Arial" panose="020B0604020202020204"/>
                <a:cs typeface="Arial" panose="020B0604020202020204"/>
              </a:rPr>
              <a:t>Europe Néolithique</a:t>
            </a:r>
            <a:r>
              <a:rPr lang="fr-FR" sz="1800" dirty="0" smtClean="0">
                <a:latin typeface="Arial" panose="020B0604020202020204"/>
                <a:cs typeface="Arial" panose="020B0604020202020204"/>
              </a:rPr>
              <a:t> </a:t>
            </a:r>
            <a:r>
              <a:rPr lang="fr-FR" sz="1800" b="1" dirty="0" smtClean="0">
                <a:latin typeface="Arial" panose="020B0604020202020204"/>
                <a:cs typeface="Arial" panose="020B0604020202020204"/>
              </a:rPr>
              <a:t>(6500 - 2000 av . JC). </a:t>
            </a:r>
            <a:r>
              <a:rPr lang="fr-FR" sz="1800" dirty="0" smtClean="0">
                <a:latin typeface="Arial" panose="020B0604020202020204"/>
                <a:cs typeface="Arial" panose="020B0604020202020204"/>
              </a:rPr>
              <a:t>Les monuments mégalithiques étaient érigés par les groupes préhistoriques à des fins religieuses ou sépulcrales mais aussi comme observatoires astronomiques voire comme médium artistique. </a:t>
            </a:r>
            <a:endParaRPr lang="fr-FR" sz="1800" dirty="0" smtClean="0">
              <a:latin typeface="Arial" panose="020B0604020202020204"/>
              <a:cs typeface="Arial" panose="020B0604020202020204"/>
            </a:endParaRPr>
          </a:p>
          <a:p>
            <a:pPr marL="0" indent="0" algn="just">
              <a:buNone/>
            </a:pPr>
            <a:endParaRPr lang="fr-FR" sz="1800" b="1" dirty="0" smtClean="0">
              <a:latin typeface="Arial" panose="020B0604020202020204"/>
              <a:cs typeface="Arial" panose="020B0604020202020204"/>
            </a:endParaRPr>
          </a:p>
        </p:txBody>
      </p:sp>
      <p:sp>
        <p:nvSpPr>
          <p:cNvPr id="10" name="Titre 1"/>
          <p:cNvSpPr>
            <a:spLocks noGrp="1"/>
          </p:cNvSpPr>
          <p:nvPr>
            <p:ph type="title"/>
          </p:nvPr>
        </p:nvSpPr>
        <p:spPr>
          <a:xfrm>
            <a:off x="299172" y="274638"/>
            <a:ext cx="3506719" cy="1143000"/>
          </a:xfrm>
        </p:spPr>
        <p:txBody>
          <a:bodyPr>
            <a:normAutofit fontScale="90000"/>
          </a:bodyPr>
          <a:lstStyle/>
          <a:p>
            <a:r>
              <a:rPr lang="fr-FR" dirty="0" smtClean="0">
                <a:solidFill>
                  <a:srgbClr val="FF0000"/>
                </a:solidFill>
                <a:latin typeface="Quicksand" panose="00000500000000000000" charset="0"/>
                <a:cs typeface="Quicksand" panose="00000500000000000000" charset="0"/>
              </a:rPr>
              <a:t>Un phénomène complexe</a:t>
            </a:r>
            <a:endParaRPr lang="fr-FR" dirty="0" smtClean="0">
              <a:solidFill>
                <a:srgbClr val="FF0000"/>
              </a:solidFill>
              <a:latin typeface="Quicksand" panose="00000500000000000000" charset="0"/>
              <a:cs typeface="Quicksand" panose="00000500000000000000" charset="0"/>
            </a:endParaRPr>
          </a:p>
        </p:txBody>
      </p:sp>
      <p:pic>
        <p:nvPicPr>
          <p:cNvPr id="2" name="Image 1" descr="San_Agustin.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20700" y="1896943"/>
            <a:ext cx="3660000" cy="3098800"/>
          </a:xfrm>
          <a:prstGeom prst="rect">
            <a:avLst/>
          </a:prstGeom>
        </p:spPr>
      </p:pic>
      <p:sp>
        <p:nvSpPr>
          <p:cNvPr id="5" name="Rectangle 4"/>
          <p:cNvSpPr/>
          <p:nvPr/>
        </p:nvSpPr>
        <p:spPr>
          <a:xfrm>
            <a:off x="1388681" y="5070157"/>
            <a:ext cx="1915408" cy="307777"/>
          </a:xfrm>
          <a:prstGeom prst="rect">
            <a:avLst/>
          </a:prstGeom>
        </p:spPr>
        <p:txBody>
          <a:bodyPr wrap="none">
            <a:spAutoFit/>
          </a:bodyPr>
          <a:lstStyle/>
          <a:p>
            <a:r>
              <a:rPr lang="cs-CZ" sz="1400" i="1" dirty="0"/>
              <a:t>San </a:t>
            </a:r>
            <a:r>
              <a:rPr lang="cs-CZ" sz="1400" i="1" dirty="0" err="1"/>
              <a:t>Agustín</a:t>
            </a:r>
            <a:r>
              <a:rPr lang="cs-CZ" sz="1400" i="1" dirty="0"/>
              <a:t> (</a:t>
            </a:r>
            <a:r>
              <a:rPr lang="cs-CZ" sz="1400" i="1" dirty="0" err="1"/>
              <a:t>Colombie</a:t>
            </a:r>
            <a:r>
              <a:rPr lang="cs-CZ" sz="1400" i="1" dirty="0"/>
              <a:t>)</a:t>
            </a:r>
            <a:endParaRPr lang="fr-FR" sz="1400" i="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199" y="1186520"/>
            <a:ext cx="5059681" cy="5397160"/>
          </a:xfrm>
        </p:spPr>
        <p:txBody>
          <a:bodyPr>
            <a:noAutofit/>
          </a:bodyPr>
          <a:lstStyle/>
          <a:p>
            <a:pPr marL="0" indent="0" algn="just">
              <a:buNone/>
            </a:pPr>
            <a:endParaRPr lang="fr-FR" sz="1800" dirty="0" smtClean="0">
              <a:latin typeface="Arial" panose="020B0604020202020204"/>
              <a:cs typeface="Arial" panose="020B0604020202020204"/>
            </a:endParaRPr>
          </a:p>
          <a:p>
            <a:pPr marL="0" indent="0" algn="just">
              <a:buNone/>
            </a:pPr>
            <a:r>
              <a:rPr lang="fr-FR" sz="1800" dirty="0" smtClean="0">
                <a:latin typeface="Arial" panose="020B0604020202020204"/>
                <a:cs typeface="Arial" panose="020B0604020202020204"/>
              </a:rPr>
              <a:t>Le Mégalithisme est un phénomène largement répandu dans le monde, avec des particularités régionales, telles que les </a:t>
            </a:r>
            <a:r>
              <a:rPr lang="fr-FR" sz="1800" b="1" dirty="0" smtClean="0">
                <a:latin typeface="Arial" panose="020B0604020202020204"/>
                <a:cs typeface="Arial" panose="020B0604020202020204"/>
              </a:rPr>
              <a:t>alignements mégalithiques </a:t>
            </a:r>
            <a:r>
              <a:rPr lang="fr-FR" sz="1800" dirty="0" smtClean="0">
                <a:latin typeface="Arial" panose="020B0604020202020204"/>
                <a:cs typeface="Arial" panose="020B0604020202020204"/>
              </a:rPr>
              <a:t>atlantiques, nordiques ou encore africains (Ethiopie, Egypte, Tunisie, Sénégambie, Mauritanie, Mali, Niger, Tchad), les cercles ou </a:t>
            </a:r>
            <a:r>
              <a:rPr lang="fr-FR" sz="1800" b="1" dirty="0" err="1" smtClean="0">
                <a:latin typeface="Arial" panose="020B0604020202020204"/>
                <a:cs typeface="Arial" panose="020B0604020202020204"/>
              </a:rPr>
              <a:t>henges</a:t>
            </a:r>
            <a:r>
              <a:rPr lang="fr-FR" sz="1800" dirty="0" smtClean="0">
                <a:latin typeface="Arial" panose="020B0604020202020204"/>
                <a:cs typeface="Arial" panose="020B0604020202020204"/>
              </a:rPr>
              <a:t> anglais, écossais ou des Orcades, les </a:t>
            </a:r>
            <a:r>
              <a:rPr lang="fr-FR" sz="1800" b="1" dirty="0" smtClean="0">
                <a:latin typeface="Arial" panose="020B0604020202020204"/>
                <a:cs typeface="Arial" panose="020B0604020202020204"/>
              </a:rPr>
              <a:t>« tombes des géants </a:t>
            </a:r>
            <a:r>
              <a:rPr lang="fr-FR" sz="1800" dirty="0" smtClean="0">
                <a:latin typeface="Arial" panose="020B0604020202020204"/>
                <a:cs typeface="Arial" panose="020B0604020202020204"/>
              </a:rPr>
              <a:t>» et </a:t>
            </a:r>
            <a:r>
              <a:rPr lang="fr-FR" sz="1800" b="1" dirty="0" smtClean="0">
                <a:latin typeface="Arial" panose="020B0604020202020204"/>
                <a:cs typeface="Arial" panose="020B0604020202020204"/>
              </a:rPr>
              <a:t>nuraghes sardes</a:t>
            </a:r>
            <a:r>
              <a:rPr lang="fr-FR" sz="1800" dirty="0" smtClean="0">
                <a:latin typeface="Arial" panose="020B0604020202020204"/>
                <a:cs typeface="Arial" panose="020B0604020202020204"/>
              </a:rPr>
              <a:t>, les </a:t>
            </a:r>
            <a:r>
              <a:rPr lang="fr-FR" sz="1800" b="1" dirty="0" err="1" smtClean="0">
                <a:latin typeface="Arial" panose="020B0604020202020204"/>
                <a:cs typeface="Arial" panose="020B0604020202020204"/>
              </a:rPr>
              <a:t>torres</a:t>
            </a:r>
            <a:r>
              <a:rPr lang="fr-FR" sz="1800" dirty="0" smtClean="0">
                <a:latin typeface="Arial" panose="020B0604020202020204"/>
                <a:cs typeface="Arial" panose="020B0604020202020204"/>
              </a:rPr>
              <a:t> corses, les </a:t>
            </a:r>
            <a:r>
              <a:rPr lang="fr-FR" sz="1800" b="1" dirty="0" err="1" smtClean="0">
                <a:latin typeface="Arial" panose="020B0604020202020204"/>
                <a:cs typeface="Arial" panose="020B0604020202020204"/>
              </a:rPr>
              <a:t>taulas</a:t>
            </a:r>
            <a:r>
              <a:rPr lang="fr-FR" sz="1800" b="1" dirty="0" smtClean="0">
                <a:latin typeface="Arial" panose="020B0604020202020204"/>
                <a:cs typeface="Arial" panose="020B0604020202020204"/>
              </a:rPr>
              <a:t> </a:t>
            </a:r>
            <a:r>
              <a:rPr lang="fr-FR" sz="1800" b="1" dirty="0" err="1" smtClean="0">
                <a:latin typeface="Arial" panose="020B0604020202020204"/>
                <a:cs typeface="Arial" panose="020B0604020202020204"/>
              </a:rPr>
              <a:t>baléares</a:t>
            </a:r>
            <a:r>
              <a:rPr lang="fr-FR" sz="1800" dirty="0" smtClean="0">
                <a:latin typeface="Arial" panose="020B0604020202020204"/>
                <a:cs typeface="Arial" panose="020B0604020202020204"/>
              </a:rPr>
              <a:t>, les </a:t>
            </a:r>
            <a:r>
              <a:rPr lang="fr-FR" sz="1800" b="1" dirty="0" smtClean="0">
                <a:latin typeface="Arial" panose="020B0604020202020204"/>
                <a:cs typeface="Arial" panose="020B0604020202020204"/>
              </a:rPr>
              <a:t>tombes tours </a:t>
            </a:r>
            <a:r>
              <a:rPr lang="fr-FR" sz="1800" dirty="0" smtClean="0">
                <a:latin typeface="Arial" panose="020B0604020202020204"/>
                <a:cs typeface="Arial" panose="020B0604020202020204"/>
              </a:rPr>
              <a:t>d'Arabie et du Sinaï, les</a:t>
            </a:r>
            <a:r>
              <a:rPr lang="fr-FR" sz="1800" b="1" dirty="0" smtClean="0">
                <a:latin typeface="Arial" panose="020B0604020202020204"/>
                <a:cs typeface="Arial" panose="020B0604020202020204"/>
              </a:rPr>
              <a:t> </a:t>
            </a:r>
            <a:r>
              <a:rPr lang="fr-FR" sz="1800" b="1" dirty="0" err="1" smtClean="0">
                <a:latin typeface="Arial" panose="020B0604020202020204"/>
                <a:cs typeface="Arial" panose="020B0604020202020204"/>
              </a:rPr>
              <a:t>brochs</a:t>
            </a:r>
            <a:r>
              <a:rPr lang="fr-FR" sz="1800" b="1" dirty="0" smtClean="0">
                <a:latin typeface="Arial" panose="020B0604020202020204"/>
                <a:cs typeface="Arial" panose="020B0604020202020204"/>
              </a:rPr>
              <a:t> </a:t>
            </a:r>
            <a:r>
              <a:rPr lang="fr-FR" sz="1800" dirty="0" smtClean="0">
                <a:latin typeface="Arial" panose="020B0604020202020204"/>
                <a:cs typeface="Arial" panose="020B0604020202020204"/>
              </a:rPr>
              <a:t>d'Écosse, les </a:t>
            </a:r>
            <a:r>
              <a:rPr lang="fr-FR" sz="1800" b="1" dirty="0" smtClean="0">
                <a:latin typeface="Arial" panose="020B0604020202020204"/>
                <a:cs typeface="Arial" panose="020B0604020202020204"/>
              </a:rPr>
              <a:t>cromlechs</a:t>
            </a:r>
            <a:r>
              <a:rPr lang="fr-FR" sz="1800" dirty="0" smtClean="0">
                <a:latin typeface="Arial" panose="020B0604020202020204"/>
                <a:cs typeface="Arial" panose="020B0604020202020204"/>
              </a:rPr>
              <a:t> gallois, les </a:t>
            </a:r>
            <a:r>
              <a:rPr lang="fr-FR" sz="1800" b="1" dirty="0" smtClean="0">
                <a:latin typeface="Arial" panose="020B0604020202020204"/>
                <a:cs typeface="Arial" panose="020B0604020202020204"/>
              </a:rPr>
              <a:t>menhirs</a:t>
            </a:r>
            <a:r>
              <a:rPr lang="fr-FR" sz="1800" dirty="0" smtClean="0">
                <a:latin typeface="Arial" panose="020B0604020202020204"/>
                <a:cs typeface="Arial" panose="020B0604020202020204"/>
              </a:rPr>
              <a:t> ou </a:t>
            </a:r>
            <a:r>
              <a:rPr lang="fr-FR" sz="1800" b="1" dirty="0" smtClean="0">
                <a:latin typeface="Arial" panose="020B0604020202020204"/>
                <a:cs typeface="Arial" panose="020B0604020202020204"/>
              </a:rPr>
              <a:t>peulvens</a:t>
            </a:r>
            <a:r>
              <a:rPr lang="fr-FR" sz="1800" dirty="0" smtClean="0">
                <a:latin typeface="Arial" panose="020B0604020202020204"/>
                <a:cs typeface="Arial" panose="020B0604020202020204"/>
              </a:rPr>
              <a:t>, les </a:t>
            </a:r>
            <a:r>
              <a:rPr lang="fr-FR" sz="1800" b="1" dirty="0" smtClean="0">
                <a:latin typeface="Arial" panose="020B0604020202020204"/>
                <a:cs typeface="Arial" panose="020B0604020202020204"/>
              </a:rPr>
              <a:t>dolmens</a:t>
            </a:r>
            <a:r>
              <a:rPr lang="fr-FR" sz="1800" dirty="0" smtClean="0">
                <a:latin typeface="Arial" panose="020B0604020202020204"/>
                <a:cs typeface="Arial" panose="020B0604020202020204"/>
              </a:rPr>
              <a:t> sous </a:t>
            </a:r>
            <a:r>
              <a:rPr lang="fr-FR" sz="1800" b="1" dirty="0" smtClean="0">
                <a:latin typeface="Arial" panose="020B0604020202020204"/>
                <a:cs typeface="Arial" panose="020B0604020202020204"/>
              </a:rPr>
              <a:t>tumulus</a:t>
            </a:r>
            <a:r>
              <a:rPr lang="fr-FR" sz="1800" dirty="0" smtClean="0">
                <a:latin typeface="Arial" panose="020B0604020202020204"/>
                <a:cs typeface="Arial" panose="020B0604020202020204"/>
              </a:rPr>
              <a:t> ou sous </a:t>
            </a:r>
            <a:r>
              <a:rPr lang="fr-FR" sz="1800" b="1" dirty="0" smtClean="0">
                <a:latin typeface="Arial" panose="020B0604020202020204"/>
                <a:cs typeface="Arial" panose="020B0604020202020204"/>
              </a:rPr>
              <a:t>cairn</a:t>
            </a:r>
            <a:r>
              <a:rPr lang="fr-FR" sz="1800" dirty="0" smtClean="0">
                <a:latin typeface="Arial" panose="020B0604020202020204"/>
                <a:cs typeface="Arial" panose="020B0604020202020204"/>
              </a:rPr>
              <a:t>, les </a:t>
            </a:r>
            <a:r>
              <a:rPr lang="fr-FR" sz="1800" b="1" dirty="0" smtClean="0">
                <a:latin typeface="Arial" panose="020B0604020202020204"/>
                <a:cs typeface="Arial" panose="020B0604020202020204"/>
              </a:rPr>
              <a:t>allées couvertes</a:t>
            </a:r>
            <a:r>
              <a:rPr lang="fr-FR" sz="1800" dirty="0" smtClean="0">
                <a:latin typeface="Arial" panose="020B0604020202020204"/>
                <a:cs typeface="Arial" panose="020B0604020202020204"/>
              </a:rPr>
              <a:t>, les </a:t>
            </a:r>
            <a:r>
              <a:rPr lang="fr-FR" sz="1800" b="1" dirty="0" smtClean="0">
                <a:latin typeface="Arial" panose="020B0604020202020204"/>
                <a:cs typeface="Arial" panose="020B0604020202020204"/>
              </a:rPr>
              <a:t>statues-menhirs</a:t>
            </a:r>
            <a:r>
              <a:rPr lang="fr-FR" sz="1800" dirty="0" smtClean="0">
                <a:latin typeface="Arial" panose="020B0604020202020204"/>
                <a:cs typeface="Arial" panose="020B0604020202020204"/>
              </a:rPr>
              <a:t>, les </a:t>
            </a:r>
            <a:r>
              <a:rPr lang="fr-FR" sz="1800" b="1" dirty="0" err="1" smtClean="0">
                <a:latin typeface="Arial" panose="020B0604020202020204"/>
                <a:cs typeface="Arial" panose="020B0604020202020204"/>
              </a:rPr>
              <a:t>chen</a:t>
            </a:r>
            <a:r>
              <a:rPr lang="fr-FR" sz="1800" b="1" dirty="0" smtClean="0">
                <a:latin typeface="Arial" panose="020B0604020202020204"/>
                <a:cs typeface="Arial" panose="020B0604020202020204"/>
              </a:rPr>
              <a:t>-pin coréens</a:t>
            </a:r>
            <a:r>
              <a:rPr lang="fr-FR" sz="1800" dirty="0" smtClean="0">
                <a:latin typeface="Arial" panose="020B0604020202020204"/>
                <a:cs typeface="Arial" panose="020B0604020202020204"/>
              </a:rPr>
              <a:t>, les </a:t>
            </a:r>
            <a:r>
              <a:rPr lang="fr-FR" sz="1800" b="1" dirty="0" err="1" smtClean="0">
                <a:latin typeface="Arial" panose="020B0604020202020204"/>
                <a:cs typeface="Arial" panose="020B0604020202020204"/>
              </a:rPr>
              <a:t>kofun</a:t>
            </a:r>
            <a:r>
              <a:rPr lang="fr-FR" sz="1800" dirty="0" smtClean="0">
                <a:latin typeface="Arial" panose="020B0604020202020204"/>
                <a:cs typeface="Arial" panose="020B0604020202020204"/>
              </a:rPr>
              <a:t> japonais, les </a:t>
            </a:r>
            <a:r>
              <a:rPr lang="fr-FR" sz="1800" b="1" dirty="0" smtClean="0">
                <a:latin typeface="Arial" panose="020B0604020202020204"/>
                <a:cs typeface="Arial" panose="020B0604020202020204"/>
              </a:rPr>
              <a:t>autels</a:t>
            </a:r>
            <a:r>
              <a:rPr lang="fr-FR" sz="1800" dirty="0" smtClean="0">
                <a:latin typeface="Arial" panose="020B0604020202020204"/>
                <a:cs typeface="Arial" panose="020B0604020202020204"/>
              </a:rPr>
              <a:t> </a:t>
            </a:r>
            <a:r>
              <a:rPr lang="fr-FR" sz="1800" dirty="0" err="1" smtClean="0">
                <a:latin typeface="Arial" panose="020B0604020202020204"/>
                <a:cs typeface="Arial" panose="020B0604020202020204"/>
              </a:rPr>
              <a:t>olméques</a:t>
            </a:r>
            <a:r>
              <a:rPr lang="fr-FR" sz="1800" dirty="0" smtClean="0">
                <a:latin typeface="Arial" panose="020B0604020202020204"/>
                <a:cs typeface="Arial" panose="020B0604020202020204"/>
              </a:rPr>
              <a:t>, les </a:t>
            </a:r>
            <a:r>
              <a:rPr lang="fr-FR" sz="1800" b="1" dirty="0" smtClean="0">
                <a:latin typeface="Arial" panose="020B0604020202020204"/>
                <a:cs typeface="Arial" panose="020B0604020202020204"/>
              </a:rPr>
              <a:t>mégalithes anthropomorphes</a:t>
            </a:r>
            <a:r>
              <a:rPr lang="fr-FR" sz="1800" dirty="0" smtClean="0">
                <a:latin typeface="Arial" panose="020B0604020202020204"/>
                <a:cs typeface="Arial" panose="020B0604020202020204"/>
              </a:rPr>
              <a:t> colombiens ou bien les </a:t>
            </a:r>
            <a:r>
              <a:rPr lang="fr-FR" sz="1800" b="1" dirty="0" err="1" smtClean="0">
                <a:latin typeface="Arial" panose="020B0604020202020204"/>
                <a:cs typeface="Arial" panose="020B0604020202020204"/>
              </a:rPr>
              <a:t>moaïs</a:t>
            </a:r>
            <a:r>
              <a:rPr lang="fr-FR" sz="1800" dirty="0" smtClean="0">
                <a:latin typeface="Arial" panose="020B0604020202020204"/>
                <a:cs typeface="Arial" panose="020B0604020202020204"/>
              </a:rPr>
              <a:t> pascuans (statues monumentales de l’île de Pâques).</a:t>
            </a:r>
            <a:endParaRPr lang="fr-FR" sz="1800" dirty="0">
              <a:latin typeface="Arial" panose="020B0604020202020204"/>
              <a:cs typeface="Arial" panose="020B0604020202020204"/>
            </a:endParaRPr>
          </a:p>
        </p:txBody>
      </p:sp>
      <p:pic>
        <p:nvPicPr>
          <p:cNvPr id="4" name="Image 3" descr="Wassu_Stone_Cirles_shaunamullally_01.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979128" y="1763101"/>
            <a:ext cx="2787549" cy="3716732"/>
          </a:xfrm>
          <a:prstGeom prst="rect">
            <a:avLst/>
          </a:prstGeom>
        </p:spPr>
      </p:pic>
      <p:sp>
        <p:nvSpPr>
          <p:cNvPr id="5" name="Rectangle 4"/>
          <p:cNvSpPr/>
          <p:nvPr/>
        </p:nvSpPr>
        <p:spPr>
          <a:xfrm>
            <a:off x="5979127" y="5479833"/>
            <a:ext cx="2787549" cy="1015663"/>
          </a:xfrm>
          <a:prstGeom prst="rect">
            <a:avLst/>
          </a:prstGeom>
        </p:spPr>
        <p:txBody>
          <a:bodyPr wrap="square">
            <a:spAutoFit/>
          </a:bodyPr>
          <a:lstStyle/>
          <a:p>
            <a:pPr algn="ctr"/>
            <a:r>
              <a:rPr lang="fr-FR" sz="1400" i="1" dirty="0" smtClean="0"/>
              <a:t>Cercle mégalithique de </a:t>
            </a:r>
            <a:r>
              <a:rPr lang="fr-FR" sz="1400" i="1" dirty="0" err="1" smtClean="0"/>
              <a:t>Wassu</a:t>
            </a:r>
            <a:r>
              <a:rPr lang="fr-FR" sz="1400" i="1" dirty="0" smtClean="0"/>
              <a:t> en Sénégambie, , érigé entre – 300 av. JC et le 16</a:t>
            </a:r>
            <a:r>
              <a:rPr lang="fr-FR" sz="1400" i="1" baseline="30000" dirty="0" smtClean="0"/>
              <a:t>e</a:t>
            </a:r>
            <a:r>
              <a:rPr lang="fr-FR" sz="1400" i="1" dirty="0" smtClean="0"/>
              <a:t> siècle de notre ère</a:t>
            </a:r>
            <a:endParaRPr lang="fr-FR" sz="1400" i="1" dirty="0" smtClean="0"/>
          </a:p>
          <a:p>
            <a:pPr algn="ctr"/>
            <a:endParaRPr lang="fr-FR" i="1" dirty="0"/>
          </a:p>
        </p:txBody>
      </p:sp>
      <p:sp>
        <p:nvSpPr>
          <p:cNvPr id="6" name="Titre 1"/>
          <p:cNvSpPr>
            <a:spLocks noGrp="1"/>
          </p:cNvSpPr>
          <p:nvPr>
            <p:ph type="title"/>
          </p:nvPr>
        </p:nvSpPr>
        <p:spPr>
          <a:xfrm>
            <a:off x="299172" y="274638"/>
            <a:ext cx="8539889" cy="1143000"/>
          </a:xfrm>
        </p:spPr>
        <p:txBody>
          <a:bodyPr>
            <a:normAutofit/>
          </a:bodyPr>
          <a:lstStyle/>
          <a:p>
            <a:r>
              <a:rPr lang="fr-FR" dirty="0" smtClean="0">
                <a:solidFill>
                  <a:srgbClr val="FF0000"/>
                </a:solidFill>
                <a:latin typeface="Quicksand" panose="00000500000000000000" charset="0"/>
                <a:cs typeface="Quicksand" panose="00000500000000000000" charset="0"/>
              </a:rPr>
              <a:t>Le Mégalithisme dans le monde</a:t>
            </a:r>
            <a:endParaRPr lang="fr-FR" dirty="0" smtClean="0">
              <a:solidFill>
                <a:srgbClr val="FF0000"/>
              </a:solidFill>
              <a:latin typeface="Quicksand" panose="00000500000000000000" charset="0"/>
              <a:cs typeface="Quicksand" panose="00000500000000000000"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600200"/>
            <a:ext cx="4216400" cy="4525963"/>
          </a:xfrm>
        </p:spPr>
        <p:txBody>
          <a:bodyPr>
            <a:normAutofit/>
          </a:bodyPr>
          <a:lstStyle/>
          <a:p>
            <a:pPr marL="0" indent="0" algn="just">
              <a:buNone/>
            </a:pPr>
            <a:r>
              <a:rPr lang="fr-FR" sz="1800" dirty="0">
                <a:latin typeface="Arial" panose="020B0604020202020204"/>
                <a:cs typeface="Arial" panose="020B0604020202020204"/>
              </a:rPr>
              <a:t>Le mégalithisme n'a pas complètement disparu. </a:t>
            </a:r>
            <a:r>
              <a:rPr lang="fr-FR" sz="1800" b="1" dirty="0">
                <a:latin typeface="Arial" panose="020B0604020202020204"/>
                <a:cs typeface="Arial" panose="020B0604020202020204"/>
              </a:rPr>
              <a:t>les Malgaches du plateau d'Imerina, les </a:t>
            </a:r>
            <a:r>
              <a:rPr lang="fr-FR" sz="1800" b="1" dirty="0" err="1">
                <a:latin typeface="Arial" panose="020B0604020202020204"/>
                <a:cs typeface="Arial" panose="020B0604020202020204"/>
              </a:rPr>
              <a:t>Konsos</a:t>
            </a:r>
            <a:r>
              <a:rPr lang="fr-FR" sz="1800" b="1" dirty="0">
                <a:latin typeface="Arial" panose="020B0604020202020204"/>
                <a:cs typeface="Arial" panose="020B0604020202020204"/>
              </a:rPr>
              <a:t> d'Éthiopie et les </a:t>
            </a:r>
            <a:r>
              <a:rPr lang="fr-FR" sz="1800" b="1" dirty="0" err="1" smtClean="0">
                <a:latin typeface="Arial" panose="020B0604020202020204"/>
                <a:cs typeface="Arial" panose="020B0604020202020204"/>
              </a:rPr>
              <a:t>Torajas</a:t>
            </a:r>
            <a:r>
              <a:rPr lang="fr-FR" sz="1800" b="1" dirty="0">
                <a:latin typeface="Arial" panose="020B0604020202020204"/>
                <a:cs typeface="Arial" panose="020B0604020202020204"/>
              </a:rPr>
              <a:t> </a:t>
            </a:r>
            <a:r>
              <a:rPr lang="fr-FR" sz="1800" b="1" dirty="0" smtClean="0">
                <a:latin typeface="Arial" panose="020B0604020202020204"/>
                <a:cs typeface="Arial" panose="020B0604020202020204"/>
              </a:rPr>
              <a:t>de </a:t>
            </a:r>
            <a:r>
              <a:rPr lang="fr-FR" sz="1800" b="1" dirty="0">
                <a:latin typeface="Arial" panose="020B0604020202020204"/>
                <a:cs typeface="Arial" panose="020B0604020202020204"/>
              </a:rPr>
              <a:t>Sulawesi ou les habitants de Sumba </a:t>
            </a:r>
            <a:r>
              <a:rPr lang="fr-FR" sz="1800" b="1" dirty="0" smtClean="0">
                <a:latin typeface="Arial" panose="020B0604020202020204"/>
                <a:cs typeface="Arial" panose="020B0604020202020204"/>
              </a:rPr>
              <a:t>en Indonésie </a:t>
            </a:r>
            <a:r>
              <a:rPr lang="fr-FR" sz="1800" b="1" dirty="0">
                <a:latin typeface="Arial" panose="020B0604020202020204"/>
                <a:cs typeface="Arial" panose="020B0604020202020204"/>
              </a:rPr>
              <a:t>dressent encore aujourd'hui des mégalithes pour honorer leurs morts et valoriser le rang de la famille ou du clan. </a:t>
            </a:r>
            <a:r>
              <a:rPr lang="fr-FR" sz="1800" dirty="0">
                <a:latin typeface="Arial" panose="020B0604020202020204"/>
                <a:cs typeface="Arial" panose="020B0604020202020204"/>
              </a:rPr>
              <a:t>Cela réclame, comme il y a plusieurs millénaires, d'énormes dépenses physiques et économiques mais aussi un esprit de coopération qui renforce l'unité des groupes ethniques qui pratiquent encore le mégalithisme.</a:t>
            </a:r>
            <a:endParaRPr lang="fr-FR" sz="1800" dirty="0">
              <a:latin typeface="Arial" panose="020B0604020202020204"/>
              <a:cs typeface="Arial" panose="020B0604020202020204"/>
            </a:endParaRPr>
          </a:p>
        </p:txBody>
      </p:sp>
      <p:sp>
        <p:nvSpPr>
          <p:cNvPr id="4" name="Titre 1"/>
          <p:cNvSpPr>
            <a:spLocks noGrp="1"/>
          </p:cNvSpPr>
          <p:nvPr>
            <p:ph type="title"/>
          </p:nvPr>
        </p:nvSpPr>
        <p:spPr>
          <a:xfrm>
            <a:off x="299172" y="274638"/>
            <a:ext cx="8539889" cy="1143000"/>
          </a:xfrm>
        </p:spPr>
        <p:txBody>
          <a:bodyPr>
            <a:normAutofit/>
          </a:bodyPr>
          <a:lstStyle/>
          <a:p>
            <a:r>
              <a:rPr lang="fr-FR" dirty="0" smtClean="0">
                <a:solidFill>
                  <a:srgbClr val="FF0000"/>
                </a:solidFill>
                <a:latin typeface="Quicksand" panose="00000500000000000000" charset="0"/>
                <a:cs typeface="Quicksand" panose="00000500000000000000" charset="0"/>
              </a:rPr>
              <a:t>Le Mégalithisme aujourd’hui</a:t>
            </a:r>
            <a:endParaRPr lang="fr-FR" dirty="0" smtClean="0">
              <a:solidFill>
                <a:srgbClr val="FF0000"/>
              </a:solidFill>
              <a:latin typeface="Quicksand" panose="00000500000000000000" charset="0"/>
              <a:cs typeface="Quicksand" panose="00000500000000000000" charset="0"/>
            </a:endParaRPr>
          </a:p>
        </p:txBody>
      </p:sp>
      <p:pic>
        <p:nvPicPr>
          <p:cNvPr id="6" name="Image 5" descr="Toraja-Cemetary-Rantepao-Sulawesi-Indonesia-288864.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772659" y="1915159"/>
            <a:ext cx="4066401" cy="3052065"/>
          </a:xfrm>
          <a:prstGeom prst="rect">
            <a:avLst/>
          </a:prstGeom>
        </p:spPr>
      </p:pic>
      <p:sp>
        <p:nvSpPr>
          <p:cNvPr id="7" name="Rectangle 6"/>
          <p:cNvSpPr/>
          <p:nvPr/>
        </p:nvSpPr>
        <p:spPr>
          <a:xfrm>
            <a:off x="6177260" y="5048925"/>
            <a:ext cx="1404601" cy="307777"/>
          </a:xfrm>
          <a:prstGeom prst="rect">
            <a:avLst/>
          </a:prstGeom>
        </p:spPr>
        <p:txBody>
          <a:bodyPr wrap="none">
            <a:spAutoFit/>
          </a:bodyPr>
          <a:lstStyle/>
          <a:p>
            <a:r>
              <a:rPr lang="fr-FR" sz="1400" dirty="0" smtClean="0"/>
              <a:t>Cimetière </a:t>
            </a:r>
            <a:r>
              <a:rPr lang="fr-FR" sz="1400" dirty="0" err="1" smtClean="0"/>
              <a:t>Toroja</a:t>
            </a:r>
            <a:endParaRPr lang="fr-FR"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a:spLocks noGrp="1"/>
          </p:cNvSpPr>
          <p:nvPr>
            <p:ph type="title"/>
          </p:nvPr>
        </p:nvSpPr>
        <p:spPr>
          <a:xfrm>
            <a:off x="299172" y="274638"/>
            <a:ext cx="8539889" cy="1143000"/>
          </a:xfrm>
        </p:spPr>
        <p:txBody>
          <a:bodyPr>
            <a:normAutofit fontScale="90000"/>
          </a:bodyPr>
          <a:lstStyle/>
          <a:p>
            <a:r>
              <a:rPr lang="fr-FR" dirty="0" smtClean="0">
                <a:solidFill>
                  <a:srgbClr val="FF0000"/>
                </a:solidFill>
                <a:latin typeface="Quicksand" panose="00000500000000000000" charset="0"/>
                <a:cs typeface="Quicksand" panose="00000500000000000000" charset="0"/>
              </a:rPr>
              <a:t>Le dolmen : une sépulture à la </a:t>
            </a:r>
            <a:r>
              <a:rPr lang="fr-FR" dirty="0">
                <a:solidFill>
                  <a:srgbClr val="FF0000"/>
                </a:solidFill>
                <a:latin typeface="Quicksand" panose="00000500000000000000" charset="0"/>
                <a:cs typeface="Quicksand" panose="00000500000000000000" charset="0"/>
              </a:rPr>
              <a:t>m</a:t>
            </a:r>
            <a:r>
              <a:rPr lang="fr-FR" dirty="0" smtClean="0">
                <a:solidFill>
                  <a:srgbClr val="FF0000"/>
                </a:solidFill>
                <a:latin typeface="Quicksand" panose="00000500000000000000" charset="0"/>
                <a:cs typeface="Quicksand" panose="00000500000000000000" charset="0"/>
              </a:rPr>
              <a:t>orphologie variable</a:t>
            </a:r>
            <a:endParaRPr lang="fr-FR" dirty="0">
              <a:solidFill>
                <a:srgbClr val="FF0000"/>
              </a:solidFill>
              <a:latin typeface="Quicksand" panose="00000500000000000000" charset="0"/>
              <a:cs typeface="Quicksand" panose="00000500000000000000" charset="0"/>
            </a:endParaRPr>
          </a:p>
        </p:txBody>
      </p:sp>
      <p:sp>
        <p:nvSpPr>
          <p:cNvPr id="9" name="Rectangle 8"/>
          <p:cNvSpPr/>
          <p:nvPr/>
        </p:nvSpPr>
        <p:spPr>
          <a:xfrm>
            <a:off x="299172" y="2014169"/>
            <a:ext cx="8389508" cy="4247317"/>
          </a:xfrm>
          <a:prstGeom prst="rect">
            <a:avLst/>
          </a:prstGeom>
        </p:spPr>
        <p:txBody>
          <a:bodyPr wrap="square">
            <a:spAutoFit/>
          </a:bodyPr>
          <a:lstStyle/>
          <a:p>
            <a:pPr algn="just"/>
            <a:r>
              <a:rPr lang="fr-FR" dirty="0" smtClean="0">
                <a:latin typeface="Arial" panose="020B0604020202020204"/>
                <a:cs typeface="Arial" panose="020B0604020202020204"/>
              </a:rPr>
              <a:t>Un </a:t>
            </a:r>
            <a:r>
              <a:rPr lang="fr-FR" b="1" dirty="0" smtClean="0">
                <a:latin typeface="Arial" panose="020B0604020202020204"/>
                <a:cs typeface="Arial" panose="020B0604020202020204"/>
              </a:rPr>
              <a:t>dolmen</a:t>
            </a:r>
            <a:r>
              <a:rPr lang="fr-FR" dirty="0" smtClean="0">
                <a:latin typeface="Arial" panose="020B0604020202020204"/>
                <a:cs typeface="Arial" panose="020B0604020202020204"/>
              </a:rPr>
              <a:t> est une construction mégalithique préhistorique constituée d'une ou plusieurs grosses dalles de couverture (tables) posées sur des pierres verticales qui lui servent de pieds (les orthostates). Le tout était originellement recouvert, maintenu et protégé par un amas artificiel (</a:t>
            </a:r>
            <a:r>
              <a:rPr lang="fr-FR" b="1" dirty="0" smtClean="0">
                <a:latin typeface="Arial" panose="020B0604020202020204"/>
                <a:cs typeface="Arial" panose="020B0604020202020204"/>
              </a:rPr>
              <a:t>tumulus</a:t>
            </a:r>
            <a:r>
              <a:rPr lang="fr-FR" dirty="0" smtClean="0">
                <a:latin typeface="Arial" panose="020B0604020202020204"/>
                <a:cs typeface="Arial" panose="020B0604020202020204"/>
              </a:rPr>
              <a:t>, </a:t>
            </a:r>
            <a:r>
              <a:rPr lang="fr-FR" b="1" dirty="0" smtClean="0">
                <a:latin typeface="Arial" panose="020B0604020202020204"/>
                <a:cs typeface="Arial" panose="020B0604020202020204"/>
              </a:rPr>
              <a:t>cairn</a:t>
            </a:r>
            <a:r>
              <a:rPr lang="fr-FR" dirty="0" smtClean="0">
                <a:latin typeface="Arial" panose="020B0604020202020204"/>
                <a:cs typeface="Arial" panose="020B0604020202020204"/>
              </a:rPr>
              <a:t> ou </a:t>
            </a:r>
            <a:r>
              <a:rPr lang="fr-FR" b="1" dirty="0" smtClean="0">
                <a:latin typeface="Arial" panose="020B0604020202020204"/>
                <a:cs typeface="Arial" panose="020B0604020202020204"/>
              </a:rPr>
              <a:t>tertre</a:t>
            </a:r>
            <a:r>
              <a:rPr lang="fr-FR" dirty="0" smtClean="0">
                <a:latin typeface="Arial" panose="020B0604020202020204"/>
                <a:cs typeface="Arial" panose="020B0604020202020204"/>
              </a:rPr>
              <a:t>). Les dolmens sont généralement interprétés comme des monuments funéraires ayant abrité des sépultures collectives à caractère réutilisable.</a:t>
            </a:r>
            <a:br>
              <a:rPr lang="fr-FR" dirty="0" smtClean="0">
                <a:latin typeface="Arial" panose="020B0604020202020204"/>
                <a:cs typeface="Arial" panose="020B0604020202020204"/>
              </a:rPr>
            </a:br>
            <a:r>
              <a:rPr lang="fr-FR" dirty="0" smtClean="0">
                <a:latin typeface="Arial" panose="020B0604020202020204"/>
                <a:cs typeface="Arial" panose="020B0604020202020204"/>
              </a:rPr>
              <a:t>Dans leur état actuel de dégradation, les dolmens se présentent souvent sous l'apparence de simples tables. Ils ont longtemps pu faire penser à des autels païens, mais il s'agit bien de chambres sépulcrales et de galeries de </a:t>
            </a:r>
            <a:r>
              <a:rPr lang="fr-FR" b="1" dirty="0" smtClean="0">
                <a:latin typeface="Arial" panose="020B0604020202020204"/>
                <a:cs typeface="Arial" panose="020B0604020202020204"/>
              </a:rPr>
              <a:t>tumulus</a:t>
            </a:r>
            <a:r>
              <a:rPr lang="fr-FR" dirty="0" smtClean="0">
                <a:latin typeface="Arial" panose="020B0604020202020204"/>
                <a:cs typeface="Arial" panose="020B0604020202020204"/>
              </a:rPr>
              <a:t> (buttes artificielles), dont la partie meuble (remblai) a été érodée au cours des siècles. Leur architecture comporte parfois un couloir d'accès qui peut être construit en dalles ou en pierres sèches. La chambre sépulcrale, aux formes variables (rectangulaire, polygonale, ovale, circulaire...), peut aussi être précédée d'une antichambre. Dans certains dolmens, l'entrée présente une porte taillée dans une ou plusieurs dalles verticales.</a:t>
            </a:r>
            <a:endParaRPr lang="fr-FR" dirty="0">
              <a:latin typeface="Arial" panose="020B0604020202020204"/>
              <a:cs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descr="220px-Dolmen_Vacquerie_elements.gif"/>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86552" y="1417638"/>
            <a:ext cx="3771900" cy="5092065"/>
          </a:xfrm>
          <a:prstGeom prst="rect">
            <a:avLst/>
          </a:prstGeom>
        </p:spPr>
      </p:pic>
      <p:sp>
        <p:nvSpPr>
          <p:cNvPr id="11" name="Titre 1"/>
          <p:cNvSpPr>
            <a:spLocks noGrp="1"/>
          </p:cNvSpPr>
          <p:nvPr>
            <p:ph type="title"/>
          </p:nvPr>
        </p:nvSpPr>
        <p:spPr>
          <a:xfrm>
            <a:off x="299172" y="274638"/>
            <a:ext cx="8539889" cy="1143000"/>
          </a:xfrm>
        </p:spPr>
        <p:txBody>
          <a:bodyPr>
            <a:normAutofit fontScale="90000"/>
          </a:bodyPr>
          <a:lstStyle/>
          <a:p>
            <a:r>
              <a:rPr lang="fr-FR" dirty="0" smtClean="0">
                <a:solidFill>
                  <a:srgbClr val="FF0000"/>
                </a:solidFill>
                <a:latin typeface="Quicksand" panose="00000500000000000000" charset="0"/>
                <a:cs typeface="Quicksand" panose="00000500000000000000" charset="0"/>
              </a:rPr>
              <a:t>Eléments structuraux d’un dolmen</a:t>
            </a:r>
            <a:endParaRPr lang="fr-FR" dirty="0" smtClean="0">
              <a:solidFill>
                <a:srgbClr val="FF0000"/>
              </a:solidFill>
              <a:latin typeface="Quicksand" panose="00000500000000000000" charset="0"/>
              <a:cs typeface="Quicksand" panose="00000500000000000000"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1"/>
          <a:stretch>
            <a:fillRect/>
          </a:stretch>
        </p:blipFill>
        <p:spPr>
          <a:xfrm>
            <a:off x="2606893" y="1417638"/>
            <a:ext cx="3771900" cy="5092065"/>
          </a:xfrm>
          <a:prstGeom prst="rect">
            <a:avLst/>
          </a:prstGeom>
        </p:spPr>
      </p:pic>
      <p:sp>
        <p:nvSpPr>
          <p:cNvPr id="6" name="Titre 1"/>
          <p:cNvSpPr>
            <a:spLocks noGrp="1"/>
          </p:cNvSpPr>
          <p:nvPr>
            <p:ph type="title"/>
          </p:nvPr>
        </p:nvSpPr>
        <p:spPr>
          <a:xfrm>
            <a:off x="299172" y="274638"/>
            <a:ext cx="8539889" cy="1143000"/>
          </a:xfrm>
        </p:spPr>
        <p:txBody>
          <a:bodyPr>
            <a:normAutofit fontScale="90000"/>
          </a:bodyPr>
          <a:lstStyle/>
          <a:p>
            <a:r>
              <a:rPr lang="fr-FR" dirty="0" smtClean="0">
                <a:solidFill>
                  <a:srgbClr val="FF0000"/>
                </a:solidFill>
                <a:latin typeface="Quicksand" panose="00000500000000000000" charset="0"/>
                <a:cs typeface="Quicksand" panose="00000500000000000000" charset="0"/>
              </a:rPr>
              <a:t>Eléments structuraux d’un dolmen</a:t>
            </a:r>
            <a:endParaRPr lang="fr-FR" dirty="0" smtClean="0">
              <a:solidFill>
                <a:srgbClr val="FF0000"/>
              </a:solidFill>
              <a:latin typeface="Quicksand" panose="00000500000000000000" charset="0"/>
              <a:cs typeface="Quicksand" panose="00000500000000000000"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1"/>
          <a:stretch>
            <a:fillRect/>
          </a:stretch>
        </p:blipFill>
        <p:spPr>
          <a:xfrm>
            <a:off x="2723567" y="1417638"/>
            <a:ext cx="3771900" cy="5092065"/>
          </a:xfrm>
          <a:prstGeom prst="rect">
            <a:avLst/>
          </a:prstGeom>
        </p:spPr>
      </p:pic>
      <p:sp>
        <p:nvSpPr>
          <p:cNvPr id="5" name="Titre 1"/>
          <p:cNvSpPr>
            <a:spLocks noGrp="1"/>
          </p:cNvSpPr>
          <p:nvPr>
            <p:ph type="title"/>
          </p:nvPr>
        </p:nvSpPr>
        <p:spPr>
          <a:xfrm>
            <a:off x="299172" y="274638"/>
            <a:ext cx="8539889" cy="1143000"/>
          </a:xfrm>
        </p:spPr>
        <p:txBody>
          <a:bodyPr>
            <a:normAutofit fontScale="90000"/>
          </a:bodyPr>
          <a:lstStyle/>
          <a:p>
            <a:r>
              <a:rPr lang="fr-FR" dirty="0" smtClean="0">
                <a:solidFill>
                  <a:srgbClr val="FF0000"/>
                </a:solidFill>
                <a:latin typeface="Quicksand" panose="00000500000000000000" charset="0"/>
                <a:cs typeface="Quicksand" panose="00000500000000000000" charset="0"/>
              </a:rPr>
              <a:t>Eléments structuraux d’un dolmen</a:t>
            </a:r>
            <a:endParaRPr lang="fr-FR" dirty="0" smtClean="0">
              <a:solidFill>
                <a:srgbClr val="FF0000"/>
              </a:solidFill>
              <a:latin typeface="Quicksand" panose="00000500000000000000" charset="0"/>
              <a:cs typeface="Quicksand" panose="00000500000000000000"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1"/>
          <a:stretch>
            <a:fillRect/>
          </a:stretch>
        </p:blipFill>
        <p:spPr>
          <a:xfrm>
            <a:off x="2690439" y="1417638"/>
            <a:ext cx="3771900" cy="5092065"/>
          </a:xfrm>
          <a:prstGeom prst="rect">
            <a:avLst/>
          </a:prstGeom>
        </p:spPr>
      </p:pic>
      <p:sp>
        <p:nvSpPr>
          <p:cNvPr id="5" name="Titre 1"/>
          <p:cNvSpPr>
            <a:spLocks noGrp="1"/>
          </p:cNvSpPr>
          <p:nvPr>
            <p:ph type="title"/>
          </p:nvPr>
        </p:nvSpPr>
        <p:spPr>
          <a:xfrm>
            <a:off x="299172" y="274638"/>
            <a:ext cx="8539889" cy="1143000"/>
          </a:xfrm>
        </p:spPr>
        <p:txBody>
          <a:bodyPr>
            <a:normAutofit fontScale="90000"/>
          </a:bodyPr>
          <a:lstStyle/>
          <a:p>
            <a:r>
              <a:rPr lang="fr-FR" dirty="0" smtClean="0">
                <a:solidFill>
                  <a:srgbClr val="FF0000"/>
                </a:solidFill>
                <a:latin typeface="Quicksand" panose="00000500000000000000" charset="0"/>
                <a:cs typeface="Quicksand" panose="00000500000000000000" charset="0"/>
              </a:rPr>
              <a:t>Eléments structuraux d’un dolmen</a:t>
            </a:r>
            <a:endParaRPr lang="fr-FR" dirty="0" smtClean="0">
              <a:solidFill>
                <a:srgbClr val="FF0000"/>
              </a:solidFill>
              <a:latin typeface="Quicksand" panose="00000500000000000000" charset="0"/>
              <a:cs typeface="Quicksand" panose="00000500000000000000"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1"/>
          <a:stretch>
            <a:fillRect/>
          </a:stretch>
        </p:blipFill>
        <p:spPr>
          <a:xfrm>
            <a:off x="2690439" y="1417638"/>
            <a:ext cx="3771900" cy="5092065"/>
          </a:xfrm>
          <a:prstGeom prst="rect">
            <a:avLst/>
          </a:prstGeom>
        </p:spPr>
      </p:pic>
      <p:sp>
        <p:nvSpPr>
          <p:cNvPr id="5" name="Titre 1"/>
          <p:cNvSpPr>
            <a:spLocks noGrp="1"/>
          </p:cNvSpPr>
          <p:nvPr>
            <p:ph type="title"/>
          </p:nvPr>
        </p:nvSpPr>
        <p:spPr>
          <a:xfrm>
            <a:off x="299172" y="274638"/>
            <a:ext cx="8539889" cy="1143000"/>
          </a:xfrm>
        </p:spPr>
        <p:txBody>
          <a:bodyPr>
            <a:normAutofit fontScale="90000"/>
          </a:bodyPr>
          <a:lstStyle/>
          <a:p>
            <a:r>
              <a:rPr lang="fr-FR" dirty="0" smtClean="0">
                <a:solidFill>
                  <a:srgbClr val="FF0000"/>
                </a:solidFill>
                <a:latin typeface="Futura Std Medium"/>
                <a:cs typeface="Futura Std Medium"/>
              </a:rPr>
              <a:t>Eléments structuraux d’un dolmen</a:t>
            </a:r>
            <a:endParaRPr lang="fr-FR" dirty="0">
              <a:solidFill>
                <a:srgbClr val="FF0000"/>
              </a:solidFill>
              <a:latin typeface="Futura Std Medium"/>
              <a:cs typeface="Futura Std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1"/>
          <a:stretch>
            <a:fillRect/>
          </a:stretch>
        </p:blipFill>
        <p:spPr>
          <a:xfrm>
            <a:off x="2690439" y="1417638"/>
            <a:ext cx="3771900" cy="5092065"/>
          </a:xfrm>
          <a:prstGeom prst="rect">
            <a:avLst/>
          </a:prstGeom>
        </p:spPr>
      </p:pic>
      <p:sp>
        <p:nvSpPr>
          <p:cNvPr id="5" name="Titre 1"/>
          <p:cNvSpPr>
            <a:spLocks noGrp="1"/>
          </p:cNvSpPr>
          <p:nvPr>
            <p:ph type="title"/>
          </p:nvPr>
        </p:nvSpPr>
        <p:spPr>
          <a:xfrm>
            <a:off x="299172" y="274638"/>
            <a:ext cx="8539889" cy="1143000"/>
          </a:xfrm>
        </p:spPr>
        <p:txBody>
          <a:bodyPr>
            <a:normAutofit fontScale="90000"/>
          </a:bodyPr>
          <a:lstStyle/>
          <a:p>
            <a:r>
              <a:rPr lang="fr-FR" dirty="0" smtClean="0">
                <a:solidFill>
                  <a:srgbClr val="FF0000"/>
                </a:solidFill>
                <a:latin typeface="Quicksand" panose="00000500000000000000" charset="0"/>
                <a:cs typeface="Quicksand" panose="00000500000000000000" charset="0"/>
              </a:rPr>
              <a:t>Eléments structuraux d’un dolmen</a:t>
            </a:r>
            <a:endParaRPr lang="fr-FR" dirty="0" smtClean="0">
              <a:solidFill>
                <a:srgbClr val="FF0000"/>
              </a:solidFill>
              <a:latin typeface="Quicksand" panose="00000500000000000000" charset="0"/>
              <a:cs typeface="Quicksand" panose="00000500000000000000"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1"/>
          <a:stretch>
            <a:fillRect/>
          </a:stretch>
        </p:blipFill>
        <p:spPr>
          <a:xfrm>
            <a:off x="2690439" y="1417638"/>
            <a:ext cx="3771900" cy="5092065"/>
          </a:xfrm>
          <a:prstGeom prst="rect">
            <a:avLst/>
          </a:prstGeom>
        </p:spPr>
      </p:pic>
      <p:sp>
        <p:nvSpPr>
          <p:cNvPr id="5" name="Titre 1"/>
          <p:cNvSpPr>
            <a:spLocks noGrp="1"/>
          </p:cNvSpPr>
          <p:nvPr>
            <p:ph type="title"/>
          </p:nvPr>
        </p:nvSpPr>
        <p:spPr>
          <a:xfrm>
            <a:off x="299172" y="274638"/>
            <a:ext cx="8539889" cy="1143000"/>
          </a:xfrm>
        </p:spPr>
        <p:txBody>
          <a:bodyPr>
            <a:normAutofit fontScale="90000"/>
          </a:bodyPr>
          <a:lstStyle/>
          <a:p>
            <a:r>
              <a:rPr lang="fr-FR" dirty="0" smtClean="0">
                <a:solidFill>
                  <a:srgbClr val="FF0000"/>
                </a:solidFill>
                <a:latin typeface="Quicksand" panose="00000500000000000000" charset="0"/>
                <a:cs typeface="Quicksand" panose="00000500000000000000" charset="0"/>
              </a:rPr>
              <a:t>Eléments structuraux d’un dolmen</a:t>
            </a:r>
            <a:endParaRPr lang="fr-FR" dirty="0" smtClean="0">
              <a:solidFill>
                <a:srgbClr val="FF0000"/>
              </a:solidFill>
              <a:latin typeface="Quicksand" panose="00000500000000000000" charset="0"/>
              <a:cs typeface="Quicksand" panose="00000500000000000000"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299172" y="274638"/>
            <a:ext cx="8539889" cy="1143000"/>
          </a:xfrm>
        </p:spPr>
        <p:txBody>
          <a:bodyPr>
            <a:normAutofit/>
          </a:bodyPr>
          <a:lstStyle/>
          <a:p>
            <a:r>
              <a:rPr lang="fr-FR" dirty="0" smtClean="0">
                <a:solidFill>
                  <a:srgbClr val="FF0000"/>
                </a:solidFill>
                <a:latin typeface="Quicksand" panose="00000500000000000000" charset="0"/>
                <a:cs typeface="Quicksand" panose="00000500000000000000" charset="0"/>
              </a:rPr>
              <a:t>Dolmen sous cairn</a:t>
            </a:r>
            <a:endParaRPr lang="fr-FR" dirty="0" smtClean="0">
              <a:solidFill>
                <a:srgbClr val="FF0000"/>
              </a:solidFill>
              <a:latin typeface="Quicksand" panose="00000500000000000000" charset="0"/>
              <a:cs typeface="Quicksand" panose="00000500000000000000" charset="0"/>
            </a:endParaRPr>
          </a:p>
        </p:txBody>
      </p:sp>
      <p:pic>
        <p:nvPicPr>
          <p:cNvPr id="5" name="Image 4" descr="dolmen 1.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3152" y="2623404"/>
            <a:ext cx="8997696" cy="4023360"/>
          </a:xfrm>
          <a:prstGeom prst="rect">
            <a:avLst/>
          </a:prstGeom>
        </p:spPr>
      </p:pic>
      <p:sp>
        <p:nvSpPr>
          <p:cNvPr id="6" name="Rectangle 5"/>
          <p:cNvSpPr/>
          <p:nvPr/>
        </p:nvSpPr>
        <p:spPr>
          <a:xfrm>
            <a:off x="299171" y="1417638"/>
            <a:ext cx="8539889" cy="1508105"/>
          </a:xfrm>
          <a:prstGeom prst="rect">
            <a:avLst/>
          </a:prstGeom>
        </p:spPr>
        <p:txBody>
          <a:bodyPr wrap="square">
            <a:spAutoFit/>
          </a:bodyPr>
          <a:lstStyle/>
          <a:p>
            <a:r>
              <a:rPr lang="fr-FR" b="1" dirty="0" smtClean="0">
                <a:latin typeface="Arial" panose="020B0604020202020204"/>
                <a:cs typeface="Arial" panose="020B0604020202020204"/>
              </a:rPr>
              <a:t>CARACTÉRISTIQUES</a:t>
            </a:r>
            <a:br>
              <a:rPr lang="fr-FR" dirty="0">
                <a:latin typeface="Arial" panose="020B0604020202020204"/>
                <a:cs typeface="Arial" panose="020B0604020202020204"/>
              </a:rPr>
            </a:br>
            <a:r>
              <a:rPr lang="fr-FR" dirty="0">
                <a:latin typeface="Arial" panose="020B0604020202020204"/>
                <a:cs typeface="Arial" panose="020B0604020202020204"/>
              </a:rPr>
              <a:t>• Chambre funéraire surmontée par un tumulus de pierres sèches (pierre de réemploi, pas de pierre appareillée).</a:t>
            </a:r>
            <a:endParaRPr lang="fr-FR" dirty="0">
              <a:latin typeface="Arial" panose="020B0604020202020204"/>
              <a:cs typeface="Arial" panose="020B0604020202020204"/>
            </a:endParaRPr>
          </a:p>
          <a:p>
            <a:r>
              <a:rPr lang="fr-FR" dirty="0">
                <a:latin typeface="Arial" panose="020B0604020202020204"/>
                <a:cs typeface="Arial" panose="020B0604020202020204"/>
              </a:rPr>
              <a:t>• Utilisation sur de longues périodes, soit reprise et </a:t>
            </a:r>
            <a:r>
              <a:rPr lang="fr-FR">
                <a:latin typeface="Arial" panose="020B0604020202020204"/>
                <a:cs typeface="Arial" panose="020B0604020202020204"/>
              </a:rPr>
              <a:t>réutilisation</a:t>
            </a:r>
            <a:r>
              <a:rPr lang="fr-FR" smtClean="0">
                <a:latin typeface="Arial" panose="020B0604020202020204"/>
                <a:cs typeface="Arial" panose="020B0604020202020204"/>
              </a:rPr>
              <a:t>.</a:t>
            </a:r>
            <a:endParaRPr lang="fr-FR" dirty="0" smtClean="0">
              <a:latin typeface="Arial" panose="020B0604020202020204"/>
              <a:cs typeface="Arial" panose="020B0604020202020204"/>
            </a:endParaRPr>
          </a:p>
          <a:p>
            <a:endParaRPr lang="fr-FR" sz="2000" dirty="0">
              <a:latin typeface="Arial" panose="020B0604020202020204"/>
              <a:cs typeface="Arial" panose="020B06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dolmen 2.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9172" y="3196948"/>
            <a:ext cx="8583168" cy="3157728"/>
          </a:xfrm>
          <a:prstGeom prst="rect">
            <a:avLst/>
          </a:prstGeom>
        </p:spPr>
      </p:pic>
      <p:sp>
        <p:nvSpPr>
          <p:cNvPr id="5" name="Titre 1"/>
          <p:cNvSpPr>
            <a:spLocks noGrp="1"/>
          </p:cNvSpPr>
          <p:nvPr>
            <p:ph type="title"/>
          </p:nvPr>
        </p:nvSpPr>
        <p:spPr>
          <a:xfrm>
            <a:off x="299172" y="274638"/>
            <a:ext cx="8539889" cy="1143000"/>
          </a:xfrm>
        </p:spPr>
        <p:txBody>
          <a:bodyPr>
            <a:normAutofit fontScale="90000"/>
          </a:bodyPr>
          <a:lstStyle/>
          <a:p>
            <a:r>
              <a:rPr lang="fr-FR" dirty="0" smtClean="0">
                <a:solidFill>
                  <a:srgbClr val="FF0000"/>
                </a:solidFill>
                <a:latin typeface="Quicksand" panose="00000500000000000000" charset="0"/>
                <a:cs typeface="Quicksand" panose="00000500000000000000" charset="0"/>
              </a:rPr>
              <a:t>Tertres à coffre et dalle </a:t>
            </a:r>
            <a:br>
              <a:rPr lang="fr-FR" dirty="0" smtClean="0">
                <a:latin typeface="Quicksand" panose="00000500000000000000" charset="0"/>
                <a:cs typeface="Quicksand" panose="00000500000000000000" charset="0"/>
              </a:rPr>
            </a:br>
            <a:endParaRPr lang="fr-FR" dirty="0">
              <a:solidFill>
                <a:srgbClr val="FF0000"/>
              </a:solidFill>
              <a:latin typeface="Quicksand" panose="00000500000000000000" charset="0"/>
              <a:cs typeface="Quicksand" panose="00000500000000000000" charset="0"/>
            </a:endParaRPr>
          </a:p>
        </p:txBody>
      </p:sp>
      <p:sp>
        <p:nvSpPr>
          <p:cNvPr id="9" name="Rectangle 8"/>
          <p:cNvSpPr/>
          <p:nvPr/>
        </p:nvSpPr>
        <p:spPr>
          <a:xfrm>
            <a:off x="299171" y="1417638"/>
            <a:ext cx="8539889" cy="1959511"/>
          </a:xfrm>
          <a:prstGeom prst="rect">
            <a:avLst/>
          </a:prstGeom>
        </p:spPr>
        <p:txBody>
          <a:bodyPr wrap="square">
            <a:spAutoFit/>
          </a:bodyPr>
          <a:lstStyle/>
          <a:p>
            <a:r>
              <a:rPr lang="fr-FR" b="1" dirty="0" smtClean="0">
                <a:latin typeface="Arial" panose="020B0604020202020204"/>
                <a:cs typeface="Arial" panose="020B0604020202020204"/>
              </a:rPr>
              <a:t>CARACTÉRISTIQUES</a:t>
            </a:r>
            <a:endParaRPr lang="fr-FR" b="1" dirty="0" smtClean="0">
              <a:latin typeface="Arial" panose="020B0604020202020204"/>
              <a:cs typeface="Arial" panose="020B0604020202020204"/>
            </a:endParaRPr>
          </a:p>
          <a:p>
            <a:pPr marL="285750" indent="-285750">
              <a:buFont typeface="Arial" panose="020B0604020202020204"/>
              <a:buChar char="•"/>
            </a:pPr>
            <a:r>
              <a:rPr lang="fr-FR" dirty="0" smtClean="0">
                <a:latin typeface="Arial" panose="020B0604020202020204"/>
                <a:cs typeface="Arial" panose="020B0604020202020204"/>
              </a:rPr>
              <a:t>Transition </a:t>
            </a:r>
            <a:r>
              <a:rPr lang="fr-FR" dirty="0">
                <a:latin typeface="Arial" panose="020B0604020202020204"/>
                <a:cs typeface="Arial" panose="020B0604020202020204"/>
              </a:rPr>
              <a:t>avec les </a:t>
            </a:r>
            <a:r>
              <a:rPr lang="fr-FR" dirty="0" smtClean="0">
                <a:latin typeface="Arial" panose="020B0604020202020204"/>
                <a:cs typeface="Arial" panose="020B0604020202020204"/>
              </a:rPr>
              <a:t>sépultures </a:t>
            </a:r>
            <a:r>
              <a:rPr lang="fr-FR" dirty="0">
                <a:latin typeface="Arial" panose="020B0604020202020204"/>
                <a:cs typeface="Arial" panose="020B0604020202020204"/>
              </a:rPr>
              <a:t>du </a:t>
            </a:r>
            <a:r>
              <a:rPr lang="fr-FR" dirty="0" smtClean="0">
                <a:latin typeface="Arial" panose="020B0604020202020204"/>
                <a:cs typeface="Arial" panose="020B0604020202020204"/>
              </a:rPr>
              <a:t>mésolithique </a:t>
            </a:r>
            <a:r>
              <a:rPr lang="fr-FR" dirty="0">
                <a:latin typeface="Arial" panose="020B0604020202020204"/>
                <a:cs typeface="Arial" panose="020B0604020202020204"/>
              </a:rPr>
              <a:t>(</a:t>
            </a:r>
            <a:r>
              <a:rPr lang="fr-FR" b="1" dirty="0" smtClean="0">
                <a:latin typeface="Arial" panose="020B0604020202020204"/>
                <a:cs typeface="Arial" panose="020B0604020202020204"/>
              </a:rPr>
              <a:t>V</a:t>
            </a:r>
            <a:r>
              <a:rPr lang="fr-FR" b="1" baseline="30000" dirty="0" smtClean="0">
                <a:latin typeface="Arial" panose="020B0604020202020204"/>
                <a:cs typeface="Arial" panose="020B0604020202020204"/>
              </a:rPr>
              <a:t>e </a:t>
            </a:r>
            <a:r>
              <a:rPr lang="fr-FR" b="1" dirty="0" smtClean="0">
                <a:latin typeface="Arial" panose="020B0604020202020204"/>
                <a:cs typeface="Arial" panose="020B0604020202020204"/>
              </a:rPr>
              <a:t>millénaire </a:t>
            </a:r>
            <a:r>
              <a:rPr lang="fr-FR" b="1" dirty="0">
                <a:latin typeface="Arial" panose="020B0604020202020204"/>
                <a:cs typeface="Arial" panose="020B0604020202020204"/>
              </a:rPr>
              <a:t>av. JC </a:t>
            </a:r>
            <a:r>
              <a:rPr lang="fr-FR" dirty="0" smtClean="0">
                <a:latin typeface="Arial" panose="020B0604020202020204"/>
                <a:cs typeface="Arial" panose="020B0604020202020204"/>
              </a:rPr>
              <a:t>). </a:t>
            </a:r>
            <a:endParaRPr lang="fr-FR" dirty="0">
              <a:latin typeface="Arial" panose="020B0604020202020204"/>
              <a:cs typeface="Arial" panose="020B0604020202020204"/>
            </a:endParaRPr>
          </a:p>
          <a:p>
            <a:pPr marL="285750" indent="-285750">
              <a:buFont typeface="Arial" panose="020B0604020202020204"/>
              <a:buChar char="•"/>
            </a:pPr>
            <a:r>
              <a:rPr lang="fr-FR" dirty="0">
                <a:latin typeface="Arial" panose="020B0604020202020204"/>
                <a:cs typeface="Arial" panose="020B0604020202020204"/>
              </a:rPr>
              <a:t>Pas de chambre </a:t>
            </a:r>
            <a:r>
              <a:rPr lang="fr-FR" dirty="0" smtClean="0">
                <a:latin typeface="Arial" panose="020B0604020202020204"/>
                <a:cs typeface="Arial" panose="020B0604020202020204"/>
              </a:rPr>
              <a:t>funéraire </a:t>
            </a:r>
            <a:r>
              <a:rPr lang="fr-FR" dirty="0">
                <a:latin typeface="Arial" panose="020B0604020202020204"/>
                <a:cs typeface="Arial" panose="020B0604020202020204"/>
              </a:rPr>
              <a:t>: coffre de quelques pierres (ou </a:t>
            </a:r>
            <a:r>
              <a:rPr lang="fr-FR" dirty="0" smtClean="0">
                <a:latin typeface="Arial" panose="020B0604020202020204"/>
                <a:cs typeface="Arial" panose="020B0604020202020204"/>
              </a:rPr>
              <a:t>cavité creusée </a:t>
            </a:r>
            <a:r>
              <a:rPr lang="fr-FR" dirty="0">
                <a:latin typeface="Arial" panose="020B0604020202020204"/>
                <a:cs typeface="Arial" panose="020B0604020202020204"/>
              </a:rPr>
              <a:t>dans la </a:t>
            </a:r>
            <a:r>
              <a:rPr lang="fr-FR" dirty="0" smtClean="0">
                <a:latin typeface="Arial" panose="020B0604020202020204"/>
                <a:cs typeface="Arial" panose="020B0604020202020204"/>
              </a:rPr>
              <a:t>terre </a:t>
            </a:r>
            <a:r>
              <a:rPr lang="fr-FR" dirty="0">
                <a:latin typeface="Arial" panose="020B0604020202020204"/>
                <a:cs typeface="Arial" panose="020B0604020202020204"/>
              </a:rPr>
              <a:t>surmonté d’une dalle) recouvert de </a:t>
            </a:r>
            <a:r>
              <a:rPr lang="fr-FR" dirty="0" smtClean="0">
                <a:latin typeface="Arial" panose="020B0604020202020204"/>
                <a:cs typeface="Arial" panose="020B0604020202020204"/>
              </a:rPr>
              <a:t>pierre. </a:t>
            </a:r>
            <a:endParaRPr lang="fr-FR" dirty="0" smtClean="0">
              <a:latin typeface="Arial" panose="020B0604020202020204"/>
              <a:cs typeface="Arial" panose="020B0604020202020204"/>
            </a:endParaRPr>
          </a:p>
          <a:p>
            <a:pPr marL="285750" indent="-285750">
              <a:buFont typeface="Arial" panose="020B0604020202020204"/>
              <a:buChar char="•"/>
            </a:pPr>
            <a:r>
              <a:rPr lang="fr-FR" dirty="0">
                <a:latin typeface="Arial" panose="020B0604020202020204"/>
                <a:cs typeface="Arial" panose="020B0604020202020204"/>
              </a:rPr>
              <a:t>Pas </a:t>
            </a:r>
            <a:r>
              <a:rPr lang="fr-FR" dirty="0" smtClean="0">
                <a:latin typeface="Arial" panose="020B0604020202020204"/>
                <a:cs typeface="Arial" panose="020B0604020202020204"/>
              </a:rPr>
              <a:t>d’accès </a:t>
            </a:r>
            <a:r>
              <a:rPr lang="fr-FR" dirty="0">
                <a:latin typeface="Arial" panose="020B0604020202020204"/>
                <a:cs typeface="Arial" panose="020B0604020202020204"/>
              </a:rPr>
              <a:t>à la </a:t>
            </a:r>
            <a:r>
              <a:rPr lang="fr-FR" dirty="0" smtClean="0">
                <a:latin typeface="Arial" panose="020B0604020202020204"/>
                <a:cs typeface="Arial" panose="020B0604020202020204"/>
              </a:rPr>
              <a:t>sépulture, </a:t>
            </a:r>
            <a:r>
              <a:rPr lang="fr-FR" dirty="0">
                <a:latin typeface="Arial" panose="020B0604020202020204"/>
                <a:cs typeface="Arial" panose="020B0604020202020204"/>
              </a:rPr>
              <a:t>ou du moins fermé </a:t>
            </a:r>
            <a:r>
              <a:rPr lang="fr-FR" dirty="0" smtClean="0">
                <a:latin typeface="Arial" panose="020B0604020202020204"/>
                <a:cs typeface="Arial" panose="020B0604020202020204"/>
              </a:rPr>
              <a:t>depuis. </a:t>
            </a:r>
            <a:endParaRPr lang="fr-FR" dirty="0">
              <a:latin typeface="Arial" panose="020B0604020202020204"/>
              <a:cs typeface="Arial" panose="020B0604020202020204"/>
            </a:endParaRPr>
          </a:p>
          <a:p>
            <a:pPr marL="285750" indent="-285750">
              <a:buFont typeface="Arial" panose="020B0604020202020204"/>
              <a:buChar char="•"/>
            </a:pPr>
            <a:r>
              <a:rPr lang="fr-FR" dirty="0">
                <a:latin typeface="Arial" panose="020B0604020202020204"/>
                <a:cs typeface="Arial" panose="020B0604020202020204"/>
              </a:rPr>
              <a:t>Forme circulaire ou </a:t>
            </a:r>
            <a:r>
              <a:rPr lang="fr-FR" dirty="0" smtClean="0">
                <a:latin typeface="Arial" panose="020B0604020202020204"/>
                <a:cs typeface="Arial" panose="020B0604020202020204"/>
              </a:rPr>
              <a:t>trapézoïdale </a:t>
            </a:r>
            <a:r>
              <a:rPr lang="fr-FR" dirty="0">
                <a:latin typeface="Arial" panose="020B0604020202020204"/>
                <a:cs typeface="Arial" panose="020B0604020202020204"/>
              </a:rPr>
              <a:t>souvent </a:t>
            </a:r>
            <a:r>
              <a:rPr lang="fr-FR" dirty="0" smtClean="0">
                <a:latin typeface="Arial" panose="020B0604020202020204"/>
                <a:cs typeface="Arial" panose="020B0604020202020204"/>
              </a:rPr>
              <a:t>très allongée. </a:t>
            </a:r>
            <a:endParaRPr lang="fr-FR" dirty="0">
              <a:latin typeface="Arial" panose="020B0604020202020204"/>
              <a:cs typeface="Arial" panose="020B0604020202020204"/>
            </a:endParaRPr>
          </a:p>
          <a:p>
            <a:pPr marL="342900" indent="-342900">
              <a:buFont typeface="Arial" panose="020B0604020202020204"/>
              <a:buChar char="•"/>
            </a:pPr>
            <a:endParaRPr lang="fr-FR" sz="2000" b="1" baseline="30000" dirty="0" smtClean="0">
              <a:latin typeface="Arial" panose="020B0604020202020204"/>
              <a:cs typeface="Arial" panose="020B0604020202020204"/>
            </a:endParaRPr>
          </a:p>
        </p:txBody>
      </p:sp>
      <p:sp>
        <p:nvSpPr>
          <p:cNvPr id="10" name="Rectangle 9"/>
          <p:cNvSpPr/>
          <p:nvPr/>
        </p:nvSpPr>
        <p:spPr>
          <a:xfrm>
            <a:off x="480820" y="6351382"/>
            <a:ext cx="4712160" cy="307777"/>
          </a:xfrm>
          <a:prstGeom prst="rect">
            <a:avLst/>
          </a:prstGeom>
        </p:spPr>
        <p:txBody>
          <a:bodyPr wrap="none">
            <a:spAutoFit/>
          </a:bodyPr>
          <a:lstStyle/>
          <a:p>
            <a:r>
              <a:rPr lang="ro-RO" sz="1400" i="1" dirty="0" smtClean="0"/>
              <a:t>Tumulus de Tumiac, Bretagne, érigé </a:t>
            </a:r>
            <a:r>
              <a:rPr lang="fr-FR" sz="1400" i="1" dirty="0" smtClean="0"/>
              <a:t>entre 4790 et 7530 av. JC.</a:t>
            </a:r>
            <a:endParaRPr lang="fr-FR" sz="1400" i="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299172" y="274638"/>
            <a:ext cx="8539889" cy="1143000"/>
          </a:xfrm>
        </p:spPr>
        <p:txBody>
          <a:bodyPr>
            <a:normAutofit fontScale="90000"/>
          </a:bodyPr>
          <a:lstStyle/>
          <a:p>
            <a:r>
              <a:rPr lang="fr-FR" dirty="0" smtClean="0">
                <a:solidFill>
                  <a:srgbClr val="FF0000"/>
                </a:solidFill>
                <a:latin typeface="Quicksand" panose="00000500000000000000" charset="0"/>
                <a:cs typeface="Quicksand" panose="00000500000000000000" charset="0"/>
              </a:rPr>
              <a:t>Dolmen à couloir et à chambre simple</a:t>
            </a:r>
            <a:endParaRPr lang="fr-FR" dirty="0" smtClean="0">
              <a:solidFill>
                <a:srgbClr val="FF0000"/>
              </a:solidFill>
              <a:latin typeface="Quicksand" panose="00000500000000000000" charset="0"/>
              <a:cs typeface="Quicksand" panose="00000500000000000000" charset="0"/>
            </a:endParaRPr>
          </a:p>
        </p:txBody>
      </p:sp>
      <p:sp>
        <p:nvSpPr>
          <p:cNvPr id="5" name="Rectangle 4"/>
          <p:cNvSpPr/>
          <p:nvPr/>
        </p:nvSpPr>
        <p:spPr>
          <a:xfrm>
            <a:off x="299171" y="1417638"/>
            <a:ext cx="8539889" cy="1805622"/>
          </a:xfrm>
          <a:prstGeom prst="rect">
            <a:avLst/>
          </a:prstGeom>
        </p:spPr>
        <p:txBody>
          <a:bodyPr wrap="square">
            <a:spAutoFit/>
          </a:bodyPr>
          <a:lstStyle/>
          <a:p>
            <a:r>
              <a:rPr lang="fr-FR" b="1" dirty="0" smtClean="0">
                <a:latin typeface="Arial" panose="020B0604020202020204"/>
                <a:cs typeface="Arial" panose="020B0604020202020204"/>
              </a:rPr>
              <a:t>CARACTÉRISTIQUES</a:t>
            </a:r>
            <a:endParaRPr lang="fr-FR" b="1" dirty="0" smtClean="0">
              <a:latin typeface="Arial" panose="020B0604020202020204"/>
              <a:cs typeface="Arial" panose="020B0604020202020204"/>
            </a:endParaRPr>
          </a:p>
          <a:p>
            <a:pPr marL="342900" indent="-342900">
              <a:buFont typeface="Arial" panose="020B0604020202020204"/>
              <a:buChar char="•"/>
            </a:pPr>
            <a:r>
              <a:rPr lang="fr-FR" sz="2000" dirty="0" smtClean="0"/>
              <a:t>« </a:t>
            </a:r>
            <a:r>
              <a:rPr lang="fr-FR" sz="2000" dirty="0"/>
              <a:t>Prototype » du </a:t>
            </a:r>
            <a:r>
              <a:rPr lang="fr-FR" sz="2000" dirty="0" smtClean="0"/>
              <a:t>mégalithisme </a:t>
            </a:r>
            <a:r>
              <a:rPr lang="fr-FR" sz="2000" dirty="0"/>
              <a:t>au </a:t>
            </a:r>
            <a:r>
              <a:rPr lang="fr-FR" sz="2000" dirty="0" smtClean="0"/>
              <a:t>néolithique </a:t>
            </a:r>
            <a:r>
              <a:rPr lang="fr-FR" sz="2000" dirty="0"/>
              <a:t>(</a:t>
            </a:r>
            <a:r>
              <a:rPr lang="fr-FR" sz="2000" b="1" dirty="0"/>
              <a:t>- 4750 à - 3250</a:t>
            </a:r>
            <a:r>
              <a:rPr lang="fr-FR" sz="2000" dirty="0"/>
              <a:t>) </a:t>
            </a:r>
            <a:endParaRPr lang="fr-FR" sz="2000" dirty="0" smtClean="0"/>
          </a:p>
          <a:p>
            <a:pPr marL="342900" indent="-342900">
              <a:buFont typeface="Arial" panose="020B0604020202020204"/>
              <a:buChar char="•"/>
            </a:pPr>
            <a:r>
              <a:rPr lang="fr-FR" sz="2000" dirty="0" smtClean="0"/>
              <a:t>Vraie </a:t>
            </a:r>
            <a:r>
              <a:rPr lang="fr-FR" sz="2000" dirty="0"/>
              <a:t>chambre </a:t>
            </a:r>
            <a:r>
              <a:rPr lang="fr-FR" sz="2000" dirty="0" smtClean="0"/>
              <a:t>funéraire</a:t>
            </a:r>
            <a:endParaRPr lang="fr-FR" sz="2000" dirty="0" smtClean="0"/>
          </a:p>
          <a:p>
            <a:pPr marL="342900" indent="-342900">
              <a:buFont typeface="Arial" panose="020B0604020202020204"/>
              <a:buChar char="•"/>
            </a:pPr>
            <a:r>
              <a:rPr lang="fr-FR" sz="2000" dirty="0" smtClean="0"/>
              <a:t>Accès </a:t>
            </a:r>
            <a:r>
              <a:rPr lang="fr-FR" sz="2000" dirty="0"/>
              <a:t>à la chambre : couloir et dispositif de </a:t>
            </a:r>
            <a:r>
              <a:rPr lang="fr-FR" sz="2000" dirty="0" smtClean="0"/>
              <a:t>fermeture</a:t>
            </a:r>
            <a:endParaRPr lang="fr-FR" sz="2000" dirty="0" smtClean="0"/>
          </a:p>
          <a:p>
            <a:pPr marL="342900" indent="-342900">
              <a:buFont typeface="Arial" panose="020B0604020202020204"/>
              <a:buChar char="•"/>
            </a:pPr>
            <a:r>
              <a:rPr lang="fr-FR" sz="2000" dirty="0" smtClean="0"/>
              <a:t>Grands </a:t>
            </a:r>
            <a:r>
              <a:rPr lang="fr-FR" sz="2000" dirty="0"/>
              <a:t>monolithes pour les murs et la couverture </a:t>
            </a:r>
            <a:r>
              <a:rPr lang="fr-FR" sz="2000" dirty="0" smtClean="0"/>
              <a:t>intérieure </a:t>
            </a:r>
            <a:endParaRPr lang="fr-FR" sz="2000" dirty="0" smtClean="0"/>
          </a:p>
          <a:p>
            <a:pPr marL="342900" indent="-342900">
              <a:buFont typeface="Arial" panose="020B0604020202020204"/>
              <a:buChar char="•"/>
            </a:pPr>
            <a:endParaRPr lang="fr-FR" sz="2000" b="1" baseline="30000" dirty="0" smtClean="0">
              <a:latin typeface="Arial" panose="020B0604020202020204"/>
              <a:cs typeface="Arial" panose="020B0604020202020204"/>
            </a:endParaRPr>
          </a:p>
        </p:txBody>
      </p:sp>
      <p:pic>
        <p:nvPicPr>
          <p:cNvPr id="6" name="Image 5" descr="Cairn_de_Kercado_plan.p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36740" y="3571538"/>
            <a:ext cx="2054860" cy="2054860"/>
          </a:xfrm>
          <a:prstGeom prst="rect">
            <a:avLst/>
          </a:prstGeom>
        </p:spPr>
      </p:pic>
      <p:pic>
        <p:nvPicPr>
          <p:cNvPr id="7" name="Image 6" descr="220px-Tumulus_de_Kercado,_Carnac.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0279" y="3463775"/>
            <a:ext cx="3258747" cy="2162623"/>
          </a:xfrm>
          <a:prstGeom prst="rect">
            <a:avLst/>
          </a:prstGeom>
        </p:spPr>
      </p:pic>
      <p:pic>
        <p:nvPicPr>
          <p:cNvPr id="8" name="Image 7" descr="Tumulus_de_Kercado_-_Carnac_-_Morbihan_-_France_-_Mérimée_PA00091139.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172" y="3463775"/>
            <a:ext cx="2875828" cy="2162623"/>
          </a:xfrm>
          <a:prstGeom prst="rect">
            <a:avLst/>
          </a:prstGeom>
        </p:spPr>
      </p:pic>
      <p:sp>
        <p:nvSpPr>
          <p:cNvPr id="10" name="Rectangle 9"/>
          <p:cNvSpPr/>
          <p:nvPr/>
        </p:nvSpPr>
        <p:spPr>
          <a:xfrm>
            <a:off x="299172" y="6190734"/>
            <a:ext cx="3613201" cy="307777"/>
          </a:xfrm>
          <a:prstGeom prst="rect">
            <a:avLst/>
          </a:prstGeom>
        </p:spPr>
        <p:txBody>
          <a:bodyPr wrap="none">
            <a:spAutoFit/>
          </a:bodyPr>
          <a:lstStyle/>
          <a:p>
            <a:r>
              <a:rPr lang="es-ES_tradnl" sz="1400" i="1" dirty="0" err="1" smtClean="0"/>
              <a:t>Cairn</a:t>
            </a:r>
            <a:r>
              <a:rPr lang="es-ES_tradnl" sz="1400" i="1" dirty="0" smtClean="0"/>
              <a:t> de </a:t>
            </a:r>
            <a:r>
              <a:rPr lang="es-ES_tradnl" sz="1400" i="1" dirty="0" err="1" smtClean="0"/>
              <a:t>Kercado</a:t>
            </a:r>
            <a:r>
              <a:rPr lang="es-ES_tradnl" sz="1400" i="1" dirty="0" smtClean="0"/>
              <a:t>, </a:t>
            </a:r>
            <a:r>
              <a:rPr lang="es-ES_tradnl" sz="1400" i="1" dirty="0" err="1" smtClean="0"/>
              <a:t>Bretagne</a:t>
            </a:r>
            <a:r>
              <a:rPr lang="es-ES_tradnl" sz="1400" i="1" dirty="0" smtClean="0"/>
              <a:t>,</a:t>
            </a:r>
            <a:r>
              <a:rPr lang="fr-FR" sz="1400" i="1" dirty="0" smtClean="0"/>
              <a:t> 5200 - 4360 av. JC</a:t>
            </a:r>
            <a:r>
              <a:rPr lang="es-ES_tradnl" sz="1400" i="1" dirty="0" smtClean="0"/>
              <a:t> </a:t>
            </a:r>
            <a:endParaRPr lang="es-ES_tradnl" sz="1400" i="1" dirty="0"/>
          </a:p>
        </p:txBody>
      </p:sp>
      <p:sp>
        <p:nvSpPr>
          <p:cNvPr id="11" name="Rectangle 10"/>
          <p:cNvSpPr/>
          <p:nvPr/>
        </p:nvSpPr>
        <p:spPr>
          <a:xfrm>
            <a:off x="1334755" y="5626398"/>
            <a:ext cx="671979" cy="307777"/>
          </a:xfrm>
          <a:prstGeom prst="rect">
            <a:avLst/>
          </a:prstGeom>
        </p:spPr>
        <p:txBody>
          <a:bodyPr wrap="none">
            <a:spAutoFit/>
          </a:bodyPr>
          <a:lstStyle/>
          <a:p>
            <a:r>
              <a:rPr lang="fr-FR" sz="1400" dirty="0"/>
              <a:t>E</a:t>
            </a:r>
            <a:r>
              <a:rPr lang="fr-FR" sz="1400" dirty="0" smtClean="0"/>
              <a:t>ntrée</a:t>
            </a:r>
            <a:endParaRPr lang="fr-FR" sz="1400" dirty="0"/>
          </a:p>
        </p:txBody>
      </p:sp>
      <p:sp>
        <p:nvSpPr>
          <p:cNvPr id="12" name="Rectangle 11"/>
          <p:cNvSpPr/>
          <p:nvPr/>
        </p:nvSpPr>
        <p:spPr>
          <a:xfrm>
            <a:off x="4778995" y="5624909"/>
            <a:ext cx="710451" cy="307777"/>
          </a:xfrm>
          <a:prstGeom prst="rect">
            <a:avLst/>
          </a:prstGeom>
        </p:spPr>
        <p:txBody>
          <a:bodyPr wrap="none">
            <a:spAutoFit/>
          </a:bodyPr>
          <a:lstStyle/>
          <a:p>
            <a:r>
              <a:rPr lang="fr-FR" sz="1400" dirty="0" smtClean="0"/>
              <a:t>Couloir</a:t>
            </a:r>
            <a:endParaRPr lang="fr-FR" sz="1400" dirty="0"/>
          </a:p>
        </p:txBody>
      </p:sp>
      <p:sp>
        <p:nvSpPr>
          <p:cNvPr id="13" name="Rectangle 12"/>
          <p:cNvSpPr/>
          <p:nvPr/>
        </p:nvSpPr>
        <p:spPr>
          <a:xfrm>
            <a:off x="7644115" y="5624909"/>
            <a:ext cx="498942" cy="307777"/>
          </a:xfrm>
          <a:prstGeom prst="rect">
            <a:avLst/>
          </a:prstGeom>
        </p:spPr>
        <p:txBody>
          <a:bodyPr wrap="none">
            <a:spAutoFit/>
          </a:bodyPr>
          <a:lstStyle/>
          <a:p>
            <a:r>
              <a:rPr lang="fr-FR" sz="1400" dirty="0" smtClean="0"/>
              <a:t>Plan</a:t>
            </a:r>
            <a:endParaRPr lang="fr-FR"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299172" y="274638"/>
            <a:ext cx="8539889" cy="1143000"/>
          </a:xfrm>
        </p:spPr>
        <p:txBody>
          <a:bodyPr>
            <a:normAutofit/>
          </a:bodyPr>
          <a:lstStyle/>
          <a:p>
            <a:r>
              <a:rPr lang="fr-FR" dirty="0" smtClean="0">
                <a:solidFill>
                  <a:srgbClr val="FF0000"/>
                </a:solidFill>
                <a:latin typeface="Quicksand" panose="00000500000000000000" charset="0"/>
                <a:cs typeface="Quicksand" panose="00000500000000000000" charset="0"/>
              </a:rPr>
              <a:t>Autre types de dolmen </a:t>
            </a:r>
            <a:r>
              <a:rPr lang="fr-FR" dirty="0">
                <a:solidFill>
                  <a:srgbClr val="FF0000"/>
                </a:solidFill>
                <a:latin typeface="Quicksand" panose="00000500000000000000" charset="0"/>
                <a:cs typeface="Quicksand" panose="00000500000000000000" charset="0"/>
              </a:rPr>
              <a:t>à</a:t>
            </a:r>
            <a:r>
              <a:rPr lang="fr-FR" dirty="0" smtClean="0">
                <a:solidFill>
                  <a:srgbClr val="FF0000"/>
                </a:solidFill>
                <a:latin typeface="Quicksand" panose="00000500000000000000" charset="0"/>
                <a:cs typeface="Quicksand" panose="00000500000000000000" charset="0"/>
              </a:rPr>
              <a:t> couloir </a:t>
            </a:r>
            <a:endParaRPr lang="fr-FR" dirty="0">
              <a:solidFill>
                <a:srgbClr val="FF0000"/>
              </a:solidFill>
              <a:latin typeface="Quicksand" panose="00000500000000000000" charset="0"/>
              <a:cs typeface="Quicksand" panose="00000500000000000000" charset="0"/>
            </a:endParaRPr>
          </a:p>
        </p:txBody>
      </p:sp>
      <p:sp>
        <p:nvSpPr>
          <p:cNvPr id="6" name="Rectangle 5"/>
          <p:cNvSpPr/>
          <p:nvPr/>
        </p:nvSpPr>
        <p:spPr>
          <a:xfrm>
            <a:off x="299171" y="1417638"/>
            <a:ext cx="8539889" cy="1682512"/>
          </a:xfrm>
          <a:prstGeom prst="rect">
            <a:avLst/>
          </a:prstGeom>
        </p:spPr>
        <p:txBody>
          <a:bodyPr wrap="square">
            <a:spAutoFit/>
          </a:bodyPr>
          <a:lstStyle/>
          <a:p>
            <a:r>
              <a:rPr lang="fr-FR" b="1" dirty="0" smtClean="0">
                <a:latin typeface="Arial" panose="020B0604020202020204"/>
                <a:cs typeface="Arial" panose="020B0604020202020204"/>
              </a:rPr>
              <a:t>CARACTÉRISTIQUES</a:t>
            </a:r>
            <a:endParaRPr lang="fr-FR" b="1" dirty="0" smtClean="0">
              <a:latin typeface="Arial" panose="020B0604020202020204"/>
              <a:cs typeface="Arial" panose="020B0604020202020204"/>
            </a:endParaRPr>
          </a:p>
          <a:p>
            <a:r>
              <a:rPr lang="fr-FR" dirty="0">
                <a:latin typeface="Arial" panose="020B0604020202020204"/>
                <a:cs typeface="Arial" panose="020B0604020202020204"/>
              </a:rPr>
              <a:t>• O</a:t>
            </a:r>
            <a:r>
              <a:rPr lang="fr-FR" dirty="0" smtClean="0">
                <a:latin typeface="Arial" panose="020B0604020202020204"/>
                <a:cs typeface="Arial" panose="020B0604020202020204"/>
              </a:rPr>
              <a:t>uverture </a:t>
            </a:r>
            <a:r>
              <a:rPr lang="fr-FR" dirty="0">
                <a:latin typeface="Arial" panose="020B0604020202020204"/>
                <a:cs typeface="Arial" panose="020B0604020202020204"/>
              </a:rPr>
              <a:t>de la chambre par dalles monolithes ou encorbellement </a:t>
            </a:r>
            <a:endParaRPr lang="fr-FR" dirty="0" smtClean="0">
              <a:latin typeface="Arial" panose="020B0604020202020204"/>
              <a:cs typeface="Arial" panose="020B0604020202020204"/>
            </a:endParaRPr>
          </a:p>
          <a:p>
            <a:r>
              <a:rPr lang="fr-FR" dirty="0" smtClean="0">
                <a:latin typeface="Arial" panose="020B0604020202020204"/>
                <a:cs typeface="Arial" panose="020B0604020202020204"/>
              </a:rPr>
              <a:t>• </a:t>
            </a:r>
            <a:r>
              <a:rPr lang="fr-FR" dirty="0">
                <a:latin typeface="Arial" panose="020B0604020202020204"/>
                <a:cs typeface="Arial" panose="020B0604020202020204"/>
              </a:rPr>
              <a:t>Chambre ronde ou </a:t>
            </a:r>
            <a:r>
              <a:rPr lang="fr-FR" dirty="0" smtClean="0">
                <a:latin typeface="Arial" panose="020B0604020202020204"/>
                <a:cs typeface="Arial" panose="020B0604020202020204"/>
              </a:rPr>
              <a:t>carrée, </a:t>
            </a:r>
            <a:r>
              <a:rPr lang="fr-FR" dirty="0">
                <a:latin typeface="Arial" panose="020B0604020202020204"/>
                <a:cs typeface="Arial" panose="020B0604020202020204"/>
              </a:rPr>
              <a:t>simple ou </a:t>
            </a:r>
            <a:r>
              <a:rPr lang="fr-FR" dirty="0" smtClean="0">
                <a:latin typeface="Arial" panose="020B0604020202020204"/>
                <a:cs typeface="Arial" panose="020B0604020202020204"/>
              </a:rPr>
              <a:t>compartimentée</a:t>
            </a:r>
            <a:br>
              <a:rPr lang="fr-FR" dirty="0">
                <a:latin typeface="Arial" panose="020B0604020202020204"/>
                <a:cs typeface="Arial" panose="020B0604020202020204"/>
              </a:rPr>
            </a:br>
            <a:r>
              <a:rPr lang="fr-FR" dirty="0">
                <a:latin typeface="Arial" panose="020B0604020202020204"/>
                <a:cs typeface="Arial" panose="020B0604020202020204"/>
              </a:rPr>
              <a:t>• Une chambre ou deux chambres aux couloirs </a:t>
            </a:r>
            <a:r>
              <a:rPr lang="fr-FR" dirty="0" smtClean="0">
                <a:latin typeface="Arial" panose="020B0604020202020204"/>
                <a:cs typeface="Arial" panose="020B0604020202020204"/>
              </a:rPr>
              <a:t>parallèles </a:t>
            </a:r>
            <a:r>
              <a:rPr lang="fr-FR" dirty="0">
                <a:latin typeface="Arial" panose="020B0604020202020204"/>
                <a:cs typeface="Arial" panose="020B0604020202020204"/>
              </a:rPr>
              <a:t>sur la </a:t>
            </a:r>
            <a:r>
              <a:rPr lang="fr-FR" dirty="0" smtClean="0">
                <a:latin typeface="Arial" panose="020B0604020202020204"/>
                <a:cs typeface="Arial" panose="020B0604020202020204"/>
              </a:rPr>
              <a:t>même </a:t>
            </a:r>
            <a:r>
              <a:rPr lang="fr-FR" dirty="0">
                <a:latin typeface="Arial" panose="020B0604020202020204"/>
                <a:cs typeface="Arial" panose="020B0604020202020204"/>
              </a:rPr>
              <a:t>face</a:t>
            </a:r>
            <a:br>
              <a:rPr lang="fr-FR" dirty="0">
                <a:latin typeface="Arial" panose="020B0604020202020204"/>
                <a:cs typeface="Arial" panose="020B0604020202020204"/>
              </a:rPr>
            </a:br>
            <a:r>
              <a:rPr lang="fr-FR" dirty="0">
                <a:latin typeface="Arial" panose="020B0604020202020204"/>
                <a:cs typeface="Arial" panose="020B0604020202020204"/>
              </a:rPr>
              <a:t>• Tumulus (cairn): massif arrondis ou </a:t>
            </a:r>
            <a:r>
              <a:rPr lang="fr-FR" dirty="0" smtClean="0">
                <a:latin typeface="Arial" panose="020B0604020202020204"/>
                <a:cs typeface="Arial" panose="020B0604020202020204"/>
              </a:rPr>
              <a:t>trapézoïdal </a:t>
            </a:r>
            <a:endParaRPr lang="fr-FR" dirty="0" smtClean="0">
              <a:latin typeface="Arial" panose="020B0604020202020204"/>
              <a:cs typeface="Arial" panose="020B0604020202020204"/>
            </a:endParaRPr>
          </a:p>
          <a:p>
            <a:endParaRPr lang="fr-FR" sz="2000" b="1" baseline="30000" dirty="0" smtClean="0">
              <a:latin typeface="Arial" panose="020B0604020202020204"/>
              <a:cs typeface="Arial" panose="020B0604020202020204"/>
            </a:endParaRPr>
          </a:p>
        </p:txBody>
      </p:sp>
      <p:pic>
        <p:nvPicPr>
          <p:cNvPr id="8" name="Image 7" descr="dolmen 4.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3100150"/>
            <a:ext cx="9144000" cy="322478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p:nvPr/>
        </p:nvSpPr>
        <p:spPr>
          <a:xfrm>
            <a:off x="299172" y="274638"/>
            <a:ext cx="8539889" cy="1143000"/>
          </a:xfrm>
          <a:prstGeom prst="rect">
            <a:avLst/>
          </a:prstGeom>
        </p:spPr>
        <p:txBody>
          <a:bodyPr vert="horz" lIns="91440" tIns="45720" rIns="91440" bIns="45720" rtlCol="0" anchor="ctr">
            <a:normAutofit fontScale="82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smtClean="0">
                <a:solidFill>
                  <a:srgbClr val="FF0000"/>
                </a:solidFill>
                <a:latin typeface="Quicksand" panose="00000500000000000000" charset="0"/>
                <a:cs typeface="Quicksand" panose="00000500000000000000" charset="0"/>
              </a:rPr>
              <a:t>Extensions et reprises de sépultures</a:t>
            </a:r>
            <a:endParaRPr lang="fr-FR" dirty="0" smtClean="0">
              <a:solidFill>
                <a:srgbClr val="FF0000"/>
              </a:solidFill>
              <a:latin typeface="Quicksand" panose="00000500000000000000" charset="0"/>
              <a:cs typeface="Quicksand" panose="00000500000000000000" charset="0"/>
            </a:endParaRPr>
          </a:p>
        </p:txBody>
      </p:sp>
      <p:sp>
        <p:nvSpPr>
          <p:cNvPr id="5" name="Rectangle 4"/>
          <p:cNvSpPr/>
          <p:nvPr/>
        </p:nvSpPr>
        <p:spPr>
          <a:xfrm>
            <a:off x="299171" y="1417638"/>
            <a:ext cx="8539889" cy="2513509"/>
          </a:xfrm>
          <a:prstGeom prst="rect">
            <a:avLst/>
          </a:prstGeom>
        </p:spPr>
        <p:txBody>
          <a:bodyPr wrap="square">
            <a:spAutoFit/>
          </a:bodyPr>
          <a:lstStyle/>
          <a:p>
            <a:r>
              <a:rPr lang="fr-FR" dirty="0" smtClean="0">
                <a:latin typeface="Arial" panose="020B0604020202020204"/>
                <a:cs typeface="Arial" panose="020B0604020202020204"/>
              </a:rPr>
              <a:t>Le Cairn de </a:t>
            </a:r>
            <a:r>
              <a:rPr lang="fr-FR" dirty="0" err="1" smtClean="0">
                <a:latin typeface="Arial" panose="020B0604020202020204"/>
                <a:cs typeface="Arial" panose="020B0604020202020204"/>
              </a:rPr>
              <a:t>Barnenez</a:t>
            </a:r>
            <a:r>
              <a:rPr lang="fr-FR" dirty="0" smtClean="0">
                <a:latin typeface="Arial" panose="020B0604020202020204"/>
                <a:cs typeface="Arial" panose="020B0604020202020204"/>
              </a:rPr>
              <a:t> et le Cairn du Petit Mont, situés tout deux en Bretagne, ont fait l’objet de plusieurs d’extensions.</a:t>
            </a:r>
            <a:endParaRPr lang="fr-FR" dirty="0" smtClean="0">
              <a:latin typeface="Arial" panose="020B0604020202020204"/>
              <a:cs typeface="Arial" panose="020B0604020202020204"/>
            </a:endParaRPr>
          </a:p>
          <a:p>
            <a:endParaRPr lang="fr-FR" dirty="0">
              <a:latin typeface="Arial" panose="020B0604020202020204"/>
              <a:cs typeface="Arial" panose="020B0604020202020204"/>
            </a:endParaRPr>
          </a:p>
          <a:p>
            <a:r>
              <a:rPr lang="fr-FR" b="1" dirty="0" smtClean="0">
                <a:latin typeface="Arial" panose="020B0604020202020204"/>
                <a:cs typeface="Arial" panose="020B0604020202020204"/>
              </a:rPr>
              <a:t>Procédés :</a:t>
            </a:r>
            <a:endParaRPr lang="fr-FR" b="1" dirty="0" smtClean="0">
              <a:latin typeface="Arial" panose="020B0604020202020204"/>
              <a:cs typeface="Arial" panose="020B0604020202020204"/>
            </a:endParaRPr>
          </a:p>
          <a:p>
            <a:pPr marL="285750" indent="-285750">
              <a:buFont typeface="Arial" panose="020B0604020202020204"/>
              <a:buChar char="•"/>
            </a:pPr>
            <a:r>
              <a:rPr lang="fr-FR" dirty="0" smtClean="0">
                <a:latin typeface="Arial" panose="020B0604020202020204"/>
                <a:cs typeface="Arial" panose="020B0604020202020204"/>
              </a:rPr>
              <a:t>Construction sur des périodes distinctes</a:t>
            </a:r>
            <a:endParaRPr lang="fr-FR" dirty="0" smtClean="0">
              <a:latin typeface="Arial" panose="020B0604020202020204"/>
              <a:cs typeface="Arial" panose="020B0604020202020204"/>
            </a:endParaRPr>
          </a:p>
          <a:p>
            <a:pPr marL="285750" indent="-285750">
              <a:buFont typeface="Arial" panose="020B0604020202020204"/>
              <a:buChar char="•"/>
            </a:pPr>
            <a:r>
              <a:rPr lang="fr-FR" dirty="0" smtClean="0">
                <a:latin typeface="Arial" panose="020B0604020202020204"/>
                <a:cs typeface="Arial" panose="020B0604020202020204"/>
              </a:rPr>
              <a:t>Reprise du cairn à chaque ajout de dolmen.</a:t>
            </a:r>
            <a:endParaRPr lang="fr-FR" dirty="0" smtClean="0">
              <a:latin typeface="Arial" panose="020B0604020202020204"/>
              <a:cs typeface="Arial" panose="020B0604020202020204"/>
            </a:endParaRPr>
          </a:p>
          <a:p>
            <a:pPr marL="285750" indent="-285750">
              <a:buFont typeface="Arial" panose="020B0604020202020204"/>
              <a:buChar char="•"/>
            </a:pPr>
            <a:endParaRPr lang="fr-FR" dirty="0" smtClean="0">
              <a:latin typeface="Arial" panose="020B0604020202020204"/>
              <a:cs typeface="Arial" panose="020B0604020202020204"/>
            </a:endParaRPr>
          </a:p>
          <a:p>
            <a:endParaRPr lang="fr-FR" dirty="0" smtClean="0">
              <a:latin typeface="Arial" panose="020B0604020202020204"/>
              <a:cs typeface="Arial" panose="020B0604020202020204"/>
            </a:endParaRPr>
          </a:p>
          <a:p>
            <a:pPr marL="342900" indent="-342900">
              <a:buFont typeface="Arial" panose="020B0604020202020204"/>
              <a:buChar char="•"/>
            </a:pPr>
            <a:endParaRPr lang="fr-FR" sz="2000" b="1" baseline="30000" dirty="0" smtClean="0">
              <a:latin typeface="Arial" panose="020B0604020202020204"/>
              <a:cs typeface="Arial" panose="020B0604020202020204"/>
            </a:endParaRPr>
          </a:p>
        </p:txBody>
      </p:sp>
      <p:pic>
        <p:nvPicPr>
          <p:cNvPr id="2" name="Image 1" descr="cairn-barnenez-L-2.jpe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6131" y="3619242"/>
            <a:ext cx="5942410" cy="2453640"/>
          </a:xfrm>
          <a:prstGeom prst="rect">
            <a:avLst/>
          </a:prstGeom>
        </p:spPr>
      </p:pic>
      <p:pic>
        <p:nvPicPr>
          <p:cNvPr id="6" name="Image 5" descr="591483175.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481" y="3750060"/>
            <a:ext cx="2404579" cy="2322822"/>
          </a:xfrm>
          <a:prstGeom prst="rect">
            <a:avLst/>
          </a:prstGeom>
        </p:spPr>
      </p:pic>
      <p:pic>
        <p:nvPicPr>
          <p:cNvPr id="7" name="Image 6" descr="be4979b6-8dc6-4575-92ce-bd9ed2871499_134.4.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4482" y="2006966"/>
            <a:ext cx="2404578" cy="1583013"/>
          </a:xfrm>
          <a:prstGeom prst="rect">
            <a:avLst/>
          </a:prstGeom>
        </p:spPr>
      </p:pic>
      <p:sp>
        <p:nvSpPr>
          <p:cNvPr id="9" name="Rectangle 8"/>
          <p:cNvSpPr/>
          <p:nvPr/>
        </p:nvSpPr>
        <p:spPr>
          <a:xfrm>
            <a:off x="299172" y="6109633"/>
            <a:ext cx="3805436" cy="307777"/>
          </a:xfrm>
          <a:prstGeom prst="rect">
            <a:avLst/>
          </a:prstGeom>
        </p:spPr>
        <p:txBody>
          <a:bodyPr wrap="none">
            <a:spAutoFit/>
          </a:bodyPr>
          <a:lstStyle/>
          <a:p>
            <a:r>
              <a:rPr lang="nb-NO" sz="1400" i="1" dirty="0"/>
              <a:t>Cairn de </a:t>
            </a:r>
            <a:r>
              <a:rPr lang="nb-NO" sz="1400" i="1" dirty="0" err="1" smtClean="0"/>
              <a:t>Barnenez</a:t>
            </a:r>
            <a:r>
              <a:rPr lang="nb-NO" sz="1400" i="1" dirty="0" smtClean="0"/>
              <a:t>, Bretagne, I</a:t>
            </a:r>
            <a:r>
              <a:rPr lang="fr-FR" sz="1400" i="1" dirty="0" smtClean="0"/>
              <a:t>V</a:t>
            </a:r>
            <a:r>
              <a:rPr lang="nb-NO" sz="1400" i="1" baseline="30000" dirty="0" smtClean="0"/>
              <a:t>e</a:t>
            </a:r>
            <a:r>
              <a:rPr lang="fr-FR" sz="1400" i="1" dirty="0" smtClean="0"/>
              <a:t> millénaire </a:t>
            </a:r>
            <a:r>
              <a:rPr lang="nb-NO" sz="1400" i="1" dirty="0" smtClean="0"/>
              <a:t>av. JC</a:t>
            </a:r>
            <a:endParaRPr lang="nb-NO" sz="1400" i="1" dirty="0"/>
          </a:p>
        </p:txBody>
      </p:sp>
      <p:sp>
        <p:nvSpPr>
          <p:cNvPr id="10" name="Rectangle 9"/>
          <p:cNvSpPr/>
          <p:nvPr/>
        </p:nvSpPr>
        <p:spPr>
          <a:xfrm>
            <a:off x="6048540" y="6156723"/>
            <a:ext cx="3095459" cy="523220"/>
          </a:xfrm>
          <a:prstGeom prst="rect">
            <a:avLst/>
          </a:prstGeom>
        </p:spPr>
        <p:txBody>
          <a:bodyPr wrap="square">
            <a:spAutoFit/>
          </a:bodyPr>
          <a:lstStyle/>
          <a:p>
            <a:pPr algn="ctr"/>
            <a:r>
              <a:rPr lang="nb-NO" sz="1400" i="1" dirty="0"/>
              <a:t>Cairn </a:t>
            </a:r>
            <a:r>
              <a:rPr lang="nb-NO" sz="1400" i="1" dirty="0" smtClean="0"/>
              <a:t>du Petit Mont, Bretagne, entre le I</a:t>
            </a:r>
            <a:r>
              <a:rPr lang="fr-FR" sz="1400" i="1" dirty="0" smtClean="0"/>
              <a:t>V</a:t>
            </a:r>
            <a:r>
              <a:rPr lang="nb-NO" sz="1400" i="1" baseline="30000" dirty="0" smtClean="0"/>
              <a:t>e</a:t>
            </a:r>
            <a:r>
              <a:rPr lang="fr-FR" sz="1400" i="1" dirty="0" smtClean="0"/>
              <a:t> millénaire </a:t>
            </a:r>
            <a:r>
              <a:rPr lang="nb-NO" sz="1400" i="1" dirty="0" smtClean="0"/>
              <a:t>av. JC et le 20</a:t>
            </a:r>
            <a:r>
              <a:rPr lang="nb-NO" sz="1400" i="1" baseline="30000" dirty="0" smtClean="0"/>
              <a:t>e </a:t>
            </a:r>
            <a:r>
              <a:rPr lang="nb-NO" sz="1400" i="1" dirty="0" err="1" smtClean="0"/>
              <a:t>siècle</a:t>
            </a:r>
            <a:endParaRPr lang="nb-NO" sz="1400" i="1"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p:nvPr/>
        </p:nvSpPr>
        <p:spPr>
          <a:xfrm>
            <a:off x="187412" y="280036"/>
            <a:ext cx="8844828" cy="1143000"/>
          </a:xfrm>
          <a:prstGeom prst="rect">
            <a:avLst/>
          </a:prstGeom>
        </p:spPr>
        <p:txBody>
          <a:bodyPr vert="horz" lIns="91440" tIns="45720" rIns="91440" bIns="45720" rtlCol="0" anchor="ctr">
            <a:normAutofit fontScale="82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smtClean="0">
                <a:solidFill>
                  <a:srgbClr val="FF0000"/>
                </a:solidFill>
                <a:latin typeface="Quicksand" panose="00000500000000000000" charset="0"/>
                <a:cs typeface="Quicksand" panose="00000500000000000000" charset="0"/>
              </a:rPr>
              <a:t>Allées couvertes (3500 - 2500 av. JC) </a:t>
            </a:r>
            <a:endParaRPr lang="fr-FR" dirty="0">
              <a:solidFill>
                <a:srgbClr val="FF0000"/>
              </a:solidFill>
              <a:latin typeface="Quicksand" panose="00000500000000000000" charset="0"/>
              <a:cs typeface="Quicksand" panose="00000500000000000000" charset="0"/>
            </a:endParaRPr>
          </a:p>
          <a:p>
            <a:endParaRPr lang="fr-FR" dirty="0">
              <a:solidFill>
                <a:srgbClr val="FF0000"/>
              </a:solidFill>
              <a:latin typeface="Quicksand" panose="00000500000000000000" charset="0"/>
              <a:cs typeface="Quicksand" panose="00000500000000000000" charset="0"/>
            </a:endParaRPr>
          </a:p>
        </p:txBody>
      </p:sp>
      <p:sp>
        <p:nvSpPr>
          <p:cNvPr id="5" name="Rectangle 4"/>
          <p:cNvSpPr/>
          <p:nvPr/>
        </p:nvSpPr>
        <p:spPr>
          <a:xfrm>
            <a:off x="299171" y="1417638"/>
            <a:ext cx="8539889" cy="1754327"/>
          </a:xfrm>
          <a:prstGeom prst="rect">
            <a:avLst/>
          </a:prstGeom>
        </p:spPr>
        <p:txBody>
          <a:bodyPr wrap="square">
            <a:spAutoFit/>
          </a:bodyPr>
          <a:lstStyle/>
          <a:p>
            <a:r>
              <a:rPr lang="fr-FR" b="1" dirty="0" smtClean="0">
                <a:latin typeface="Arial" panose="020B0604020202020204"/>
                <a:cs typeface="Arial" panose="020B0604020202020204"/>
              </a:rPr>
              <a:t>CARACTÉRISTIQUES</a:t>
            </a:r>
            <a:endParaRPr lang="fr-FR" b="1" dirty="0" smtClean="0">
              <a:latin typeface="Arial" panose="020B0604020202020204"/>
              <a:cs typeface="Arial" panose="020B0604020202020204"/>
            </a:endParaRPr>
          </a:p>
          <a:p>
            <a:pPr marL="285750" indent="-285750">
              <a:buFont typeface="Arial" panose="020B0604020202020204"/>
              <a:buChar char="•"/>
            </a:pPr>
            <a:r>
              <a:rPr lang="fr-FR" dirty="0" smtClean="0">
                <a:latin typeface="Arial" panose="020B0604020202020204"/>
                <a:cs typeface="Arial" panose="020B0604020202020204"/>
              </a:rPr>
              <a:t>Proportionnellement </a:t>
            </a:r>
            <a:r>
              <a:rPr lang="fr-FR" dirty="0">
                <a:latin typeface="Arial" panose="020B0604020202020204"/>
                <a:cs typeface="Arial" panose="020B0604020202020204"/>
              </a:rPr>
              <a:t>à la chambre, cairn moins imposant </a:t>
            </a:r>
            <a:endParaRPr lang="fr-FR" dirty="0" smtClean="0">
              <a:latin typeface="Arial" panose="020B0604020202020204"/>
              <a:cs typeface="Arial" panose="020B0604020202020204"/>
            </a:endParaRPr>
          </a:p>
          <a:p>
            <a:pPr marL="285750" indent="-285750">
              <a:buFont typeface="Arial" panose="020B0604020202020204"/>
              <a:buChar char="•"/>
            </a:pPr>
            <a:r>
              <a:rPr lang="fr-FR" dirty="0" smtClean="0">
                <a:latin typeface="Arial" panose="020B0604020202020204"/>
                <a:cs typeface="Arial" panose="020B0604020202020204"/>
              </a:rPr>
              <a:t>Chambre </a:t>
            </a:r>
            <a:r>
              <a:rPr lang="fr-FR" dirty="0">
                <a:latin typeface="Arial" panose="020B0604020202020204"/>
                <a:cs typeface="Arial" panose="020B0604020202020204"/>
              </a:rPr>
              <a:t>parfois </a:t>
            </a:r>
            <a:r>
              <a:rPr lang="fr-FR" dirty="0" smtClean="0">
                <a:latin typeface="Arial" panose="020B0604020202020204"/>
                <a:cs typeface="Arial" panose="020B0604020202020204"/>
              </a:rPr>
              <a:t>creusée </a:t>
            </a:r>
            <a:r>
              <a:rPr lang="fr-FR" dirty="0">
                <a:latin typeface="Arial" panose="020B0604020202020204"/>
                <a:cs typeface="Arial" panose="020B0604020202020204"/>
              </a:rPr>
              <a:t>dans le </a:t>
            </a:r>
            <a:r>
              <a:rPr lang="fr-FR" dirty="0" smtClean="0">
                <a:latin typeface="Arial" panose="020B0604020202020204"/>
                <a:cs typeface="Arial" panose="020B0604020202020204"/>
              </a:rPr>
              <a:t>sol</a:t>
            </a:r>
            <a:endParaRPr lang="fr-FR" dirty="0" smtClean="0">
              <a:latin typeface="Arial" panose="020B0604020202020204"/>
              <a:cs typeface="Arial" panose="020B0604020202020204"/>
            </a:endParaRPr>
          </a:p>
          <a:p>
            <a:pPr marL="285750" indent="-285750">
              <a:buFont typeface="Arial" panose="020B0604020202020204"/>
              <a:buChar char="•"/>
            </a:pPr>
            <a:r>
              <a:rPr lang="fr-FR" dirty="0">
                <a:latin typeface="Arial" panose="020B0604020202020204"/>
                <a:cs typeface="Arial" panose="020B0604020202020204"/>
              </a:rPr>
              <a:t>P</a:t>
            </a:r>
            <a:r>
              <a:rPr lang="fr-FR" dirty="0" smtClean="0">
                <a:latin typeface="Arial" panose="020B0604020202020204"/>
                <a:cs typeface="Arial" panose="020B0604020202020204"/>
              </a:rPr>
              <a:t>lus </a:t>
            </a:r>
            <a:r>
              <a:rPr lang="fr-FR" dirty="0">
                <a:latin typeface="Arial" panose="020B0604020202020204"/>
                <a:cs typeface="Arial" panose="020B0604020202020204"/>
              </a:rPr>
              <a:t>de distinction entre chambre et </a:t>
            </a:r>
            <a:r>
              <a:rPr lang="fr-FR" dirty="0" smtClean="0">
                <a:latin typeface="Arial" panose="020B0604020202020204"/>
                <a:cs typeface="Arial" panose="020B0604020202020204"/>
              </a:rPr>
              <a:t>couloir</a:t>
            </a:r>
            <a:endParaRPr lang="fr-FR" dirty="0" smtClean="0">
              <a:latin typeface="Arial" panose="020B0604020202020204"/>
              <a:cs typeface="Arial" panose="020B0604020202020204"/>
            </a:endParaRPr>
          </a:p>
          <a:p>
            <a:pPr marL="285750" indent="-285750">
              <a:buFont typeface="Arial" panose="020B0604020202020204"/>
              <a:buChar char="•"/>
            </a:pPr>
            <a:r>
              <a:rPr lang="fr-FR" dirty="0" smtClean="0">
                <a:latin typeface="Arial" panose="020B0604020202020204"/>
                <a:cs typeface="Arial" panose="020B0604020202020204"/>
              </a:rPr>
              <a:t>Mégalithisme </a:t>
            </a:r>
            <a:r>
              <a:rPr lang="fr-FR" dirty="0">
                <a:latin typeface="Arial" panose="020B0604020202020204"/>
                <a:cs typeface="Arial" panose="020B0604020202020204"/>
              </a:rPr>
              <a:t>exacerbé </a:t>
            </a:r>
            <a:endParaRPr lang="fr-FR" dirty="0">
              <a:latin typeface="Arial" panose="020B0604020202020204"/>
              <a:cs typeface="Arial" panose="020B0604020202020204"/>
            </a:endParaRPr>
          </a:p>
          <a:p>
            <a:endParaRPr lang="fr-FR" dirty="0" smtClean="0">
              <a:latin typeface="Arial" panose="020B0604020202020204"/>
              <a:cs typeface="Arial" panose="020B0604020202020204"/>
            </a:endParaRPr>
          </a:p>
        </p:txBody>
      </p:sp>
      <p:pic>
        <p:nvPicPr>
          <p:cNvPr id="8" name="Image 7" descr="téléchargement (1).jpe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87349" y="2966106"/>
            <a:ext cx="6358891" cy="2957174"/>
          </a:xfrm>
          <a:prstGeom prst="rect">
            <a:avLst/>
          </a:prstGeom>
        </p:spPr>
      </p:pic>
      <p:pic>
        <p:nvPicPr>
          <p:cNvPr id="10" name="Image 9" descr="dolmen 5.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6240" y="2895600"/>
            <a:ext cx="2200656" cy="3182112"/>
          </a:xfrm>
          <a:prstGeom prst="rect">
            <a:avLst/>
          </a:prstGeom>
        </p:spPr>
      </p:pic>
      <p:sp>
        <p:nvSpPr>
          <p:cNvPr id="11" name="Rectangle 10"/>
          <p:cNvSpPr/>
          <p:nvPr/>
        </p:nvSpPr>
        <p:spPr>
          <a:xfrm>
            <a:off x="387349" y="5955744"/>
            <a:ext cx="3657208" cy="307777"/>
          </a:xfrm>
          <a:prstGeom prst="rect">
            <a:avLst/>
          </a:prstGeom>
        </p:spPr>
        <p:txBody>
          <a:bodyPr wrap="none">
            <a:spAutoFit/>
          </a:bodyPr>
          <a:lstStyle/>
          <a:p>
            <a:r>
              <a:rPr lang="nb-NO" sz="1400" i="1" dirty="0" smtClean="0"/>
              <a:t>La Cave aux </a:t>
            </a:r>
            <a:r>
              <a:rPr lang="nb-NO" sz="1400" i="1" dirty="0" err="1" smtClean="0"/>
              <a:t>fées</a:t>
            </a:r>
            <a:r>
              <a:rPr lang="nb-NO" sz="1400" i="1" dirty="0" smtClean="0"/>
              <a:t>,</a:t>
            </a:r>
            <a:r>
              <a:rPr lang="ro-RO" sz="1400" i="1" dirty="0"/>
              <a:t> Île-de-</a:t>
            </a:r>
            <a:r>
              <a:rPr lang="ro-RO" sz="1400" i="1" dirty="0" smtClean="0"/>
              <a:t>France,</a:t>
            </a:r>
            <a:r>
              <a:rPr lang="nb-NO" sz="1400" i="1" dirty="0" smtClean="0"/>
              <a:t> </a:t>
            </a:r>
            <a:r>
              <a:rPr lang="fr-FR" sz="1400" i="1" dirty="0"/>
              <a:t>2200 ans av. JC</a:t>
            </a:r>
            <a:endParaRPr lang="nb-NO" sz="1400" i="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5600" y="1767841"/>
            <a:ext cx="4216400" cy="4801315"/>
          </a:xfrm>
          <a:prstGeom prst="rect">
            <a:avLst/>
          </a:prstGeom>
        </p:spPr>
        <p:txBody>
          <a:bodyPr wrap="square">
            <a:spAutoFit/>
          </a:bodyPr>
          <a:lstStyle/>
          <a:p>
            <a:pPr algn="just"/>
            <a:r>
              <a:rPr lang="fr-FR" dirty="0">
                <a:latin typeface="Arial" panose="020B0604020202020204"/>
                <a:cs typeface="Arial" panose="020B0604020202020204"/>
              </a:rPr>
              <a:t>Un </a:t>
            </a:r>
            <a:r>
              <a:rPr lang="fr-FR" b="1" dirty="0">
                <a:latin typeface="Arial" panose="020B0604020202020204"/>
                <a:cs typeface="Arial" panose="020B0604020202020204"/>
              </a:rPr>
              <a:t>menhir</a:t>
            </a:r>
            <a:r>
              <a:rPr lang="fr-FR" dirty="0">
                <a:latin typeface="Arial" panose="020B0604020202020204"/>
                <a:cs typeface="Arial" panose="020B0604020202020204"/>
              </a:rPr>
              <a:t> est une </a:t>
            </a:r>
            <a:r>
              <a:rPr lang="fr-FR" b="1" dirty="0">
                <a:latin typeface="Arial" panose="020B0604020202020204"/>
                <a:cs typeface="Arial" panose="020B0604020202020204"/>
              </a:rPr>
              <a:t>pierre dressée </a:t>
            </a:r>
            <a:r>
              <a:rPr lang="fr-FR" dirty="0" smtClean="0">
                <a:latin typeface="Arial" panose="020B0604020202020204"/>
                <a:cs typeface="Arial" panose="020B0604020202020204"/>
              </a:rPr>
              <a:t>(brute </a:t>
            </a:r>
            <a:r>
              <a:rPr lang="fr-FR" dirty="0">
                <a:latin typeface="Arial" panose="020B0604020202020204"/>
                <a:cs typeface="Arial" panose="020B0604020202020204"/>
              </a:rPr>
              <a:t>ou </a:t>
            </a:r>
            <a:r>
              <a:rPr lang="fr-FR" dirty="0" err="1" smtClean="0">
                <a:latin typeface="Arial" panose="020B0604020202020204"/>
                <a:cs typeface="Arial" panose="020B0604020202020204"/>
              </a:rPr>
              <a:t>retaillée</a:t>
            </a:r>
            <a:r>
              <a:rPr lang="fr-FR" dirty="0" smtClean="0">
                <a:latin typeface="Arial" panose="020B0604020202020204"/>
                <a:cs typeface="Arial" panose="020B0604020202020204"/>
              </a:rPr>
              <a:t> (stèle)</a:t>
            </a:r>
            <a:r>
              <a:rPr lang="fr-FR" dirty="0">
                <a:latin typeface="Arial" panose="020B0604020202020204"/>
                <a:cs typeface="Arial" panose="020B0604020202020204"/>
              </a:rPr>
              <a:t>, voir </a:t>
            </a:r>
            <a:r>
              <a:rPr lang="fr-FR" dirty="0" err="1" smtClean="0">
                <a:latin typeface="Arial" panose="020B0604020202020204"/>
                <a:cs typeface="Arial" panose="020B0604020202020204"/>
              </a:rPr>
              <a:t>sculptée</a:t>
            </a:r>
            <a:r>
              <a:rPr lang="fr-FR" dirty="0" smtClean="0">
                <a:latin typeface="Arial" panose="020B0604020202020204"/>
                <a:cs typeface="Arial" panose="020B0604020202020204"/>
              </a:rPr>
              <a:t>)</a:t>
            </a:r>
            <a:r>
              <a:rPr lang="fr-FR" b="1" dirty="0" smtClean="0">
                <a:latin typeface="Arial" panose="020B0604020202020204"/>
                <a:cs typeface="Arial" panose="020B0604020202020204"/>
              </a:rPr>
              <a:t>,  plantée verticalement</a:t>
            </a:r>
            <a:r>
              <a:rPr lang="fr-FR" dirty="0" smtClean="0">
                <a:latin typeface="Arial" panose="020B0604020202020204"/>
                <a:cs typeface="Arial" panose="020B0604020202020204"/>
              </a:rPr>
              <a:t>. </a:t>
            </a:r>
            <a:r>
              <a:rPr lang="fr-FR" dirty="0">
                <a:latin typeface="Arial" panose="020B0604020202020204"/>
                <a:cs typeface="Arial" panose="020B0604020202020204"/>
              </a:rPr>
              <a:t>Il constitue l'une des </a:t>
            </a:r>
            <a:r>
              <a:rPr lang="fr-FR" b="1" dirty="0">
                <a:latin typeface="Arial" panose="020B0604020202020204"/>
                <a:cs typeface="Arial" panose="020B0604020202020204"/>
              </a:rPr>
              <a:t>formes caractéristiques du mégalithisme</a:t>
            </a:r>
            <a:r>
              <a:rPr lang="fr-FR" dirty="0" smtClean="0">
                <a:latin typeface="Arial" panose="020B0604020202020204"/>
                <a:cs typeface="Arial" panose="020B0604020202020204"/>
              </a:rPr>
              <a:t>.</a:t>
            </a:r>
            <a:endParaRPr lang="fr-FR" dirty="0">
              <a:latin typeface="Arial" panose="020B0604020202020204"/>
              <a:cs typeface="Arial" panose="020B0604020202020204"/>
            </a:endParaRPr>
          </a:p>
          <a:p>
            <a:pPr algn="just"/>
            <a:endParaRPr lang="fr-FR" dirty="0" smtClean="0">
              <a:latin typeface="Arial" panose="020B0604020202020204"/>
              <a:cs typeface="Arial" panose="020B0604020202020204"/>
            </a:endParaRPr>
          </a:p>
          <a:p>
            <a:pPr algn="just"/>
            <a:r>
              <a:rPr lang="fr-FR" dirty="0" smtClean="0">
                <a:latin typeface="Arial" panose="020B0604020202020204"/>
                <a:cs typeface="Arial" panose="020B0604020202020204"/>
              </a:rPr>
              <a:t>Les </a:t>
            </a:r>
            <a:r>
              <a:rPr lang="fr-FR" dirty="0">
                <a:latin typeface="Arial" panose="020B0604020202020204"/>
                <a:cs typeface="Arial" panose="020B0604020202020204"/>
              </a:rPr>
              <a:t>menhirs se rencontrent de façon générale un peu partout en Afrique, Asie et Europe, mais c'est en Europe de l'Ouest qu'ils sont le plus répandus. Dans cette région, ils ont été </a:t>
            </a:r>
            <a:r>
              <a:rPr lang="fr-FR" b="1" dirty="0">
                <a:latin typeface="Arial" panose="020B0604020202020204"/>
                <a:cs typeface="Arial" panose="020B0604020202020204"/>
              </a:rPr>
              <a:t>érigés au </a:t>
            </a:r>
            <a:r>
              <a:rPr lang="fr-FR" b="1" dirty="0" smtClean="0">
                <a:latin typeface="Arial" panose="020B0604020202020204"/>
                <a:cs typeface="Arial" panose="020B0604020202020204"/>
              </a:rPr>
              <a:t>Néolithique ( entre -9000 et -</a:t>
            </a:r>
            <a:r>
              <a:rPr lang="fr-FR" b="1" dirty="0">
                <a:latin typeface="Arial" panose="020B0604020202020204"/>
                <a:cs typeface="Arial" panose="020B0604020202020204"/>
              </a:rPr>
              <a:t>2000 av . JC)</a:t>
            </a:r>
            <a:r>
              <a:rPr lang="fr-FR" dirty="0" smtClean="0">
                <a:latin typeface="Arial" panose="020B0604020202020204"/>
                <a:cs typeface="Arial" panose="020B0604020202020204"/>
              </a:rPr>
              <a:t>. Identifier </a:t>
            </a:r>
            <a:r>
              <a:rPr lang="fr-FR" dirty="0">
                <a:latin typeface="Arial" panose="020B0604020202020204"/>
                <a:cs typeface="Arial" panose="020B0604020202020204"/>
              </a:rPr>
              <a:t>l'utilisation des menhirs reste entière spéculation. Toutefois, il est probable que certains usages impliquent des rites de fertilité et des cycles saisonniers.</a:t>
            </a:r>
            <a:endParaRPr lang="fr-FR" dirty="0">
              <a:latin typeface="Arial" panose="020B0604020202020204"/>
              <a:cs typeface="Arial" panose="020B0604020202020204"/>
            </a:endParaRPr>
          </a:p>
        </p:txBody>
      </p:sp>
      <p:sp>
        <p:nvSpPr>
          <p:cNvPr id="5" name="Titre 1"/>
          <p:cNvSpPr txBox="1"/>
          <p:nvPr/>
        </p:nvSpPr>
        <p:spPr>
          <a:xfrm>
            <a:off x="187412" y="280036"/>
            <a:ext cx="8844828"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smtClean="0">
                <a:solidFill>
                  <a:srgbClr val="FF0000"/>
                </a:solidFill>
                <a:latin typeface="Quicksand" panose="00000500000000000000" charset="0"/>
                <a:cs typeface="Quicksand" panose="00000500000000000000" charset="0"/>
              </a:rPr>
              <a:t>Menhir </a:t>
            </a:r>
            <a:endParaRPr lang="fr-FR" dirty="0" smtClean="0">
              <a:solidFill>
                <a:srgbClr val="FF0000"/>
              </a:solidFill>
              <a:latin typeface="Quicksand" panose="00000500000000000000" charset="0"/>
              <a:cs typeface="Quicksand" panose="00000500000000000000" charset="0"/>
            </a:endParaRPr>
          </a:p>
        </p:txBody>
      </p:sp>
      <p:pic>
        <p:nvPicPr>
          <p:cNvPr id="6" name="Image 5" descr="téléchargement (2).jpe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252720" y="1423036"/>
            <a:ext cx="3383280" cy="4516853"/>
          </a:xfrm>
          <a:prstGeom prst="rect">
            <a:avLst/>
          </a:prstGeom>
        </p:spPr>
      </p:pic>
      <p:sp>
        <p:nvSpPr>
          <p:cNvPr id="7" name="Rectangle 6"/>
          <p:cNvSpPr/>
          <p:nvPr/>
        </p:nvSpPr>
        <p:spPr>
          <a:xfrm>
            <a:off x="4572000" y="5952738"/>
            <a:ext cx="4572000" cy="523220"/>
          </a:xfrm>
          <a:prstGeom prst="rect">
            <a:avLst/>
          </a:prstGeom>
        </p:spPr>
        <p:txBody>
          <a:bodyPr>
            <a:spAutoFit/>
          </a:bodyPr>
          <a:lstStyle/>
          <a:p>
            <a:pPr algn="ctr"/>
            <a:r>
              <a:rPr lang="fr-FR" sz="1400" i="1" dirty="0"/>
              <a:t>Le menhir de </a:t>
            </a:r>
            <a:r>
              <a:rPr lang="fr-FR" sz="1400" i="1" dirty="0" err="1"/>
              <a:t>Kerloas</a:t>
            </a:r>
            <a:r>
              <a:rPr lang="fr-FR" sz="1400" i="1" dirty="0"/>
              <a:t>, </a:t>
            </a:r>
            <a:r>
              <a:rPr lang="fr-FR" sz="1400" i="1" dirty="0" err="1"/>
              <a:t>Plouarzel</a:t>
            </a:r>
            <a:r>
              <a:rPr lang="fr-FR" sz="1400" i="1" dirty="0"/>
              <a:t> (Finistère), plus grand menhir encore dressé de Bretagne.</a:t>
            </a:r>
            <a:endParaRPr lang="fr-FR" sz="1400" i="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p:nvPr/>
        </p:nvSpPr>
        <p:spPr>
          <a:xfrm>
            <a:off x="187412" y="280036"/>
            <a:ext cx="8844828"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nl-NL" dirty="0" err="1">
                <a:solidFill>
                  <a:srgbClr val="FF0000"/>
                </a:solidFill>
                <a:latin typeface="Quicksand" panose="00000500000000000000" charset="0"/>
                <a:cs typeface="Quicksand" panose="00000500000000000000" charset="0"/>
              </a:rPr>
              <a:t>Cromlech</a:t>
            </a:r>
            <a:endParaRPr lang="nl-NL" dirty="0" err="1">
              <a:solidFill>
                <a:srgbClr val="FF0000"/>
              </a:solidFill>
              <a:latin typeface="Quicksand" panose="00000500000000000000" charset="0"/>
              <a:cs typeface="Quicksand" panose="00000500000000000000" charset="0"/>
            </a:endParaRPr>
          </a:p>
        </p:txBody>
      </p:sp>
      <p:sp>
        <p:nvSpPr>
          <p:cNvPr id="5" name="Rectangle 4"/>
          <p:cNvSpPr/>
          <p:nvPr/>
        </p:nvSpPr>
        <p:spPr>
          <a:xfrm>
            <a:off x="187412" y="1674673"/>
            <a:ext cx="4943388" cy="4524316"/>
          </a:xfrm>
          <a:prstGeom prst="rect">
            <a:avLst/>
          </a:prstGeom>
        </p:spPr>
        <p:txBody>
          <a:bodyPr wrap="square">
            <a:spAutoFit/>
          </a:bodyPr>
          <a:lstStyle/>
          <a:p>
            <a:pPr algn="just"/>
            <a:r>
              <a:rPr lang="fr-FR" dirty="0">
                <a:latin typeface="Arial" panose="020B0604020202020204"/>
                <a:cs typeface="Arial" panose="020B0604020202020204"/>
              </a:rPr>
              <a:t>Un </a:t>
            </a:r>
            <a:r>
              <a:rPr lang="fr-FR" b="1" dirty="0" smtClean="0">
                <a:latin typeface="Arial" panose="020B0604020202020204"/>
                <a:cs typeface="Arial" panose="020B0604020202020204"/>
              </a:rPr>
              <a:t>cromlech</a:t>
            </a:r>
            <a:r>
              <a:rPr lang="fr-FR" dirty="0" smtClean="0">
                <a:latin typeface="Arial" panose="020B0604020202020204"/>
                <a:cs typeface="Arial" panose="020B0604020202020204"/>
              </a:rPr>
              <a:t> est </a:t>
            </a:r>
            <a:r>
              <a:rPr lang="fr-FR" dirty="0">
                <a:latin typeface="Arial" panose="020B0604020202020204"/>
                <a:cs typeface="Arial" panose="020B0604020202020204"/>
              </a:rPr>
              <a:t>un </a:t>
            </a:r>
            <a:r>
              <a:rPr lang="fr-FR" b="1" dirty="0">
                <a:latin typeface="Arial" panose="020B0604020202020204"/>
                <a:cs typeface="Arial" panose="020B0604020202020204"/>
              </a:rPr>
              <a:t>monument mégalithique préhistorique </a:t>
            </a:r>
            <a:r>
              <a:rPr lang="fr-FR" dirty="0">
                <a:latin typeface="Arial" panose="020B0604020202020204"/>
                <a:cs typeface="Arial" panose="020B0604020202020204"/>
              </a:rPr>
              <a:t>constitué par un </a:t>
            </a:r>
            <a:r>
              <a:rPr lang="fr-FR" b="1" dirty="0">
                <a:latin typeface="Arial" panose="020B0604020202020204"/>
                <a:cs typeface="Arial" panose="020B0604020202020204"/>
              </a:rPr>
              <a:t>alignement de monolithes verticaux </a:t>
            </a:r>
            <a:r>
              <a:rPr lang="fr-FR" dirty="0">
                <a:latin typeface="Arial" panose="020B0604020202020204"/>
                <a:cs typeface="Arial" panose="020B0604020202020204"/>
              </a:rPr>
              <a:t>(menhirs), formant une enceinte de pierres levées, généralement </a:t>
            </a:r>
            <a:r>
              <a:rPr lang="fr-FR" dirty="0" smtClean="0">
                <a:latin typeface="Arial" panose="020B0604020202020204"/>
                <a:cs typeface="Arial" panose="020B0604020202020204"/>
              </a:rPr>
              <a:t>circulaire. </a:t>
            </a:r>
            <a:endParaRPr lang="fr-FR" dirty="0" smtClean="0">
              <a:latin typeface="Arial" panose="020B0604020202020204"/>
              <a:cs typeface="Arial" panose="020B0604020202020204"/>
            </a:endParaRPr>
          </a:p>
          <a:p>
            <a:pPr algn="just"/>
            <a:endParaRPr lang="fr-FR" dirty="0">
              <a:latin typeface="Arial" panose="020B0604020202020204"/>
              <a:cs typeface="Arial" panose="020B0604020202020204"/>
            </a:endParaRPr>
          </a:p>
          <a:p>
            <a:pPr algn="just"/>
            <a:r>
              <a:rPr lang="fr-FR" dirty="0" smtClean="0">
                <a:latin typeface="Arial" panose="020B0604020202020204"/>
                <a:cs typeface="Arial" panose="020B0604020202020204"/>
              </a:rPr>
              <a:t>Ces </a:t>
            </a:r>
            <a:r>
              <a:rPr lang="fr-FR" dirty="0">
                <a:latin typeface="Arial" panose="020B0604020202020204"/>
                <a:cs typeface="Arial" panose="020B0604020202020204"/>
              </a:rPr>
              <a:t>cercles de pierres peuvent être isolés, jumelés à un autre cercle de pierres ou associés à un alignement de menhirs. Le plus connu de tous les cromlechs est le cromlech de </a:t>
            </a:r>
            <a:r>
              <a:rPr lang="fr-FR" b="1" dirty="0">
                <a:latin typeface="Arial" panose="020B0604020202020204"/>
                <a:cs typeface="Arial" panose="020B0604020202020204"/>
              </a:rPr>
              <a:t>Stonehenge</a:t>
            </a:r>
            <a:r>
              <a:rPr lang="fr-FR" dirty="0">
                <a:latin typeface="Arial" panose="020B0604020202020204"/>
                <a:cs typeface="Arial" panose="020B0604020202020204"/>
              </a:rPr>
              <a:t> en </a:t>
            </a:r>
            <a:r>
              <a:rPr lang="fr-FR" dirty="0" smtClean="0">
                <a:latin typeface="Arial" panose="020B0604020202020204"/>
                <a:cs typeface="Arial" panose="020B0604020202020204"/>
              </a:rPr>
              <a:t>Angleterre. </a:t>
            </a:r>
            <a:endParaRPr lang="fr-FR" dirty="0" smtClean="0">
              <a:latin typeface="Arial" panose="020B0604020202020204"/>
              <a:cs typeface="Arial" panose="020B0604020202020204"/>
            </a:endParaRPr>
          </a:p>
          <a:p>
            <a:pPr algn="just"/>
            <a:endParaRPr lang="fr-FR" dirty="0">
              <a:latin typeface="Arial" panose="020B0604020202020204"/>
              <a:cs typeface="Arial" panose="020B0604020202020204"/>
            </a:endParaRPr>
          </a:p>
          <a:p>
            <a:pPr algn="just"/>
            <a:r>
              <a:rPr lang="fr-FR" dirty="0" smtClean="0">
                <a:latin typeface="Arial" panose="020B0604020202020204"/>
                <a:cs typeface="Arial" panose="020B0604020202020204"/>
              </a:rPr>
              <a:t>Ce </a:t>
            </a:r>
            <a:r>
              <a:rPr lang="fr-FR" dirty="0">
                <a:latin typeface="Arial" panose="020B0604020202020204"/>
                <a:cs typeface="Arial" panose="020B0604020202020204"/>
              </a:rPr>
              <a:t>type de mégalithe </a:t>
            </a:r>
            <a:r>
              <a:rPr lang="fr-FR" dirty="0" smtClean="0">
                <a:latin typeface="Arial" panose="020B0604020202020204"/>
                <a:cs typeface="Arial" panose="020B0604020202020204"/>
              </a:rPr>
              <a:t>a été érigé au Néolithique entre </a:t>
            </a:r>
            <a:r>
              <a:rPr lang="fr-FR" dirty="0">
                <a:latin typeface="Arial" panose="020B0604020202020204"/>
                <a:cs typeface="Arial" panose="020B0604020202020204"/>
              </a:rPr>
              <a:t>3500 et 2000 av. J.-C.</a:t>
            </a:r>
            <a:endParaRPr lang="fr-FR" dirty="0">
              <a:latin typeface="Arial" panose="020B0604020202020204"/>
              <a:cs typeface="Arial" panose="020B0604020202020204"/>
            </a:endParaRPr>
          </a:p>
          <a:p>
            <a:pPr algn="just"/>
            <a:endParaRPr lang="fr-FR" dirty="0">
              <a:latin typeface="Arial" panose="020B0604020202020204"/>
              <a:cs typeface="Arial" panose="020B0604020202020204"/>
            </a:endParaRPr>
          </a:p>
          <a:p>
            <a:pPr algn="just"/>
            <a:endParaRPr lang="fr-FR" dirty="0">
              <a:latin typeface="Arial" panose="020B0604020202020204"/>
              <a:cs typeface="Arial" panose="020B0604020202020204"/>
            </a:endParaRPr>
          </a:p>
        </p:txBody>
      </p:sp>
      <p:pic>
        <p:nvPicPr>
          <p:cNvPr id="8" name="Image 7" descr="Rectangular_cromlech_Crucuno-cromeleque_retangular.jpg"/>
          <p:cNvPicPr>
            <a:picLocks noChangeAspect="1"/>
          </p:cNvPicPr>
          <p:nvPr/>
        </p:nvPicPr>
        <p:blipFill rotWithShape="1">
          <a:blip r:embed="rId1">
            <a:extLst>
              <a:ext uri="{28A0092B-C50C-407E-A947-70E740481C1C}">
                <a14:useLocalDpi xmlns:a14="http://schemas.microsoft.com/office/drawing/2010/main" val="0"/>
              </a:ext>
            </a:extLst>
          </a:blip>
          <a:srcRect t="8547"/>
          <a:stretch>
            <a:fillRect/>
          </a:stretch>
        </p:blipFill>
        <p:spPr>
          <a:xfrm>
            <a:off x="5537148" y="4372577"/>
            <a:ext cx="3293599" cy="2014938"/>
          </a:xfrm>
          <a:prstGeom prst="rect">
            <a:avLst/>
          </a:prstGeom>
        </p:spPr>
      </p:pic>
      <p:sp>
        <p:nvSpPr>
          <p:cNvPr id="9" name="Rectangle 8"/>
          <p:cNvSpPr/>
          <p:nvPr/>
        </p:nvSpPr>
        <p:spPr>
          <a:xfrm>
            <a:off x="5537148" y="6334780"/>
            <a:ext cx="3293599" cy="523220"/>
          </a:xfrm>
          <a:prstGeom prst="rect">
            <a:avLst/>
          </a:prstGeom>
        </p:spPr>
        <p:txBody>
          <a:bodyPr wrap="square">
            <a:spAutoFit/>
          </a:bodyPr>
          <a:lstStyle/>
          <a:p>
            <a:pPr algn="ctr"/>
            <a:r>
              <a:rPr lang="fr-FR" sz="1400" i="1" dirty="0"/>
              <a:t>Vue partielle du cromlech rectangulaire de </a:t>
            </a:r>
            <a:r>
              <a:rPr lang="fr-FR" sz="1400" i="1" dirty="0" err="1"/>
              <a:t>Crucuno</a:t>
            </a:r>
            <a:r>
              <a:rPr lang="fr-FR" sz="1400" i="1" dirty="0"/>
              <a:t>, Bretagne</a:t>
            </a:r>
            <a:endParaRPr lang="fr-FR" sz="1400" i="1" dirty="0"/>
          </a:p>
        </p:txBody>
      </p:sp>
      <p:pic>
        <p:nvPicPr>
          <p:cNvPr id="11" name="Image 10" descr="o-STONEHENGE-facebook.jpg"/>
          <p:cNvPicPr>
            <a:picLocks noChangeAspect="1"/>
          </p:cNvPicPr>
          <p:nvPr/>
        </p:nvPicPr>
        <p:blipFill rotWithShape="1">
          <a:blip r:embed="rId2">
            <a:extLst>
              <a:ext uri="{28A0092B-C50C-407E-A947-70E740481C1C}">
                <a14:useLocalDpi xmlns:a14="http://schemas.microsoft.com/office/drawing/2010/main" val="0"/>
              </a:ext>
            </a:extLst>
          </a:blip>
          <a:srcRect l="12856"/>
          <a:stretch>
            <a:fillRect/>
          </a:stretch>
        </p:blipFill>
        <p:spPr>
          <a:xfrm>
            <a:off x="5526861" y="1423036"/>
            <a:ext cx="3303886" cy="2451016"/>
          </a:xfrm>
          <a:prstGeom prst="rect">
            <a:avLst/>
          </a:prstGeom>
        </p:spPr>
      </p:pic>
      <p:sp>
        <p:nvSpPr>
          <p:cNvPr id="12" name="ZoneTexte 11"/>
          <p:cNvSpPr txBox="1"/>
          <p:nvPr/>
        </p:nvSpPr>
        <p:spPr>
          <a:xfrm>
            <a:off x="5273007" y="3849357"/>
            <a:ext cx="3759233" cy="523220"/>
          </a:xfrm>
          <a:prstGeom prst="rect">
            <a:avLst/>
          </a:prstGeom>
          <a:noFill/>
        </p:spPr>
        <p:txBody>
          <a:bodyPr wrap="square" rtlCol="0">
            <a:spAutoFit/>
          </a:bodyPr>
          <a:lstStyle/>
          <a:p>
            <a:pPr algn="ctr"/>
            <a:r>
              <a:rPr lang="fr-FR" sz="1400" i="1" dirty="0" smtClean="0"/>
              <a:t>Stonehenge au Royaume-Uni, érigé entre -2800 et -1100 av. JC</a:t>
            </a:r>
            <a:endParaRPr lang="fr-FR" sz="1400" i="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p:nvPr/>
        </p:nvSpPr>
        <p:spPr>
          <a:xfrm>
            <a:off x="187412" y="280036"/>
            <a:ext cx="8844828"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smtClean="0">
                <a:solidFill>
                  <a:srgbClr val="FF0000"/>
                </a:solidFill>
                <a:latin typeface="Quicksand" panose="00000500000000000000" charset="0"/>
                <a:cs typeface="Quicksand" panose="00000500000000000000" charset="0"/>
              </a:rPr>
              <a:t>Art mégalithique</a:t>
            </a:r>
            <a:endParaRPr lang="fr-FR" dirty="0" smtClean="0">
              <a:solidFill>
                <a:srgbClr val="FF0000"/>
              </a:solidFill>
              <a:latin typeface="Quicksand" panose="00000500000000000000" charset="0"/>
              <a:cs typeface="Quicksand" panose="00000500000000000000" charset="0"/>
            </a:endParaRPr>
          </a:p>
        </p:txBody>
      </p:sp>
      <p:sp>
        <p:nvSpPr>
          <p:cNvPr id="5" name="Rectangle 4"/>
          <p:cNvSpPr/>
          <p:nvPr/>
        </p:nvSpPr>
        <p:spPr>
          <a:xfrm>
            <a:off x="406400" y="1779686"/>
            <a:ext cx="5252720" cy="5078314"/>
          </a:xfrm>
          <a:prstGeom prst="rect">
            <a:avLst/>
          </a:prstGeom>
        </p:spPr>
        <p:txBody>
          <a:bodyPr wrap="square">
            <a:spAutoFit/>
          </a:bodyPr>
          <a:lstStyle/>
          <a:p>
            <a:pPr algn="just"/>
            <a:r>
              <a:rPr lang="fr-FR" dirty="0">
                <a:latin typeface="Arial" panose="020B0604020202020204"/>
                <a:cs typeface="Arial" panose="020B0604020202020204"/>
              </a:rPr>
              <a:t>Si la fonction première de l'architecture mégalithique n'est le plus souvent probablement pas directement artistique, le mégalithe est parfois le support privilégié de l'art de son époque. Par exemple, les </a:t>
            </a:r>
            <a:r>
              <a:rPr lang="fr-FR" b="1" dirty="0" err="1">
                <a:latin typeface="Arial" panose="020B0604020202020204"/>
                <a:cs typeface="Arial" panose="020B0604020202020204"/>
              </a:rPr>
              <a:t>orthostats</a:t>
            </a:r>
            <a:r>
              <a:rPr lang="fr-FR" dirty="0">
                <a:latin typeface="Arial" panose="020B0604020202020204"/>
                <a:cs typeface="Arial" panose="020B0604020202020204"/>
              </a:rPr>
              <a:t> des dolmens peuvent être ornés de </a:t>
            </a:r>
            <a:r>
              <a:rPr lang="fr-FR" dirty="0" smtClean="0">
                <a:latin typeface="Arial" panose="020B0604020202020204"/>
                <a:cs typeface="Arial" panose="020B0604020202020204"/>
              </a:rPr>
              <a:t>gravures aux motifs simples, (</a:t>
            </a:r>
            <a:r>
              <a:rPr lang="fr-FR" b="1" dirty="0" smtClean="0">
                <a:latin typeface="Arial" panose="020B0604020202020204"/>
                <a:cs typeface="Arial" panose="020B0604020202020204"/>
              </a:rPr>
              <a:t>cupule</a:t>
            </a:r>
            <a:r>
              <a:rPr lang="fr-FR" dirty="0">
                <a:latin typeface="Arial" panose="020B0604020202020204"/>
                <a:cs typeface="Arial" panose="020B0604020202020204"/>
              </a:rPr>
              <a:t>, ligne, U ou </a:t>
            </a:r>
            <a:r>
              <a:rPr lang="fr-FR" dirty="0" err="1" smtClean="0">
                <a:latin typeface="Arial" panose="020B0604020202020204"/>
                <a:cs typeface="Arial" panose="020B0604020202020204"/>
              </a:rPr>
              <a:t>corniforme</a:t>
            </a:r>
            <a:r>
              <a:rPr lang="fr-FR" dirty="0" smtClean="0">
                <a:latin typeface="Arial" panose="020B0604020202020204"/>
                <a:cs typeface="Arial" panose="020B0604020202020204"/>
              </a:rPr>
              <a:t>), ou complexes (</a:t>
            </a:r>
            <a:r>
              <a:rPr lang="fr-FR" dirty="0">
                <a:latin typeface="Arial" panose="020B0604020202020204"/>
                <a:cs typeface="Arial" panose="020B0604020202020204"/>
              </a:rPr>
              <a:t>haches</a:t>
            </a:r>
            <a:r>
              <a:rPr lang="fr-FR" dirty="0" smtClean="0">
                <a:latin typeface="Arial" panose="020B0604020202020204"/>
                <a:cs typeface="Arial" panose="020B0604020202020204"/>
              </a:rPr>
              <a:t>, </a:t>
            </a:r>
            <a:r>
              <a:rPr lang="fr-FR" dirty="0" err="1" smtClean="0">
                <a:latin typeface="Arial" panose="020B0604020202020204"/>
                <a:cs typeface="Arial" panose="020B0604020202020204"/>
              </a:rPr>
              <a:t>écussons</a:t>
            </a:r>
            <a:r>
              <a:rPr lang="fr-FR" dirty="0" err="1">
                <a:latin typeface="Arial" panose="020B0604020202020204"/>
                <a:cs typeface="Arial" panose="020B0604020202020204"/>
              </a:rPr>
              <a:t>-</a:t>
            </a:r>
            <a:r>
              <a:rPr lang="fr-FR" dirty="0" err="1" smtClean="0">
                <a:latin typeface="Arial" panose="020B0604020202020204"/>
                <a:cs typeface="Arial" panose="020B0604020202020204"/>
              </a:rPr>
              <a:t>bouclier</a:t>
            </a:r>
            <a:r>
              <a:rPr lang="fr-FR" dirty="0" smtClean="0">
                <a:latin typeface="Arial" panose="020B0604020202020204"/>
                <a:cs typeface="Arial" panose="020B0604020202020204"/>
              </a:rPr>
              <a:t>), en creux ou en relief ; </a:t>
            </a:r>
            <a:r>
              <a:rPr lang="fr-FR" dirty="0">
                <a:latin typeface="Arial" panose="020B0604020202020204"/>
                <a:cs typeface="Arial" panose="020B0604020202020204"/>
              </a:rPr>
              <a:t>ils peuvent également avoir été sculptés et présenter une forme anthropomorphe, s'apparentant ainsi à de véritables statues préhistoriques, dont certaines sont sexuées (figuration des seins) et présentent des rangs de colliers. De même, les statues-menhirs sont des mégalithes dont les gravures, parfois fort évoluées et nombreuses, sont les témoins de l'activité artistique des hommes de la préhistoire, l'art s'associant au sacré.</a:t>
            </a:r>
            <a:endParaRPr lang="fr-FR" dirty="0">
              <a:latin typeface="Arial" panose="020B0604020202020204"/>
              <a:cs typeface="Arial" panose="020B0604020202020204"/>
            </a:endParaRPr>
          </a:p>
        </p:txBody>
      </p:sp>
      <p:pic>
        <p:nvPicPr>
          <p:cNvPr id="6" name="Image 5" descr="Newgrange_Entrance_Stone.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867400" y="1925321"/>
            <a:ext cx="3025150" cy="2016760"/>
          </a:xfrm>
          <a:prstGeom prst="rect">
            <a:avLst/>
          </a:prstGeom>
        </p:spPr>
      </p:pic>
      <p:pic>
        <p:nvPicPr>
          <p:cNvPr id="7" name="Image 6" descr="gavrinis0.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7400" y="4525825"/>
            <a:ext cx="3025149" cy="1653028"/>
          </a:xfrm>
          <a:prstGeom prst="rect">
            <a:avLst/>
          </a:prstGeom>
        </p:spPr>
      </p:pic>
      <p:sp>
        <p:nvSpPr>
          <p:cNvPr id="8" name="Rectangle 7"/>
          <p:cNvSpPr/>
          <p:nvPr/>
        </p:nvSpPr>
        <p:spPr>
          <a:xfrm>
            <a:off x="5798810" y="3898921"/>
            <a:ext cx="3233430" cy="461665"/>
          </a:xfrm>
          <a:prstGeom prst="rect">
            <a:avLst/>
          </a:prstGeom>
        </p:spPr>
        <p:txBody>
          <a:bodyPr wrap="square">
            <a:spAutoFit/>
          </a:bodyPr>
          <a:lstStyle/>
          <a:p>
            <a:pPr algn="ctr"/>
            <a:r>
              <a:rPr lang="fr-FR" sz="1200" i="1" dirty="0"/>
              <a:t>Pierre gravée à l'entrée du site de </a:t>
            </a:r>
            <a:r>
              <a:rPr lang="fr-FR" sz="1200" i="1" dirty="0" err="1"/>
              <a:t>Newgrange</a:t>
            </a:r>
            <a:r>
              <a:rPr lang="fr-FR" sz="1200" i="1" dirty="0"/>
              <a:t>, dans le Comté de Meath, au nord de Dublin.</a:t>
            </a:r>
            <a:endParaRPr lang="fr-FR" sz="1200" i="1" dirty="0"/>
          </a:p>
        </p:txBody>
      </p:sp>
      <p:sp>
        <p:nvSpPr>
          <p:cNvPr id="9" name="Rectangle 8"/>
          <p:cNvSpPr/>
          <p:nvPr/>
        </p:nvSpPr>
        <p:spPr>
          <a:xfrm>
            <a:off x="5867399" y="6267827"/>
            <a:ext cx="3025149" cy="461665"/>
          </a:xfrm>
          <a:prstGeom prst="rect">
            <a:avLst/>
          </a:prstGeom>
        </p:spPr>
        <p:txBody>
          <a:bodyPr wrap="square">
            <a:spAutoFit/>
          </a:bodyPr>
          <a:lstStyle/>
          <a:p>
            <a:r>
              <a:rPr lang="fr-FR" sz="1200" i="1" dirty="0"/>
              <a:t>Parois gravées dans le cairn de </a:t>
            </a:r>
            <a:r>
              <a:rPr lang="fr-FR" sz="1200" i="1" dirty="0" smtClean="0"/>
              <a:t>Gavrinis, Bretagne</a:t>
            </a:r>
            <a:r>
              <a:rPr lang="fr-FR" sz="1200" i="1" dirty="0"/>
              <a:t>, 3500 ans av. </a:t>
            </a:r>
            <a:r>
              <a:rPr lang="fr-FR" sz="1200" i="1" dirty="0" smtClean="0"/>
              <a:t>JC </a:t>
            </a:r>
            <a:endParaRPr lang="fr-FR" sz="1200" i="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p:nvPr/>
        </p:nvSpPr>
        <p:spPr>
          <a:xfrm>
            <a:off x="187412" y="280036"/>
            <a:ext cx="8844828"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a:solidFill>
                  <a:srgbClr val="FF0000"/>
                </a:solidFill>
                <a:latin typeface="Quicksand" panose="00000500000000000000" charset="0"/>
                <a:cs typeface="Quicksand" panose="00000500000000000000" charset="0"/>
              </a:rPr>
              <a:t>Temples mégalithiques de </a:t>
            </a:r>
            <a:r>
              <a:rPr lang="fr-FR" dirty="0" smtClean="0">
                <a:solidFill>
                  <a:srgbClr val="FF0000"/>
                </a:solidFill>
                <a:latin typeface="Quicksand" panose="00000500000000000000" charset="0"/>
                <a:cs typeface="Quicksand" panose="00000500000000000000" charset="0"/>
              </a:rPr>
              <a:t>Malte </a:t>
            </a:r>
            <a:endParaRPr lang="fr-FR" dirty="0">
              <a:solidFill>
                <a:srgbClr val="FF0000"/>
              </a:solidFill>
              <a:latin typeface="Quicksand" panose="00000500000000000000" charset="0"/>
              <a:cs typeface="Quicksand" panose="00000500000000000000" charset="0"/>
            </a:endParaRPr>
          </a:p>
          <a:p>
            <a:endParaRPr lang="fr-FR" dirty="0">
              <a:solidFill>
                <a:srgbClr val="FF0000"/>
              </a:solidFill>
              <a:latin typeface="Quicksand" panose="00000500000000000000" charset="0"/>
              <a:cs typeface="Quicksand" panose="00000500000000000000" charset="0"/>
            </a:endParaRPr>
          </a:p>
        </p:txBody>
      </p:sp>
      <p:sp>
        <p:nvSpPr>
          <p:cNvPr id="5" name="Rectangle 4"/>
          <p:cNvSpPr/>
          <p:nvPr/>
        </p:nvSpPr>
        <p:spPr>
          <a:xfrm>
            <a:off x="284480" y="1379368"/>
            <a:ext cx="4958080" cy="5355313"/>
          </a:xfrm>
          <a:prstGeom prst="rect">
            <a:avLst/>
          </a:prstGeom>
        </p:spPr>
        <p:txBody>
          <a:bodyPr wrap="square">
            <a:spAutoFit/>
          </a:bodyPr>
          <a:lstStyle/>
          <a:p>
            <a:pPr algn="just"/>
            <a:r>
              <a:rPr lang="fr-FR" dirty="0">
                <a:latin typeface="Arial" panose="020B0604020202020204"/>
                <a:cs typeface="Arial" panose="020B0604020202020204"/>
              </a:rPr>
              <a:t>Les </a:t>
            </a:r>
            <a:r>
              <a:rPr lang="fr-FR" b="1" dirty="0">
                <a:latin typeface="Arial" panose="020B0604020202020204"/>
                <a:cs typeface="Arial" panose="020B0604020202020204"/>
              </a:rPr>
              <a:t>Temples mégalithiques de </a:t>
            </a:r>
            <a:r>
              <a:rPr lang="fr-FR" b="1" dirty="0" smtClean="0">
                <a:latin typeface="Arial" panose="020B0604020202020204"/>
                <a:cs typeface="Arial" panose="020B0604020202020204"/>
              </a:rPr>
              <a:t>Malte</a:t>
            </a:r>
            <a:r>
              <a:rPr lang="fr-FR" dirty="0" smtClean="0">
                <a:latin typeface="Arial" panose="020B0604020202020204"/>
                <a:cs typeface="Arial" panose="020B0604020202020204"/>
              </a:rPr>
              <a:t>, érigés entre </a:t>
            </a:r>
            <a:r>
              <a:rPr lang="nb-NO" dirty="0" smtClean="0">
                <a:latin typeface="Arial" panose="020B0604020202020204"/>
                <a:cs typeface="Arial" panose="020B0604020202020204"/>
              </a:rPr>
              <a:t>4100 et 2 </a:t>
            </a:r>
            <a:r>
              <a:rPr lang="nb-NO" dirty="0">
                <a:latin typeface="Arial" panose="020B0604020202020204"/>
                <a:cs typeface="Arial" panose="020B0604020202020204"/>
              </a:rPr>
              <a:t>500 av. </a:t>
            </a:r>
            <a:r>
              <a:rPr lang="nb-NO" dirty="0" smtClean="0">
                <a:latin typeface="Arial" panose="020B0604020202020204"/>
                <a:cs typeface="Arial" panose="020B0604020202020204"/>
              </a:rPr>
              <a:t>JC, </a:t>
            </a:r>
            <a:r>
              <a:rPr lang="fr-FR" dirty="0" smtClean="0">
                <a:latin typeface="Arial" panose="020B0604020202020204"/>
                <a:cs typeface="Arial" panose="020B0604020202020204"/>
              </a:rPr>
              <a:t>sont </a:t>
            </a:r>
            <a:r>
              <a:rPr lang="fr-FR" dirty="0">
                <a:latin typeface="Arial" panose="020B0604020202020204"/>
                <a:cs typeface="Arial" panose="020B0604020202020204"/>
              </a:rPr>
              <a:t>un ensemble de temples présents dans l'archipel maltais, sur les îles de </a:t>
            </a:r>
            <a:r>
              <a:rPr lang="fr-FR" b="1" dirty="0">
                <a:latin typeface="Arial" panose="020B0604020202020204"/>
                <a:cs typeface="Arial" panose="020B0604020202020204"/>
              </a:rPr>
              <a:t>Malte</a:t>
            </a:r>
            <a:r>
              <a:rPr lang="fr-FR" dirty="0">
                <a:latin typeface="Arial" panose="020B0604020202020204"/>
                <a:cs typeface="Arial" panose="020B0604020202020204"/>
              </a:rPr>
              <a:t> et </a:t>
            </a:r>
            <a:r>
              <a:rPr lang="fr-FR" b="1" dirty="0">
                <a:latin typeface="Arial" panose="020B0604020202020204"/>
                <a:cs typeface="Arial" panose="020B0604020202020204"/>
              </a:rPr>
              <a:t>Gozo</a:t>
            </a:r>
            <a:r>
              <a:rPr lang="fr-FR" dirty="0">
                <a:latin typeface="Arial" panose="020B0604020202020204"/>
                <a:cs typeface="Arial" panose="020B0604020202020204"/>
              </a:rPr>
              <a:t>. </a:t>
            </a:r>
            <a:r>
              <a:rPr lang="fr-FR" dirty="0" smtClean="0">
                <a:latin typeface="Arial" panose="020B0604020202020204"/>
                <a:cs typeface="Arial" panose="020B0604020202020204"/>
              </a:rPr>
              <a:t>Le petit archipel </a:t>
            </a:r>
            <a:r>
              <a:rPr lang="fr-FR" dirty="0">
                <a:latin typeface="Arial" panose="020B0604020202020204"/>
                <a:cs typeface="Arial" panose="020B0604020202020204"/>
              </a:rPr>
              <a:t>concentre un nombre important de temples mégalithiques : actuellement dix-sept sites inventoriés regroupent trente-trois temples. Il faut ajouter une quinzaine d'autres sites qui représentaient au moins autant de temples </a:t>
            </a:r>
            <a:r>
              <a:rPr lang="fr-FR" dirty="0" smtClean="0">
                <a:latin typeface="Arial" panose="020B0604020202020204"/>
                <a:cs typeface="Arial" panose="020B0604020202020204"/>
              </a:rPr>
              <a:t>supplémentaires, aujourd'hui disparus.</a:t>
            </a:r>
            <a:r>
              <a:rPr lang="fr-FR" dirty="0">
                <a:latin typeface="Arial" panose="020B0604020202020204"/>
                <a:cs typeface="Arial" panose="020B0604020202020204"/>
              </a:rPr>
              <a:t> </a:t>
            </a:r>
            <a:r>
              <a:rPr lang="fr-FR" dirty="0" smtClean="0">
                <a:latin typeface="Arial" panose="020B0604020202020204"/>
                <a:cs typeface="Arial" panose="020B0604020202020204"/>
              </a:rPr>
              <a:t>Certains </a:t>
            </a:r>
            <a:r>
              <a:rPr lang="fr-FR" dirty="0">
                <a:latin typeface="Arial" panose="020B0604020202020204"/>
                <a:cs typeface="Arial" panose="020B0604020202020204"/>
              </a:rPr>
              <a:t>de ces temples mégalithiques sont inscrits sur la liste du patrimoine mondial de </a:t>
            </a:r>
            <a:r>
              <a:rPr lang="fr-FR" dirty="0" smtClean="0">
                <a:latin typeface="Arial" panose="020B0604020202020204"/>
                <a:cs typeface="Arial" panose="020B0604020202020204"/>
              </a:rPr>
              <a:t>l'UNESCO. Ces temples sont les premiers édifices purement </a:t>
            </a:r>
            <a:r>
              <a:rPr lang="fr-FR" dirty="0">
                <a:latin typeface="Arial" panose="020B0604020202020204"/>
                <a:cs typeface="Arial" panose="020B0604020202020204"/>
              </a:rPr>
              <a:t>cultuelle </a:t>
            </a:r>
            <a:r>
              <a:rPr lang="fr-FR" dirty="0" smtClean="0">
                <a:latin typeface="Arial" panose="020B0604020202020204"/>
                <a:cs typeface="Arial" panose="020B0604020202020204"/>
              </a:rPr>
              <a:t>du </a:t>
            </a:r>
            <a:r>
              <a:rPr lang="fr-FR" b="1" dirty="0" smtClean="0">
                <a:latin typeface="Arial" panose="020B0604020202020204"/>
                <a:cs typeface="Arial" panose="020B0604020202020204"/>
              </a:rPr>
              <a:t>Néolithique</a:t>
            </a:r>
            <a:r>
              <a:rPr lang="fr-FR" dirty="0" smtClean="0">
                <a:latin typeface="Arial" panose="020B0604020202020204"/>
                <a:cs typeface="Arial" panose="020B0604020202020204"/>
              </a:rPr>
              <a:t>. Ils sont constitués de </a:t>
            </a:r>
            <a:r>
              <a:rPr lang="fr-FR" b="1" dirty="0" smtClean="0">
                <a:latin typeface="Arial" panose="020B0604020202020204"/>
                <a:cs typeface="Arial" panose="020B0604020202020204"/>
              </a:rPr>
              <a:t>Monolithes taillés </a:t>
            </a:r>
            <a:r>
              <a:rPr lang="fr-FR" dirty="0" smtClean="0">
                <a:latin typeface="Arial" panose="020B0604020202020204"/>
                <a:cs typeface="Arial" panose="020B0604020202020204"/>
              </a:rPr>
              <a:t>et d’un petit </a:t>
            </a:r>
            <a:r>
              <a:rPr lang="fr-FR" dirty="0">
                <a:latin typeface="Arial" panose="020B0604020202020204"/>
                <a:cs typeface="Arial" panose="020B0604020202020204"/>
              </a:rPr>
              <a:t>appareil de pierres </a:t>
            </a:r>
            <a:r>
              <a:rPr lang="fr-FR" dirty="0" smtClean="0">
                <a:latin typeface="Arial" panose="020B0604020202020204"/>
                <a:cs typeface="Arial" panose="020B0604020202020204"/>
              </a:rPr>
              <a:t>sèches et se caractérisent par des </a:t>
            </a:r>
            <a:r>
              <a:rPr lang="fr-FR" b="1" dirty="0" smtClean="0">
                <a:latin typeface="Arial" panose="020B0604020202020204"/>
                <a:cs typeface="Arial" panose="020B0604020202020204"/>
              </a:rPr>
              <a:t>plans polylobés</a:t>
            </a:r>
            <a:r>
              <a:rPr lang="fr-FR" dirty="0" smtClean="0">
                <a:latin typeface="Arial" panose="020B0604020202020204"/>
                <a:cs typeface="Arial" panose="020B0604020202020204"/>
              </a:rPr>
              <a:t>. On peut observe des sculptures en bas relief sur certains temples.</a:t>
            </a:r>
            <a:endParaRPr lang="fr-FR" dirty="0">
              <a:latin typeface="Arial" panose="020B0604020202020204"/>
              <a:cs typeface="Arial" panose="020B0604020202020204"/>
            </a:endParaRPr>
          </a:p>
        </p:txBody>
      </p:sp>
      <p:pic>
        <p:nvPicPr>
          <p:cNvPr id="6" name="Image 5" descr="GgantijaMalte543po.jpg"/>
          <p:cNvPicPr>
            <a:picLocks noChangeAspect="1"/>
          </p:cNvPicPr>
          <p:nvPr/>
        </p:nvPicPr>
        <p:blipFill rotWithShape="1">
          <a:blip r:embed="rId1">
            <a:extLst>
              <a:ext uri="{28A0092B-C50C-407E-A947-70E740481C1C}">
                <a14:useLocalDpi xmlns:a14="http://schemas.microsoft.com/office/drawing/2010/main" val="0"/>
              </a:ext>
            </a:extLst>
          </a:blip>
          <a:srcRect l="6040" r="7182"/>
          <a:stretch>
            <a:fillRect/>
          </a:stretch>
        </p:blipFill>
        <p:spPr>
          <a:xfrm>
            <a:off x="5433468" y="1267460"/>
            <a:ext cx="3484076" cy="2410460"/>
          </a:xfrm>
          <a:prstGeom prst="rect">
            <a:avLst/>
          </a:prstGeom>
        </p:spPr>
      </p:pic>
      <p:sp>
        <p:nvSpPr>
          <p:cNvPr id="7" name="Rectangle 6"/>
          <p:cNvSpPr/>
          <p:nvPr/>
        </p:nvSpPr>
        <p:spPr>
          <a:xfrm>
            <a:off x="5242560" y="6433689"/>
            <a:ext cx="3948166" cy="307777"/>
          </a:xfrm>
          <a:prstGeom prst="rect">
            <a:avLst/>
          </a:prstGeom>
        </p:spPr>
        <p:txBody>
          <a:bodyPr wrap="none">
            <a:spAutoFit/>
          </a:bodyPr>
          <a:lstStyle/>
          <a:p>
            <a:r>
              <a:rPr lang="fr-FR" sz="1400" i="1" dirty="0" smtClean="0"/>
              <a:t>Vue aérienne  et vue en plan du temple de </a:t>
            </a:r>
            <a:r>
              <a:rPr lang="pl-PL" sz="1400" i="1" dirty="0" err="1" smtClean="0"/>
              <a:t>Mnajdra</a:t>
            </a:r>
            <a:endParaRPr lang="fr-FR" sz="1400" i="1" dirty="0"/>
          </a:p>
        </p:txBody>
      </p:sp>
      <p:pic>
        <p:nvPicPr>
          <p:cNvPr id="10" name="Image 9" descr="mnplan.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07636" y="3677920"/>
            <a:ext cx="3017520" cy="273078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p:nvPr/>
        </p:nvSpPr>
        <p:spPr>
          <a:xfrm>
            <a:off x="187412" y="280036"/>
            <a:ext cx="8844828"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smtClean="0">
                <a:solidFill>
                  <a:srgbClr val="FF0000"/>
                </a:solidFill>
                <a:latin typeface="Quicksand" panose="00000500000000000000" charset="0"/>
                <a:cs typeface="Quicksand" panose="00000500000000000000" charset="0"/>
              </a:rPr>
              <a:t>Glossaire</a:t>
            </a:r>
            <a:endParaRPr lang="fr-FR" dirty="0">
              <a:solidFill>
                <a:srgbClr val="FF0000"/>
              </a:solidFill>
              <a:latin typeface="Quicksand" panose="00000500000000000000" charset="0"/>
              <a:cs typeface="Quicksand" panose="00000500000000000000" charset="0"/>
            </a:endParaRPr>
          </a:p>
          <a:p>
            <a:endParaRPr lang="fr-FR" dirty="0">
              <a:solidFill>
                <a:srgbClr val="FF0000"/>
              </a:solidFill>
              <a:latin typeface="Quicksand" panose="00000500000000000000" charset="0"/>
              <a:cs typeface="Quicksand" panose="00000500000000000000" charset="0"/>
            </a:endParaRPr>
          </a:p>
        </p:txBody>
      </p:sp>
      <p:sp>
        <p:nvSpPr>
          <p:cNvPr id="6" name="Rectangle 5"/>
          <p:cNvSpPr/>
          <p:nvPr/>
        </p:nvSpPr>
        <p:spPr>
          <a:xfrm>
            <a:off x="187412" y="1087756"/>
            <a:ext cx="8844828" cy="5509201"/>
          </a:xfrm>
          <a:prstGeom prst="rect">
            <a:avLst/>
          </a:prstGeom>
        </p:spPr>
        <p:txBody>
          <a:bodyPr wrap="square">
            <a:spAutoFit/>
          </a:bodyPr>
          <a:lstStyle/>
          <a:p>
            <a:pPr lvl="0"/>
            <a:r>
              <a:rPr lang="fr-FR" sz="1600" b="1" dirty="0" smtClean="0">
                <a:solidFill>
                  <a:srgbClr val="FF0000"/>
                </a:solidFill>
                <a:latin typeface="Arial" panose="020B0604020202020204"/>
                <a:cs typeface="Arial" panose="020B0604020202020204"/>
              </a:rPr>
              <a:t>Mégalithes </a:t>
            </a:r>
            <a:r>
              <a:rPr lang="fr-FR" sz="1600" dirty="0">
                <a:latin typeface="Arial" panose="020B0604020202020204"/>
                <a:cs typeface="Arial" panose="020B0604020202020204"/>
              </a:rPr>
              <a:t>:  monument lié au mégalithisme et constitué d’une ou plusieurs pierres de grandes dimensions, érigées (ou levées) par les hommes, sans l’aide de </a:t>
            </a:r>
            <a:r>
              <a:rPr lang="fr-FR" sz="1600" dirty="0" smtClean="0">
                <a:latin typeface="Arial" panose="020B0604020202020204"/>
                <a:cs typeface="Arial" panose="020B0604020202020204"/>
              </a:rPr>
              <a:t>mortier pour </a:t>
            </a:r>
            <a:r>
              <a:rPr lang="fr-FR" sz="1600" dirty="0">
                <a:latin typeface="Arial" panose="020B0604020202020204"/>
                <a:cs typeface="Arial" panose="020B0604020202020204"/>
              </a:rPr>
              <a:t>fixer la structure</a:t>
            </a:r>
            <a:r>
              <a:rPr lang="fr-FR" sz="1600" dirty="0" smtClean="0">
                <a:latin typeface="Arial" panose="020B0604020202020204"/>
                <a:cs typeface="Arial" panose="020B0604020202020204"/>
              </a:rPr>
              <a:t>.</a:t>
            </a:r>
            <a:endParaRPr lang="fr-FR" sz="1600" dirty="0" smtClean="0">
              <a:latin typeface="Arial" panose="020B0604020202020204"/>
              <a:cs typeface="Arial" panose="020B0604020202020204"/>
            </a:endParaRPr>
          </a:p>
          <a:p>
            <a:pPr lvl="0"/>
            <a:r>
              <a:rPr lang="fr-FR" sz="1600" b="1" dirty="0" smtClean="0">
                <a:solidFill>
                  <a:srgbClr val="FF0000"/>
                </a:solidFill>
                <a:latin typeface="Arial" panose="020B0604020202020204"/>
                <a:cs typeface="Arial" panose="020B0604020202020204"/>
              </a:rPr>
              <a:t>Mégalithisme </a:t>
            </a:r>
            <a:r>
              <a:rPr lang="fr-FR" sz="1600" dirty="0" smtClean="0">
                <a:latin typeface="Arial" panose="020B0604020202020204"/>
                <a:cs typeface="Arial" panose="020B0604020202020204"/>
              </a:rPr>
              <a:t>: forme </a:t>
            </a:r>
            <a:r>
              <a:rPr lang="fr-FR" sz="1600" dirty="0">
                <a:latin typeface="Arial" panose="020B0604020202020204"/>
                <a:cs typeface="Arial" panose="020B0604020202020204"/>
              </a:rPr>
              <a:t>d'architecture consistant à ériger des mégalithes </a:t>
            </a:r>
            <a:endParaRPr lang="fr-FR" sz="1600" dirty="0" smtClean="0">
              <a:latin typeface="Arial" panose="020B0604020202020204"/>
              <a:cs typeface="Arial" panose="020B0604020202020204"/>
            </a:endParaRPr>
          </a:p>
          <a:p>
            <a:pPr lvl="0"/>
            <a:r>
              <a:rPr lang="fr-FR" sz="1600" b="1" dirty="0" smtClean="0">
                <a:solidFill>
                  <a:srgbClr val="FF0000"/>
                </a:solidFill>
                <a:latin typeface="Arial" panose="020B0604020202020204"/>
                <a:cs typeface="Arial" panose="020B0604020202020204"/>
              </a:rPr>
              <a:t>Tumulus</a:t>
            </a:r>
            <a:r>
              <a:rPr lang="fr-FR" sz="1600" dirty="0" smtClean="0">
                <a:latin typeface="Arial" panose="020B0604020202020204"/>
                <a:cs typeface="Arial" panose="020B0604020202020204"/>
              </a:rPr>
              <a:t> : amas </a:t>
            </a:r>
            <a:r>
              <a:rPr lang="fr-FR" sz="1600" dirty="0">
                <a:latin typeface="Arial" panose="020B0604020202020204"/>
                <a:cs typeface="Arial" panose="020B0604020202020204"/>
              </a:rPr>
              <a:t>artificiel composé de pierres et/ou de terre recouvrant une sépulture. On parle de </a:t>
            </a:r>
            <a:r>
              <a:rPr lang="fr-FR" sz="1600" b="1" dirty="0">
                <a:solidFill>
                  <a:srgbClr val="FF0000"/>
                </a:solidFill>
                <a:latin typeface="Arial" panose="020B0604020202020204"/>
                <a:cs typeface="Arial" panose="020B0604020202020204"/>
              </a:rPr>
              <a:t>cairn</a:t>
            </a:r>
            <a:r>
              <a:rPr lang="fr-FR" sz="1600" dirty="0">
                <a:latin typeface="Arial" panose="020B0604020202020204"/>
                <a:cs typeface="Arial" panose="020B0604020202020204"/>
              </a:rPr>
              <a:t> lorsque l’édifice est composé exclusivement de pierres sèches et de </a:t>
            </a:r>
            <a:r>
              <a:rPr lang="fr-FR" sz="1600" b="1" dirty="0">
                <a:solidFill>
                  <a:srgbClr val="FF0000"/>
                </a:solidFill>
                <a:latin typeface="Arial" panose="020B0604020202020204"/>
                <a:cs typeface="Arial" panose="020B0604020202020204"/>
              </a:rPr>
              <a:t>tertre</a:t>
            </a:r>
            <a:r>
              <a:rPr lang="fr-FR" sz="1600" dirty="0">
                <a:latin typeface="Arial" panose="020B0604020202020204"/>
                <a:cs typeface="Arial" panose="020B0604020202020204"/>
              </a:rPr>
              <a:t> quand il est composé uniquement de </a:t>
            </a:r>
            <a:r>
              <a:rPr lang="fr-FR" sz="1600" dirty="0" smtClean="0">
                <a:latin typeface="Arial" panose="020B0604020202020204"/>
                <a:cs typeface="Arial" panose="020B0604020202020204"/>
              </a:rPr>
              <a:t>terre.</a:t>
            </a:r>
            <a:endParaRPr lang="fr-FR" sz="1600" dirty="0" smtClean="0">
              <a:solidFill>
                <a:srgbClr val="FF0000"/>
              </a:solidFill>
              <a:latin typeface="Arial" panose="020B0604020202020204"/>
              <a:cs typeface="Arial" panose="020B0604020202020204"/>
            </a:endParaRPr>
          </a:p>
          <a:p>
            <a:pPr lvl="0"/>
            <a:r>
              <a:rPr lang="fr-FR" sz="1600" b="1" dirty="0" smtClean="0">
                <a:solidFill>
                  <a:srgbClr val="FF0000"/>
                </a:solidFill>
                <a:latin typeface="Arial" panose="020B0604020202020204"/>
                <a:cs typeface="Arial" panose="020B0604020202020204"/>
              </a:rPr>
              <a:t>Cupule</a:t>
            </a:r>
            <a:r>
              <a:rPr lang="fr-FR" sz="1600" dirty="0" smtClean="0">
                <a:solidFill>
                  <a:prstClr val="black"/>
                </a:solidFill>
                <a:latin typeface="Arial" panose="020B0604020202020204"/>
                <a:cs typeface="Arial" panose="020B0604020202020204"/>
              </a:rPr>
              <a:t> </a:t>
            </a:r>
            <a:r>
              <a:rPr lang="fr-FR" sz="1600" dirty="0">
                <a:solidFill>
                  <a:prstClr val="black"/>
                </a:solidFill>
                <a:latin typeface="Arial" panose="020B0604020202020204"/>
                <a:cs typeface="Arial" panose="020B0604020202020204"/>
              </a:rPr>
              <a:t>: en architecture, une cupule est la conque ( dépression ou cavité) décorative ou l'arrondi creusé et sculpté d'une pierre</a:t>
            </a:r>
            <a:r>
              <a:rPr lang="fr-FR" sz="1600" dirty="0" smtClean="0">
                <a:solidFill>
                  <a:prstClr val="black"/>
                </a:solidFill>
                <a:latin typeface="Arial" panose="020B0604020202020204"/>
                <a:cs typeface="Arial" panose="020B0604020202020204"/>
              </a:rPr>
              <a:t>.</a:t>
            </a:r>
            <a:endParaRPr lang="fr-FR" sz="1600" dirty="0" smtClean="0">
              <a:solidFill>
                <a:prstClr val="black"/>
              </a:solidFill>
              <a:latin typeface="Arial" panose="020B0604020202020204"/>
              <a:cs typeface="Arial" panose="020B0604020202020204"/>
            </a:endParaRPr>
          </a:p>
          <a:p>
            <a:pPr lvl="0"/>
            <a:r>
              <a:rPr lang="fr-FR" sz="1600" b="1" dirty="0" smtClean="0">
                <a:solidFill>
                  <a:srgbClr val="FF0000"/>
                </a:solidFill>
                <a:latin typeface="Arial" panose="020B0604020202020204"/>
                <a:cs typeface="Arial" panose="020B0604020202020204"/>
              </a:rPr>
              <a:t>Dolmen</a:t>
            </a:r>
            <a:r>
              <a:rPr lang="fr-FR" sz="1600" b="1" dirty="0" smtClean="0">
                <a:latin typeface="Arial" panose="020B0604020202020204"/>
                <a:cs typeface="Arial" panose="020B0604020202020204"/>
              </a:rPr>
              <a:t> :</a:t>
            </a:r>
            <a:r>
              <a:rPr lang="fr-FR" sz="1600" dirty="0" smtClean="0">
                <a:latin typeface="Arial" panose="020B0604020202020204"/>
                <a:cs typeface="Arial" panose="020B0604020202020204"/>
              </a:rPr>
              <a:t> construction </a:t>
            </a:r>
            <a:r>
              <a:rPr lang="fr-FR" sz="1600" dirty="0">
                <a:latin typeface="Arial" panose="020B0604020202020204"/>
                <a:cs typeface="Arial" panose="020B0604020202020204"/>
              </a:rPr>
              <a:t>mégalithique préhistorique constituée d'une ou plusieurs grosses dalles de couverture (</a:t>
            </a:r>
            <a:r>
              <a:rPr lang="fr-FR" sz="1600" b="1" dirty="0">
                <a:solidFill>
                  <a:srgbClr val="FF0000"/>
                </a:solidFill>
                <a:latin typeface="Arial" panose="020B0604020202020204"/>
                <a:cs typeface="Arial" panose="020B0604020202020204"/>
              </a:rPr>
              <a:t>tables</a:t>
            </a:r>
            <a:r>
              <a:rPr lang="fr-FR" sz="1600" dirty="0">
                <a:latin typeface="Arial" panose="020B0604020202020204"/>
                <a:cs typeface="Arial" panose="020B0604020202020204"/>
              </a:rPr>
              <a:t>) posées sur des pierres verticales qui lui servent de pieds (les </a:t>
            </a:r>
            <a:r>
              <a:rPr lang="fr-FR" sz="1600" b="1" dirty="0">
                <a:solidFill>
                  <a:srgbClr val="FF0000"/>
                </a:solidFill>
                <a:latin typeface="Arial" panose="020B0604020202020204"/>
                <a:cs typeface="Arial" panose="020B0604020202020204"/>
              </a:rPr>
              <a:t>orthostates</a:t>
            </a:r>
            <a:r>
              <a:rPr lang="fr-FR" sz="1600" dirty="0">
                <a:latin typeface="Arial" panose="020B0604020202020204"/>
                <a:cs typeface="Arial" panose="020B0604020202020204"/>
              </a:rPr>
              <a:t>). Le tout était originellement recouvert, maintenu et protégé par un amas artificiel (</a:t>
            </a:r>
            <a:r>
              <a:rPr lang="fr-FR" sz="1600" b="1" dirty="0">
                <a:solidFill>
                  <a:srgbClr val="FF0000"/>
                </a:solidFill>
                <a:latin typeface="Arial" panose="020B0604020202020204"/>
                <a:cs typeface="Arial" panose="020B0604020202020204"/>
              </a:rPr>
              <a:t>tumulus</a:t>
            </a:r>
            <a:r>
              <a:rPr lang="fr-FR" sz="1600" dirty="0">
                <a:latin typeface="Arial" panose="020B0604020202020204"/>
                <a:cs typeface="Arial" panose="020B0604020202020204"/>
              </a:rPr>
              <a:t>, </a:t>
            </a:r>
            <a:r>
              <a:rPr lang="fr-FR" sz="1600" b="1" dirty="0">
                <a:solidFill>
                  <a:srgbClr val="FF0000"/>
                </a:solidFill>
                <a:latin typeface="Arial" panose="020B0604020202020204"/>
                <a:cs typeface="Arial" panose="020B0604020202020204"/>
              </a:rPr>
              <a:t>cairn</a:t>
            </a:r>
            <a:r>
              <a:rPr lang="fr-FR" sz="1600" dirty="0">
                <a:latin typeface="Arial" panose="020B0604020202020204"/>
                <a:cs typeface="Arial" panose="020B0604020202020204"/>
              </a:rPr>
              <a:t> ou </a:t>
            </a:r>
            <a:r>
              <a:rPr lang="fr-FR" sz="1600" b="1" dirty="0">
                <a:solidFill>
                  <a:srgbClr val="FF0000"/>
                </a:solidFill>
                <a:latin typeface="Arial" panose="020B0604020202020204"/>
                <a:cs typeface="Arial" panose="020B0604020202020204"/>
              </a:rPr>
              <a:t>tertre</a:t>
            </a: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 </a:t>
            </a:r>
            <a:br>
              <a:rPr lang="fr-FR" sz="1600" dirty="0">
                <a:latin typeface="Arial" panose="020B0604020202020204"/>
                <a:cs typeface="Arial" panose="020B0604020202020204"/>
              </a:rPr>
            </a:br>
            <a:r>
              <a:rPr lang="fr-FR" sz="1600" b="1" dirty="0">
                <a:solidFill>
                  <a:srgbClr val="FF0000"/>
                </a:solidFill>
                <a:latin typeface="Arial" panose="020B0604020202020204"/>
                <a:cs typeface="Arial" panose="020B0604020202020204"/>
              </a:rPr>
              <a:t>A</a:t>
            </a:r>
            <a:r>
              <a:rPr lang="fr-FR" sz="1600" b="1" dirty="0" smtClean="0">
                <a:solidFill>
                  <a:srgbClr val="FF0000"/>
                </a:solidFill>
                <a:latin typeface="Arial" panose="020B0604020202020204"/>
                <a:cs typeface="Arial" panose="020B0604020202020204"/>
              </a:rPr>
              <a:t>llée couverte </a:t>
            </a:r>
            <a:r>
              <a:rPr lang="fr-FR" sz="1600" dirty="0" smtClean="0">
                <a:latin typeface="Arial" panose="020B0604020202020204"/>
                <a:cs typeface="Arial" panose="020B0604020202020204"/>
              </a:rPr>
              <a:t>: </a:t>
            </a:r>
            <a:r>
              <a:rPr lang="fr-FR" sz="1600" dirty="0">
                <a:latin typeface="Arial" panose="020B0604020202020204"/>
                <a:cs typeface="Arial" panose="020B0604020202020204"/>
              </a:rPr>
              <a:t>type particulier de dolmen. </a:t>
            </a:r>
            <a:endParaRPr lang="fr-FR" sz="1600" dirty="0" smtClean="0">
              <a:latin typeface="Arial" panose="020B0604020202020204"/>
              <a:cs typeface="Arial" panose="020B0604020202020204"/>
            </a:endParaRPr>
          </a:p>
          <a:p>
            <a:pPr lvl="0"/>
            <a:r>
              <a:rPr lang="fr-FR" sz="1600" b="1" dirty="0">
                <a:solidFill>
                  <a:srgbClr val="FF0000"/>
                </a:solidFill>
                <a:latin typeface="Arial" panose="020B0604020202020204"/>
                <a:cs typeface="Arial" panose="020B0604020202020204"/>
              </a:rPr>
              <a:t>M</a:t>
            </a:r>
            <a:r>
              <a:rPr lang="fr-FR" sz="1600" b="1" dirty="0" smtClean="0">
                <a:solidFill>
                  <a:srgbClr val="FF0000"/>
                </a:solidFill>
                <a:latin typeface="Arial" panose="020B0604020202020204"/>
                <a:cs typeface="Arial" panose="020B0604020202020204"/>
              </a:rPr>
              <a:t>enhir  </a:t>
            </a:r>
            <a:r>
              <a:rPr lang="fr-FR" sz="1600" dirty="0" smtClean="0">
                <a:latin typeface="Arial" panose="020B0604020202020204"/>
                <a:cs typeface="Arial" panose="020B0604020202020204"/>
              </a:rPr>
              <a:t>: pierre </a:t>
            </a:r>
            <a:r>
              <a:rPr lang="fr-FR" sz="1600" dirty="0">
                <a:latin typeface="Arial" panose="020B0604020202020204"/>
                <a:cs typeface="Arial" panose="020B0604020202020204"/>
              </a:rPr>
              <a:t>dressée (brute ou </a:t>
            </a:r>
            <a:r>
              <a:rPr lang="fr-FR" sz="1600" dirty="0" err="1">
                <a:latin typeface="Arial" panose="020B0604020202020204"/>
                <a:cs typeface="Arial" panose="020B0604020202020204"/>
              </a:rPr>
              <a:t>retaillée</a:t>
            </a:r>
            <a:r>
              <a:rPr lang="fr-FR" sz="1600" dirty="0">
                <a:latin typeface="Arial" panose="020B0604020202020204"/>
                <a:cs typeface="Arial" panose="020B0604020202020204"/>
              </a:rPr>
              <a:t> (stèle), voir </a:t>
            </a:r>
            <a:r>
              <a:rPr lang="fr-FR" sz="1600" dirty="0" err="1">
                <a:latin typeface="Arial" panose="020B0604020202020204"/>
                <a:cs typeface="Arial" panose="020B0604020202020204"/>
              </a:rPr>
              <a:t>sculptée</a:t>
            </a:r>
            <a:r>
              <a:rPr lang="fr-FR" sz="1600" dirty="0">
                <a:latin typeface="Arial" panose="020B0604020202020204"/>
                <a:cs typeface="Arial" panose="020B0604020202020204"/>
              </a:rPr>
              <a:t>),  plantée verticalement. </a:t>
            </a:r>
            <a:endParaRPr lang="fr-FR" sz="1600" dirty="0" smtClean="0">
              <a:latin typeface="Arial" panose="020B0604020202020204"/>
              <a:cs typeface="Arial" panose="020B0604020202020204"/>
            </a:endParaRPr>
          </a:p>
          <a:p>
            <a:r>
              <a:rPr lang="fr-FR" sz="1600" b="1" dirty="0">
                <a:solidFill>
                  <a:srgbClr val="FF0000"/>
                </a:solidFill>
                <a:latin typeface="Arial" panose="020B0604020202020204"/>
                <a:cs typeface="Arial" panose="020B0604020202020204"/>
              </a:rPr>
              <a:t>C</a:t>
            </a:r>
            <a:r>
              <a:rPr lang="fr-FR" sz="1600" b="1" dirty="0" smtClean="0">
                <a:solidFill>
                  <a:srgbClr val="FF0000"/>
                </a:solidFill>
                <a:latin typeface="Arial" panose="020B0604020202020204"/>
                <a:cs typeface="Arial" panose="020B0604020202020204"/>
              </a:rPr>
              <a:t>romlech</a:t>
            </a:r>
            <a:r>
              <a:rPr lang="fr-FR" sz="1600" dirty="0" smtClean="0">
                <a:latin typeface="Arial" panose="020B0604020202020204"/>
                <a:cs typeface="Arial" panose="020B0604020202020204"/>
              </a:rPr>
              <a:t> : </a:t>
            </a:r>
            <a:r>
              <a:rPr lang="fr-FR" sz="1600" dirty="0">
                <a:latin typeface="Arial" panose="020B0604020202020204"/>
                <a:cs typeface="Arial" panose="020B0604020202020204"/>
              </a:rPr>
              <a:t>monument mégalithique préhistorique constitué par un alignement de monolithes verticaux (menhirs), formant une enceinte de pierres levées, généralement circulaire. </a:t>
            </a:r>
            <a:endParaRPr lang="fr-FR" sz="1600" dirty="0">
              <a:latin typeface="Arial" panose="020B0604020202020204"/>
              <a:cs typeface="Arial" panose="020B0604020202020204"/>
            </a:endParaRPr>
          </a:p>
          <a:p>
            <a:pPr lvl="0"/>
            <a:r>
              <a:rPr lang="fr-FR" sz="1600" b="1" dirty="0" smtClean="0">
                <a:solidFill>
                  <a:srgbClr val="FF0000"/>
                </a:solidFill>
                <a:latin typeface="Arial" panose="020B0604020202020204"/>
                <a:cs typeface="Arial" panose="020B0604020202020204"/>
              </a:rPr>
              <a:t>Néolithique</a:t>
            </a:r>
            <a:r>
              <a:rPr lang="fr-FR" sz="1600" dirty="0" smtClean="0">
                <a:solidFill>
                  <a:prstClr val="black"/>
                </a:solidFill>
                <a:latin typeface="Arial" panose="020B0604020202020204"/>
                <a:cs typeface="Arial" panose="020B0604020202020204"/>
              </a:rPr>
              <a:t> : période </a:t>
            </a:r>
            <a:r>
              <a:rPr lang="fr-FR" sz="1600" dirty="0">
                <a:solidFill>
                  <a:prstClr val="black"/>
                </a:solidFill>
                <a:latin typeface="Arial" panose="020B0604020202020204"/>
                <a:cs typeface="Arial" panose="020B0604020202020204"/>
              </a:rPr>
              <a:t>de la Préhistoire marquée par de profondes mutations techniques, économiques et sociales, liées à l’adoption par les groupes humains d’un modèle de subsistance fondé sur l’agriculture et l’élevage, et impliquant le plus souvent une sédentarisation. le Néolithique débute vers 9 000 ans av. J.-C. dans le </a:t>
            </a:r>
            <a:r>
              <a:rPr lang="fr-FR" sz="1600" i="1" dirty="0">
                <a:solidFill>
                  <a:prstClr val="black"/>
                </a:solidFill>
                <a:latin typeface="Arial" panose="020B0604020202020204"/>
                <a:cs typeface="Arial" panose="020B0604020202020204"/>
              </a:rPr>
              <a:t>c</a:t>
            </a:r>
            <a:r>
              <a:rPr lang="fr-FR" sz="1600" i="1" dirty="0" smtClean="0">
                <a:solidFill>
                  <a:prstClr val="black"/>
                </a:solidFill>
                <a:latin typeface="Arial" panose="020B0604020202020204"/>
                <a:cs typeface="Arial" panose="020B0604020202020204"/>
              </a:rPr>
              <a:t>roissant fertile </a:t>
            </a:r>
            <a:r>
              <a:rPr lang="fr-FR" sz="1600" dirty="0" smtClean="0">
                <a:solidFill>
                  <a:prstClr val="black"/>
                </a:solidFill>
                <a:latin typeface="Arial" panose="020B0604020202020204"/>
                <a:cs typeface="Arial" panose="020B0604020202020204"/>
              </a:rPr>
              <a:t>du </a:t>
            </a:r>
            <a:r>
              <a:rPr lang="fr-FR" sz="1600" dirty="0">
                <a:solidFill>
                  <a:prstClr val="black"/>
                </a:solidFill>
                <a:latin typeface="Arial" panose="020B0604020202020204"/>
                <a:cs typeface="Arial" panose="020B0604020202020204"/>
              </a:rPr>
              <a:t>Proche-Orient</a:t>
            </a:r>
            <a:r>
              <a:rPr lang="fr-FR" sz="1600" dirty="0" smtClean="0">
                <a:solidFill>
                  <a:prstClr val="black"/>
                </a:solidFill>
                <a:latin typeface="Arial" panose="020B0604020202020204"/>
                <a:cs typeface="Arial" panose="020B0604020202020204"/>
              </a:rPr>
              <a:t>, </a:t>
            </a:r>
            <a:r>
              <a:rPr lang="fr-FR" sz="1600" dirty="0">
                <a:solidFill>
                  <a:prstClr val="black"/>
                </a:solidFill>
                <a:latin typeface="Arial" panose="020B0604020202020204"/>
                <a:cs typeface="Arial" panose="020B0604020202020204"/>
              </a:rPr>
              <a:t>le sud-est de l'Anatolie, le nord de la Mésopotamie et le Levant. Il prend fin avec la généralisation de la métallurgie et l’invention de l’écriture, vers 3 300 ans av. J.-C.</a:t>
            </a:r>
            <a:endParaRPr lang="fr-FR" sz="1600" dirty="0">
              <a:solidFill>
                <a:prstClr val="black"/>
              </a:solidFill>
              <a:latin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11768</Words>
  <Application>WPS Presentation</Application>
  <PresentationFormat>Présentation à l'écran (4:3)</PresentationFormat>
  <Paragraphs>174</Paragraphs>
  <Slides>25</Slides>
  <Notes>4</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25</vt:i4>
      </vt:variant>
    </vt:vector>
  </HeadingPairs>
  <TitlesOfParts>
    <vt:vector size="41" baseType="lpstr">
      <vt:lpstr>Arial</vt:lpstr>
      <vt:lpstr>SimSun</vt:lpstr>
      <vt:lpstr>Wingdings</vt:lpstr>
      <vt:lpstr>Arial</vt:lpstr>
      <vt:lpstr>Futura Std Medium</vt:lpstr>
      <vt:lpstr>AMGDT</vt:lpstr>
      <vt:lpstr>Calibri</vt:lpstr>
      <vt:lpstr>Microsoft YaHei</vt:lpstr>
      <vt:lpstr>Arial Unicode MS</vt:lpstr>
      <vt:lpstr>Noto Sans</vt:lpstr>
      <vt:lpstr>Carter One</vt:lpstr>
      <vt:lpstr>Noto Sans JP</vt:lpstr>
      <vt:lpstr>Black Ops One</vt:lpstr>
      <vt:lpstr>Quicksand</vt:lpstr>
      <vt:lpstr>Artifakt Element</vt:lpstr>
      <vt:lpstr>Thème Office</vt:lpstr>
      <vt:lpstr>HISTOIRE DE L’ARCHITECTURE </vt:lpstr>
      <vt:lpstr>Chapitre I – Mégalithisme</vt:lpstr>
      <vt:lpstr>PowerPoint 演示文稿</vt:lpstr>
      <vt:lpstr>Un phénomène complexe</vt:lpstr>
      <vt:lpstr>Le Mégalithisme dans le monde</vt:lpstr>
      <vt:lpstr>Le Mégalithisme aujourd’hui</vt:lpstr>
      <vt:lpstr>Le dolmen : une sépulture à la morphologie variable</vt:lpstr>
      <vt:lpstr>Eléments structuraux d’un dolmen</vt:lpstr>
      <vt:lpstr>Eléments structuraux d’un dolmen</vt:lpstr>
      <vt:lpstr>Eléments structuraux d’un dolmen</vt:lpstr>
      <vt:lpstr>Eléments structuraux d’un dolmen</vt:lpstr>
      <vt:lpstr>Eléments structuraux d’un dolmen</vt:lpstr>
      <vt:lpstr>Eléments structuraux d’un dolmen</vt:lpstr>
      <vt:lpstr>Eléments structuraux d’un dolmen</vt:lpstr>
      <vt:lpstr>Dolmen sous cairn</vt:lpstr>
      <vt:lpstr>Tertres à coffre et dalle  </vt:lpstr>
      <vt:lpstr>Dolmen à couloir et à chambre simple</vt:lpstr>
      <vt:lpstr>Autre types de dolmen à couloir </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arting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HISTOIRE DE L’ARCHITECTURE </dc:title>
  <dc:creator>Carole Diop</dc:creator>
  <cp:lastModifiedBy>Henry Moustapha Ngom</cp:lastModifiedBy>
  <cp:revision>56</cp:revision>
  <dcterms:created xsi:type="dcterms:W3CDTF">2015-10-25T15:26:00Z</dcterms:created>
  <dcterms:modified xsi:type="dcterms:W3CDTF">2025-07-09T10:27:00Z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5AB2B316421440C9A9652D346BDBC606_12</vt:lpwstr>
  </property>
  <property fmtid="{D5CDD505-2E9C-101B-9397-08002B2CF9AE}" pid="3" name="KSOProductBuildVer">
    <vt:lpwstr>3084-12.2.0.21602</vt:lpwstr>
  </property>
</Properties>
</file>