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80" r:id="rId5"/>
    <p:sldId id="281" r:id="rId6"/>
    <p:sldId id="282" r:id="rId7"/>
    <p:sldId id="283" r:id="rId8"/>
    <p:sldId id="284" r:id="rId9"/>
    <p:sldId id="285" r:id="rId10"/>
    <p:sldId id="286" r:id="rId11"/>
    <p:sldId id="287" r:id="rId12"/>
    <p:sldId id="288" r:id="rId13"/>
    <p:sldId id="289" r:id="rId14"/>
    <p:sldId id="290" r:id="rId15"/>
    <p:sldId id="291" r:id="rId16"/>
    <p:sldId id="292" r:id="rId17"/>
    <p:sldId id="279" r:id="rId18"/>
  </p:sldIdLst>
  <p:sldSz cx="9144000" cy="6858000" type="screen4x3"/>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8000" autoAdjust="0"/>
  </p:normalViewPr>
  <p:slideViewPr>
    <p:cSldViewPr snapToGrid="0" snapToObjects="1">
      <p:cViewPr varScale="1">
        <p:scale>
          <a:sx n="100" d="100"/>
          <a:sy n="100" d="100"/>
        </p:scale>
        <p:origin x="946"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E3A34B-0840-0446-86EF-391E62D3EC31}" type="datetimeFigureOut">
              <a:rPr lang="fr-FR" smtClean="0"/>
              <a:t>24/05/2024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8F94D2-74A3-FD49-83C6-6F55007D9FD4}" type="slidenum">
              <a:rPr lang="fr-FR" smtClean="0"/>
              <a:t>‹N°›</a:t>
            </a:fld>
            <a:endParaRPr lang="fr-FR"/>
          </a:p>
        </p:txBody>
      </p:sp>
    </p:spTree>
    <p:extLst>
      <p:ext uri="{BB962C8B-B14F-4D97-AF65-F5344CB8AC3E}">
        <p14:creationId xmlns:p14="http://schemas.microsoft.com/office/powerpoint/2010/main" val="276410253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t>2</a:t>
            </a:fld>
            <a:endParaRPr lang="fr-FR"/>
          </a:p>
        </p:txBody>
      </p:sp>
    </p:spTree>
    <p:extLst>
      <p:ext uri="{BB962C8B-B14F-4D97-AF65-F5344CB8AC3E}">
        <p14:creationId xmlns:p14="http://schemas.microsoft.com/office/powerpoint/2010/main" val="26421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et modifiez le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EC72AFA2-8D06-AC4A-BB17-A2C238DE2304}" type="datetimeFigureOut">
              <a:rPr lang="fr-FR" smtClean="0"/>
              <a:t>24/05/2024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t>‹N°›</a:t>
            </a:fld>
            <a:endParaRPr lang="fr-FR"/>
          </a:p>
        </p:txBody>
      </p:sp>
    </p:spTree>
    <p:extLst>
      <p:ext uri="{BB962C8B-B14F-4D97-AF65-F5344CB8AC3E}">
        <p14:creationId xmlns:p14="http://schemas.microsoft.com/office/powerpoint/2010/main" val="1086774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EC72AFA2-8D06-AC4A-BB17-A2C238DE2304}" type="datetimeFigureOut">
              <a:rPr lang="fr-FR" smtClean="0"/>
              <a:t>24/05/2024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t>‹N°›</a:t>
            </a:fld>
            <a:endParaRPr lang="fr-FR"/>
          </a:p>
        </p:txBody>
      </p:sp>
    </p:spTree>
    <p:extLst>
      <p:ext uri="{BB962C8B-B14F-4D97-AF65-F5344CB8AC3E}">
        <p14:creationId xmlns:p14="http://schemas.microsoft.com/office/powerpoint/2010/main" val="2154416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EC72AFA2-8D06-AC4A-BB17-A2C238DE2304}" type="datetimeFigureOut">
              <a:rPr lang="fr-FR" smtClean="0"/>
              <a:t>24/05/2024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t>‹N°›</a:t>
            </a:fld>
            <a:endParaRPr lang="fr-FR"/>
          </a:p>
        </p:txBody>
      </p:sp>
    </p:spTree>
    <p:extLst>
      <p:ext uri="{BB962C8B-B14F-4D97-AF65-F5344CB8AC3E}">
        <p14:creationId xmlns:p14="http://schemas.microsoft.com/office/powerpoint/2010/main" val="2037859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EC72AFA2-8D06-AC4A-BB17-A2C238DE2304}" type="datetimeFigureOut">
              <a:rPr lang="fr-FR" smtClean="0"/>
              <a:t>24/05/2024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t>‹N°›</a:t>
            </a:fld>
            <a:endParaRPr lang="fr-FR"/>
          </a:p>
        </p:txBody>
      </p:sp>
    </p:spTree>
    <p:extLst>
      <p:ext uri="{BB962C8B-B14F-4D97-AF65-F5344CB8AC3E}">
        <p14:creationId xmlns:p14="http://schemas.microsoft.com/office/powerpoint/2010/main" val="842392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EC72AFA2-8D06-AC4A-BB17-A2C238DE2304}" type="datetimeFigureOut">
              <a:rPr lang="fr-FR" smtClean="0"/>
              <a:t>24/05/2024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B7253EB-8335-C74A-8688-1E7F3D83491B}" type="slidenum">
              <a:rPr lang="fr-FR" smtClean="0"/>
              <a:t>‹N°›</a:t>
            </a:fld>
            <a:endParaRPr lang="fr-FR"/>
          </a:p>
        </p:txBody>
      </p:sp>
    </p:spTree>
    <p:extLst>
      <p:ext uri="{BB962C8B-B14F-4D97-AF65-F5344CB8AC3E}">
        <p14:creationId xmlns:p14="http://schemas.microsoft.com/office/powerpoint/2010/main" val="3252742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e la date 2"/>
          <p:cNvSpPr>
            <a:spLocks noGrp="1"/>
          </p:cNvSpPr>
          <p:nvPr>
            <p:ph type="dt" sz="half" idx="10"/>
          </p:nvPr>
        </p:nvSpPr>
        <p:spPr/>
        <p:txBody>
          <a:bodyPr/>
          <a:lstStyle/>
          <a:p>
            <a:fld id="{EC72AFA2-8D06-AC4A-BB17-A2C238DE2304}" type="datetimeFigureOut">
              <a:rPr lang="fr-FR" smtClean="0"/>
              <a:t>24/05/2024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B7253EB-8335-C74A-8688-1E7F3D83491B}" type="slidenum">
              <a:rPr lang="fr-FR" smtClean="0"/>
              <a:t>‹N°›</a:t>
            </a:fld>
            <a:endParaRPr lang="fr-FR"/>
          </a:p>
        </p:txBody>
      </p:sp>
    </p:spTree>
    <p:extLst>
      <p:ext uri="{BB962C8B-B14F-4D97-AF65-F5344CB8AC3E}">
        <p14:creationId xmlns:p14="http://schemas.microsoft.com/office/powerpoint/2010/main" val="2476042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C72AFA2-8D06-AC4A-BB17-A2C238DE2304}" type="datetimeFigureOut">
              <a:rPr lang="fr-FR" smtClean="0"/>
              <a:t>24/05/2024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B7253EB-8335-C74A-8688-1E7F3D83491B}" type="slidenum">
              <a:rPr lang="fr-FR" smtClean="0"/>
              <a:t>‹N°›</a:t>
            </a:fld>
            <a:endParaRPr lang="fr-FR"/>
          </a:p>
        </p:txBody>
      </p:sp>
    </p:spTree>
    <p:extLst>
      <p:ext uri="{BB962C8B-B14F-4D97-AF65-F5344CB8AC3E}">
        <p14:creationId xmlns:p14="http://schemas.microsoft.com/office/powerpoint/2010/main" val="740129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et modifiez le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EC72AFA2-8D06-AC4A-BB17-A2C238DE2304}" type="datetimeFigureOut">
              <a:rPr lang="fr-FR" smtClean="0"/>
              <a:t>24/05/2024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t>‹N°›</a:t>
            </a:fld>
            <a:endParaRPr lang="fr-FR"/>
          </a:p>
        </p:txBody>
      </p:sp>
    </p:spTree>
    <p:extLst>
      <p:ext uri="{BB962C8B-B14F-4D97-AF65-F5344CB8AC3E}">
        <p14:creationId xmlns:p14="http://schemas.microsoft.com/office/powerpoint/2010/main" val="3802735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et modifiez le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EC72AFA2-8D06-AC4A-BB17-A2C238DE2304}" type="datetimeFigureOut">
              <a:rPr lang="fr-FR" smtClean="0"/>
              <a:t>24/05/2024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t>‹N°›</a:t>
            </a:fld>
            <a:endParaRPr lang="fr-FR"/>
          </a:p>
        </p:txBody>
      </p:sp>
    </p:spTree>
    <p:extLst>
      <p:ext uri="{BB962C8B-B14F-4D97-AF65-F5344CB8AC3E}">
        <p14:creationId xmlns:p14="http://schemas.microsoft.com/office/powerpoint/2010/main" val="38975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EC72AFA2-8D06-AC4A-BB17-A2C238DE2304}" type="datetimeFigureOut">
              <a:rPr lang="fr-FR" smtClean="0"/>
              <a:t>24/05/2024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t>‹N°›</a:t>
            </a:fld>
            <a:endParaRPr lang="fr-FR"/>
          </a:p>
        </p:txBody>
      </p:sp>
    </p:spTree>
    <p:extLst>
      <p:ext uri="{BB962C8B-B14F-4D97-AF65-F5344CB8AC3E}">
        <p14:creationId xmlns:p14="http://schemas.microsoft.com/office/powerpoint/2010/main" val="663518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EC72AFA2-8D06-AC4A-BB17-A2C238DE2304}" type="datetimeFigureOut">
              <a:rPr lang="fr-FR" smtClean="0"/>
              <a:t>24/05/2024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t>‹N°›</a:t>
            </a:fld>
            <a:endParaRPr lang="fr-FR"/>
          </a:p>
        </p:txBody>
      </p:sp>
    </p:spTree>
    <p:extLst>
      <p:ext uri="{BB962C8B-B14F-4D97-AF65-F5344CB8AC3E}">
        <p14:creationId xmlns:p14="http://schemas.microsoft.com/office/powerpoint/2010/main" val="2478346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et modifiez le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72AFA2-8D06-AC4A-BB17-A2C238DE2304}" type="datetimeFigureOut">
              <a:rPr lang="fr-FR" smtClean="0"/>
              <a:t>24/05/2024</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7253EB-8335-C74A-8688-1E7F3D83491B}" type="slidenum">
              <a:rPr lang="fr-FR" smtClean="0"/>
              <a:t>‹N°›</a:t>
            </a:fld>
            <a:endParaRPr lang="fr-FR"/>
          </a:p>
        </p:txBody>
      </p:sp>
    </p:spTree>
    <p:extLst>
      <p:ext uri="{BB962C8B-B14F-4D97-AF65-F5344CB8AC3E}">
        <p14:creationId xmlns:p14="http://schemas.microsoft.com/office/powerpoint/2010/main" val="1315301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1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a:latin typeface="Futura Std Medium"/>
                <a:cs typeface="Futura Std Medium"/>
              </a:rPr>
              <a:t>HISTOIRE DE L’ARCHITECTURE </a:t>
            </a:r>
          </a:p>
        </p:txBody>
      </p:sp>
      <p:sp>
        <p:nvSpPr>
          <p:cNvPr id="3" name="Sous-titre 2"/>
          <p:cNvSpPr>
            <a:spLocks noGrp="1"/>
          </p:cNvSpPr>
          <p:nvPr>
            <p:ph type="subTitle" idx="1"/>
          </p:nvPr>
        </p:nvSpPr>
        <p:spPr>
          <a:xfrm>
            <a:off x="685800" y="3886200"/>
            <a:ext cx="7772400" cy="1752600"/>
          </a:xfrm>
        </p:spPr>
        <p:txBody>
          <a:bodyPr/>
          <a:lstStyle/>
          <a:p>
            <a:r>
              <a:rPr lang="fr-FR" dirty="0">
                <a:solidFill>
                  <a:srgbClr val="FF0000"/>
                </a:solidFill>
                <a:latin typeface="Futura Std Medium"/>
                <a:cs typeface="Futura Std Medium"/>
              </a:rPr>
              <a:t>PARTIE III </a:t>
            </a:r>
          </a:p>
          <a:p>
            <a:r>
              <a:rPr lang="fr-FR" dirty="0">
                <a:solidFill>
                  <a:srgbClr val="FF0000"/>
                </a:solidFill>
                <a:latin typeface="Futura Std Medium"/>
                <a:cs typeface="Futura Std Medium"/>
              </a:rPr>
              <a:t> ARCHITECTURE PALEOCHRETIENNE ET BIZANTINE</a:t>
            </a:r>
          </a:p>
        </p:txBody>
      </p:sp>
      <p:sp>
        <p:nvSpPr>
          <p:cNvPr id="4" name="ZoneTexte 3"/>
          <p:cNvSpPr txBox="1"/>
          <p:nvPr/>
        </p:nvSpPr>
        <p:spPr>
          <a:xfrm>
            <a:off x="327011" y="6351926"/>
            <a:ext cx="1471151" cy="369332"/>
          </a:xfrm>
          <a:prstGeom prst="rect">
            <a:avLst/>
          </a:prstGeom>
          <a:noFill/>
        </p:spPr>
        <p:txBody>
          <a:bodyPr wrap="none" rtlCol="0">
            <a:spAutoFit/>
          </a:bodyPr>
          <a:lstStyle/>
          <a:p>
            <a:pPr algn="r"/>
            <a:r>
              <a:rPr lang="fr-FR" dirty="0"/>
              <a:t>©Carole Diop</a:t>
            </a:r>
          </a:p>
        </p:txBody>
      </p:sp>
    </p:spTree>
    <p:extLst>
      <p:ext uri="{BB962C8B-B14F-4D97-AF65-F5344CB8AC3E}">
        <p14:creationId xmlns:p14="http://schemas.microsoft.com/office/powerpoint/2010/main" val="1592364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600200"/>
            <a:ext cx="8229600" cy="4800600"/>
          </a:xfrm>
        </p:spPr>
        <p:txBody>
          <a:bodyPr>
            <a:noAutofit/>
          </a:bodyPr>
          <a:lstStyle/>
          <a:p>
            <a:pPr marL="0" indent="0" algn="just">
              <a:buNone/>
            </a:pPr>
            <a:r>
              <a:rPr lang="fr-FR" sz="1600" dirty="0">
                <a:latin typeface="Arial"/>
                <a:cs typeface="Arial"/>
              </a:rPr>
              <a:t>L'histoire de l'Empire byzantin, qui s'étend sur une période de plus de 1 000 ans, tire ses origines de la fondation même de l'Empire romain. S'il est difficile de dater précisément le début de l'histoire byzantine, deux dates sont à retenir. Celle de la fondation de sa capitale Constantinople par l’empereur </a:t>
            </a:r>
            <a:r>
              <a:rPr lang="fr-FR" sz="1600" b="1" dirty="0">
                <a:latin typeface="Arial"/>
                <a:cs typeface="Arial"/>
              </a:rPr>
              <a:t>Constantin le Grand </a:t>
            </a:r>
            <a:r>
              <a:rPr lang="fr-FR" sz="1600" dirty="0">
                <a:latin typeface="Arial"/>
                <a:cs typeface="Arial"/>
              </a:rPr>
              <a:t>, en </a:t>
            </a:r>
            <a:r>
              <a:rPr lang="fr-FR" sz="1600" b="1" dirty="0">
                <a:latin typeface="Arial"/>
                <a:cs typeface="Arial"/>
              </a:rPr>
              <a:t>330,</a:t>
            </a:r>
            <a:r>
              <a:rPr lang="fr-FR" sz="1600" dirty="0">
                <a:latin typeface="Arial"/>
                <a:cs typeface="Arial"/>
              </a:rPr>
              <a:t> alors même que l'Empire romain est de plus en plus divisé pour des raisons pratiques et celle où la division en deux empires devient définitive, en </a:t>
            </a:r>
            <a:r>
              <a:rPr lang="fr-FR" sz="1600" b="1" dirty="0">
                <a:latin typeface="Arial"/>
                <a:cs typeface="Arial"/>
              </a:rPr>
              <a:t>395</a:t>
            </a:r>
            <a:r>
              <a:rPr lang="fr-FR" sz="1600" dirty="0">
                <a:latin typeface="Arial"/>
                <a:cs typeface="Arial"/>
              </a:rPr>
              <a:t>. L'histoire byzantine peut être divisée en trois périodes majeures :</a:t>
            </a:r>
          </a:p>
          <a:p>
            <a:pPr algn="just"/>
            <a:r>
              <a:rPr lang="fr-FR" sz="1600" dirty="0">
                <a:latin typeface="Arial"/>
                <a:cs typeface="Arial"/>
              </a:rPr>
              <a:t>l'Empire Romain d'Orient (ou période paléo-byzantine) du IVe siècle au VIIe siècle qui conserve les caractéristiques classiques de l'Empire romain ;</a:t>
            </a:r>
          </a:p>
          <a:p>
            <a:pPr algn="just"/>
            <a:r>
              <a:rPr lang="fr-FR" sz="1600" dirty="0">
                <a:latin typeface="Arial"/>
                <a:cs typeface="Arial"/>
              </a:rPr>
              <a:t>la période méso-byzantine du VIIe siècle au XIIe siècle ;</a:t>
            </a:r>
          </a:p>
          <a:p>
            <a:pPr algn="just"/>
            <a:r>
              <a:rPr lang="fr-FR" sz="1600" dirty="0">
                <a:latin typeface="Arial"/>
                <a:cs typeface="Arial"/>
              </a:rPr>
              <a:t>la période byzantine tardive du XIIIe siècle au XVe siècle : l'Empire est réduit au rang de puissance régionale mineure avant de disparaître en tant qu'état, en léguant divers éléments de sa civilisation aux pays orthodoxes et à l'empire ottoman.</a:t>
            </a:r>
          </a:p>
          <a:p>
            <a:pPr marL="0" indent="0" algn="just">
              <a:buNone/>
            </a:pPr>
            <a:r>
              <a:rPr lang="fr-FR" sz="1600" dirty="0">
                <a:latin typeface="Arial"/>
                <a:cs typeface="Arial"/>
              </a:rPr>
              <a:t>À l’origine, l’a</a:t>
            </a:r>
            <a:r>
              <a:rPr lang="fr-FR" sz="1600" b="1" dirty="0">
                <a:latin typeface="Arial"/>
                <a:cs typeface="Arial"/>
              </a:rPr>
              <a:t>rchitecture byzantine </a:t>
            </a:r>
            <a:r>
              <a:rPr lang="fr-FR" sz="1600" dirty="0">
                <a:latin typeface="Arial"/>
                <a:cs typeface="Arial"/>
              </a:rPr>
              <a:t>n’est que le prolongement de l’architecture romaine. La propagation du christianisme conduit à l’édification d’églises dont le plan, dérivé au départ de celui des temples païens et surtout des basiliques civiles romaines qui avaient été converties en lieux de culte, adoptant progressivement des formes mieux adaptées au culte chrétien (</a:t>
            </a:r>
            <a:r>
              <a:rPr lang="fr-FR" sz="1600" b="1" dirty="0">
                <a:latin typeface="Arial"/>
                <a:cs typeface="Arial"/>
              </a:rPr>
              <a:t>architecture paléochrétienne</a:t>
            </a:r>
            <a:r>
              <a:rPr lang="fr-FR" sz="1600" dirty="0">
                <a:latin typeface="Arial"/>
                <a:cs typeface="Arial"/>
              </a:rPr>
              <a:t>).</a:t>
            </a:r>
          </a:p>
        </p:txBody>
      </p:sp>
      <p:sp>
        <p:nvSpPr>
          <p:cNvPr id="6" name="Titre 1"/>
          <p:cNvSpPr>
            <a:spLocks noGrp="1"/>
          </p:cNvSpPr>
          <p:nvPr>
            <p:ph type="title"/>
          </p:nvPr>
        </p:nvSpPr>
        <p:spPr/>
        <p:txBody>
          <a:bodyPr>
            <a:normAutofit/>
          </a:bodyPr>
          <a:lstStyle/>
          <a:p>
            <a:r>
              <a:rPr lang="fr-FR" dirty="0">
                <a:solidFill>
                  <a:srgbClr val="FF0000"/>
                </a:solidFill>
                <a:latin typeface="Futura Std Medium"/>
                <a:cs typeface="Futura Std Medium"/>
              </a:rPr>
              <a:t>De Rome à Constantinople</a:t>
            </a:r>
          </a:p>
        </p:txBody>
      </p:sp>
    </p:spTree>
    <p:extLst>
      <p:ext uri="{BB962C8B-B14F-4D97-AF65-F5344CB8AC3E}">
        <p14:creationId xmlns:p14="http://schemas.microsoft.com/office/powerpoint/2010/main" val="3037699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703263" cy="4881562"/>
          </a:xfrm>
        </p:spPr>
        <p:txBody>
          <a:bodyPr>
            <a:noAutofit/>
          </a:bodyPr>
          <a:lstStyle/>
          <a:p>
            <a:r>
              <a:rPr lang="fr-FR" sz="1600" b="1" dirty="0">
                <a:latin typeface="Arial"/>
                <a:cs typeface="Arial"/>
              </a:rPr>
              <a:t>313</a:t>
            </a:r>
            <a:r>
              <a:rPr lang="fr-FR" sz="1600" dirty="0">
                <a:latin typeface="Arial"/>
                <a:cs typeface="Arial"/>
              </a:rPr>
              <a:t>		Constantin : catholicisme religion de l’Empire</a:t>
            </a:r>
          </a:p>
          <a:p>
            <a:pPr marL="0" indent="0">
              <a:buNone/>
            </a:pPr>
            <a:r>
              <a:rPr lang="fr-FR" sz="1600" dirty="0">
                <a:latin typeface="Arial"/>
                <a:cs typeface="Arial"/>
              </a:rPr>
              <a:t>			</a:t>
            </a:r>
            <a:r>
              <a:rPr lang="fr-FR" sz="1600" i="1" dirty="0">
                <a:latin typeface="Arial"/>
                <a:cs typeface="Arial"/>
              </a:rPr>
              <a:t>architecture paléochrétienne du Bas-Empire</a:t>
            </a:r>
          </a:p>
          <a:p>
            <a:r>
              <a:rPr lang="fr-FR" sz="1600" b="1" dirty="0">
                <a:latin typeface="Arial"/>
                <a:cs typeface="Arial"/>
              </a:rPr>
              <a:t>395</a:t>
            </a:r>
            <a:r>
              <a:rPr lang="fr-FR" sz="1600" dirty="0">
                <a:latin typeface="Arial"/>
                <a:cs typeface="Arial"/>
              </a:rPr>
              <a:t> 		Séparation Empire d’Orient et d’Occident </a:t>
            </a:r>
            <a:r>
              <a:rPr lang="fr-FR" sz="1600" i="1" dirty="0">
                <a:latin typeface="Arial"/>
                <a:cs typeface="Arial"/>
              </a:rPr>
              <a:t>→ architecture byzantine</a:t>
            </a:r>
          </a:p>
          <a:p>
            <a:r>
              <a:rPr lang="fr-FR" sz="1600" b="1" dirty="0">
                <a:latin typeface="Arial"/>
                <a:cs typeface="Arial"/>
              </a:rPr>
              <a:t>476</a:t>
            </a:r>
            <a:r>
              <a:rPr lang="fr-FR" sz="1600" dirty="0">
                <a:latin typeface="Arial"/>
                <a:cs typeface="Arial"/>
              </a:rPr>
              <a:t> 		Chute de Rome </a:t>
            </a:r>
            <a:r>
              <a:rPr lang="fr-FR" sz="1600" i="1" dirty="0">
                <a:latin typeface="Arial"/>
                <a:cs typeface="Arial"/>
              </a:rPr>
              <a:t>→ Haut Moyen-Âge en Europe occidentale</a:t>
            </a:r>
          </a:p>
          <a:p>
            <a:r>
              <a:rPr lang="fr-FR" sz="1600" b="1" dirty="0">
                <a:latin typeface="Arial"/>
                <a:cs typeface="Arial"/>
              </a:rPr>
              <a:t>527-565 </a:t>
            </a:r>
            <a:r>
              <a:rPr lang="fr-FR" sz="1600" dirty="0">
                <a:latin typeface="Arial"/>
                <a:cs typeface="Arial"/>
              </a:rPr>
              <a:t>	Justinien : apogée empire byzantin (Ravenne : empire réunifié)</a:t>
            </a:r>
          </a:p>
          <a:p>
            <a:r>
              <a:rPr lang="fr-FR" sz="1600" b="1" dirty="0">
                <a:latin typeface="Arial"/>
                <a:cs typeface="Arial"/>
              </a:rPr>
              <a:t>632</a:t>
            </a:r>
            <a:r>
              <a:rPr lang="fr-FR" sz="1600" dirty="0">
                <a:latin typeface="Arial"/>
                <a:cs typeface="Arial"/>
              </a:rPr>
              <a:t>		Début de la conquête arabe et du déclin byzantin</a:t>
            </a:r>
          </a:p>
          <a:p>
            <a:r>
              <a:rPr lang="fr-FR" sz="1600" b="1" dirty="0">
                <a:latin typeface="Arial"/>
                <a:cs typeface="Arial"/>
              </a:rPr>
              <a:t>1054</a:t>
            </a:r>
            <a:r>
              <a:rPr lang="fr-FR" sz="1600" dirty="0">
                <a:latin typeface="Arial"/>
                <a:cs typeface="Arial"/>
              </a:rPr>
              <a:t> 		Schisme définitif entre les églises Catholique et Orthodoxe</a:t>
            </a:r>
          </a:p>
          <a:p>
            <a:r>
              <a:rPr lang="sk-SK" sz="1600" b="1" dirty="0">
                <a:latin typeface="Arial"/>
                <a:cs typeface="Arial"/>
              </a:rPr>
              <a:t>1453 </a:t>
            </a:r>
            <a:r>
              <a:rPr lang="sk-SK" sz="1600" dirty="0">
                <a:latin typeface="Arial"/>
                <a:cs typeface="Arial"/>
              </a:rPr>
              <a:t>		Chute de Byzance</a:t>
            </a:r>
            <a:endParaRPr lang="fr-FR" sz="1600" dirty="0">
              <a:latin typeface="Arial"/>
              <a:cs typeface="Arial"/>
            </a:endParaRPr>
          </a:p>
          <a:p>
            <a:endParaRPr lang="fr-FR" sz="1600" dirty="0">
              <a:latin typeface="Arial"/>
              <a:cs typeface="Arial"/>
            </a:endParaRPr>
          </a:p>
        </p:txBody>
      </p:sp>
      <p:sp>
        <p:nvSpPr>
          <p:cNvPr id="6" name="Titre 5"/>
          <p:cNvSpPr>
            <a:spLocks noGrp="1"/>
          </p:cNvSpPr>
          <p:nvPr>
            <p:ph type="title"/>
          </p:nvPr>
        </p:nvSpPr>
        <p:spPr/>
        <p:txBody>
          <a:bodyPr/>
          <a:lstStyle/>
          <a:p>
            <a:r>
              <a:rPr lang="fr-FR" dirty="0">
                <a:solidFill>
                  <a:srgbClr val="FF0000"/>
                </a:solidFill>
              </a:rPr>
              <a:t>Chronologie</a:t>
            </a:r>
          </a:p>
        </p:txBody>
      </p:sp>
      <p:pic>
        <p:nvPicPr>
          <p:cNvPr id="8" name="Image 7"/>
          <p:cNvPicPr>
            <a:picLocks noChangeAspect="1"/>
          </p:cNvPicPr>
          <p:nvPr/>
        </p:nvPicPr>
        <p:blipFill>
          <a:blip r:embed="rId2"/>
          <a:stretch>
            <a:fillRect/>
          </a:stretch>
        </p:blipFill>
        <p:spPr>
          <a:xfrm>
            <a:off x="2953244" y="3901441"/>
            <a:ext cx="5733556" cy="2702560"/>
          </a:xfrm>
          <a:prstGeom prst="rect">
            <a:avLst/>
          </a:prstGeom>
        </p:spPr>
      </p:pic>
    </p:spTree>
    <p:extLst>
      <p:ext uri="{BB962C8B-B14F-4D97-AF65-F5344CB8AC3E}">
        <p14:creationId xmlns:p14="http://schemas.microsoft.com/office/powerpoint/2010/main" val="4106395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Espace réservé du contenu 1"/>
          <p:cNvPicPr>
            <a:picLocks noGrp="1" noChangeAspect="1"/>
          </p:cNvPicPr>
          <p:nvPr>
            <p:ph idx="1"/>
          </p:nvPr>
        </p:nvPicPr>
        <p:blipFill>
          <a:blip r:embed="rId2"/>
          <a:srcRect t="4022" b="4022"/>
          <a:stretch>
            <a:fillRect/>
          </a:stretch>
        </p:blipFill>
        <p:spPr>
          <a:xfrm>
            <a:off x="457201" y="1417639"/>
            <a:ext cx="3775970" cy="2118042"/>
          </a:xfrm>
        </p:spPr>
      </p:pic>
      <p:sp>
        <p:nvSpPr>
          <p:cNvPr id="6" name="Titre 5"/>
          <p:cNvSpPr>
            <a:spLocks noGrp="1"/>
          </p:cNvSpPr>
          <p:nvPr>
            <p:ph type="title"/>
          </p:nvPr>
        </p:nvSpPr>
        <p:spPr/>
        <p:txBody>
          <a:bodyPr/>
          <a:lstStyle/>
          <a:p>
            <a:r>
              <a:rPr lang="fr-FR" dirty="0">
                <a:solidFill>
                  <a:srgbClr val="FF0000"/>
                </a:solidFill>
              </a:rPr>
              <a:t>Architecture paléochrétienne</a:t>
            </a:r>
          </a:p>
        </p:txBody>
      </p:sp>
      <p:pic>
        <p:nvPicPr>
          <p:cNvPr id="4" name="Image 3"/>
          <p:cNvPicPr>
            <a:picLocks noChangeAspect="1"/>
          </p:cNvPicPr>
          <p:nvPr/>
        </p:nvPicPr>
        <p:blipFill>
          <a:blip r:embed="rId3"/>
          <a:stretch>
            <a:fillRect/>
          </a:stretch>
        </p:blipFill>
        <p:spPr>
          <a:xfrm>
            <a:off x="477520" y="3708401"/>
            <a:ext cx="3728695" cy="2590800"/>
          </a:xfrm>
          <a:prstGeom prst="rect">
            <a:avLst/>
          </a:prstGeom>
        </p:spPr>
      </p:pic>
      <p:pic>
        <p:nvPicPr>
          <p:cNvPr id="5" name="Image 4"/>
          <p:cNvPicPr>
            <a:picLocks noChangeAspect="1"/>
          </p:cNvPicPr>
          <p:nvPr/>
        </p:nvPicPr>
        <p:blipFill>
          <a:blip r:embed="rId4"/>
          <a:stretch>
            <a:fillRect/>
          </a:stretch>
        </p:blipFill>
        <p:spPr>
          <a:xfrm>
            <a:off x="4621426" y="1417639"/>
            <a:ext cx="4065374" cy="2036761"/>
          </a:xfrm>
          <a:prstGeom prst="rect">
            <a:avLst/>
          </a:prstGeom>
        </p:spPr>
      </p:pic>
      <p:pic>
        <p:nvPicPr>
          <p:cNvPr id="7" name="Image 6"/>
          <p:cNvPicPr>
            <a:picLocks noChangeAspect="1"/>
          </p:cNvPicPr>
          <p:nvPr/>
        </p:nvPicPr>
        <p:blipFill>
          <a:blip r:embed="rId5"/>
          <a:stretch>
            <a:fillRect/>
          </a:stretch>
        </p:blipFill>
        <p:spPr>
          <a:xfrm>
            <a:off x="4883994" y="3708401"/>
            <a:ext cx="3802806" cy="2590800"/>
          </a:xfrm>
          <a:prstGeom prst="rect">
            <a:avLst/>
          </a:prstGeom>
        </p:spPr>
      </p:pic>
      <p:sp>
        <p:nvSpPr>
          <p:cNvPr id="10" name="Rectangle 9"/>
          <p:cNvSpPr/>
          <p:nvPr/>
        </p:nvSpPr>
        <p:spPr>
          <a:xfrm>
            <a:off x="833120" y="6387068"/>
            <a:ext cx="2864386" cy="338554"/>
          </a:xfrm>
          <a:prstGeom prst="rect">
            <a:avLst/>
          </a:prstGeom>
        </p:spPr>
        <p:txBody>
          <a:bodyPr wrap="none">
            <a:spAutoFit/>
          </a:bodyPr>
          <a:lstStyle/>
          <a:p>
            <a:r>
              <a:rPr lang="fr-FR" sz="1600" dirty="0">
                <a:latin typeface="Arial"/>
                <a:cs typeface="Arial"/>
              </a:rPr>
              <a:t>Basilique civile (Haut Empire)</a:t>
            </a:r>
          </a:p>
        </p:txBody>
      </p:sp>
      <p:sp>
        <p:nvSpPr>
          <p:cNvPr id="11" name="Rectangle 10"/>
          <p:cNvSpPr/>
          <p:nvPr/>
        </p:nvSpPr>
        <p:spPr>
          <a:xfrm>
            <a:off x="4898083" y="6387068"/>
            <a:ext cx="3788717" cy="338554"/>
          </a:xfrm>
          <a:prstGeom prst="rect">
            <a:avLst/>
          </a:prstGeom>
        </p:spPr>
        <p:txBody>
          <a:bodyPr wrap="none">
            <a:spAutoFit/>
          </a:bodyPr>
          <a:lstStyle/>
          <a:p>
            <a:r>
              <a:rPr lang="fr-FR" sz="1600" dirty="0">
                <a:latin typeface="Arial"/>
                <a:cs typeface="Arial"/>
              </a:rPr>
              <a:t>Basilique paléochrétienne (Bas Empire)</a:t>
            </a:r>
          </a:p>
        </p:txBody>
      </p:sp>
      <p:cxnSp>
        <p:nvCxnSpPr>
          <p:cNvPr id="13" name="Connecteur droit 12"/>
          <p:cNvCxnSpPr/>
          <p:nvPr/>
        </p:nvCxnSpPr>
        <p:spPr>
          <a:xfrm>
            <a:off x="4460240" y="1524000"/>
            <a:ext cx="60960" cy="4775201"/>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3451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a:solidFill>
                  <a:srgbClr val="FF0000"/>
                </a:solidFill>
              </a:rPr>
              <a:t>Architecture paléochrétienne</a:t>
            </a:r>
          </a:p>
        </p:txBody>
      </p:sp>
      <p:sp>
        <p:nvSpPr>
          <p:cNvPr id="3" name="Espace réservé du contenu 2"/>
          <p:cNvSpPr>
            <a:spLocks noGrp="1"/>
          </p:cNvSpPr>
          <p:nvPr>
            <p:ph idx="1"/>
          </p:nvPr>
        </p:nvSpPr>
        <p:spPr/>
        <p:txBody>
          <a:bodyPr>
            <a:normAutofit/>
          </a:bodyPr>
          <a:lstStyle/>
          <a:p>
            <a:pPr marL="0" indent="0">
              <a:buNone/>
            </a:pPr>
            <a:r>
              <a:rPr lang="sk-SK" sz="1600" b="1" dirty="0">
                <a:latin typeface="Arial"/>
                <a:cs typeface="Arial"/>
              </a:rPr>
              <a:t>EGLISE A PLAN BASILICAL</a:t>
            </a:r>
          </a:p>
          <a:p>
            <a:pPr marL="0" indent="0">
              <a:lnSpc>
                <a:spcPct val="150000"/>
              </a:lnSpc>
              <a:buNone/>
            </a:pPr>
            <a:r>
              <a:rPr lang="fr-FR" sz="1600" b="1" dirty="0">
                <a:latin typeface="Arial"/>
                <a:cs typeface="Arial"/>
              </a:rPr>
              <a:t>Basilique romaine </a:t>
            </a:r>
            <a:r>
              <a:rPr lang="fr-FR" sz="1600" dirty="0">
                <a:latin typeface="Arial"/>
                <a:cs typeface="Arial"/>
              </a:rPr>
              <a:t>: nef avec bas-côtés séparés par des files de colonnes. Abside en fin de nef (autel). Couverture par charpente apparente</a:t>
            </a:r>
          </a:p>
          <a:p>
            <a:pPr marL="0" indent="0">
              <a:buNone/>
            </a:pPr>
            <a:r>
              <a:rPr lang="fr-FR" sz="1600" b="1" dirty="0">
                <a:latin typeface="Arial"/>
                <a:cs typeface="Arial"/>
              </a:rPr>
              <a:t>Adaptation du plan basilical aux besoins liturgiques</a:t>
            </a:r>
          </a:p>
          <a:p>
            <a:pPr marL="0" indent="0">
              <a:buNone/>
            </a:pPr>
            <a:r>
              <a:rPr lang="fr-FR" sz="1600" dirty="0">
                <a:latin typeface="Arial"/>
                <a:cs typeface="Arial"/>
              </a:rPr>
              <a:t>• </a:t>
            </a:r>
            <a:r>
              <a:rPr lang="fr-FR" sz="1600" i="1" dirty="0">
                <a:latin typeface="Arial"/>
                <a:cs typeface="Arial"/>
              </a:rPr>
              <a:t>Abside</a:t>
            </a:r>
            <a:r>
              <a:rPr lang="fr-FR" sz="1600" dirty="0">
                <a:latin typeface="Arial"/>
                <a:cs typeface="Arial"/>
              </a:rPr>
              <a:t> : réutilisée pour placer l’autel et le clergé</a:t>
            </a:r>
          </a:p>
          <a:p>
            <a:pPr marL="0" indent="0">
              <a:buNone/>
            </a:pPr>
            <a:r>
              <a:rPr lang="fr-FR" sz="1600" dirty="0">
                <a:latin typeface="Arial"/>
                <a:cs typeface="Arial"/>
              </a:rPr>
              <a:t>• </a:t>
            </a:r>
            <a:r>
              <a:rPr lang="fr-FR" sz="1600" i="1" dirty="0">
                <a:latin typeface="Arial"/>
                <a:cs typeface="Arial"/>
              </a:rPr>
              <a:t>Transept</a:t>
            </a:r>
            <a:r>
              <a:rPr lang="fr-FR" sz="1600" dirty="0">
                <a:latin typeface="Arial"/>
                <a:cs typeface="Arial"/>
              </a:rPr>
              <a:t> : tombeaux ou autels secondaires  plan cruciforme (croix latine)</a:t>
            </a:r>
          </a:p>
          <a:p>
            <a:pPr marL="0" indent="0">
              <a:buNone/>
            </a:pPr>
            <a:r>
              <a:rPr lang="fr-FR" sz="1600" dirty="0">
                <a:latin typeface="Arial"/>
                <a:cs typeface="Arial"/>
              </a:rPr>
              <a:t>• </a:t>
            </a:r>
            <a:r>
              <a:rPr lang="fr-FR" sz="1600" i="1" dirty="0">
                <a:latin typeface="Arial"/>
                <a:cs typeface="Arial"/>
              </a:rPr>
              <a:t>Narthex </a:t>
            </a:r>
            <a:r>
              <a:rPr lang="fr-FR" sz="1600" dirty="0">
                <a:latin typeface="Arial"/>
                <a:cs typeface="Arial"/>
              </a:rPr>
              <a:t>: accueil les catéchumènes</a:t>
            </a:r>
          </a:p>
        </p:txBody>
      </p:sp>
      <p:pic>
        <p:nvPicPr>
          <p:cNvPr id="8" name="Image 7"/>
          <p:cNvPicPr>
            <a:picLocks noChangeAspect="1"/>
          </p:cNvPicPr>
          <p:nvPr/>
        </p:nvPicPr>
        <p:blipFill>
          <a:blip r:embed="rId2"/>
          <a:stretch>
            <a:fillRect/>
          </a:stretch>
        </p:blipFill>
        <p:spPr>
          <a:xfrm>
            <a:off x="4948010" y="3688080"/>
            <a:ext cx="3995533" cy="3038428"/>
          </a:xfrm>
          <a:prstGeom prst="rect">
            <a:avLst/>
          </a:prstGeom>
        </p:spPr>
      </p:pic>
      <p:pic>
        <p:nvPicPr>
          <p:cNvPr id="9" name="Image 8"/>
          <p:cNvPicPr>
            <a:picLocks noChangeAspect="1"/>
          </p:cNvPicPr>
          <p:nvPr/>
        </p:nvPicPr>
        <p:blipFill>
          <a:blip r:embed="rId3"/>
          <a:stretch>
            <a:fillRect/>
          </a:stretch>
        </p:blipFill>
        <p:spPr>
          <a:xfrm>
            <a:off x="543560" y="3865786"/>
            <a:ext cx="4286318" cy="2931841"/>
          </a:xfrm>
          <a:prstGeom prst="rect">
            <a:avLst/>
          </a:prstGeom>
        </p:spPr>
      </p:pic>
    </p:spTree>
    <p:extLst>
      <p:ext uri="{BB962C8B-B14F-4D97-AF65-F5344CB8AC3E}">
        <p14:creationId xmlns:p14="http://schemas.microsoft.com/office/powerpoint/2010/main" val="1198859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a:solidFill>
                  <a:srgbClr val="FF0000"/>
                </a:solidFill>
              </a:rPr>
              <a:t>Architecture paléochrétienne</a:t>
            </a:r>
          </a:p>
        </p:txBody>
      </p:sp>
      <p:sp>
        <p:nvSpPr>
          <p:cNvPr id="3" name="Espace réservé du contenu 2"/>
          <p:cNvSpPr>
            <a:spLocks noGrp="1"/>
          </p:cNvSpPr>
          <p:nvPr>
            <p:ph idx="1"/>
          </p:nvPr>
        </p:nvSpPr>
        <p:spPr/>
        <p:txBody>
          <a:bodyPr>
            <a:normAutofit/>
          </a:bodyPr>
          <a:lstStyle/>
          <a:p>
            <a:pPr marL="0" indent="0">
              <a:buNone/>
            </a:pPr>
            <a:r>
              <a:rPr lang="sk-SK" sz="1600" b="1" dirty="0">
                <a:latin typeface="Arial"/>
                <a:cs typeface="Arial"/>
              </a:rPr>
              <a:t>EGLISE A PLAN BASILICAL</a:t>
            </a:r>
          </a:p>
          <a:p>
            <a:pPr marL="0" indent="0">
              <a:lnSpc>
                <a:spcPct val="150000"/>
              </a:lnSpc>
              <a:buNone/>
            </a:pPr>
            <a:r>
              <a:rPr lang="fr-FR" sz="1600" dirty="0">
                <a:latin typeface="Arial"/>
                <a:cs typeface="Arial"/>
              </a:rPr>
              <a:t>Narthex et atrium</a:t>
            </a:r>
          </a:p>
          <a:p>
            <a:pPr marL="0" indent="0">
              <a:buNone/>
            </a:pPr>
            <a:endParaRPr lang="fr-FR" sz="1600" i="1" dirty="0">
              <a:latin typeface="Arial"/>
              <a:cs typeface="Arial"/>
            </a:endParaRPr>
          </a:p>
        </p:txBody>
      </p:sp>
      <p:pic>
        <p:nvPicPr>
          <p:cNvPr id="2" name="Image 1"/>
          <p:cNvPicPr>
            <a:picLocks noChangeAspect="1"/>
          </p:cNvPicPr>
          <p:nvPr/>
        </p:nvPicPr>
        <p:blipFill>
          <a:blip r:embed="rId2"/>
          <a:stretch>
            <a:fillRect/>
          </a:stretch>
        </p:blipFill>
        <p:spPr>
          <a:xfrm>
            <a:off x="162561" y="2468879"/>
            <a:ext cx="4248728" cy="3048000"/>
          </a:xfrm>
          <a:prstGeom prst="rect">
            <a:avLst/>
          </a:prstGeom>
        </p:spPr>
      </p:pic>
      <p:pic>
        <p:nvPicPr>
          <p:cNvPr id="4" name="Image 3"/>
          <p:cNvPicPr>
            <a:picLocks noChangeAspect="1"/>
          </p:cNvPicPr>
          <p:nvPr/>
        </p:nvPicPr>
        <p:blipFill rotWithShape="1">
          <a:blip r:embed="rId3"/>
          <a:srcRect l="-2" r="-5161"/>
          <a:stretch/>
        </p:blipFill>
        <p:spPr>
          <a:xfrm>
            <a:off x="4671069" y="2468878"/>
            <a:ext cx="4554211" cy="3048001"/>
          </a:xfrm>
          <a:prstGeom prst="rect">
            <a:avLst/>
          </a:prstGeom>
        </p:spPr>
      </p:pic>
    </p:spTree>
    <p:extLst>
      <p:ext uri="{BB962C8B-B14F-4D97-AF65-F5344CB8AC3E}">
        <p14:creationId xmlns:p14="http://schemas.microsoft.com/office/powerpoint/2010/main" val="4066386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a:solidFill>
                  <a:srgbClr val="FF0000"/>
                </a:solidFill>
              </a:rPr>
              <a:t>Architecture paléochrétienne</a:t>
            </a:r>
          </a:p>
        </p:txBody>
      </p:sp>
      <p:sp>
        <p:nvSpPr>
          <p:cNvPr id="3" name="Espace réservé du contenu 2"/>
          <p:cNvSpPr>
            <a:spLocks noGrp="1"/>
          </p:cNvSpPr>
          <p:nvPr>
            <p:ph idx="1"/>
          </p:nvPr>
        </p:nvSpPr>
        <p:spPr/>
        <p:txBody>
          <a:bodyPr>
            <a:normAutofit/>
          </a:bodyPr>
          <a:lstStyle/>
          <a:p>
            <a:pPr marL="0" indent="0">
              <a:buNone/>
            </a:pPr>
            <a:r>
              <a:rPr lang="sk-SK" sz="1600" b="1" dirty="0">
                <a:latin typeface="Arial"/>
                <a:cs typeface="Arial"/>
              </a:rPr>
              <a:t>EGLISE A PLAN BASILICAL</a:t>
            </a:r>
          </a:p>
          <a:p>
            <a:pPr marL="0" indent="0">
              <a:lnSpc>
                <a:spcPct val="150000"/>
              </a:lnSpc>
              <a:buNone/>
            </a:pPr>
            <a:r>
              <a:rPr lang="fr-FR" sz="1600" dirty="0">
                <a:latin typeface="Arial"/>
                <a:cs typeface="Arial"/>
              </a:rPr>
              <a:t>File de colonnes</a:t>
            </a:r>
          </a:p>
          <a:p>
            <a:pPr marL="0" indent="0">
              <a:buNone/>
            </a:pPr>
            <a:r>
              <a:rPr lang="fr-FR" sz="1600" dirty="0">
                <a:latin typeface="Arial"/>
                <a:cs typeface="Arial"/>
              </a:rPr>
              <a:t>• Entablement . architrave (IV°-</a:t>
            </a:r>
            <a:r>
              <a:rPr lang="fr-FR" sz="1600" dirty="0" err="1">
                <a:latin typeface="Arial"/>
                <a:cs typeface="Arial"/>
              </a:rPr>
              <a:t>V°s</a:t>
            </a:r>
            <a:r>
              <a:rPr lang="fr-FR" sz="1600" dirty="0">
                <a:latin typeface="Arial"/>
                <a:cs typeface="Arial"/>
              </a:rPr>
              <a:t>.)</a:t>
            </a:r>
          </a:p>
          <a:p>
            <a:pPr marL="0" indent="0">
              <a:buNone/>
            </a:pPr>
            <a:r>
              <a:rPr lang="fr-FR" sz="1600" dirty="0">
                <a:latin typeface="Arial"/>
                <a:cs typeface="Arial"/>
              </a:rPr>
              <a:t>• Arcades sur colonnes (V°-…)</a:t>
            </a:r>
            <a:endParaRPr lang="fr-FR" sz="1600" i="1" dirty="0">
              <a:latin typeface="Arial"/>
              <a:cs typeface="Arial"/>
            </a:endParaRPr>
          </a:p>
        </p:txBody>
      </p:sp>
      <p:pic>
        <p:nvPicPr>
          <p:cNvPr id="5" name="Image 4"/>
          <p:cNvPicPr>
            <a:picLocks noChangeAspect="1"/>
          </p:cNvPicPr>
          <p:nvPr/>
        </p:nvPicPr>
        <p:blipFill>
          <a:blip r:embed="rId2"/>
          <a:stretch>
            <a:fillRect/>
          </a:stretch>
        </p:blipFill>
        <p:spPr>
          <a:xfrm>
            <a:off x="457200" y="3355208"/>
            <a:ext cx="4152900" cy="3065595"/>
          </a:xfrm>
          <a:prstGeom prst="rect">
            <a:avLst/>
          </a:prstGeom>
        </p:spPr>
      </p:pic>
      <p:pic>
        <p:nvPicPr>
          <p:cNvPr id="7" name="Image 6"/>
          <p:cNvPicPr>
            <a:picLocks noChangeAspect="1"/>
          </p:cNvPicPr>
          <p:nvPr/>
        </p:nvPicPr>
        <p:blipFill>
          <a:blip r:embed="rId3"/>
          <a:stretch>
            <a:fillRect/>
          </a:stretch>
        </p:blipFill>
        <p:spPr>
          <a:xfrm>
            <a:off x="4988560" y="4022491"/>
            <a:ext cx="3698240" cy="2428791"/>
          </a:xfrm>
          <a:prstGeom prst="rect">
            <a:avLst/>
          </a:prstGeom>
        </p:spPr>
      </p:pic>
      <p:pic>
        <p:nvPicPr>
          <p:cNvPr id="8" name="Image 7"/>
          <p:cNvPicPr>
            <a:picLocks noChangeAspect="1"/>
          </p:cNvPicPr>
          <p:nvPr/>
        </p:nvPicPr>
        <p:blipFill>
          <a:blip r:embed="rId4"/>
          <a:stretch>
            <a:fillRect/>
          </a:stretch>
        </p:blipFill>
        <p:spPr>
          <a:xfrm>
            <a:off x="4988560" y="1279446"/>
            <a:ext cx="3698240" cy="2519561"/>
          </a:xfrm>
          <a:prstGeom prst="rect">
            <a:avLst/>
          </a:prstGeom>
        </p:spPr>
      </p:pic>
      <p:sp>
        <p:nvSpPr>
          <p:cNvPr id="9" name="Rectangle 8"/>
          <p:cNvSpPr/>
          <p:nvPr/>
        </p:nvSpPr>
        <p:spPr>
          <a:xfrm>
            <a:off x="6509395" y="3761625"/>
            <a:ext cx="2177405" cy="261610"/>
          </a:xfrm>
          <a:prstGeom prst="rect">
            <a:avLst/>
          </a:prstGeom>
        </p:spPr>
        <p:txBody>
          <a:bodyPr wrap="none">
            <a:spAutoFit/>
          </a:bodyPr>
          <a:lstStyle/>
          <a:p>
            <a:pPr algn="r"/>
            <a:r>
              <a:rPr lang="it-IT" sz="1100" dirty="0">
                <a:latin typeface="Arial"/>
                <a:cs typeface="Arial"/>
              </a:rPr>
              <a:t>Sta Maria Maggiore (Rome, III°)</a:t>
            </a:r>
            <a:endParaRPr lang="fr-FR" sz="1100" dirty="0">
              <a:latin typeface="Arial"/>
              <a:cs typeface="Arial"/>
            </a:endParaRPr>
          </a:p>
        </p:txBody>
      </p:sp>
      <p:sp>
        <p:nvSpPr>
          <p:cNvPr id="10" name="Rectangle 9"/>
          <p:cNvSpPr/>
          <p:nvPr/>
        </p:nvSpPr>
        <p:spPr>
          <a:xfrm>
            <a:off x="7073652" y="6420803"/>
            <a:ext cx="1613148" cy="261610"/>
          </a:xfrm>
          <a:prstGeom prst="rect">
            <a:avLst/>
          </a:prstGeom>
        </p:spPr>
        <p:txBody>
          <a:bodyPr wrap="none">
            <a:spAutoFit/>
          </a:bodyPr>
          <a:lstStyle/>
          <a:p>
            <a:pPr algn="r"/>
            <a:r>
              <a:rPr lang="it-IT" sz="1100" dirty="0">
                <a:latin typeface="Arial"/>
                <a:cs typeface="Arial"/>
              </a:rPr>
              <a:t>Sta Sabina (Rome, V°)</a:t>
            </a:r>
            <a:endParaRPr lang="fr-FR" sz="1100" dirty="0">
              <a:latin typeface="Arial"/>
              <a:cs typeface="Arial"/>
            </a:endParaRPr>
          </a:p>
        </p:txBody>
      </p:sp>
      <p:sp>
        <p:nvSpPr>
          <p:cNvPr id="11" name="Rectangle 10"/>
          <p:cNvSpPr/>
          <p:nvPr/>
        </p:nvSpPr>
        <p:spPr>
          <a:xfrm>
            <a:off x="457200" y="6420803"/>
            <a:ext cx="2686077" cy="261610"/>
          </a:xfrm>
          <a:prstGeom prst="rect">
            <a:avLst/>
          </a:prstGeom>
        </p:spPr>
        <p:txBody>
          <a:bodyPr wrap="none">
            <a:spAutoFit/>
          </a:bodyPr>
          <a:lstStyle/>
          <a:p>
            <a:r>
              <a:rPr lang="fr-FR" sz="1100" dirty="0">
                <a:latin typeface="Arial"/>
                <a:cs typeface="Arial"/>
              </a:rPr>
              <a:t>St </a:t>
            </a:r>
            <a:r>
              <a:rPr lang="fr-FR" sz="1100" dirty="0" err="1">
                <a:latin typeface="Arial"/>
                <a:cs typeface="Arial"/>
              </a:rPr>
              <a:t>Appolinaire</a:t>
            </a:r>
            <a:r>
              <a:rPr lang="fr-FR" sz="1100" dirty="0">
                <a:latin typeface="Arial"/>
                <a:cs typeface="Arial"/>
              </a:rPr>
              <a:t> in Classe (Ravenne, 549)</a:t>
            </a:r>
          </a:p>
        </p:txBody>
      </p:sp>
    </p:spTree>
    <p:extLst>
      <p:ext uri="{BB962C8B-B14F-4D97-AF65-F5344CB8AC3E}">
        <p14:creationId xmlns:p14="http://schemas.microsoft.com/office/powerpoint/2010/main" val="1378058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a:solidFill>
                  <a:srgbClr val="FF0000"/>
                </a:solidFill>
              </a:rPr>
              <a:t>Architecture paléochrétienne</a:t>
            </a:r>
          </a:p>
        </p:txBody>
      </p:sp>
      <p:sp>
        <p:nvSpPr>
          <p:cNvPr id="3" name="Espace réservé du contenu 2"/>
          <p:cNvSpPr>
            <a:spLocks noGrp="1"/>
          </p:cNvSpPr>
          <p:nvPr>
            <p:ph idx="1"/>
          </p:nvPr>
        </p:nvSpPr>
        <p:spPr/>
        <p:txBody>
          <a:bodyPr>
            <a:normAutofit/>
          </a:bodyPr>
          <a:lstStyle/>
          <a:p>
            <a:pPr marL="0" indent="0">
              <a:buNone/>
            </a:pPr>
            <a:r>
              <a:rPr lang="sk-SK" sz="1600" b="1" dirty="0">
                <a:latin typeface="Arial"/>
                <a:cs typeface="Arial"/>
              </a:rPr>
              <a:t>EGLISE </a:t>
            </a:r>
            <a:r>
              <a:rPr lang="sk-SK" sz="1600" b="1">
                <a:latin typeface="Arial"/>
                <a:cs typeface="Arial"/>
              </a:rPr>
              <a:t>A PLAN CENTRÉ</a:t>
            </a:r>
            <a:endParaRPr lang="sk-SK" sz="1600" b="1" dirty="0">
              <a:latin typeface="Arial"/>
              <a:cs typeface="Arial"/>
            </a:endParaRPr>
          </a:p>
          <a:p>
            <a:pPr marL="0" indent="0">
              <a:lnSpc>
                <a:spcPct val="150000"/>
              </a:lnSpc>
              <a:buNone/>
            </a:pPr>
            <a:r>
              <a:rPr lang="fr-FR" sz="1600" dirty="0">
                <a:latin typeface="Arial"/>
                <a:cs typeface="Arial"/>
              </a:rPr>
              <a:t>• Plan circulaire ou octogonal à déambulatoire</a:t>
            </a:r>
          </a:p>
          <a:p>
            <a:pPr marL="0" indent="0">
              <a:buNone/>
            </a:pPr>
            <a:r>
              <a:rPr lang="fr-FR" sz="1600" dirty="0">
                <a:latin typeface="Arial"/>
                <a:cs typeface="Arial"/>
              </a:rPr>
              <a:t>• Mausolée / sanctuaire, puis </a:t>
            </a:r>
            <a:r>
              <a:rPr lang="fr-FR" sz="1600" b="1" dirty="0">
                <a:latin typeface="Arial"/>
                <a:cs typeface="Arial"/>
              </a:rPr>
              <a:t>baptistère</a:t>
            </a:r>
          </a:p>
        </p:txBody>
      </p:sp>
      <p:pic>
        <p:nvPicPr>
          <p:cNvPr id="2" name="Image 1"/>
          <p:cNvPicPr>
            <a:picLocks noChangeAspect="1"/>
          </p:cNvPicPr>
          <p:nvPr/>
        </p:nvPicPr>
        <p:blipFill>
          <a:blip r:embed="rId2"/>
          <a:stretch>
            <a:fillRect/>
          </a:stretch>
        </p:blipFill>
        <p:spPr>
          <a:xfrm>
            <a:off x="457200" y="3007043"/>
            <a:ext cx="2296160" cy="3554426"/>
          </a:xfrm>
          <a:prstGeom prst="rect">
            <a:avLst/>
          </a:prstGeom>
        </p:spPr>
      </p:pic>
      <p:pic>
        <p:nvPicPr>
          <p:cNvPr id="4" name="Image 3"/>
          <p:cNvPicPr>
            <a:picLocks noChangeAspect="1"/>
          </p:cNvPicPr>
          <p:nvPr/>
        </p:nvPicPr>
        <p:blipFill>
          <a:blip r:embed="rId3"/>
          <a:stretch>
            <a:fillRect/>
          </a:stretch>
        </p:blipFill>
        <p:spPr>
          <a:xfrm>
            <a:off x="2834640" y="2669918"/>
            <a:ext cx="2738120" cy="3934081"/>
          </a:xfrm>
          <a:prstGeom prst="rect">
            <a:avLst/>
          </a:prstGeom>
        </p:spPr>
      </p:pic>
      <p:pic>
        <p:nvPicPr>
          <p:cNvPr id="12" name="Image 11"/>
          <p:cNvPicPr>
            <a:picLocks noChangeAspect="1"/>
          </p:cNvPicPr>
          <p:nvPr/>
        </p:nvPicPr>
        <p:blipFill>
          <a:blip r:embed="rId4"/>
          <a:stretch>
            <a:fillRect/>
          </a:stretch>
        </p:blipFill>
        <p:spPr>
          <a:xfrm>
            <a:off x="5902960" y="3598312"/>
            <a:ext cx="2783840" cy="3005688"/>
          </a:xfrm>
          <a:prstGeom prst="rect">
            <a:avLst/>
          </a:prstGeom>
        </p:spPr>
      </p:pic>
      <p:pic>
        <p:nvPicPr>
          <p:cNvPr id="13" name="Image 12"/>
          <p:cNvPicPr>
            <a:picLocks noChangeAspect="1"/>
          </p:cNvPicPr>
          <p:nvPr/>
        </p:nvPicPr>
        <p:blipFill>
          <a:blip r:embed="rId5"/>
          <a:stretch>
            <a:fillRect/>
          </a:stretch>
        </p:blipFill>
        <p:spPr>
          <a:xfrm>
            <a:off x="5902960" y="1296110"/>
            <a:ext cx="2783840" cy="2081188"/>
          </a:xfrm>
          <a:prstGeom prst="rect">
            <a:avLst/>
          </a:prstGeom>
        </p:spPr>
      </p:pic>
    </p:spTree>
    <p:extLst>
      <p:ext uri="{BB962C8B-B14F-4D97-AF65-F5344CB8AC3E}">
        <p14:creationId xmlns:p14="http://schemas.microsoft.com/office/powerpoint/2010/main" val="3621476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a:solidFill>
                  <a:srgbClr val="FF0000"/>
                </a:solidFill>
              </a:rPr>
              <a:t>Architecture byzantine</a:t>
            </a:r>
          </a:p>
        </p:txBody>
      </p:sp>
      <p:sp>
        <p:nvSpPr>
          <p:cNvPr id="10" name="Rectangle 9"/>
          <p:cNvSpPr/>
          <p:nvPr/>
        </p:nvSpPr>
        <p:spPr>
          <a:xfrm>
            <a:off x="355600" y="6270748"/>
            <a:ext cx="3788717" cy="338554"/>
          </a:xfrm>
          <a:prstGeom prst="rect">
            <a:avLst/>
          </a:prstGeom>
        </p:spPr>
        <p:txBody>
          <a:bodyPr wrap="none">
            <a:spAutoFit/>
          </a:bodyPr>
          <a:lstStyle/>
          <a:p>
            <a:r>
              <a:rPr lang="fr-FR" sz="1600" dirty="0">
                <a:latin typeface="Arial"/>
                <a:cs typeface="Arial"/>
              </a:rPr>
              <a:t>Basilique paléochrétienne (Bas Empire)</a:t>
            </a:r>
          </a:p>
        </p:txBody>
      </p:sp>
      <p:sp>
        <p:nvSpPr>
          <p:cNvPr id="11" name="Rectangle 10"/>
          <p:cNvSpPr/>
          <p:nvPr/>
        </p:nvSpPr>
        <p:spPr>
          <a:xfrm>
            <a:off x="5954723" y="6237617"/>
            <a:ext cx="1678865" cy="338554"/>
          </a:xfrm>
          <a:prstGeom prst="rect">
            <a:avLst/>
          </a:prstGeom>
        </p:spPr>
        <p:txBody>
          <a:bodyPr wrap="none">
            <a:spAutoFit/>
          </a:bodyPr>
          <a:lstStyle/>
          <a:p>
            <a:r>
              <a:rPr lang="fr-FR" sz="1600" dirty="0">
                <a:latin typeface="Arial"/>
                <a:cs typeface="Arial"/>
              </a:rPr>
              <a:t>Eglise byzantine</a:t>
            </a:r>
          </a:p>
        </p:txBody>
      </p:sp>
      <p:cxnSp>
        <p:nvCxnSpPr>
          <p:cNvPr id="13" name="Connecteur droit 12"/>
          <p:cNvCxnSpPr/>
          <p:nvPr/>
        </p:nvCxnSpPr>
        <p:spPr>
          <a:xfrm>
            <a:off x="4460240" y="1524000"/>
            <a:ext cx="60960" cy="4775201"/>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pic>
        <p:nvPicPr>
          <p:cNvPr id="8" name="Image 7"/>
          <p:cNvPicPr>
            <a:picLocks noChangeAspect="1"/>
          </p:cNvPicPr>
          <p:nvPr/>
        </p:nvPicPr>
        <p:blipFill>
          <a:blip r:embed="rId2"/>
          <a:stretch>
            <a:fillRect/>
          </a:stretch>
        </p:blipFill>
        <p:spPr>
          <a:xfrm>
            <a:off x="162560" y="3455486"/>
            <a:ext cx="4168140" cy="2737395"/>
          </a:xfrm>
          <a:prstGeom prst="rect">
            <a:avLst/>
          </a:prstGeom>
        </p:spPr>
      </p:pic>
      <p:pic>
        <p:nvPicPr>
          <p:cNvPr id="9" name="Image 8"/>
          <p:cNvPicPr>
            <a:picLocks noChangeAspect="1"/>
          </p:cNvPicPr>
          <p:nvPr/>
        </p:nvPicPr>
        <p:blipFill>
          <a:blip r:embed="rId3"/>
          <a:stretch>
            <a:fillRect/>
          </a:stretch>
        </p:blipFill>
        <p:spPr>
          <a:xfrm>
            <a:off x="5156030" y="1417638"/>
            <a:ext cx="3276770" cy="4799957"/>
          </a:xfrm>
          <a:prstGeom prst="rect">
            <a:avLst/>
          </a:prstGeom>
        </p:spPr>
      </p:pic>
    </p:spTree>
    <p:extLst>
      <p:ext uri="{BB962C8B-B14F-4D97-AF65-F5344CB8AC3E}">
        <p14:creationId xmlns:p14="http://schemas.microsoft.com/office/powerpoint/2010/main" val="2524093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a:solidFill>
                  <a:srgbClr val="FF0000"/>
                </a:solidFill>
              </a:rPr>
              <a:t>Architecture byzantine</a:t>
            </a:r>
          </a:p>
        </p:txBody>
      </p:sp>
      <p:sp>
        <p:nvSpPr>
          <p:cNvPr id="3" name="Espace réservé du contenu 2"/>
          <p:cNvSpPr>
            <a:spLocks noGrp="1"/>
          </p:cNvSpPr>
          <p:nvPr>
            <p:ph idx="1"/>
          </p:nvPr>
        </p:nvSpPr>
        <p:spPr>
          <a:xfrm>
            <a:off x="457200" y="1600200"/>
            <a:ext cx="5933440" cy="4525963"/>
          </a:xfrm>
        </p:spPr>
        <p:txBody>
          <a:bodyPr>
            <a:normAutofit/>
          </a:bodyPr>
          <a:lstStyle/>
          <a:p>
            <a:pPr marL="0" indent="0">
              <a:buNone/>
            </a:pPr>
            <a:r>
              <a:rPr lang="fr-FR" sz="1600" b="1" dirty="0">
                <a:latin typeface="Arial"/>
                <a:cs typeface="Arial"/>
              </a:rPr>
              <a:t>P</a:t>
            </a:r>
            <a:r>
              <a:rPr lang="sk-SK" sz="1600" b="1" dirty="0">
                <a:latin typeface="Arial"/>
                <a:cs typeface="Arial"/>
              </a:rPr>
              <a:t>ROCÉDÉ : COUPOLE</a:t>
            </a:r>
          </a:p>
          <a:p>
            <a:r>
              <a:rPr lang="fr-FR" sz="1600" dirty="0"/>
              <a:t>Coupole : couverture très stable d’un espace carré (répartition égale des masses)</a:t>
            </a:r>
          </a:p>
          <a:p>
            <a:r>
              <a:rPr lang="fr-FR" sz="1600" dirty="0"/>
              <a:t>Lien entre le tambour et le plan carré : </a:t>
            </a:r>
            <a:r>
              <a:rPr lang="fr-FR" sz="1600" i="1" dirty="0"/>
              <a:t>trompes</a:t>
            </a:r>
            <a:r>
              <a:rPr lang="fr-FR" sz="1600" dirty="0"/>
              <a:t> et surtout </a:t>
            </a:r>
            <a:r>
              <a:rPr lang="fr-FR" sz="1600" i="1" dirty="0"/>
              <a:t>pendentifs</a:t>
            </a:r>
            <a:r>
              <a:rPr lang="fr-FR" sz="1600" dirty="0"/>
              <a:t> (triangles sphériques) chez les byzantins, bien que de construction plus difficile</a:t>
            </a:r>
            <a:endParaRPr lang="sk-SK" sz="1600" b="1" dirty="0">
              <a:latin typeface="Arial"/>
              <a:cs typeface="Arial"/>
            </a:endParaRPr>
          </a:p>
        </p:txBody>
      </p:sp>
      <p:pic>
        <p:nvPicPr>
          <p:cNvPr id="7" name="Image 6"/>
          <p:cNvPicPr>
            <a:picLocks noChangeAspect="1"/>
          </p:cNvPicPr>
          <p:nvPr/>
        </p:nvPicPr>
        <p:blipFill>
          <a:blip r:embed="rId2"/>
          <a:stretch>
            <a:fillRect/>
          </a:stretch>
        </p:blipFill>
        <p:spPr>
          <a:xfrm>
            <a:off x="2496592" y="3549650"/>
            <a:ext cx="4904968" cy="3060700"/>
          </a:xfrm>
          <a:prstGeom prst="rect">
            <a:avLst/>
          </a:prstGeom>
        </p:spPr>
      </p:pic>
      <p:pic>
        <p:nvPicPr>
          <p:cNvPr id="23" name="Image 22" descr="800px-Haga_Sofia_RB3.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601" y="3501390"/>
            <a:ext cx="2330991" cy="3108960"/>
          </a:xfrm>
          <a:prstGeom prst="rect">
            <a:avLst/>
          </a:prstGeom>
        </p:spPr>
      </p:pic>
      <p:pic>
        <p:nvPicPr>
          <p:cNvPr id="24" name="Image 23" descr="800px-Odzun_cupola.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8240" y="1651318"/>
            <a:ext cx="2849278" cy="1898332"/>
          </a:xfrm>
          <a:prstGeom prst="rect">
            <a:avLst/>
          </a:prstGeom>
        </p:spPr>
      </p:pic>
    </p:spTree>
    <p:extLst>
      <p:ext uri="{BB962C8B-B14F-4D97-AF65-F5344CB8AC3E}">
        <p14:creationId xmlns:p14="http://schemas.microsoft.com/office/powerpoint/2010/main" val="3692203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a:solidFill>
                  <a:srgbClr val="FF0000"/>
                </a:solidFill>
              </a:rPr>
              <a:t>Architecture byzantine</a:t>
            </a:r>
          </a:p>
        </p:txBody>
      </p:sp>
      <p:sp>
        <p:nvSpPr>
          <p:cNvPr id="3" name="Espace réservé du contenu 2"/>
          <p:cNvSpPr>
            <a:spLocks noGrp="1"/>
          </p:cNvSpPr>
          <p:nvPr>
            <p:ph idx="1"/>
          </p:nvPr>
        </p:nvSpPr>
        <p:spPr>
          <a:xfrm>
            <a:off x="457200" y="1600200"/>
            <a:ext cx="7051040" cy="4525963"/>
          </a:xfrm>
        </p:spPr>
        <p:txBody>
          <a:bodyPr>
            <a:normAutofit/>
          </a:bodyPr>
          <a:lstStyle/>
          <a:p>
            <a:pPr marL="0" indent="0">
              <a:buNone/>
            </a:pPr>
            <a:r>
              <a:rPr lang="fr-FR" sz="1600" b="1" dirty="0">
                <a:latin typeface="Arial"/>
                <a:cs typeface="Arial"/>
              </a:rPr>
              <a:t>DISTRIBUTION</a:t>
            </a:r>
            <a:r>
              <a:rPr lang="sk-SK" sz="1600" b="1" dirty="0">
                <a:latin typeface="Arial"/>
                <a:cs typeface="Arial"/>
              </a:rPr>
              <a:t> : PLAN CENTRÉ</a:t>
            </a:r>
          </a:p>
          <a:p>
            <a:pPr marL="0" indent="0">
              <a:buNone/>
            </a:pPr>
            <a:r>
              <a:rPr lang="fr-FR" sz="1600" dirty="0"/>
              <a:t>• Besoins liturgiques de l’église d’Orient + croix grecque</a:t>
            </a:r>
          </a:p>
          <a:p>
            <a:pPr marL="0" indent="0">
              <a:buNone/>
            </a:pPr>
            <a:r>
              <a:rPr lang="fr-FR" sz="1600" dirty="0"/>
              <a:t>• Coupole centrale + bras latéraux (berceaux ou absides : contrebutement)</a:t>
            </a:r>
          </a:p>
          <a:p>
            <a:pPr marL="0" indent="0">
              <a:buNone/>
            </a:pPr>
            <a:r>
              <a:rPr lang="hr-HR" sz="1600" dirty="0"/>
              <a:t>• Plan général :</a:t>
            </a:r>
          </a:p>
          <a:p>
            <a:pPr marL="0" indent="0">
              <a:buNone/>
            </a:pPr>
            <a:endParaRPr lang="hr-HR" sz="1600" b="1" dirty="0">
              <a:latin typeface="Arial"/>
              <a:cs typeface="Arial"/>
            </a:endParaRPr>
          </a:p>
          <a:p>
            <a:pPr marL="0" indent="0">
              <a:buNone/>
            </a:pPr>
            <a:r>
              <a:rPr lang="fr-FR" sz="1600" i="1" dirty="0">
                <a:latin typeface="Arial"/>
                <a:cs typeface="Arial"/>
              </a:rPr>
              <a:t>→ </a:t>
            </a:r>
            <a:r>
              <a:rPr lang="hr-HR" sz="1600" b="1" dirty="0">
                <a:latin typeface="Arial"/>
                <a:cs typeface="Arial"/>
              </a:rPr>
              <a:t>Croix grecque </a:t>
            </a:r>
          </a:p>
          <a:p>
            <a:pPr marL="0" indent="0">
              <a:buNone/>
            </a:pPr>
            <a:endParaRPr lang="hr-HR" sz="1600" b="1" dirty="0">
              <a:latin typeface="Arial"/>
              <a:cs typeface="Arial"/>
            </a:endParaRPr>
          </a:p>
          <a:p>
            <a:pPr marL="0" indent="0">
              <a:buNone/>
            </a:pPr>
            <a:endParaRPr lang="hr-HR" sz="1600" b="1" dirty="0">
              <a:latin typeface="Arial"/>
              <a:cs typeface="Arial"/>
            </a:endParaRPr>
          </a:p>
          <a:p>
            <a:pPr marL="0" indent="0">
              <a:buNone/>
            </a:pPr>
            <a:endParaRPr lang="hr-HR" sz="1600" b="1" dirty="0">
              <a:latin typeface="Arial"/>
              <a:cs typeface="Arial"/>
            </a:endParaRPr>
          </a:p>
          <a:p>
            <a:pPr marL="0" indent="0">
              <a:buNone/>
            </a:pPr>
            <a:endParaRPr lang="hr-HR" sz="1600" b="1" dirty="0">
              <a:latin typeface="Arial"/>
              <a:cs typeface="Arial"/>
            </a:endParaRPr>
          </a:p>
          <a:p>
            <a:pPr marL="0" indent="0">
              <a:buNone/>
            </a:pPr>
            <a:endParaRPr lang="hr-HR" sz="1600" b="1" dirty="0">
              <a:latin typeface="Arial"/>
              <a:cs typeface="Arial"/>
            </a:endParaRPr>
          </a:p>
          <a:p>
            <a:pPr marL="0" indent="0">
              <a:buNone/>
            </a:pPr>
            <a:endParaRPr lang="hr-HR" sz="1600" b="1" dirty="0">
              <a:latin typeface="Arial"/>
              <a:cs typeface="Arial"/>
            </a:endParaRPr>
          </a:p>
          <a:p>
            <a:pPr marL="0" indent="0">
              <a:buNone/>
            </a:pPr>
            <a:r>
              <a:rPr lang="fr-FR" sz="1600" i="1" dirty="0">
                <a:latin typeface="Arial"/>
                <a:cs typeface="Arial"/>
              </a:rPr>
              <a:t>→ </a:t>
            </a:r>
            <a:r>
              <a:rPr lang="hr-HR" sz="1600" b="1" dirty="0">
                <a:latin typeface="Arial"/>
                <a:cs typeface="Arial"/>
              </a:rPr>
              <a:t>Plan carré</a:t>
            </a:r>
          </a:p>
        </p:txBody>
      </p:sp>
      <p:pic>
        <p:nvPicPr>
          <p:cNvPr id="2" name="Image 1" descr="plan.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1568" y="2732024"/>
            <a:ext cx="5285232" cy="4005072"/>
          </a:xfrm>
          <a:prstGeom prst="rect">
            <a:avLst/>
          </a:prstGeom>
        </p:spPr>
      </p:pic>
    </p:spTree>
    <p:extLst>
      <p:ext uri="{BB962C8B-B14F-4D97-AF65-F5344CB8AC3E}">
        <p14:creationId xmlns:p14="http://schemas.microsoft.com/office/powerpoint/2010/main" val="2730047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a:solidFill>
                  <a:srgbClr val="FF0000"/>
                </a:solidFill>
              </a:rPr>
              <a:t>Architecture byzantine</a:t>
            </a:r>
          </a:p>
        </p:txBody>
      </p:sp>
      <p:sp>
        <p:nvSpPr>
          <p:cNvPr id="3" name="Espace réservé du contenu 2"/>
          <p:cNvSpPr>
            <a:spLocks noGrp="1"/>
          </p:cNvSpPr>
          <p:nvPr>
            <p:ph idx="1"/>
          </p:nvPr>
        </p:nvSpPr>
        <p:spPr>
          <a:xfrm>
            <a:off x="457200" y="1600200"/>
            <a:ext cx="7051040" cy="4525963"/>
          </a:xfrm>
        </p:spPr>
        <p:txBody>
          <a:bodyPr>
            <a:normAutofit/>
          </a:bodyPr>
          <a:lstStyle/>
          <a:p>
            <a:pPr marL="0" indent="0">
              <a:buNone/>
            </a:pPr>
            <a:r>
              <a:rPr lang="fr-FR" sz="1600" b="1" dirty="0">
                <a:latin typeface="Arial"/>
                <a:cs typeface="Arial"/>
              </a:rPr>
              <a:t>DISTRIBUTION</a:t>
            </a:r>
            <a:r>
              <a:rPr lang="sk-SK" sz="1600" b="1" dirty="0">
                <a:latin typeface="Arial"/>
                <a:cs typeface="Arial"/>
              </a:rPr>
              <a:t> : PLAN CENTRÉ</a:t>
            </a:r>
            <a:endParaRPr lang="hr-HR" sz="1600" b="1" dirty="0">
              <a:latin typeface="Arial"/>
              <a:cs typeface="Arial"/>
            </a:endParaRPr>
          </a:p>
          <a:p>
            <a:pPr marL="0" indent="0">
              <a:buNone/>
            </a:pPr>
            <a:r>
              <a:rPr lang="fr-FR" sz="1600" i="1" dirty="0">
                <a:latin typeface="Arial"/>
                <a:cs typeface="Arial"/>
              </a:rPr>
              <a:t>→ </a:t>
            </a:r>
            <a:r>
              <a:rPr lang="hr-HR" sz="1600" b="1" dirty="0">
                <a:latin typeface="Arial"/>
                <a:cs typeface="Arial"/>
              </a:rPr>
              <a:t>Plan carré</a:t>
            </a:r>
          </a:p>
          <a:p>
            <a:pPr marL="0" indent="0">
              <a:buNone/>
            </a:pPr>
            <a:endParaRPr lang="hr-HR" sz="1600" b="1" dirty="0">
              <a:latin typeface="Arial"/>
              <a:cs typeface="Arial"/>
            </a:endParaRPr>
          </a:p>
        </p:txBody>
      </p:sp>
      <p:pic>
        <p:nvPicPr>
          <p:cNvPr id="4" name="Image 3"/>
          <p:cNvPicPr>
            <a:picLocks noChangeAspect="1"/>
          </p:cNvPicPr>
          <p:nvPr/>
        </p:nvPicPr>
        <p:blipFill>
          <a:blip r:embed="rId2"/>
          <a:stretch>
            <a:fillRect/>
          </a:stretch>
        </p:blipFill>
        <p:spPr>
          <a:xfrm>
            <a:off x="457200" y="2468880"/>
            <a:ext cx="2829499" cy="4144774"/>
          </a:xfrm>
          <a:prstGeom prst="rect">
            <a:avLst/>
          </a:prstGeom>
        </p:spPr>
      </p:pic>
      <p:pic>
        <p:nvPicPr>
          <p:cNvPr id="5" name="Image 4"/>
          <p:cNvPicPr>
            <a:picLocks noChangeAspect="1"/>
          </p:cNvPicPr>
          <p:nvPr/>
        </p:nvPicPr>
        <p:blipFill>
          <a:blip r:embed="rId3"/>
          <a:stretch>
            <a:fillRect/>
          </a:stretch>
        </p:blipFill>
        <p:spPr>
          <a:xfrm>
            <a:off x="3301527" y="2939756"/>
            <a:ext cx="2946874" cy="3673898"/>
          </a:xfrm>
          <a:prstGeom prst="rect">
            <a:avLst/>
          </a:prstGeom>
        </p:spPr>
      </p:pic>
      <p:pic>
        <p:nvPicPr>
          <p:cNvPr id="7" name="Image 6"/>
          <p:cNvPicPr>
            <a:picLocks noChangeAspect="1"/>
          </p:cNvPicPr>
          <p:nvPr/>
        </p:nvPicPr>
        <p:blipFill>
          <a:blip r:embed="rId4"/>
          <a:stretch>
            <a:fillRect/>
          </a:stretch>
        </p:blipFill>
        <p:spPr>
          <a:xfrm>
            <a:off x="5737860" y="1417638"/>
            <a:ext cx="3175000" cy="2209800"/>
          </a:xfrm>
          <a:prstGeom prst="rect">
            <a:avLst/>
          </a:prstGeom>
        </p:spPr>
      </p:pic>
      <p:sp>
        <p:nvSpPr>
          <p:cNvPr id="8" name="Rectangle 7"/>
          <p:cNvSpPr/>
          <p:nvPr/>
        </p:nvSpPr>
        <p:spPr>
          <a:xfrm>
            <a:off x="6400800" y="3627438"/>
            <a:ext cx="2512060" cy="523220"/>
          </a:xfrm>
          <a:prstGeom prst="rect">
            <a:avLst/>
          </a:prstGeom>
        </p:spPr>
        <p:txBody>
          <a:bodyPr wrap="square">
            <a:spAutoFit/>
          </a:bodyPr>
          <a:lstStyle/>
          <a:p>
            <a:pPr algn="r"/>
            <a:r>
              <a:rPr lang="it-IT" sz="1400" dirty="0" err="1">
                <a:latin typeface="Arial"/>
                <a:cs typeface="Arial"/>
              </a:rPr>
              <a:t>Hagia</a:t>
            </a:r>
            <a:r>
              <a:rPr lang="it-IT" sz="1400" dirty="0">
                <a:latin typeface="Arial"/>
                <a:cs typeface="Arial"/>
              </a:rPr>
              <a:t> </a:t>
            </a:r>
            <a:r>
              <a:rPr lang="it-IT" sz="1400" dirty="0" err="1">
                <a:latin typeface="Arial"/>
                <a:cs typeface="Arial"/>
              </a:rPr>
              <a:t>Sophia</a:t>
            </a:r>
            <a:endParaRPr lang="it-IT" sz="1400" dirty="0">
              <a:latin typeface="Arial"/>
              <a:cs typeface="Arial"/>
            </a:endParaRPr>
          </a:p>
          <a:p>
            <a:pPr algn="r"/>
            <a:r>
              <a:rPr lang="it-IT" sz="1400" dirty="0">
                <a:latin typeface="Arial"/>
                <a:cs typeface="Arial"/>
              </a:rPr>
              <a:t>(</a:t>
            </a:r>
            <a:r>
              <a:rPr lang="it-IT" sz="1400" dirty="0" err="1">
                <a:latin typeface="Arial"/>
                <a:cs typeface="Arial"/>
              </a:rPr>
              <a:t>Constantinople</a:t>
            </a:r>
            <a:r>
              <a:rPr lang="it-IT" sz="1400" dirty="0">
                <a:latin typeface="Arial"/>
                <a:cs typeface="Arial"/>
              </a:rPr>
              <a:t>)</a:t>
            </a:r>
            <a:endParaRPr lang="fr-FR" sz="1400" dirty="0">
              <a:latin typeface="Arial"/>
              <a:cs typeface="Arial"/>
            </a:endParaRPr>
          </a:p>
        </p:txBody>
      </p:sp>
    </p:spTree>
    <p:extLst>
      <p:ext uri="{BB962C8B-B14F-4D97-AF65-F5344CB8AC3E}">
        <p14:creationId xmlns:p14="http://schemas.microsoft.com/office/powerpoint/2010/main" val="1168509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a:solidFill>
                  <a:srgbClr val="FF0000"/>
                </a:solidFill>
              </a:rPr>
              <a:t>Architecture byzantine</a:t>
            </a:r>
          </a:p>
        </p:txBody>
      </p:sp>
      <p:sp>
        <p:nvSpPr>
          <p:cNvPr id="3" name="Espace réservé du contenu 2"/>
          <p:cNvSpPr>
            <a:spLocks noGrp="1"/>
          </p:cNvSpPr>
          <p:nvPr>
            <p:ph idx="1"/>
          </p:nvPr>
        </p:nvSpPr>
        <p:spPr>
          <a:xfrm>
            <a:off x="457200" y="1600200"/>
            <a:ext cx="7051040" cy="4525963"/>
          </a:xfrm>
        </p:spPr>
        <p:txBody>
          <a:bodyPr>
            <a:normAutofit/>
          </a:bodyPr>
          <a:lstStyle/>
          <a:p>
            <a:pPr marL="0" indent="0">
              <a:buNone/>
            </a:pPr>
            <a:r>
              <a:rPr lang="fr-FR" sz="1600" b="1" dirty="0">
                <a:latin typeface="Arial"/>
                <a:cs typeface="Arial"/>
              </a:rPr>
              <a:t>DISTRIBUTION</a:t>
            </a:r>
            <a:r>
              <a:rPr lang="sk-SK" sz="1600" b="1" dirty="0">
                <a:latin typeface="Arial"/>
                <a:cs typeface="Arial"/>
              </a:rPr>
              <a:t> : PLAN CENTRÉ</a:t>
            </a:r>
            <a:endParaRPr lang="hr-HR" sz="1600" b="1" dirty="0">
              <a:latin typeface="Arial"/>
              <a:cs typeface="Arial"/>
            </a:endParaRPr>
          </a:p>
          <a:p>
            <a:pPr marL="0" indent="0">
              <a:buNone/>
            </a:pPr>
            <a:r>
              <a:rPr lang="fr-FR" sz="1600" i="1" dirty="0">
                <a:latin typeface="Arial"/>
                <a:cs typeface="Arial"/>
              </a:rPr>
              <a:t>→ </a:t>
            </a:r>
            <a:r>
              <a:rPr lang="fr-FR" sz="1600" b="1" dirty="0">
                <a:latin typeface="Arial"/>
                <a:cs typeface="Arial"/>
              </a:rPr>
              <a:t>Plan cruciforme (croix grecque)</a:t>
            </a:r>
            <a:endParaRPr lang="hr-HR" sz="1600" b="1" dirty="0">
              <a:latin typeface="Arial"/>
              <a:cs typeface="Arial"/>
            </a:endParaRPr>
          </a:p>
        </p:txBody>
      </p:sp>
      <p:sp>
        <p:nvSpPr>
          <p:cNvPr id="8" name="Rectangle 7"/>
          <p:cNvSpPr/>
          <p:nvPr/>
        </p:nvSpPr>
        <p:spPr>
          <a:xfrm>
            <a:off x="6400800" y="5920759"/>
            <a:ext cx="2512060" cy="523220"/>
          </a:xfrm>
          <a:prstGeom prst="rect">
            <a:avLst/>
          </a:prstGeom>
        </p:spPr>
        <p:txBody>
          <a:bodyPr wrap="square">
            <a:spAutoFit/>
          </a:bodyPr>
          <a:lstStyle/>
          <a:p>
            <a:r>
              <a:rPr lang="fr-FR" sz="1400" dirty="0">
                <a:latin typeface="Arial"/>
                <a:cs typeface="Arial"/>
              </a:rPr>
              <a:t>Saint Apôtres</a:t>
            </a:r>
          </a:p>
          <a:p>
            <a:r>
              <a:rPr lang="it-IT" sz="1400" dirty="0">
                <a:latin typeface="Arial"/>
                <a:cs typeface="Arial"/>
              </a:rPr>
              <a:t>(</a:t>
            </a:r>
            <a:r>
              <a:rPr lang="it-IT" sz="1400" dirty="0" err="1">
                <a:latin typeface="Arial"/>
                <a:cs typeface="Arial"/>
              </a:rPr>
              <a:t>Constantinople</a:t>
            </a:r>
            <a:r>
              <a:rPr lang="it-IT" sz="1400" dirty="0">
                <a:latin typeface="Arial"/>
                <a:cs typeface="Arial"/>
              </a:rPr>
              <a:t>)</a:t>
            </a:r>
            <a:endParaRPr lang="fr-FR" sz="1400" dirty="0">
              <a:latin typeface="Arial"/>
              <a:cs typeface="Arial"/>
            </a:endParaRPr>
          </a:p>
        </p:txBody>
      </p:sp>
      <p:pic>
        <p:nvPicPr>
          <p:cNvPr id="2" name="Image 1"/>
          <p:cNvPicPr>
            <a:picLocks noChangeAspect="1"/>
          </p:cNvPicPr>
          <p:nvPr/>
        </p:nvPicPr>
        <p:blipFill>
          <a:blip r:embed="rId2"/>
          <a:stretch>
            <a:fillRect/>
          </a:stretch>
        </p:blipFill>
        <p:spPr>
          <a:xfrm>
            <a:off x="589280" y="2471112"/>
            <a:ext cx="5552440" cy="3972867"/>
          </a:xfrm>
          <a:prstGeom prst="rect">
            <a:avLst/>
          </a:prstGeom>
        </p:spPr>
      </p:pic>
    </p:spTree>
    <p:extLst>
      <p:ext uri="{BB962C8B-B14F-4D97-AF65-F5344CB8AC3E}">
        <p14:creationId xmlns:p14="http://schemas.microsoft.com/office/powerpoint/2010/main" val="4002540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r:embed="rId2"/>
          <a:stretch>
            <a:fillRect/>
          </a:stretch>
        </p:blipFill>
        <p:spPr>
          <a:xfrm>
            <a:off x="6187440" y="1210518"/>
            <a:ext cx="2319019" cy="3629264"/>
          </a:xfrm>
          <a:prstGeom prst="rect">
            <a:avLst/>
          </a:prstGeom>
        </p:spPr>
      </p:pic>
      <p:sp>
        <p:nvSpPr>
          <p:cNvPr id="6" name="Titre 5"/>
          <p:cNvSpPr>
            <a:spLocks noGrp="1"/>
          </p:cNvSpPr>
          <p:nvPr>
            <p:ph type="title"/>
          </p:nvPr>
        </p:nvSpPr>
        <p:spPr/>
        <p:txBody>
          <a:bodyPr/>
          <a:lstStyle/>
          <a:p>
            <a:r>
              <a:rPr lang="fr-FR" dirty="0">
                <a:solidFill>
                  <a:srgbClr val="FF0000"/>
                </a:solidFill>
              </a:rPr>
              <a:t>Architecture byzantine</a:t>
            </a:r>
          </a:p>
        </p:txBody>
      </p:sp>
      <p:sp>
        <p:nvSpPr>
          <p:cNvPr id="3" name="Espace réservé du contenu 2"/>
          <p:cNvSpPr>
            <a:spLocks noGrp="1"/>
          </p:cNvSpPr>
          <p:nvPr>
            <p:ph idx="1"/>
          </p:nvPr>
        </p:nvSpPr>
        <p:spPr>
          <a:xfrm>
            <a:off x="457200" y="1600200"/>
            <a:ext cx="7051040" cy="4525963"/>
          </a:xfrm>
        </p:spPr>
        <p:txBody>
          <a:bodyPr>
            <a:normAutofit/>
          </a:bodyPr>
          <a:lstStyle/>
          <a:p>
            <a:pPr marL="0" indent="0">
              <a:buNone/>
            </a:pPr>
            <a:r>
              <a:rPr lang="fr-FR" sz="1600" b="1" dirty="0">
                <a:latin typeface="Arial"/>
                <a:cs typeface="Arial"/>
              </a:rPr>
              <a:t>DÉCORATION</a:t>
            </a:r>
            <a:endParaRPr lang="sk-SK" sz="1600" b="1" dirty="0">
              <a:latin typeface="Arial"/>
              <a:cs typeface="Arial"/>
            </a:endParaRPr>
          </a:p>
          <a:p>
            <a:pPr marL="0" indent="0">
              <a:buNone/>
            </a:pPr>
            <a:r>
              <a:rPr lang="pt-BR" sz="1600" dirty="0">
                <a:latin typeface="Arial"/>
                <a:cs typeface="Arial"/>
              </a:rPr>
              <a:t>• </a:t>
            </a:r>
            <a:r>
              <a:rPr lang="pt-BR" sz="1600" dirty="0" err="1">
                <a:latin typeface="Arial"/>
                <a:cs typeface="Arial"/>
              </a:rPr>
              <a:t>Mosaïques</a:t>
            </a:r>
            <a:r>
              <a:rPr lang="pt-BR" sz="1600" dirty="0">
                <a:latin typeface="Arial"/>
                <a:cs typeface="Arial"/>
              </a:rPr>
              <a:t> </a:t>
            </a:r>
            <a:r>
              <a:rPr lang="pt-BR" sz="1600" dirty="0" err="1">
                <a:latin typeface="Arial"/>
                <a:cs typeface="Arial"/>
              </a:rPr>
              <a:t>dorées</a:t>
            </a:r>
            <a:endParaRPr lang="pt-BR" sz="1600" dirty="0">
              <a:latin typeface="Arial"/>
              <a:cs typeface="Arial"/>
            </a:endParaRPr>
          </a:p>
          <a:p>
            <a:pPr marL="0" indent="0">
              <a:buNone/>
            </a:pPr>
            <a:r>
              <a:rPr lang="fr-FR" sz="1600" dirty="0">
                <a:latin typeface="Arial"/>
                <a:cs typeface="Arial"/>
              </a:rPr>
              <a:t>• Chapiteau cubique byzantin</a:t>
            </a:r>
            <a:endParaRPr lang="hr-HR" sz="1600" b="1" dirty="0">
              <a:latin typeface="Arial"/>
              <a:cs typeface="Arial"/>
            </a:endParaRPr>
          </a:p>
        </p:txBody>
      </p:sp>
      <p:pic>
        <p:nvPicPr>
          <p:cNvPr id="4" name="Image 3"/>
          <p:cNvPicPr>
            <a:picLocks noChangeAspect="1"/>
          </p:cNvPicPr>
          <p:nvPr/>
        </p:nvPicPr>
        <p:blipFill>
          <a:blip r:embed="rId3"/>
          <a:stretch>
            <a:fillRect/>
          </a:stretch>
        </p:blipFill>
        <p:spPr>
          <a:xfrm>
            <a:off x="457200" y="2793084"/>
            <a:ext cx="5135880" cy="3790279"/>
          </a:xfrm>
          <a:prstGeom prst="rect">
            <a:avLst/>
          </a:prstGeom>
        </p:spPr>
      </p:pic>
      <p:pic>
        <p:nvPicPr>
          <p:cNvPr id="5" name="Image 4"/>
          <p:cNvPicPr>
            <a:picLocks noChangeAspect="1"/>
          </p:cNvPicPr>
          <p:nvPr/>
        </p:nvPicPr>
        <p:blipFill>
          <a:blip r:embed="rId4"/>
          <a:stretch>
            <a:fillRect/>
          </a:stretch>
        </p:blipFill>
        <p:spPr>
          <a:xfrm>
            <a:off x="6187440" y="3628153"/>
            <a:ext cx="2319019" cy="2955210"/>
          </a:xfrm>
          <a:prstGeom prst="rect">
            <a:avLst/>
          </a:prstGeom>
        </p:spPr>
      </p:pic>
    </p:spTree>
    <p:extLst>
      <p:ext uri="{BB962C8B-B14F-4D97-AF65-F5344CB8AC3E}">
        <p14:creationId xmlns:p14="http://schemas.microsoft.com/office/powerpoint/2010/main" val="1818640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a:solidFill>
                  <a:srgbClr val="FF0000"/>
                </a:solidFill>
              </a:rPr>
              <a:t>Architecture byzantine</a:t>
            </a:r>
          </a:p>
        </p:txBody>
      </p:sp>
      <p:sp>
        <p:nvSpPr>
          <p:cNvPr id="3" name="Espace réservé du contenu 2"/>
          <p:cNvSpPr>
            <a:spLocks noGrp="1"/>
          </p:cNvSpPr>
          <p:nvPr>
            <p:ph idx="1"/>
          </p:nvPr>
        </p:nvSpPr>
        <p:spPr>
          <a:xfrm>
            <a:off x="457200" y="1600200"/>
            <a:ext cx="5862320" cy="4525963"/>
          </a:xfrm>
        </p:spPr>
        <p:txBody>
          <a:bodyPr>
            <a:normAutofit/>
          </a:bodyPr>
          <a:lstStyle/>
          <a:p>
            <a:pPr marL="0" indent="0">
              <a:buNone/>
            </a:pPr>
            <a:r>
              <a:rPr lang="fr-FR" sz="1600" b="1" dirty="0">
                <a:latin typeface="Arial"/>
                <a:cs typeface="Arial"/>
              </a:rPr>
              <a:t>DIFFUSION</a:t>
            </a:r>
          </a:p>
          <a:p>
            <a:pPr marL="0" indent="0">
              <a:buNone/>
            </a:pPr>
            <a:r>
              <a:rPr lang="fr-FR" sz="1600" dirty="0">
                <a:latin typeface="Arial"/>
                <a:cs typeface="Arial"/>
              </a:rPr>
              <a:t>• </a:t>
            </a:r>
            <a:r>
              <a:rPr lang="fr-FR" sz="1600" b="1" dirty="0">
                <a:latin typeface="Arial"/>
                <a:cs typeface="Arial"/>
              </a:rPr>
              <a:t>Apports</a:t>
            </a:r>
            <a:r>
              <a:rPr lang="fr-FR" sz="1600" dirty="0">
                <a:latin typeface="Arial"/>
                <a:cs typeface="Arial"/>
              </a:rPr>
              <a:t> : plan centré, couverture par coupoles, arc outrepassé</a:t>
            </a:r>
          </a:p>
          <a:p>
            <a:pPr marL="0" indent="0">
              <a:buNone/>
            </a:pPr>
            <a:r>
              <a:rPr lang="fr-FR" sz="1600" dirty="0">
                <a:latin typeface="Arial"/>
                <a:cs typeface="Arial"/>
              </a:rPr>
              <a:t>• </a:t>
            </a:r>
            <a:r>
              <a:rPr lang="fr-FR" sz="1600" b="1" dirty="0">
                <a:latin typeface="Arial"/>
                <a:cs typeface="Arial"/>
              </a:rPr>
              <a:t>Europe occidentale </a:t>
            </a:r>
            <a:r>
              <a:rPr lang="fr-FR" sz="1600" dirty="0">
                <a:latin typeface="Arial"/>
                <a:cs typeface="Arial"/>
              </a:rPr>
              <a:t>: expansion Justinienne (Ravenne, Venise) et </a:t>
            </a:r>
            <a:r>
              <a:rPr lang="it-IT" sz="1600" dirty="0" err="1">
                <a:latin typeface="Arial"/>
                <a:cs typeface="Arial"/>
              </a:rPr>
              <a:t>conquête</a:t>
            </a:r>
            <a:r>
              <a:rPr lang="it-IT" sz="1600" dirty="0">
                <a:latin typeface="Arial"/>
                <a:cs typeface="Arial"/>
              </a:rPr>
              <a:t> arabe</a:t>
            </a:r>
          </a:p>
        </p:txBody>
      </p:sp>
      <p:pic>
        <p:nvPicPr>
          <p:cNvPr id="8" name="Image 7"/>
          <p:cNvPicPr>
            <a:picLocks noChangeAspect="1"/>
          </p:cNvPicPr>
          <p:nvPr/>
        </p:nvPicPr>
        <p:blipFill rotWithShape="1">
          <a:blip r:embed="rId2"/>
          <a:srcRect r="-34391"/>
          <a:stretch/>
        </p:blipFill>
        <p:spPr>
          <a:xfrm>
            <a:off x="457200" y="3185175"/>
            <a:ext cx="2362156" cy="3187488"/>
          </a:xfrm>
          <a:prstGeom prst="rect">
            <a:avLst/>
          </a:prstGeom>
        </p:spPr>
      </p:pic>
      <p:pic>
        <p:nvPicPr>
          <p:cNvPr id="9" name="Image 8"/>
          <p:cNvPicPr>
            <a:picLocks noChangeAspect="1"/>
          </p:cNvPicPr>
          <p:nvPr/>
        </p:nvPicPr>
        <p:blipFill>
          <a:blip r:embed="rId3"/>
          <a:stretch>
            <a:fillRect/>
          </a:stretch>
        </p:blipFill>
        <p:spPr>
          <a:xfrm>
            <a:off x="6319520" y="1600200"/>
            <a:ext cx="2712721" cy="4772463"/>
          </a:xfrm>
          <a:prstGeom prst="rect">
            <a:avLst/>
          </a:prstGeom>
        </p:spPr>
      </p:pic>
      <p:pic>
        <p:nvPicPr>
          <p:cNvPr id="2" name="Image 1"/>
          <p:cNvPicPr>
            <a:picLocks noChangeAspect="1"/>
          </p:cNvPicPr>
          <p:nvPr/>
        </p:nvPicPr>
        <p:blipFill rotWithShape="1">
          <a:blip r:embed="rId4"/>
          <a:srcRect l="4668" r="4914"/>
          <a:stretch/>
        </p:blipFill>
        <p:spPr>
          <a:xfrm>
            <a:off x="2377440" y="3185175"/>
            <a:ext cx="3738880" cy="3187488"/>
          </a:xfrm>
          <a:prstGeom prst="rect">
            <a:avLst/>
          </a:prstGeom>
        </p:spPr>
      </p:pic>
      <p:sp>
        <p:nvSpPr>
          <p:cNvPr id="10" name="Rectangle 9"/>
          <p:cNvSpPr/>
          <p:nvPr/>
        </p:nvSpPr>
        <p:spPr>
          <a:xfrm>
            <a:off x="2377439" y="6422065"/>
            <a:ext cx="6654801" cy="276999"/>
          </a:xfrm>
          <a:prstGeom prst="rect">
            <a:avLst/>
          </a:prstGeom>
        </p:spPr>
        <p:txBody>
          <a:bodyPr wrap="square">
            <a:spAutoFit/>
          </a:bodyPr>
          <a:lstStyle/>
          <a:p>
            <a:r>
              <a:rPr lang="it-IT" sz="1200" dirty="0">
                <a:latin typeface="Arial"/>
                <a:cs typeface="Arial"/>
              </a:rPr>
              <a:t>	</a:t>
            </a:r>
            <a:r>
              <a:rPr lang="it-IT" sz="1200" dirty="0" err="1">
                <a:latin typeface="Arial"/>
                <a:cs typeface="Arial"/>
              </a:rPr>
              <a:t>Mausolée</a:t>
            </a:r>
            <a:r>
              <a:rPr lang="it-IT" sz="1200" dirty="0">
                <a:latin typeface="Arial"/>
                <a:cs typeface="Arial"/>
              </a:rPr>
              <a:t> Galla Placidia (IV°, </a:t>
            </a:r>
            <a:r>
              <a:rPr lang="it-IT" sz="1200" dirty="0" err="1">
                <a:latin typeface="Arial"/>
                <a:cs typeface="Arial"/>
              </a:rPr>
              <a:t>Ravenne</a:t>
            </a:r>
            <a:r>
              <a:rPr lang="it-IT" sz="1200" dirty="0">
                <a:latin typeface="Arial"/>
                <a:cs typeface="Arial"/>
              </a:rPr>
              <a:t>) 				St Marc (</a:t>
            </a:r>
            <a:r>
              <a:rPr lang="it-IT" sz="1200" dirty="0" err="1">
                <a:latin typeface="Arial"/>
                <a:cs typeface="Arial"/>
              </a:rPr>
              <a:t>Venise</a:t>
            </a:r>
            <a:r>
              <a:rPr lang="it-IT" sz="1200" dirty="0">
                <a:latin typeface="Arial"/>
                <a:cs typeface="Arial"/>
              </a:rPr>
              <a:t>, XI°)</a:t>
            </a:r>
            <a:endParaRPr lang="fr-FR" sz="1200" dirty="0">
              <a:latin typeface="Arial"/>
              <a:cs typeface="Arial"/>
            </a:endParaRPr>
          </a:p>
        </p:txBody>
      </p:sp>
    </p:spTree>
    <p:extLst>
      <p:ext uri="{BB962C8B-B14F-4D97-AF65-F5344CB8AC3E}">
        <p14:creationId xmlns:p14="http://schemas.microsoft.com/office/powerpoint/2010/main" val="3767334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a:solidFill>
                  <a:srgbClr val="FF0000"/>
                </a:solidFill>
              </a:rPr>
              <a:t>Architecture byzantine</a:t>
            </a:r>
          </a:p>
        </p:txBody>
      </p:sp>
      <p:sp>
        <p:nvSpPr>
          <p:cNvPr id="3" name="Espace réservé du contenu 2"/>
          <p:cNvSpPr>
            <a:spLocks noGrp="1"/>
          </p:cNvSpPr>
          <p:nvPr>
            <p:ph idx="1"/>
          </p:nvPr>
        </p:nvSpPr>
        <p:spPr>
          <a:xfrm>
            <a:off x="457200" y="1600200"/>
            <a:ext cx="5323840" cy="4525963"/>
          </a:xfrm>
        </p:spPr>
        <p:txBody>
          <a:bodyPr>
            <a:normAutofit/>
          </a:bodyPr>
          <a:lstStyle/>
          <a:p>
            <a:pPr marL="0" indent="0">
              <a:buNone/>
            </a:pPr>
            <a:r>
              <a:rPr lang="fr-FR" sz="1600" b="1" dirty="0">
                <a:latin typeface="Arial"/>
                <a:cs typeface="Arial"/>
              </a:rPr>
              <a:t>DIFFUSION</a:t>
            </a:r>
          </a:p>
          <a:p>
            <a:r>
              <a:rPr lang="fr-FR" sz="1600" b="1" dirty="0"/>
              <a:t>Europe orientale </a:t>
            </a:r>
            <a:r>
              <a:rPr lang="fr-FR" sz="1600" dirty="0"/>
              <a:t>: églises à coupoles orthodoxes (Yougoslavie, Grèce, pays slaves: Russie)</a:t>
            </a:r>
          </a:p>
          <a:p>
            <a:r>
              <a:rPr lang="fr-FR" sz="1600" b="1" dirty="0"/>
              <a:t>Arménie ancienne </a:t>
            </a:r>
            <a:r>
              <a:rPr lang="fr-FR" sz="1600" dirty="0"/>
              <a:t>: influence perse et byzantine</a:t>
            </a:r>
            <a:endParaRPr lang="it-IT" sz="1600" dirty="0">
              <a:latin typeface="Arial"/>
              <a:cs typeface="Arial"/>
            </a:endParaRPr>
          </a:p>
        </p:txBody>
      </p:sp>
      <p:pic>
        <p:nvPicPr>
          <p:cNvPr id="4" name="Image 3"/>
          <p:cNvPicPr>
            <a:picLocks noChangeAspect="1"/>
          </p:cNvPicPr>
          <p:nvPr/>
        </p:nvPicPr>
        <p:blipFill>
          <a:blip r:embed="rId2"/>
          <a:stretch>
            <a:fillRect/>
          </a:stretch>
        </p:blipFill>
        <p:spPr>
          <a:xfrm>
            <a:off x="5781040" y="1600200"/>
            <a:ext cx="2555240" cy="1703494"/>
          </a:xfrm>
          <a:prstGeom prst="rect">
            <a:avLst/>
          </a:prstGeom>
        </p:spPr>
      </p:pic>
      <p:pic>
        <p:nvPicPr>
          <p:cNvPr id="5" name="Image 4"/>
          <p:cNvPicPr>
            <a:picLocks noChangeAspect="1"/>
          </p:cNvPicPr>
          <p:nvPr/>
        </p:nvPicPr>
        <p:blipFill>
          <a:blip r:embed="rId3"/>
          <a:stretch>
            <a:fillRect/>
          </a:stretch>
        </p:blipFill>
        <p:spPr>
          <a:xfrm>
            <a:off x="640080" y="2916114"/>
            <a:ext cx="2458720" cy="3759005"/>
          </a:xfrm>
          <a:prstGeom prst="rect">
            <a:avLst/>
          </a:prstGeom>
        </p:spPr>
      </p:pic>
      <p:pic>
        <p:nvPicPr>
          <p:cNvPr id="7" name="Image 6"/>
          <p:cNvPicPr>
            <a:picLocks noChangeAspect="1"/>
          </p:cNvPicPr>
          <p:nvPr/>
        </p:nvPicPr>
        <p:blipFill>
          <a:blip r:embed="rId4"/>
          <a:stretch>
            <a:fillRect/>
          </a:stretch>
        </p:blipFill>
        <p:spPr>
          <a:xfrm>
            <a:off x="3987800" y="3469361"/>
            <a:ext cx="4348480" cy="3205758"/>
          </a:xfrm>
          <a:prstGeom prst="rect">
            <a:avLst/>
          </a:prstGeom>
        </p:spPr>
      </p:pic>
    </p:spTree>
    <p:extLst>
      <p:ext uri="{BB962C8B-B14F-4D97-AF65-F5344CB8AC3E}">
        <p14:creationId xmlns:p14="http://schemas.microsoft.com/office/powerpoint/2010/main" val="3463950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a:solidFill>
                  <a:srgbClr val="FF0000"/>
                </a:solidFill>
                <a:latin typeface="Futura Std Medium"/>
                <a:cs typeface="Futura Std Medium"/>
              </a:rPr>
              <a:t>Glossaire</a:t>
            </a:r>
          </a:p>
          <a:p>
            <a:endParaRPr lang="fr-FR" dirty="0">
              <a:solidFill>
                <a:srgbClr val="FF0000"/>
              </a:solidFill>
              <a:latin typeface="Futura Std Medium"/>
              <a:cs typeface="Futura Std Medium"/>
            </a:endParaRPr>
          </a:p>
        </p:txBody>
      </p:sp>
      <p:sp>
        <p:nvSpPr>
          <p:cNvPr id="6" name="Rectangle 5"/>
          <p:cNvSpPr/>
          <p:nvPr/>
        </p:nvSpPr>
        <p:spPr>
          <a:xfrm>
            <a:off x="187412" y="1087756"/>
            <a:ext cx="8844828" cy="3046988"/>
          </a:xfrm>
          <a:prstGeom prst="rect">
            <a:avLst/>
          </a:prstGeom>
        </p:spPr>
        <p:txBody>
          <a:bodyPr wrap="square">
            <a:spAutoFit/>
          </a:bodyPr>
          <a:lstStyle/>
          <a:p>
            <a:pPr lvl="0"/>
            <a:r>
              <a:rPr lang="fr-FR" sz="1600" b="1" dirty="0">
                <a:solidFill>
                  <a:srgbClr val="FF0000"/>
                </a:solidFill>
                <a:latin typeface="Arial"/>
                <a:cs typeface="Arial"/>
              </a:rPr>
              <a:t>Trompe </a:t>
            </a:r>
            <a:r>
              <a:rPr lang="fr-FR" sz="1600" b="1" dirty="0">
                <a:solidFill>
                  <a:srgbClr val="000000"/>
                </a:solidFill>
                <a:latin typeface="Arial"/>
                <a:cs typeface="Arial"/>
              </a:rPr>
              <a:t>:</a:t>
            </a:r>
            <a:r>
              <a:rPr lang="fr-FR" sz="1600" b="1" dirty="0">
                <a:solidFill>
                  <a:srgbClr val="FF0000"/>
                </a:solidFill>
                <a:latin typeface="Arial"/>
                <a:cs typeface="Arial"/>
              </a:rPr>
              <a:t> </a:t>
            </a:r>
            <a:r>
              <a:rPr lang="fr-FR" sz="1600" dirty="0">
                <a:latin typeface="Arial"/>
                <a:cs typeface="Arial"/>
              </a:rPr>
              <a:t>Une trompe est une portion de voûte tronquée formant support d'un ouvrage (voûte, coupole, tourelle, etc.) en surplomb, permettant de changer de plan d'un niveau à l'autre.</a:t>
            </a:r>
          </a:p>
          <a:p>
            <a:pPr lvl="0"/>
            <a:r>
              <a:rPr lang="fr-FR" sz="1600" b="1" dirty="0">
                <a:solidFill>
                  <a:srgbClr val="FF0000"/>
                </a:solidFill>
                <a:latin typeface="Arial"/>
                <a:cs typeface="Arial"/>
              </a:rPr>
              <a:t>Pendentif</a:t>
            </a:r>
            <a:r>
              <a:rPr lang="fr-FR" sz="1600" dirty="0">
                <a:latin typeface="Arial"/>
                <a:cs typeface="Arial"/>
              </a:rPr>
              <a:t> : Désigne une section triangulaire d’une voûte hémisphérique laissée entre les pénétrations, dans cette voûte, de deux berceaux semi-cylindriques et de la base d'une coupole.</a:t>
            </a:r>
          </a:p>
          <a:p>
            <a:r>
              <a:rPr lang="fr-FR" sz="1600" b="1" dirty="0">
                <a:solidFill>
                  <a:srgbClr val="FF0000"/>
                </a:solidFill>
              </a:rPr>
              <a:t>Plan cruciforme</a:t>
            </a:r>
            <a:r>
              <a:rPr lang="fr-FR" sz="1600" dirty="0"/>
              <a:t> (croix latine) : atrium, narthex, transept</a:t>
            </a:r>
          </a:p>
          <a:p>
            <a:r>
              <a:rPr lang="fr-FR" sz="1600" b="1" dirty="0">
                <a:solidFill>
                  <a:srgbClr val="FF0000"/>
                </a:solidFill>
              </a:rPr>
              <a:t>Plan centré </a:t>
            </a:r>
            <a:r>
              <a:rPr lang="fr-FR" sz="1600" dirty="0"/>
              <a:t>: plan massé (circulaire, polygonal ou en croix grecque, </a:t>
            </a:r>
            <a:r>
              <a:rPr lang="fr-FR" sz="1600" dirty="0" err="1"/>
              <a:t>etc</a:t>
            </a:r>
            <a:r>
              <a:rPr lang="fr-FR" sz="1600" dirty="0"/>
              <a:t> ) et symétrique de part et d'autre de plusieurs axes par opposition à l'église à plan basilical. Ce type de plan s'accompagne souvent d'une coupole.</a:t>
            </a:r>
          </a:p>
          <a:p>
            <a:r>
              <a:rPr lang="fr-FR" sz="1600" b="1" dirty="0">
                <a:solidFill>
                  <a:srgbClr val="FF0000"/>
                </a:solidFill>
              </a:rPr>
              <a:t>Arc outrepassé </a:t>
            </a:r>
            <a:r>
              <a:rPr lang="fr-FR" sz="1600" dirty="0"/>
              <a:t>: arc qui dessine un arc de cercle plus grand que le demi-cercle. Cette variante de l'arc en plein cintre est apparue au Ve siècle dans le Bas-Empire romain.</a:t>
            </a:r>
          </a:p>
          <a:p>
            <a:endParaRPr lang="fr-FR" sz="1600" dirty="0">
              <a:latin typeface="Arial"/>
              <a:cs typeface="Arial"/>
            </a:endParaRPr>
          </a:p>
        </p:txBody>
      </p:sp>
    </p:spTree>
    <p:extLst>
      <p:ext uri="{BB962C8B-B14F-4D97-AF65-F5344CB8AC3E}">
        <p14:creationId xmlns:p14="http://schemas.microsoft.com/office/powerpoint/2010/main" val="2212315248"/>
      </p:ext>
    </p:extLst>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3900</TotalTime>
  <Words>865</Words>
  <Application>Microsoft Office PowerPoint</Application>
  <PresentationFormat>Affichage à l'écran (4:3)</PresentationFormat>
  <Paragraphs>95</Paragraphs>
  <Slides>17</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17</vt:i4>
      </vt:variant>
    </vt:vector>
  </HeadingPairs>
  <TitlesOfParts>
    <vt:vector size="21" baseType="lpstr">
      <vt:lpstr>Arial</vt:lpstr>
      <vt:lpstr>Calibri</vt:lpstr>
      <vt:lpstr>Futura Std Medium</vt:lpstr>
      <vt:lpstr>Thème Office</vt:lpstr>
      <vt:lpstr>HISTOIRE DE L’ARCHITECTURE </vt:lpstr>
      <vt:lpstr>De Rome à Constantinople</vt:lpstr>
      <vt:lpstr>Chronologie</vt:lpstr>
      <vt:lpstr>Architecture paléochrétienne</vt:lpstr>
      <vt:lpstr>Architecture paléochrétienne</vt:lpstr>
      <vt:lpstr>Architecture paléochrétienne</vt:lpstr>
      <vt:lpstr>Architecture paléochrétienne</vt:lpstr>
      <vt:lpstr>Architecture paléochrétienne</vt:lpstr>
      <vt:lpstr>Architecture byzantine</vt:lpstr>
      <vt:lpstr>Architecture byzantine</vt:lpstr>
      <vt:lpstr>Architecture byzantine</vt:lpstr>
      <vt:lpstr>Architecture byzantine</vt:lpstr>
      <vt:lpstr>Architecture byzantine</vt:lpstr>
      <vt:lpstr>Architecture byzantine</vt:lpstr>
      <vt:lpstr>Architecture byzantine</vt:lpstr>
      <vt:lpstr>Architecture byzantine</vt:lpstr>
      <vt:lpstr>Présentation PowerPoint</vt:lpstr>
    </vt:vector>
  </TitlesOfParts>
  <Company>arting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HISTOIRE DE L’ARCHITECTURE </dc:title>
  <dc:creator>Carole Diop</dc:creator>
  <cp:lastModifiedBy>Oumar Diop</cp:lastModifiedBy>
  <cp:revision>210</cp:revision>
  <cp:lastPrinted>2016-03-07T02:06:42Z</cp:lastPrinted>
  <dcterms:created xsi:type="dcterms:W3CDTF">2015-10-25T15:26:16Z</dcterms:created>
  <dcterms:modified xsi:type="dcterms:W3CDTF">2024-05-24T18:40:42Z</dcterms:modified>
</cp:coreProperties>
</file>