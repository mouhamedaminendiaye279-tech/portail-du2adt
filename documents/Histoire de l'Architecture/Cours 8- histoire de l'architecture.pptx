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58" r:id="rId6"/>
    <p:sldId id="280" r:id="rId7"/>
    <p:sldId id="281" r:id="rId8"/>
    <p:sldId id="282" r:id="rId9"/>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000" autoAdjust="0"/>
  </p:normalViewPr>
  <p:slideViewPr>
    <p:cSldViewPr snapToGrid="0" snapToObjects="1">
      <p:cViewPr>
        <p:scale>
          <a:sx n="125" d="100"/>
          <a:sy n="125" d="100"/>
        </p:scale>
        <p:origin x="-368" y="-8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smtClean="0"/>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endParaRPr lang="fr-FR" smtClean="0"/>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smtClean="0"/>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smtClean="0"/>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dirty="0" smtClean="0">
                <a:latin typeface="Palatino Linotype" panose="02040502050505030304" charset="0"/>
                <a:cs typeface="Palatino Linotype" panose="02040502050505030304" charset="0"/>
              </a:rPr>
              <a:t>HISTOIRE DE L’ARCHITECTURE </a:t>
            </a:r>
            <a:endParaRPr lang="fr-FR" dirty="0" smtClean="0">
              <a:latin typeface="Palatino Linotype" panose="02040502050505030304" charset="0"/>
              <a:cs typeface="Palatino Linotype" panose="02040502050505030304" charset="0"/>
            </a:endParaRPr>
          </a:p>
        </p:txBody>
      </p:sp>
      <p:sp>
        <p:nvSpPr>
          <p:cNvPr id="3" name="Sous-titre 2"/>
          <p:cNvSpPr>
            <a:spLocks noGrp="1"/>
          </p:cNvSpPr>
          <p:nvPr>
            <p:ph type="subTitle" idx="1"/>
          </p:nvPr>
        </p:nvSpPr>
        <p:spPr>
          <a:xfrm>
            <a:off x="685800" y="3886200"/>
            <a:ext cx="7772400" cy="1752600"/>
          </a:xfrm>
        </p:spPr>
        <p:txBody>
          <a:bodyPr/>
          <a:lstStyle/>
          <a:p>
            <a:r>
              <a:rPr lang="fr-FR" dirty="0" smtClean="0">
                <a:solidFill>
                  <a:srgbClr val="FF0000"/>
                </a:solidFill>
                <a:latin typeface="Palatino Linotype" panose="02040502050505030304" charset="0"/>
                <a:cs typeface="Palatino Linotype" panose="02040502050505030304" charset="0"/>
              </a:rPr>
              <a:t>PARTIE IV </a:t>
            </a:r>
            <a:endParaRPr lang="fr-FR" dirty="0">
              <a:solidFill>
                <a:srgbClr val="FF0000"/>
              </a:solidFill>
              <a:latin typeface="Palatino Linotype" panose="02040502050505030304" charset="0"/>
              <a:cs typeface="Palatino Linotype" panose="02040502050505030304" charset="0"/>
            </a:endParaRPr>
          </a:p>
          <a:p>
            <a:r>
              <a:rPr lang="fr-FR" dirty="0" smtClean="0">
                <a:solidFill>
                  <a:srgbClr val="FF0000"/>
                </a:solidFill>
                <a:latin typeface="Palatino Linotype" panose="02040502050505030304" charset="0"/>
                <a:cs typeface="Palatino Linotype" panose="02040502050505030304" charset="0"/>
              </a:rPr>
              <a:t> LES ROYAUMES AFRICAINS</a:t>
            </a:r>
            <a:endParaRPr lang="fr-FR" dirty="0">
              <a:solidFill>
                <a:srgbClr val="FF0000"/>
              </a:solidFill>
              <a:latin typeface="Palatino Linotype" panose="02040502050505030304" charset="0"/>
              <a:cs typeface="Palatino Linotype" panose="02040502050505030304" charset="0"/>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smtClean="0">
                <a:latin typeface="Palatino Linotype" panose="02040502050505030304" charset="0"/>
                <a:cs typeface="Palatino Linotype" panose="02040502050505030304" charset="0"/>
              </a:rPr>
              <a:t>©Carole Diop</a:t>
            </a:r>
            <a:endParaRPr lang="fr-FR" dirty="0" smtClean="0">
              <a:latin typeface="Palatino Linotype" panose="02040502050505030304" charset="0"/>
              <a:cs typeface="Palatino Linotype" panose="0204050205050503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229600" cy="4922520"/>
          </a:xfrm>
        </p:spPr>
        <p:txBody>
          <a:bodyPr>
            <a:noAutofit/>
          </a:bodyPr>
          <a:lstStyle/>
          <a:p>
            <a:pPr marL="0" indent="0" algn="just">
              <a:buNone/>
            </a:pPr>
            <a:r>
              <a:rPr lang="fr-FR" sz="1600" dirty="0" smtClean="0">
                <a:latin typeface="Palatino Linotype" panose="02040502050505030304" charset="0"/>
                <a:cs typeface="Palatino Linotype" panose="02040502050505030304" charset="0"/>
              </a:rPr>
              <a:t>Vers l'an 350, la Nubie fut envahie par le royaume éthiopien d'Aksoum. L'ancien gouvernement nubien fut écrasé. Trois nouveaux royaumes se formèrent alors :</a:t>
            </a:r>
            <a:endParaRPr lang="fr-FR" sz="1600" dirty="0" smtClean="0">
              <a:latin typeface="Palatino Linotype" panose="02040502050505030304" charset="0"/>
              <a:cs typeface="Palatino Linotype" panose="02040502050505030304" charset="0"/>
            </a:endParaRPr>
          </a:p>
          <a:p>
            <a:pPr marL="0" indent="0" algn="just">
              <a:buNone/>
            </a:pPr>
            <a:endParaRPr lang="fr-FR" sz="1600" dirty="0" smtClean="0">
              <a:latin typeface="Palatino Linotype" panose="02040502050505030304" charset="0"/>
              <a:cs typeface="Palatino Linotype" panose="02040502050505030304" charset="0"/>
            </a:endParaRPr>
          </a:p>
          <a:p>
            <a:pPr marL="0" indent="0" algn="just">
              <a:buNone/>
            </a:pPr>
            <a:r>
              <a:rPr lang="fr-FR" sz="1600" dirty="0" smtClean="0">
                <a:latin typeface="Palatino Linotype" panose="02040502050505030304" charset="0"/>
                <a:cs typeface="Palatino Linotype" panose="02040502050505030304" charset="0"/>
              </a:rPr>
              <a:t>La </a:t>
            </a:r>
            <a:r>
              <a:rPr lang="fr-FR" sz="1600" dirty="0" err="1" smtClean="0">
                <a:latin typeface="Palatino Linotype" panose="02040502050505030304" charset="0"/>
                <a:cs typeface="Palatino Linotype" panose="02040502050505030304" charset="0"/>
              </a:rPr>
              <a:t>Nobatia</a:t>
            </a:r>
            <a:r>
              <a:rPr lang="fr-FR" sz="1600" dirty="0" smtClean="0">
                <a:latin typeface="Palatino Linotype" panose="02040502050505030304" charset="0"/>
                <a:cs typeface="Palatino Linotype" panose="02040502050505030304" charset="0"/>
              </a:rPr>
              <a:t>, au nord, entre la première et la seconde cataracte du Nil, dont la capitale était </a:t>
            </a:r>
            <a:r>
              <a:rPr lang="fr-FR" sz="1600" dirty="0" err="1" smtClean="0">
                <a:latin typeface="Palatino Linotype" panose="02040502050505030304" charset="0"/>
                <a:cs typeface="Palatino Linotype" panose="02040502050505030304" charset="0"/>
              </a:rPr>
              <a:t>Pachoras</a:t>
            </a:r>
            <a:r>
              <a:rPr lang="fr-FR" sz="1600" dirty="0" smtClean="0">
                <a:latin typeface="Palatino Linotype" panose="02040502050505030304" charset="0"/>
                <a:cs typeface="Palatino Linotype" panose="02040502050505030304" charset="0"/>
              </a:rPr>
              <a:t> (aujourd'hui </a:t>
            </a:r>
            <a:r>
              <a:rPr lang="fr-FR" sz="1600" dirty="0" err="1" smtClean="0">
                <a:latin typeface="Palatino Linotype" panose="02040502050505030304" charset="0"/>
                <a:cs typeface="Palatino Linotype" panose="02040502050505030304" charset="0"/>
              </a:rPr>
              <a:t>Faras</a:t>
            </a:r>
            <a:r>
              <a:rPr lang="fr-FR" sz="1600" dirty="0" smtClean="0">
                <a:latin typeface="Palatino Linotype" panose="02040502050505030304" charset="0"/>
                <a:cs typeface="Palatino Linotype" panose="02040502050505030304" charset="0"/>
              </a:rPr>
              <a:t>) ;</a:t>
            </a:r>
            <a:endParaRPr lang="fr-FR" sz="1600" dirty="0" smtClean="0">
              <a:latin typeface="Palatino Linotype" panose="02040502050505030304" charset="0"/>
              <a:cs typeface="Palatino Linotype" panose="02040502050505030304" charset="0"/>
            </a:endParaRPr>
          </a:p>
          <a:p>
            <a:pPr marL="0" indent="0" algn="just">
              <a:buNone/>
            </a:pPr>
            <a:r>
              <a:rPr lang="fr-FR" sz="1600" dirty="0" smtClean="0">
                <a:latin typeface="Palatino Linotype" panose="02040502050505030304" charset="0"/>
                <a:cs typeface="Palatino Linotype" panose="02040502050505030304" charset="0"/>
              </a:rPr>
              <a:t>La </a:t>
            </a:r>
            <a:r>
              <a:rPr lang="fr-FR" sz="1600" dirty="0" err="1" smtClean="0">
                <a:latin typeface="Palatino Linotype" panose="02040502050505030304" charset="0"/>
                <a:cs typeface="Palatino Linotype" panose="02040502050505030304" charset="0"/>
              </a:rPr>
              <a:t>Makuria</a:t>
            </a:r>
            <a:r>
              <a:rPr lang="fr-FR" sz="1600" dirty="0" smtClean="0">
                <a:latin typeface="Palatino Linotype" panose="02040502050505030304" charset="0"/>
                <a:cs typeface="Palatino Linotype" panose="02040502050505030304" charset="0"/>
              </a:rPr>
              <a:t>, au milieu, ayant pour capitale Dongola ;</a:t>
            </a:r>
            <a:endParaRPr lang="fr-FR" sz="1600" dirty="0" smtClean="0">
              <a:latin typeface="Palatino Linotype" panose="02040502050505030304" charset="0"/>
              <a:cs typeface="Palatino Linotype" panose="02040502050505030304" charset="0"/>
            </a:endParaRPr>
          </a:p>
          <a:p>
            <a:pPr marL="0" indent="0" algn="just">
              <a:buNone/>
            </a:pPr>
            <a:r>
              <a:rPr lang="fr-FR" sz="1600" dirty="0" smtClean="0">
                <a:latin typeface="Palatino Linotype" panose="02040502050505030304" charset="0"/>
                <a:cs typeface="Palatino Linotype" panose="02040502050505030304" charset="0"/>
              </a:rPr>
              <a:t>L'</a:t>
            </a:r>
            <a:r>
              <a:rPr lang="fr-FR" sz="1600" dirty="0" err="1" smtClean="0">
                <a:latin typeface="Palatino Linotype" panose="02040502050505030304" charset="0"/>
                <a:cs typeface="Palatino Linotype" panose="02040502050505030304" charset="0"/>
              </a:rPr>
              <a:t>Alodia</a:t>
            </a:r>
            <a:r>
              <a:rPr lang="fr-FR" sz="1600" dirty="0" smtClean="0">
                <a:latin typeface="Palatino Linotype" panose="02040502050505030304" charset="0"/>
                <a:cs typeface="Palatino Linotype" panose="02040502050505030304" charset="0"/>
              </a:rPr>
              <a:t>, plus au sud, ayant sa capitale à Soba, près de Khartoum ;</a:t>
            </a:r>
            <a:endParaRPr lang="fr-FR" sz="1600" dirty="0" smtClean="0">
              <a:latin typeface="Palatino Linotype" panose="02040502050505030304" charset="0"/>
              <a:cs typeface="Palatino Linotype" panose="02040502050505030304" charset="0"/>
            </a:endParaRPr>
          </a:p>
          <a:p>
            <a:pPr marL="0" indent="0" algn="just">
              <a:buNone/>
            </a:pPr>
            <a:endParaRPr lang="fr-FR" sz="1600" dirty="0" smtClean="0">
              <a:latin typeface="Palatino Linotype" panose="02040502050505030304" charset="0"/>
              <a:cs typeface="Palatino Linotype" panose="02040502050505030304" charset="0"/>
            </a:endParaRPr>
          </a:p>
          <a:p>
            <a:pPr marL="0" indent="0" algn="just">
              <a:buNone/>
            </a:pPr>
            <a:r>
              <a:rPr lang="fr-FR" sz="1600" dirty="0" smtClean="0">
                <a:latin typeface="Palatino Linotype" panose="02040502050505030304" charset="0"/>
                <a:cs typeface="Palatino Linotype" panose="02040502050505030304" charset="0"/>
              </a:rPr>
              <a:t>L’adoption du christianisme par ces royaumes en 580 marque le début de la domination chrétienne sur la région. La Nubie va ainsi subir pendant près de 1000 ans l’influence de la culture byzantine. Aujourd’hui seul des ruines d’églises et des fresques témoignent de cette période.</a:t>
            </a:r>
            <a:endParaRPr lang="fr-FR" sz="1600" dirty="0" smtClean="0">
              <a:latin typeface="Palatino Linotype" panose="02040502050505030304" charset="0"/>
              <a:cs typeface="Palatino Linotype" panose="02040502050505030304" charset="0"/>
            </a:endParaRPr>
          </a:p>
          <a:p>
            <a:pPr marL="0" indent="0" algn="just">
              <a:buNone/>
            </a:pPr>
            <a:endParaRPr lang="fr-FR" sz="1600" dirty="0">
              <a:latin typeface="Palatino Linotype" panose="02040502050505030304" charset="0"/>
              <a:cs typeface="Palatino Linotype" panose="02040502050505030304" charset="0"/>
            </a:endParaRPr>
          </a:p>
          <a:p>
            <a:pPr marL="0" indent="0" algn="just">
              <a:buNone/>
            </a:pPr>
            <a:endParaRPr lang="fr-FR" sz="1600" dirty="0" smtClean="0">
              <a:latin typeface="Palatino Linotype" panose="02040502050505030304" charset="0"/>
              <a:cs typeface="Palatino Linotype" panose="02040502050505030304" charset="0"/>
            </a:endParaRPr>
          </a:p>
        </p:txBody>
      </p:sp>
      <p:sp>
        <p:nvSpPr>
          <p:cNvPr id="6" name="Titre 1"/>
          <p:cNvSpPr>
            <a:spLocks noGrp="1"/>
          </p:cNvSpPr>
          <p:nvPr>
            <p:ph type="title"/>
          </p:nvPr>
        </p:nvSpPr>
        <p:spPr/>
        <p:txBody>
          <a:bodyPr>
            <a:normAutofit/>
          </a:bodyPr>
          <a:lstStyle/>
          <a:p>
            <a:r>
              <a:rPr lang="fr-FR" smtClean="0">
                <a:solidFill>
                  <a:srgbClr val="FF0000"/>
                </a:solidFill>
                <a:latin typeface="Palatino Linotype" panose="02040502050505030304" charset="0"/>
                <a:cs typeface="Palatino Linotype" panose="02040502050505030304" charset="0"/>
              </a:rPr>
              <a:t>Chapitre 1 - La </a:t>
            </a:r>
            <a:r>
              <a:rPr lang="fr-FR" dirty="0" smtClean="0">
                <a:solidFill>
                  <a:srgbClr val="FF0000"/>
                </a:solidFill>
                <a:latin typeface="Palatino Linotype" panose="02040502050505030304" charset="0"/>
                <a:cs typeface="Palatino Linotype" panose="02040502050505030304" charset="0"/>
              </a:rPr>
              <a:t>Nubie médiéval</a:t>
            </a:r>
            <a:endParaRPr lang="fr-FR" dirty="0">
              <a:solidFill>
                <a:srgbClr val="FF0000"/>
              </a:solidFill>
              <a:latin typeface="Palatino Linotype" panose="02040502050505030304" charset="0"/>
              <a:cs typeface="Palatino Linotype" panose="0204050205050503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r>
              <a:rPr lang="fr-FR" sz="1600" b="1" dirty="0" smtClean="0">
                <a:latin typeface="Arial" panose="020B0604020202020204"/>
                <a:cs typeface="Arial" panose="020B0604020202020204"/>
              </a:rPr>
              <a:t>350</a:t>
            </a:r>
            <a:r>
              <a:rPr lang="fr-FR" sz="1600" dirty="0" smtClean="0">
                <a:latin typeface="Arial" panose="020B0604020202020204"/>
                <a:cs typeface="Arial" panose="020B0604020202020204"/>
              </a:rPr>
              <a:t>		Invasion de la Nubie par le royaume d’Aksoum et début de l’implantation du 				christianisme  en </a:t>
            </a:r>
            <a:r>
              <a:rPr lang="fr-FR" sz="1600" dirty="0">
                <a:latin typeface="Arial" panose="020B0604020202020204"/>
                <a:cs typeface="Arial" panose="020B0604020202020204"/>
              </a:rPr>
              <a:t>N</a:t>
            </a:r>
            <a:r>
              <a:rPr lang="fr-FR" sz="1600" dirty="0" smtClean="0">
                <a:latin typeface="Arial" panose="020B0604020202020204"/>
                <a:cs typeface="Arial" panose="020B0604020202020204"/>
              </a:rPr>
              <a:t>ubie</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		</a:t>
            </a:r>
            <a:endParaRPr lang="fr-FR" sz="1600" dirty="0" smtClean="0">
              <a:latin typeface="Arial" panose="020B0604020202020204"/>
              <a:cs typeface="Arial" panose="020B0604020202020204"/>
            </a:endParaRPr>
          </a:p>
          <a:p>
            <a:r>
              <a:rPr lang="fr-FR" sz="1600" b="1" dirty="0" smtClean="0">
                <a:latin typeface="Arial" panose="020B0604020202020204"/>
                <a:cs typeface="Arial" panose="020B0604020202020204"/>
              </a:rPr>
              <a:t>580</a:t>
            </a:r>
            <a:r>
              <a:rPr lang="fr-FR" sz="1600" dirty="0" smtClean="0">
                <a:latin typeface="Arial" panose="020B0604020202020204"/>
                <a:cs typeface="Arial" panose="020B0604020202020204"/>
              </a:rPr>
              <a:t> 		Adoption officielle du christianisme par les dynasties nubiennes</a:t>
            </a:r>
            <a:endParaRPr lang="fr-FR" sz="1600" i="1" dirty="0" smtClean="0">
              <a:latin typeface="Arial" panose="020B0604020202020204"/>
              <a:cs typeface="Arial" panose="020B0604020202020204"/>
            </a:endParaRPr>
          </a:p>
          <a:p>
            <a:r>
              <a:rPr lang="fr-FR" sz="1600" b="1" dirty="0" smtClean="0">
                <a:latin typeface="Arial" panose="020B0604020202020204"/>
                <a:cs typeface="Arial" panose="020B0604020202020204"/>
              </a:rPr>
              <a:t>719</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l'Église de Nubie transfère son allégeance de l'Église orthodoxe (dite Melkite) </a:t>
            </a:r>
            <a:r>
              <a:rPr lang="fr-FR" sz="1600" dirty="0" smtClean="0">
                <a:latin typeface="Arial" panose="020B0604020202020204"/>
                <a:cs typeface="Arial" panose="020B0604020202020204"/>
              </a:rPr>
              <a:t>			vers </a:t>
            </a:r>
            <a:r>
              <a:rPr lang="fr-FR" sz="1600" dirty="0">
                <a:latin typeface="Arial" panose="020B0604020202020204"/>
                <a:cs typeface="Arial" panose="020B0604020202020204"/>
              </a:rPr>
              <a:t>l'Église orthodoxe orientale (Église copte orthodoxe</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r>
              <a:rPr lang="fr-FR" sz="1600" b="1" dirty="0" smtClean="0">
                <a:latin typeface="Arial" panose="020B0604020202020204"/>
                <a:cs typeface="Arial" panose="020B0604020202020204"/>
              </a:rPr>
              <a:t>1323</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défaite du dernier roi chrétien de Dongola par les arabes</a:t>
            </a:r>
            <a:endParaRPr lang="fr-FR" sz="1600" dirty="0" smtClean="0">
              <a:latin typeface="Arial" panose="020B0604020202020204"/>
              <a:cs typeface="Arial" panose="020B0604020202020204"/>
            </a:endParaRPr>
          </a:p>
          <a:p>
            <a:endParaRPr lang="fr-FR" sz="1600" dirty="0" smtClean="0">
              <a:latin typeface="Arial" panose="020B0604020202020204"/>
              <a:cs typeface="Arial" panose="020B0604020202020204"/>
            </a:endParaRPr>
          </a:p>
          <a:p>
            <a:endParaRPr lang="fr-FR" sz="1600" dirty="0" smtClean="0">
              <a:latin typeface="Arial" panose="020B0604020202020204"/>
              <a:cs typeface="Arial" panose="020B0604020202020204"/>
            </a:endParaRPr>
          </a:p>
          <a:p>
            <a:endParaRPr lang="fr-FR" sz="1600" dirty="0">
              <a:latin typeface="Arial" panose="020B0604020202020204"/>
              <a:cs typeface="Arial" panose="020B0604020202020204"/>
            </a:endParaRPr>
          </a:p>
          <a:p>
            <a:endParaRPr lang="fr-FR" sz="1600" dirty="0" smtClean="0">
              <a:latin typeface="Arial" panose="020B0604020202020204"/>
              <a:cs typeface="Arial" panose="020B0604020202020204"/>
            </a:endParaRPr>
          </a:p>
          <a:p>
            <a:endParaRPr lang="fr-FR" sz="1600" dirty="0">
              <a:latin typeface="Arial" panose="020B0604020202020204"/>
              <a:cs typeface="Arial" panose="020B0604020202020204"/>
            </a:endParaRPr>
          </a:p>
          <a:p>
            <a:endParaRPr lang="fr-FR" sz="1600" dirty="0" smtClean="0">
              <a:latin typeface="Arial" panose="020B0604020202020204"/>
              <a:cs typeface="Arial" panose="020B0604020202020204"/>
            </a:endParaRPr>
          </a:p>
          <a:p>
            <a:endParaRPr lang="fr-FR" sz="1600" dirty="0">
              <a:latin typeface="Arial" panose="020B0604020202020204"/>
              <a:cs typeface="Arial" panose="020B0604020202020204"/>
            </a:endParaRPr>
          </a:p>
          <a:p>
            <a:endParaRPr lang="fr-FR" sz="1600" dirty="0" smtClean="0">
              <a:latin typeface="Arial" panose="020B0604020202020204"/>
              <a:cs typeface="Arial" panose="020B0604020202020204"/>
            </a:endParaRPr>
          </a:p>
          <a:p>
            <a:endParaRPr lang="fr-FR" sz="1600" dirty="0">
              <a:latin typeface="Arial" panose="020B0604020202020204"/>
              <a:cs typeface="Arial" panose="020B0604020202020204"/>
            </a:endParaRPr>
          </a:p>
          <a:p>
            <a:endParaRPr lang="fr-FR" sz="1600" dirty="0" smtClean="0">
              <a:latin typeface="Arial" panose="020B0604020202020204"/>
              <a:cs typeface="Arial" panose="020B0604020202020204"/>
            </a:endParaRPr>
          </a:p>
          <a:p>
            <a:pPr marL="0" indent="0" algn="ctr">
              <a:buNone/>
            </a:pPr>
            <a:r>
              <a:rPr lang="fr-FR" sz="1200" dirty="0" smtClean="0">
                <a:latin typeface="Arial" panose="020B0604020202020204"/>
                <a:cs typeface="Arial" panose="020B0604020202020204"/>
              </a:rPr>
              <a:t>Carte de la Nubie médiévale </a:t>
            </a:r>
            <a:endParaRPr lang="fr-FR" sz="1200" dirty="0" smtClean="0">
              <a:latin typeface="Arial" panose="020B0604020202020204"/>
              <a:cs typeface="Arial" panose="020B0604020202020204"/>
            </a:endParaRPr>
          </a:p>
          <a:p>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Chronologie</a:t>
            </a:r>
            <a:endParaRPr lang="fr-FR" dirty="0">
              <a:solidFill>
                <a:srgbClr val="FF0000"/>
              </a:solidFill>
            </a:endParaRPr>
          </a:p>
        </p:txBody>
      </p:sp>
      <p:pic>
        <p:nvPicPr>
          <p:cNvPr id="2" name="Image 1" descr="aanubiamap.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82340" y="3434080"/>
            <a:ext cx="2145390" cy="2590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smtClean="0">
                <a:solidFill>
                  <a:srgbClr val="FF0000"/>
                </a:solidFill>
              </a:rPr>
              <a:t>Cité médiévale de Dongola</a:t>
            </a:r>
            <a:endParaRPr lang="fr-FR" dirty="0">
              <a:solidFill>
                <a:srgbClr val="FF0000"/>
              </a:solidFill>
            </a:endParaRPr>
          </a:p>
        </p:txBody>
      </p:sp>
      <p:sp>
        <p:nvSpPr>
          <p:cNvPr id="11" name="Rectangle 10"/>
          <p:cNvSpPr/>
          <p:nvPr/>
        </p:nvSpPr>
        <p:spPr>
          <a:xfrm>
            <a:off x="5302474" y="4056559"/>
            <a:ext cx="2896646" cy="276999"/>
          </a:xfrm>
          <a:prstGeom prst="rect">
            <a:avLst/>
          </a:prstGeom>
        </p:spPr>
        <p:txBody>
          <a:bodyPr wrap="none">
            <a:spAutoFit/>
          </a:bodyPr>
          <a:lstStyle/>
          <a:p>
            <a:r>
              <a:rPr lang="fr-FR" sz="1200" dirty="0" smtClean="0">
                <a:latin typeface="Arial" panose="020B0604020202020204"/>
                <a:cs typeface="Arial" panose="020B0604020202020204"/>
              </a:rPr>
              <a:t>Plan de l’église des colonnes de granite  </a:t>
            </a:r>
            <a:endParaRPr lang="fr-FR" sz="1200" dirty="0">
              <a:latin typeface="Arial" panose="020B0604020202020204"/>
              <a:cs typeface="Arial" panose="020B0604020202020204"/>
            </a:endParaRPr>
          </a:p>
        </p:txBody>
      </p:sp>
      <p:pic>
        <p:nvPicPr>
          <p:cNvPr id="8" name="Image 7" descr="Nubia_Church01_full.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4490" y="1417639"/>
            <a:ext cx="3740150" cy="2493433"/>
          </a:xfrm>
          <a:prstGeom prst="rect">
            <a:avLst/>
          </a:prstGeom>
        </p:spPr>
      </p:pic>
      <p:pic>
        <p:nvPicPr>
          <p:cNvPr id="9" name="Image 8" descr="500px-Granite_column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1440" y="1316038"/>
            <a:ext cx="2794000" cy="2794000"/>
          </a:xfrm>
          <a:prstGeom prst="rect">
            <a:avLst/>
          </a:prstGeom>
        </p:spPr>
      </p:pic>
      <p:pic>
        <p:nvPicPr>
          <p:cNvPr id="15" name="Image 14" descr="8381986-Throne-Hall-at-Old-Dongola-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490" y="4276041"/>
            <a:ext cx="3740150" cy="2491875"/>
          </a:xfrm>
          <a:prstGeom prst="rect">
            <a:avLst/>
          </a:prstGeom>
        </p:spPr>
      </p:pic>
      <p:pic>
        <p:nvPicPr>
          <p:cNvPr id="16" name="Image 15" descr="dong1108 (1).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4050" y="4353878"/>
            <a:ext cx="3911576" cy="1986279"/>
          </a:xfrm>
          <a:prstGeom prst="rect">
            <a:avLst/>
          </a:prstGeom>
        </p:spPr>
      </p:pic>
      <p:sp>
        <p:nvSpPr>
          <p:cNvPr id="17" name="Rectangle 16"/>
          <p:cNvSpPr/>
          <p:nvPr/>
        </p:nvSpPr>
        <p:spPr>
          <a:xfrm>
            <a:off x="5302474" y="6411277"/>
            <a:ext cx="1798689" cy="276999"/>
          </a:xfrm>
          <a:prstGeom prst="rect">
            <a:avLst/>
          </a:prstGeom>
        </p:spPr>
        <p:txBody>
          <a:bodyPr wrap="none">
            <a:spAutoFit/>
          </a:bodyPr>
          <a:lstStyle/>
          <a:p>
            <a:r>
              <a:rPr lang="fr-FR" sz="1200" dirty="0" smtClean="0">
                <a:latin typeface="Arial" panose="020B0604020202020204"/>
                <a:cs typeface="Arial" panose="020B0604020202020204"/>
              </a:rPr>
              <a:t>Plan du « </a:t>
            </a:r>
            <a:r>
              <a:rPr lang="fr-FR" sz="1200" dirty="0" err="1" smtClean="0">
                <a:latin typeface="Arial" panose="020B0604020202020204"/>
                <a:cs typeface="Arial" panose="020B0604020202020204"/>
              </a:rPr>
              <a:t>Throne</a:t>
            </a:r>
            <a:r>
              <a:rPr lang="fr-FR" sz="1200" dirty="0" smtClean="0">
                <a:latin typeface="Arial" panose="020B0604020202020204"/>
                <a:cs typeface="Arial" panose="020B0604020202020204"/>
              </a:rPr>
              <a:t> Hall »  </a:t>
            </a:r>
            <a:endParaRPr lang="fr-FR" sz="1200" dirty="0">
              <a:latin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smtClean="0">
                <a:solidFill>
                  <a:srgbClr val="FF0000"/>
                </a:solidFill>
              </a:rPr>
              <a:t>Cathédrale de </a:t>
            </a:r>
            <a:r>
              <a:rPr lang="fr-FR" dirty="0" err="1" smtClean="0">
                <a:solidFill>
                  <a:srgbClr val="FF0000"/>
                </a:solidFill>
              </a:rPr>
              <a:t>Faras</a:t>
            </a:r>
            <a:endParaRPr lang="fr-FR" dirty="0">
              <a:solidFill>
                <a:srgbClr val="FF0000"/>
              </a:solidFill>
            </a:endParaRPr>
          </a:p>
        </p:txBody>
      </p:sp>
      <p:pic>
        <p:nvPicPr>
          <p:cNvPr id="2" name="Image 1" descr="220px-Faras_capitel.p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5121" y="4032250"/>
            <a:ext cx="3230880" cy="2423160"/>
          </a:xfrm>
          <a:prstGeom prst="rect">
            <a:avLst/>
          </a:prstGeom>
        </p:spPr>
      </p:pic>
      <p:pic>
        <p:nvPicPr>
          <p:cNvPr id="3" name="Image 2" descr="katedra_19-735x55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121" y="1492250"/>
            <a:ext cx="3230880" cy="2422061"/>
          </a:xfrm>
          <a:prstGeom prst="rect">
            <a:avLst/>
          </a:prstGeom>
        </p:spPr>
      </p:pic>
      <p:pic>
        <p:nvPicPr>
          <p:cNvPr id="4" name="Image 3" descr="elements_katedra01 (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5041" y="1645636"/>
            <a:ext cx="3667760" cy="48872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smtClean="0">
                <a:solidFill>
                  <a:srgbClr val="FF0000"/>
                </a:solidFill>
              </a:rPr>
              <a:t>Décoration</a:t>
            </a:r>
            <a:endParaRPr lang="fr-FR" dirty="0">
              <a:solidFill>
                <a:srgbClr val="FF0000"/>
              </a:solidFill>
            </a:endParaRPr>
          </a:p>
        </p:txBody>
      </p:sp>
      <p:pic>
        <p:nvPicPr>
          <p:cNvPr id="5" name="Image 4" descr="images (2).jpe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3519170"/>
            <a:ext cx="3060700" cy="2654300"/>
          </a:xfrm>
          <a:prstGeom prst="rect">
            <a:avLst/>
          </a:prstGeom>
        </p:spPr>
      </p:pic>
      <p:pic>
        <p:nvPicPr>
          <p:cNvPr id="7" name="Image 6" descr="Sudan_Farras_fresco_of_cathedral_22dez2005.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3720" y="1610360"/>
            <a:ext cx="3896360" cy="2509851"/>
          </a:xfrm>
          <a:prstGeom prst="rect">
            <a:avLst/>
          </a:prstGeom>
        </p:spPr>
      </p:pic>
      <p:pic>
        <p:nvPicPr>
          <p:cNvPr id="8" name="Image 7" descr="aanubiaar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7570" y="4204789"/>
            <a:ext cx="3409950" cy="2470978"/>
          </a:xfrm>
          <a:prstGeom prst="rect">
            <a:avLst/>
          </a:prstGeom>
        </p:spPr>
      </p:pic>
      <p:sp>
        <p:nvSpPr>
          <p:cNvPr id="10" name="Rectangle 9"/>
          <p:cNvSpPr/>
          <p:nvPr/>
        </p:nvSpPr>
        <p:spPr>
          <a:xfrm>
            <a:off x="457200" y="1610360"/>
            <a:ext cx="3060700" cy="1200329"/>
          </a:xfrm>
          <a:prstGeom prst="rect">
            <a:avLst/>
          </a:prstGeom>
        </p:spPr>
        <p:txBody>
          <a:bodyPr wrap="square">
            <a:spAutoFit/>
          </a:bodyPr>
          <a:lstStyle/>
          <a:p>
            <a:pPr marL="285750" indent="-285750">
              <a:buFont typeface="Arial" panose="020B0604020202020204"/>
              <a:buChar char="•"/>
            </a:pPr>
            <a:r>
              <a:rPr lang="fr-FR" dirty="0" smtClean="0">
                <a:latin typeface="Arial" panose="020B0604020202020204"/>
                <a:cs typeface="Arial" panose="020B0604020202020204"/>
              </a:rPr>
              <a:t>Forte influence byzantine </a:t>
            </a:r>
            <a:endParaRPr lang="fr-FR"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Essentiellement des fresques peintes sur les murs intérieurs</a:t>
            </a:r>
            <a:endParaRPr lang="fr-FR" dirty="0">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1417</Words>
  <Application>WPS Presentation</Application>
  <PresentationFormat>Présentation à l'écran (4:3)</PresentationFormat>
  <Paragraphs>52</Paragraphs>
  <Slides>6</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Arial</vt:lpstr>
      <vt:lpstr>Futura Std Medium</vt:lpstr>
      <vt:lpstr>AMGDT</vt:lpstr>
      <vt:lpstr>Calibri</vt:lpstr>
      <vt:lpstr>Microsoft YaHei</vt:lpstr>
      <vt:lpstr>Arial Unicode MS</vt:lpstr>
      <vt:lpstr>Palatino Linotype</vt:lpstr>
      <vt:lpstr>Thème Office</vt:lpstr>
      <vt:lpstr>HISTOIRE DE L’ARCHITECTURE </vt:lpstr>
      <vt:lpstr>Chapitre 1 - La Nubie médiéval</vt:lpstr>
      <vt:lpstr>Chronologie</vt:lpstr>
      <vt:lpstr>Cité médiévale de Dongola</vt:lpstr>
      <vt:lpstr>Cathédrale de Faras</vt:lpstr>
      <vt:lpstr>Décoration</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231</cp:revision>
  <cp:lastPrinted>2016-03-07T02:06:00Z</cp:lastPrinted>
  <dcterms:created xsi:type="dcterms:W3CDTF">2015-10-25T15:26:00Z</dcterms:created>
  <dcterms:modified xsi:type="dcterms:W3CDTF">2025-11-14T02:22:59Z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F88AF42768954DDF855FFEFCE7914465_12</vt:lpwstr>
  </property>
  <property fmtid="{D5CDD505-2E9C-101B-9397-08002B2CF9AE}" pid="3" name="KSOProductBuildVer">
    <vt:lpwstr>3084-12.2.0.23149</vt:lpwstr>
  </property>
</Properties>
</file>