
<file path=[Content_Types].xml><?xml version="1.0" encoding="utf-8"?>
<Types xmlns="http://schemas.openxmlformats.org/package/2006/content-types">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58" r:id="rId6"/>
    <p:sldId id="280" r:id="rId7"/>
    <p:sldId id="283" r:id="rId8"/>
    <p:sldId id="284" r:id="rId9"/>
    <p:sldId id="285" r:id="rId10"/>
    <p:sldId id="286" r:id="rId11"/>
    <p:sldId id="287" r:id="rId12"/>
    <p:sldId id="288" r:id="rId13"/>
    <p:sldId id="289" r:id="rId14"/>
    <p:sldId id="291" r:id="rId15"/>
    <p:sldId id="292" r:id="rId16"/>
    <p:sldId id="293" r:id="rId17"/>
    <p:sldId id="294" r:id="rId18"/>
    <p:sldId id="295" r:id="rId19"/>
    <p:sldId id="296" r:id="rId20"/>
    <p:sldId id="297" r:id="rId21"/>
    <p:sldId id="299" r:id="rId22"/>
    <p:sldId id="298" r:id="rId23"/>
    <p:sldId id="300" r:id="rId24"/>
    <p:sldId id="301" r:id="rId25"/>
    <p:sldId id="302" r:id="rId26"/>
    <p:sldId id="303" r:id="rId27"/>
    <p:sldId id="279" r:id="rId28"/>
    <p:sldId id="290" r:id="rId29"/>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p:scale>
          <a:sx n="125" d="100"/>
          <a:sy n="125" d="100"/>
        </p:scale>
        <p:origin x="-360" y="4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685800" y="2130425"/>
            <a:ext cx="7772400" cy="1470025"/>
          </a:xfrm>
        </p:spPr>
        <p:txBody>
          <a:bodyPr/>
          <a:lstStyle/>
          <a:p>
            <a:r>
              <a:rPr lang="fr-FR" smtClean="0"/>
              <a:t>Cliquez et modifiez le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2313" y="4406900"/>
            <a:ext cx="7772400" cy="1362075"/>
          </a:xfrm>
        </p:spPr>
        <p:txBody>
          <a:bodyPr anchor="t"/>
          <a:lstStyle>
            <a:lvl1pPr algn="l">
              <a:defRPr sz="4000" b="1" cap="all"/>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endParaRPr lang="fr-FR" smtClean="0"/>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EC72AFA2-8D06-AC4A-BB17-A2C238DE2304}" type="datetimeFigureOut">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e la date 2"/>
          <p:cNvSpPr>
            <a:spLocks noGrp="1"/>
          </p:cNvSpPr>
          <p:nvPr>
            <p:ph type="dt" sz="half" idx="10"/>
          </p:nvPr>
        </p:nvSpPr>
        <p:spPr/>
        <p:txBody>
          <a:bodyPr/>
          <a:lstStyle/>
          <a:p>
            <a:fld id="{EC72AFA2-8D06-AC4A-BB17-A2C238DE2304}" type="datetimeFigureOut">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457200" y="273050"/>
            <a:ext cx="3008313" cy="1162050"/>
          </a:xfrm>
        </p:spPr>
        <p:txBody>
          <a:bodyPr anchor="b"/>
          <a:lstStyle>
            <a:lvl1pPr algn="l">
              <a:defRPr sz="2000" b="1"/>
            </a:lvl1pPr>
          </a:lstStyle>
          <a:p>
            <a:r>
              <a:rPr lang="fr-FR" smtClean="0"/>
              <a:t>Cliquez et modifiez le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4800600"/>
            <a:ext cx="5486400" cy="566738"/>
          </a:xfrm>
        </p:spPr>
        <p:txBody>
          <a:bodyPr anchor="b"/>
          <a:lstStyle>
            <a:lvl1pPr algn="l">
              <a:defRPr sz="2000" b="1"/>
            </a:lvl1pPr>
          </a:lstStyle>
          <a:p>
            <a:r>
              <a:rPr lang="fr-FR" smtClean="0"/>
              <a:t>Cliquez et modifiez le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6629400" y="274638"/>
            <a:ext cx="2057400" cy="5851525"/>
          </a:xfrm>
        </p:spPr>
        <p:txBody>
          <a:bodyPr vert="eaVert"/>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et modifiez le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GI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GI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image" Target="../media/image20.GI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28.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latin typeface="Futura Std Medium"/>
                <a:cs typeface="Futura Std Medium"/>
              </a:rPr>
              <a:t>HISTOIRE DE L’ARCHITECTURE </a:t>
            </a:r>
            <a:endParaRPr lang="fr-FR" dirty="0">
              <a:latin typeface="Futura Std Medium"/>
              <a:cs typeface="Futura Std Medium"/>
            </a:endParaRPr>
          </a:p>
        </p:txBody>
      </p:sp>
      <p:sp>
        <p:nvSpPr>
          <p:cNvPr id="3" name="Sous-titre 2"/>
          <p:cNvSpPr>
            <a:spLocks noGrp="1"/>
          </p:cNvSpPr>
          <p:nvPr>
            <p:ph type="subTitle" idx="1"/>
          </p:nvPr>
        </p:nvSpPr>
        <p:spPr>
          <a:xfrm>
            <a:off x="685800" y="3886200"/>
            <a:ext cx="7772400" cy="1752600"/>
          </a:xfrm>
        </p:spPr>
        <p:txBody>
          <a:bodyPr/>
          <a:lstStyle/>
          <a:p>
            <a:r>
              <a:rPr lang="fr-FR" dirty="0" smtClean="0">
                <a:solidFill>
                  <a:srgbClr val="FF0000"/>
                </a:solidFill>
                <a:latin typeface="Futura Std Medium"/>
                <a:cs typeface="Futura Std Medium"/>
              </a:rPr>
              <a:t>PARTIE II – ANTIQUITÉ OCCIDENTALE</a:t>
            </a:r>
            <a:endParaRPr lang="fr-FR" dirty="0">
              <a:solidFill>
                <a:srgbClr val="FF0000"/>
              </a:solidFill>
              <a:latin typeface="Futura Std Medium"/>
              <a:cs typeface="Futura Std Medium"/>
            </a:endParaRP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smtClean="0"/>
              <a:t>©Carole Diop</a:t>
            </a:r>
            <a:endParaRPr lang="fr-FR" dirty="0"/>
          </a:p>
        </p:txBody>
      </p:sp>
      <p:sp>
        <p:nvSpPr>
          <p:cNvPr id="9" name="ZoneTexte 8"/>
          <p:cNvSpPr txBox="1"/>
          <p:nvPr/>
        </p:nvSpPr>
        <p:spPr>
          <a:xfrm>
            <a:off x="937165" y="369332"/>
            <a:ext cx="7319795" cy="368300"/>
          </a:xfrm>
          <a:prstGeom prst="rect">
            <a:avLst/>
          </a:prstGeom>
          <a:noFill/>
        </p:spPr>
        <p:txBody>
          <a:bodyPr wrap="square" rtlCol="0">
            <a:spAutoFit/>
          </a:bodyPr>
          <a:lstStyle/>
          <a:p>
            <a:pPr algn="ctr"/>
            <a:endParaRPr lang="fr-FR" dirty="0">
              <a:latin typeface="Futura Std Medium"/>
              <a:cs typeface="Futura Std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229600" cy="4800600"/>
          </a:xfrm>
        </p:spPr>
        <p:txBody>
          <a:bodyPr>
            <a:noAutofit/>
          </a:bodyPr>
          <a:lstStyle/>
          <a:p>
            <a:pPr marL="0" indent="0" algn="just">
              <a:buNone/>
            </a:pPr>
            <a:r>
              <a:rPr lang="fr-FR" sz="1600" dirty="0" smtClean="0">
                <a:latin typeface="Sitka Subheading Semibold" charset="0"/>
                <a:cs typeface="Sitka Subheading Semibold" charset="0"/>
              </a:rPr>
              <a:t>Au cours du IX</a:t>
            </a:r>
            <a:r>
              <a:rPr lang="fr-FR" sz="1600" baseline="30000" dirty="0" smtClean="0">
                <a:latin typeface="Sitka Subheading Semibold" charset="0"/>
                <a:cs typeface="Sitka Subheading Semibold" charset="0"/>
              </a:rPr>
              <a:t>e</a:t>
            </a:r>
            <a:r>
              <a:rPr lang="fr-FR" sz="1600" dirty="0" smtClean="0">
                <a:latin typeface="Sitka Subheading Semibold" charset="0"/>
                <a:cs typeface="Sitka Subheading Semibold" charset="0"/>
              </a:rPr>
              <a:t> avant notre ère, la Grèce émergea des ténèbres  ou l’avait plongé la disparition de la civilisation mycénienne. Une nouvelle vague d’envahisseurs, les doriens, introduisit l’usage du fer, qui redonna un nouveau souffle à la vie urbaine. Les villes évoluèrent en cités-états indépendantes et politiquement structurées</a:t>
            </a:r>
            <a:r>
              <a:rPr lang="fr-FR" sz="1600" dirty="0">
                <a:latin typeface="Sitka Subheading Semibold" charset="0"/>
                <a:cs typeface="Sitka Subheading Semibold" charset="0"/>
              </a:rPr>
              <a:t>. La population augmente fortement et des colonies grecques sont créées, dans les îles de la mer Égée et en Asie mineure, puis dans d'autres régions </a:t>
            </a:r>
            <a:r>
              <a:rPr lang="fr-FR" sz="1600" dirty="0" smtClean="0">
                <a:latin typeface="Sitka Subheading Semibold" charset="0"/>
                <a:cs typeface="Sitka Subheading Semibold" charset="0"/>
              </a:rPr>
              <a:t>méditerranéennes</a:t>
            </a:r>
            <a:r>
              <a:rPr lang="fr-FR" sz="1600" dirty="0">
                <a:latin typeface="Sitka Subheading Semibold" charset="0"/>
                <a:cs typeface="Sitka Subheading Semibold" charset="0"/>
              </a:rPr>
              <a:t>. C'est la naissance de la Grande Grèce (nom que les Grecs de l'Antiquité utilisaient pour désigner les côtes méridionales de la péninsule </a:t>
            </a:r>
            <a:r>
              <a:rPr lang="fr-FR" sz="1600" dirty="0" smtClean="0">
                <a:latin typeface="Sitka Subheading Semibold" charset="0"/>
                <a:cs typeface="Sitka Subheading Semibold" charset="0"/>
              </a:rPr>
              <a:t>italienne).</a:t>
            </a:r>
            <a:endParaRPr lang="fr-FR" sz="1600" dirty="0" smtClean="0">
              <a:latin typeface="Sitka Subheading Semibold" charset="0"/>
              <a:cs typeface="Sitka Subheading Semibold" charset="0"/>
            </a:endParaRPr>
          </a:p>
        </p:txBody>
      </p:sp>
      <p:sp>
        <p:nvSpPr>
          <p:cNvPr id="6" name="Titre 1"/>
          <p:cNvSpPr>
            <a:spLocks noGrp="1"/>
          </p:cNvSpPr>
          <p:nvPr>
            <p:ph type="title"/>
          </p:nvPr>
        </p:nvSpPr>
        <p:spPr/>
        <p:txBody>
          <a:bodyPr>
            <a:normAutofit/>
          </a:bodyPr>
          <a:lstStyle/>
          <a:p>
            <a:r>
              <a:rPr lang="fr-FR" dirty="0" smtClean="0">
                <a:solidFill>
                  <a:srgbClr val="FF0000"/>
                </a:solidFill>
                <a:latin typeface="Sitka Subheading Semibold" charset="0"/>
                <a:cs typeface="Sitka Subheading Semibold" charset="0"/>
              </a:rPr>
              <a:t>Chapitre 2 – Grèce antique </a:t>
            </a:r>
            <a:endParaRPr lang="fr-FR" dirty="0" smtClean="0">
              <a:solidFill>
                <a:srgbClr val="FF0000"/>
              </a:solidFill>
              <a:latin typeface="Sitka Subheading Semibold" charset="0"/>
              <a:cs typeface="Sitka Subheading Semibold" charset="0"/>
            </a:endParaRPr>
          </a:p>
        </p:txBody>
      </p:sp>
      <p:pic>
        <p:nvPicPr>
          <p:cNvPr id="5" name="Image 4" descr="1200px-Attica_06-13_Athens_50_View_from_Philopappos_-_Acropolis_Hill.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87880" y="3709034"/>
            <a:ext cx="4810760" cy="30067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r>
              <a:rPr lang="fr-FR" sz="1600" dirty="0" smtClean="0">
                <a:latin typeface="Arial" panose="020B0604020202020204"/>
                <a:cs typeface="Arial" panose="020B0604020202020204"/>
              </a:rPr>
              <a:t>XII</a:t>
            </a:r>
            <a:r>
              <a:rPr lang="fr-FR" sz="1600" dirty="0">
                <a:latin typeface="Arial" panose="020B0604020202020204"/>
                <a:cs typeface="Arial" panose="020B0604020202020204"/>
              </a:rPr>
              <a:t>°-</a:t>
            </a:r>
            <a:r>
              <a:rPr lang="fr-FR" sz="1600" dirty="0" err="1">
                <a:latin typeface="Arial" panose="020B0604020202020204"/>
                <a:cs typeface="Arial" panose="020B0604020202020204"/>
              </a:rPr>
              <a:t>VIII°s</a:t>
            </a:r>
            <a:r>
              <a:rPr lang="fr-FR" sz="1600" dirty="0">
                <a:latin typeface="Arial" panose="020B0604020202020204"/>
                <a:cs typeface="Arial" panose="020B0604020202020204"/>
              </a:rPr>
              <a:t>. av. JC </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Temps </a:t>
            </a:r>
            <a:r>
              <a:rPr lang="fr-FR" sz="1600" dirty="0" err="1">
                <a:latin typeface="Arial" panose="020B0604020202020204"/>
                <a:cs typeface="Arial" panose="020B0604020202020204"/>
              </a:rPr>
              <a:t>homériques</a:t>
            </a:r>
            <a:r>
              <a:rPr lang="fr-FR" sz="1600" dirty="0">
                <a:latin typeface="Arial" panose="020B0604020202020204"/>
                <a:cs typeface="Arial" panose="020B0604020202020204"/>
              </a:rPr>
              <a:t> (invasions doriennes</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r>
              <a:rPr lang="fr-FR" sz="1600" dirty="0" smtClean="0">
                <a:latin typeface="Arial" panose="020B0604020202020204"/>
                <a:cs typeface="Arial" panose="020B0604020202020204"/>
              </a:rPr>
              <a:t>VII</a:t>
            </a:r>
            <a:r>
              <a:rPr lang="fr-FR" sz="1600" dirty="0">
                <a:latin typeface="Arial" panose="020B0604020202020204"/>
                <a:cs typeface="Arial" panose="020B0604020202020204"/>
              </a:rPr>
              <a:t>°-</a:t>
            </a:r>
            <a:r>
              <a:rPr lang="fr-FR" sz="1600" dirty="0" err="1">
                <a:latin typeface="Arial" panose="020B0604020202020204"/>
                <a:cs typeface="Arial" panose="020B0604020202020204"/>
              </a:rPr>
              <a:t>VI°s</a:t>
            </a:r>
            <a:r>
              <a:rPr lang="fr-FR" sz="1600" dirty="0">
                <a:latin typeface="Arial" panose="020B0604020202020204"/>
                <a:cs typeface="Arial" panose="020B0604020202020204"/>
              </a:rPr>
              <a:t>. av. JC </a:t>
            </a:r>
            <a:r>
              <a:rPr lang="fr-FR" sz="1600" dirty="0" smtClean="0">
                <a:latin typeface="Arial" panose="020B0604020202020204"/>
                <a:cs typeface="Arial" panose="020B0604020202020204"/>
              </a:rPr>
              <a:t>	</a:t>
            </a:r>
            <a:r>
              <a:rPr lang="fr-FR" sz="1600" dirty="0" err="1">
                <a:latin typeface="Arial" panose="020B0604020202020204"/>
                <a:cs typeface="Arial" panose="020B0604020202020204"/>
              </a:rPr>
              <a:t>Époque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archaïque</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 </a:t>
            </a:r>
            <a:r>
              <a:rPr lang="fr-FR" sz="1600" i="1" dirty="0" smtClean="0">
                <a:latin typeface="Arial" panose="020B0604020202020204"/>
                <a:cs typeface="Arial" panose="020B0604020202020204"/>
              </a:rPr>
              <a:t>1</a:t>
            </a:r>
            <a:r>
              <a:rPr lang="fr-FR" sz="1600" i="1" dirty="0">
                <a:latin typeface="Arial" panose="020B0604020202020204"/>
                <a:cs typeface="Arial" panose="020B0604020202020204"/>
              </a:rPr>
              <a:t>°architecture en pierre </a:t>
            </a:r>
            <a:endParaRPr lang="fr-FR" sz="1600" dirty="0" smtClean="0">
              <a:latin typeface="Arial" panose="020B0604020202020204"/>
              <a:cs typeface="Arial" panose="020B0604020202020204"/>
            </a:endParaRPr>
          </a:p>
          <a:p>
            <a:r>
              <a:rPr lang="fr-FR" sz="1600" dirty="0" smtClean="0">
                <a:latin typeface="Arial" panose="020B0604020202020204"/>
                <a:cs typeface="Arial" panose="020B0604020202020204"/>
              </a:rPr>
              <a:t>500 </a:t>
            </a:r>
            <a:r>
              <a:rPr lang="fr-FR" sz="1600" dirty="0">
                <a:latin typeface="Arial" panose="020B0604020202020204"/>
                <a:cs typeface="Arial" panose="020B0604020202020204"/>
              </a:rPr>
              <a:t>- 350 av. JC </a:t>
            </a:r>
            <a:r>
              <a:rPr lang="fr-FR" sz="1600" dirty="0" smtClean="0">
                <a:latin typeface="Arial" panose="020B0604020202020204"/>
                <a:cs typeface="Arial" panose="020B0604020202020204"/>
              </a:rPr>
              <a:t>	</a:t>
            </a:r>
            <a:r>
              <a:rPr lang="fr-FR" sz="1600" dirty="0" err="1">
                <a:latin typeface="Arial" panose="020B0604020202020204"/>
                <a:cs typeface="Arial" panose="020B0604020202020204"/>
              </a:rPr>
              <a:t>Époque</a:t>
            </a:r>
            <a:r>
              <a:rPr lang="fr-FR" sz="1600" dirty="0">
                <a:latin typeface="Arial" panose="020B0604020202020204"/>
                <a:cs typeface="Arial" panose="020B0604020202020204"/>
              </a:rPr>
              <a:t> classique </a:t>
            </a:r>
            <a:r>
              <a:rPr lang="fr-FR" sz="1600" dirty="0" smtClean="0">
                <a:latin typeface="Arial" panose="020B0604020202020204"/>
                <a:cs typeface="Arial" panose="020B0604020202020204"/>
              </a:rPr>
              <a:t>- </a:t>
            </a:r>
            <a:r>
              <a:rPr lang="fr-FR" sz="1600" i="1" dirty="0" smtClean="0">
                <a:latin typeface="Arial" panose="020B0604020202020204"/>
                <a:cs typeface="Arial" panose="020B0604020202020204"/>
              </a:rPr>
              <a:t>canons </a:t>
            </a:r>
            <a:r>
              <a:rPr lang="fr-FR" sz="1600" i="1" dirty="0">
                <a:latin typeface="Arial" panose="020B0604020202020204"/>
                <a:cs typeface="Arial" panose="020B0604020202020204"/>
              </a:rPr>
              <a:t>architecturaux </a:t>
            </a:r>
            <a:r>
              <a:rPr lang="fr-FR" sz="1600" i="1" dirty="0" err="1">
                <a:latin typeface="Arial" panose="020B0604020202020204"/>
                <a:cs typeface="Arial" panose="020B0604020202020204"/>
              </a:rPr>
              <a:t>établis</a:t>
            </a:r>
            <a:r>
              <a:rPr lang="fr-FR" sz="1600" i="1" dirty="0">
                <a:latin typeface="Arial" panose="020B0604020202020204"/>
                <a:cs typeface="Arial" panose="020B0604020202020204"/>
              </a:rPr>
              <a:t> </a:t>
            </a:r>
            <a:endParaRPr lang="fr-FR" sz="1600" dirty="0" smtClean="0">
              <a:latin typeface="Arial" panose="020B0604020202020204"/>
              <a:cs typeface="Arial" panose="020B0604020202020204"/>
            </a:endParaRPr>
          </a:p>
          <a:p>
            <a:r>
              <a:rPr lang="fr-FR" sz="1600" dirty="0" smtClean="0">
                <a:latin typeface="Arial" panose="020B0604020202020204"/>
                <a:cs typeface="Arial" panose="020B0604020202020204"/>
              </a:rPr>
              <a:t>350 </a:t>
            </a:r>
            <a:r>
              <a:rPr lang="fr-FR" sz="1600" dirty="0">
                <a:latin typeface="Arial" panose="020B0604020202020204"/>
                <a:cs typeface="Arial" panose="020B0604020202020204"/>
              </a:rPr>
              <a:t>- 150 av. JC </a:t>
            </a:r>
            <a:r>
              <a:rPr lang="fr-FR" sz="1600" dirty="0" smtClean="0">
                <a:latin typeface="Arial" panose="020B0604020202020204"/>
                <a:cs typeface="Arial" panose="020B0604020202020204"/>
              </a:rPr>
              <a:t>	</a:t>
            </a:r>
            <a:r>
              <a:rPr lang="fr-FR" sz="1600" dirty="0" err="1">
                <a:latin typeface="Arial" panose="020B0604020202020204"/>
                <a:cs typeface="Arial" panose="020B0604020202020204"/>
              </a:rPr>
              <a:t>Époque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hellénistique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Macédoine</a:t>
            </a:r>
            <a:r>
              <a:rPr lang="fr-FR" sz="1600" dirty="0">
                <a:latin typeface="Arial" panose="020B0604020202020204"/>
                <a:cs typeface="Arial" panose="020B0604020202020204"/>
              </a:rPr>
              <a:t> : Alexandre le Gd) </a:t>
            </a:r>
            <a:endParaRPr lang="fr-FR" sz="1600" dirty="0" smtClean="0">
              <a:latin typeface="Arial" panose="020B0604020202020204"/>
              <a:cs typeface="Arial" panose="020B0604020202020204"/>
            </a:endParaRPr>
          </a:p>
          <a:p>
            <a:r>
              <a:rPr lang="fr-FR" sz="1600" dirty="0" smtClean="0">
                <a:latin typeface="Arial" panose="020B0604020202020204"/>
                <a:cs typeface="Arial" panose="020B0604020202020204"/>
              </a:rPr>
              <a:t>150 </a:t>
            </a:r>
            <a:r>
              <a:rPr lang="fr-FR" sz="1600" dirty="0">
                <a:latin typeface="Arial" panose="020B0604020202020204"/>
                <a:cs typeface="Arial" panose="020B0604020202020204"/>
              </a:rPr>
              <a:t>av. JC – 395 </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Domination romaine </a:t>
            </a:r>
            <a:r>
              <a:rPr lang="fr-FR" sz="1600" dirty="0" smtClean="0">
                <a:latin typeface="Arial" panose="020B0604020202020204"/>
                <a:cs typeface="Arial" panose="020B0604020202020204"/>
              </a:rPr>
              <a:t>- </a:t>
            </a:r>
            <a:r>
              <a:rPr lang="fr-FR" sz="1600" i="1" dirty="0" smtClean="0">
                <a:latin typeface="Arial" panose="020B0604020202020204"/>
                <a:cs typeface="Arial" panose="020B0604020202020204"/>
              </a:rPr>
              <a:t>influences </a:t>
            </a:r>
            <a:r>
              <a:rPr lang="fr-FR" sz="1600" i="1" dirty="0">
                <a:latin typeface="Arial" panose="020B0604020202020204"/>
                <a:cs typeface="Arial" panose="020B0604020202020204"/>
              </a:rPr>
              <a:t>mutuelles </a:t>
            </a:r>
            <a:endParaRPr lang="fr-FR" sz="1600" i="1" dirty="0" smtClean="0">
              <a:latin typeface="Arial" panose="020B0604020202020204"/>
              <a:cs typeface="Arial" panose="020B0604020202020204"/>
            </a:endParaRPr>
          </a:p>
          <a:p>
            <a:r>
              <a:rPr lang="it-IT" sz="1600" dirty="0" smtClean="0">
                <a:latin typeface="Arial" panose="020B0604020202020204"/>
                <a:cs typeface="Arial" panose="020B0604020202020204"/>
              </a:rPr>
              <a:t>395 </a:t>
            </a:r>
            <a:r>
              <a:rPr lang="it-IT" sz="1600" dirty="0">
                <a:latin typeface="Arial" panose="020B0604020202020204"/>
                <a:cs typeface="Arial" panose="020B0604020202020204"/>
              </a:rPr>
              <a:t>– 1456 </a:t>
            </a:r>
            <a:r>
              <a:rPr lang="it-IT" sz="1600" dirty="0" smtClean="0">
                <a:latin typeface="Arial" panose="020B0604020202020204"/>
                <a:cs typeface="Arial" panose="020B0604020202020204"/>
              </a:rPr>
              <a:t>		</a:t>
            </a:r>
            <a:r>
              <a:rPr lang="it-IT" sz="1600" dirty="0">
                <a:latin typeface="Arial" panose="020B0604020202020204"/>
                <a:cs typeface="Arial" panose="020B0604020202020204"/>
              </a:rPr>
              <a:t>Empire </a:t>
            </a:r>
            <a:r>
              <a:rPr lang="it-IT" sz="1600" dirty="0" err="1" smtClean="0">
                <a:latin typeface="Arial" panose="020B0604020202020204"/>
                <a:cs typeface="Arial" panose="020B0604020202020204"/>
              </a:rPr>
              <a:t>byzantin</a:t>
            </a:r>
            <a:endParaRPr lang="it-IT" sz="1600" dirty="0" smtClean="0">
              <a:latin typeface="Arial" panose="020B0604020202020204"/>
              <a:cs typeface="Arial" panose="020B0604020202020204"/>
            </a:endParaRPr>
          </a:p>
          <a:p>
            <a:r>
              <a:rPr lang="it-IT" sz="1600" dirty="0" smtClean="0">
                <a:latin typeface="Arial" panose="020B0604020202020204"/>
                <a:cs typeface="Arial" panose="020B0604020202020204"/>
              </a:rPr>
              <a:t>1456 </a:t>
            </a:r>
            <a:r>
              <a:rPr lang="it-IT" sz="1600" dirty="0">
                <a:latin typeface="Arial" panose="020B0604020202020204"/>
                <a:cs typeface="Arial" panose="020B0604020202020204"/>
              </a:rPr>
              <a:t>– 1830 </a:t>
            </a:r>
            <a:r>
              <a:rPr lang="it-IT" sz="1600" dirty="0" smtClean="0">
                <a:latin typeface="Arial" panose="020B0604020202020204"/>
                <a:cs typeface="Arial" panose="020B0604020202020204"/>
              </a:rPr>
              <a:t>		</a:t>
            </a:r>
            <a:r>
              <a:rPr lang="it-IT" sz="1600" dirty="0" err="1" smtClean="0">
                <a:latin typeface="Arial" panose="020B0604020202020204"/>
                <a:cs typeface="Arial" panose="020B0604020202020204"/>
              </a:rPr>
              <a:t>Domination</a:t>
            </a:r>
            <a:r>
              <a:rPr lang="it-IT" sz="1600" dirty="0" smtClean="0">
                <a:latin typeface="Arial" panose="020B0604020202020204"/>
                <a:cs typeface="Arial" panose="020B0604020202020204"/>
              </a:rPr>
              <a:t> </a:t>
            </a:r>
            <a:r>
              <a:rPr lang="it-IT" sz="1600" dirty="0">
                <a:latin typeface="Arial" panose="020B0604020202020204"/>
                <a:cs typeface="Arial" panose="020B0604020202020204"/>
              </a:rPr>
              <a:t>ottomane </a:t>
            </a:r>
            <a:endParaRPr lang="it-IT" sz="1600" dirty="0">
              <a:latin typeface="Arial" panose="020B0604020202020204"/>
              <a:cs typeface="Arial" panose="020B0604020202020204"/>
            </a:endParaRPr>
          </a:p>
          <a:p>
            <a:pPr marL="0" indent="0">
              <a:buNone/>
            </a:pPr>
            <a:endParaRPr lang="it-IT"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Chronologie</a:t>
            </a:r>
            <a:endParaRPr lang="fr-FR" dirty="0">
              <a:solidFill>
                <a:srgbClr val="FF0000"/>
              </a:solidFill>
            </a:endParaRPr>
          </a:p>
        </p:txBody>
      </p:sp>
      <p:pic>
        <p:nvPicPr>
          <p:cNvPr id="5" name="Image 4" descr="ART_CM_II_2_GRECE 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4560" y="3740929"/>
            <a:ext cx="7386320" cy="27817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676140" cy="4881562"/>
          </a:xfrm>
        </p:spPr>
        <p:txBody>
          <a:bodyPr>
            <a:noAutofit/>
          </a:bodyPr>
          <a:lstStyle/>
          <a:p>
            <a:pPr marL="0" indent="0">
              <a:buNone/>
            </a:pPr>
            <a:r>
              <a:rPr lang="fr-FR" sz="1400" dirty="0">
                <a:latin typeface="Arial" panose="020B0604020202020204"/>
                <a:cs typeface="Arial" panose="020B0604020202020204"/>
              </a:rPr>
              <a:t>Le temple grec </a:t>
            </a:r>
            <a:r>
              <a:rPr lang="fr-FR" sz="1400" dirty="0" smtClean="0">
                <a:latin typeface="Arial" panose="020B0604020202020204"/>
                <a:cs typeface="Arial" panose="020B0604020202020204"/>
              </a:rPr>
              <a:t>est </a:t>
            </a:r>
            <a:r>
              <a:rPr lang="fr-FR" sz="1400" dirty="0">
                <a:latin typeface="Arial" panose="020B0604020202020204"/>
                <a:cs typeface="Arial" panose="020B0604020202020204"/>
              </a:rPr>
              <a:t>un type d'édifice religieux développé en Grèce antique dans le cadre de la religion grecque. Les temples, qui constituaient les lieux de culte les plus élaborés du polythéisme grec, ont donné lieu à des chefs-d'œuvre architecturaux comme le Parthénon. Longtemps après la fin du polythéisme grec, l'architecture des temples grecs antiques a été l'une des sources d'inspiration de l'architecture néoclassique</a:t>
            </a:r>
            <a:r>
              <a:rPr lang="fr-FR" sz="1400" dirty="0" smtClean="0">
                <a:latin typeface="Arial" panose="020B0604020202020204"/>
                <a:cs typeface="Arial" panose="020B0604020202020204"/>
              </a:rPr>
              <a:t>.</a:t>
            </a:r>
            <a:endParaRPr lang="fr-FR" sz="1400" b="1" dirty="0">
              <a:latin typeface="Arial" panose="020B0604020202020204"/>
              <a:cs typeface="Arial" panose="020B0604020202020204"/>
            </a:endParaRPr>
          </a:p>
          <a:p>
            <a:pPr marL="0" indent="0">
              <a:buNone/>
            </a:pPr>
            <a:r>
              <a:rPr lang="fr-FR" sz="1400" b="1" dirty="0" smtClean="0">
                <a:latin typeface="Arial" panose="020B0604020202020204"/>
                <a:cs typeface="Arial" panose="020B0604020202020204"/>
              </a:rPr>
              <a:t>FONCTION </a:t>
            </a:r>
            <a:endParaRPr lang="fr-FR" sz="1400" dirty="0">
              <a:latin typeface="Arial" panose="020B0604020202020204"/>
              <a:cs typeface="Arial" panose="020B0604020202020204"/>
            </a:endParaRPr>
          </a:p>
          <a:p>
            <a:r>
              <a:rPr lang="fr-FR" sz="1400" dirty="0" smtClean="0">
                <a:latin typeface="Arial" panose="020B0604020202020204"/>
                <a:cs typeface="Arial" panose="020B0604020202020204"/>
              </a:rPr>
              <a:t>Temple </a:t>
            </a:r>
            <a:r>
              <a:rPr lang="fr-FR" sz="1400" dirty="0">
                <a:latin typeface="Arial" panose="020B0604020202020204"/>
                <a:cs typeface="Arial" panose="020B0604020202020204"/>
              </a:rPr>
              <a:t>consacré à une </a:t>
            </a:r>
            <a:r>
              <a:rPr lang="fr-FR" sz="1400" dirty="0" smtClean="0">
                <a:latin typeface="Arial" panose="020B0604020202020204"/>
                <a:cs typeface="Arial" panose="020B0604020202020204"/>
              </a:rPr>
              <a:t>divinité. </a:t>
            </a:r>
            <a:endParaRPr lang="fr-FR" sz="1400" dirty="0">
              <a:latin typeface="Arial" panose="020B0604020202020204"/>
              <a:cs typeface="Arial" panose="020B0604020202020204"/>
            </a:endParaRPr>
          </a:p>
          <a:p>
            <a:r>
              <a:rPr lang="fr-FR" sz="1400" dirty="0" smtClean="0">
                <a:latin typeface="Arial" panose="020B0604020202020204"/>
                <a:cs typeface="Arial" panose="020B0604020202020204"/>
              </a:rPr>
              <a:t>Demeure </a:t>
            </a:r>
            <a:r>
              <a:rPr lang="fr-FR" sz="1400" dirty="0">
                <a:latin typeface="Arial" panose="020B0604020202020204"/>
                <a:cs typeface="Arial" panose="020B0604020202020204"/>
              </a:rPr>
              <a:t>divine et non lieu de culte </a:t>
            </a:r>
            <a:endParaRPr lang="fr-FR" sz="1400" dirty="0">
              <a:latin typeface="Arial" panose="020B0604020202020204"/>
              <a:cs typeface="Arial" panose="020B0604020202020204"/>
            </a:endParaRPr>
          </a:p>
          <a:p>
            <a:r>
              <a:rPr lang="fr-FR" sz="1400" dirty="0" smtClean="0">
                <a:latin typeface="Arial" panose="020B0604020202020204"/>
                <a:cs typeface="Arial" panose="020B0604020202020204"/>
              </a:rPr>
              <a:t>Culte </a:t>
            </a:r>
            <a:r>
              <a:rPr lang="fr-FR" sz="1400" dirty="0">
                <a:latin typeface="Arial" panose="020B0604020202020204"/>
                <a:cs typeface="Arial" panose="020B0604020202020204"/>
              </a:rPr>
              <a:t>: autel </a:t>
            </a:r>
            <a:r>
              <a:rPr lang="fr-FR" sz="1400" dirty="0" err="1">
                <a:latin typeface="Arial" panose="020B0604020202020204"/>
                <a:cs typeface="Arial" panose="020B0604020202020204"/>
              </a:rPr>
              <a:t>près</a:t>
            </a:r>
            <a:r>
              <a:rPr lang="fr-FR" sz="1400" dirty="0">
                <a:latin typeface="Arial" panose="020B0604020202020204"/>
                <a:cs typeface="Arial" panose="020B0604020202020204"/>
              </a:rPr>
              <a:t> du temple, au sein d’une enceinte avec </a:t>
            </a:r>
            <a:r>
              <a:rPr lang="fr-FR" sz="1400" dirty="0" smtClean="0">
                <a:latin typeface="Arial" panose="020B0604020202020204"/>
                <a:cs typeface="Arial" panose="020B0604020202020204"/>
              </a:rPr>
              <a:t>entrée </a:t>
            </a:r>
            <a:r>
              <a:rPr lang="fr-FR" sz="1400" dirty="0">
                <a:latin typeface="Arial" panose="020B0604020202020204"/>
                <a:cs typeface="Arial" panose="020B0604020202020204"/>
              </a:rPr>
              <a:t>par des </a:t>
            </a:r>
            <a:r>
              <a:rPr lang="fr-FR" sz="1400" dirty="0" err="1">
                <a:latin typeface="Arial" panose="020B0604020202020204"/>
                <a:cs typeface="Arial" panose="020B0604020202020204"/>
              </a:rPr>
              <a:t>propylées</a:t>
            </a:r>
            <a:r>
              <a:rPr lang="fr-FR" sz="1400" dirty="0">
                <a:latin typeface="Arial" panose="020B0604020202020204"/>
                <a:cs typeface="Arial" panose="020B0604020202020204"/>
              </a:rPr>
              <a:t> </a:t>
            </a:r>
            <a:endParaRPr lang="fr-FR" sz="1400" dirty="0">
              <a:latin typeface="Arial" panose="020B0604020202020204"/>
              <a:cs typeface="Arial" panose="020B0604020202020204"/>
            </a:endParaRPr>
          </a:p>
          <a:p>
            <a:endParaRPr lang="fr-FR" sz="1400" dirty="0">
              <a:latin typeface="Arial" panose="020B0604020202020204"/>
              <a:cs typeface="Arial" panose="020B0604020202020204"/>
            </a:endParaRPr>
          </a:p>
          <a:p>
            <a:endParaRPr lang="fr-FR" sz="1400" dirty="0">
              <a:latin typeface="Arial" panose="020B0604020202020204"/>
              <a:cs typeface="Arial" panose="020B0604020202020204"/>
            </a:endParaRPr>
          </a:p>
          <a:p>
            <a:pPr marL="0" indent="0">
              <a:buNone/>
            </a:pPr>
            <a:endParaRPr lang="fr-FR" sz="1400" i="1"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smtClean="0">
                <a:solidFill>
                  <a:srgbClr val="FF0000"/>
                </a:solidFill>
              </a:rPr>
              <a:t>Monument emblématique :  </a:t>
            </a:r>
            <a:br>
              <a:rPr lang="fr-FR" dirty="0" smtClean="0">
                <a:solidFill>
                  <a:srgbClr val="FF0000"/>
                </a:solidFill>
              </a:rPr>
            </a:br>
            <a:r>
              <a:rPr lang="fr-FR" dirty="0" smtClean="0">
                <a:solidFill>
                  <a:srgbClr val="FF0000"/>
                </a:solidFill>
              </a:rPr>
              <a:t>le Temple Grec</a:t>
            </a:r>
            <a:endParaRPr lang="fr-FR" dirty="0">
              <a:solidFill>
                <a:srgbClr val="FF0000"/>
              </a:solidFill>
            </a:endParaRPr>
          </a:p>
        </p:txBody>
      </p:sp>
      <p:pic>
        <p:nvPicPr>
          <p:cNvPr id="2" name="Image 1" descr="Parthenon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34769" y="4427083"/>
            <a:ext cx="3105151" cy="2328863"/>
          </a:xfrm>
          <a:prstGeom prst="rect">
            <a:avLst/>
          </a:prstGeom>
        </p:spPr>
      </p:pic>
      <p:pic>
        <p:nvPicPr>
          <p:cNvPr id="7" name="Image 6" descr="acropole100.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0624" y="1564641"/>
            <a:ext cx="3310403" cy="2316480"/>
          </a:xfrm>
          <a:prstGeom prst="rect">
            <a:avLst/>
          </a:prstGeom>
        </p:spPr>
      </p:pic>
      <p:pic>
        <p:nvPicPr>
          <p:cNvPr id="8" name="Image 7" descr="The_Parthenon_in_Athens.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4527" y="4232080"/>
            <a:ext cx="3316500" cy="23308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561840" cy="4881562"/>
          </a:xfrm>
        </p:spPr>
        <p:txBody>
          <a:bodyPr>
            <a:noAutofit/>
          </a:bodyPr>
          <a:lstStyle/>
          <a:p>
            <a:pPr marL="0" indent="0">
              <a:buNone/>
            </a:pPr>
            <a:r>
              <a:rPr lang="fr-FR" sz="1600" b="1" dirty="0" smtClean="0">
                <a:latin typeface="Arial" panose="020B0604020202020204"/>
                <a:cs typeface="Arial" panose="020B0604020202020204"/>
              </a:rPr>
              <a:t>ANALYSE</a:t>
            </a:r>
            <a:endParaRPr lang="fr-FR" sz="1600" b="1"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Monument emblématique :  </a:t>
            </a:r>
            <a:br>
              <a:rPr lang="fr-FR" dirty="0">
                <a:solidFill>
                  <a:srgbClr val="FF0000"/>
                </a:solidFill>
              </a:rPr>
            </a:br>
            <a:r>
              <a:rPr lang="fr-FR" dirty="0">
                <a:solidFill>
                  <a:srgbClr val="FF0000"/>
                </a:solidFill>
              </a:rPr>
              <a:t>le Temple Grec</a:t>
            </a:r>
            <a:endParaRPr lang="fr-FR" dirty="0">
              <a:solidFill>
                <a:srgbClr val="FF0000"/>
              </a:solidFill>
            </a:endParaRPr>
          </a:p>
        </p:txBody>
      </p:sp>
      <p:pic>
        <p:nvPicPr>
          <p:cNvPr id="4" name="Image 3" descr="ART_CM_II_2_GRECE 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1" y="1730926"/>
            <a:ext cx="8463279" cy="4664286"/>
          </a:xfrm>
          <a:prstGeom prst="rect">
            <a:avLst/>
          </a:prstGeom>
        </p:spPr>
      </p:pic>
      <p:sp>
        <p:nvSpPr>
          <p:cNvPr id="9" name="Rectangle 8"/>
          <p:cNvSpPr/>
          <p:nvPr/>
        </p:nvSpPr>
        <p:spPr>
          <a:xfrm>
            <a:off x="460342" y="6395212"/>
            <a:ext cx="8230268" cy="276999"/>
          </a:xfrm>
          <a:prstGeom prst="rect">
            <a:avLst/>
          </a:prstGeom>
        </p:spPr>
        <p:txBody>
          <a:bodyPr wrap="square">
            <a:spAutoFit/>
          </a:bodyPr>
          <a:lstStyle/>
          <a:p>
            <a:r>
              <a:rPr lang="sv-SE" b="1" baseline="30000" dirty="0" smtClean="0"/>
              <a:t>		</a:t>
            </a:r>
            <a:r>
              <a:rPr lang="sv-SE" b="1" baseline="30000" dirty="0" err="1" smtClean="0"/>
              <a:t>Mégaron</a:t>
            </a:r>
            <a:r>
              <a:rPr lang="sv-SE" b="1" baseline="30000" dirty="0" smtClean="0"/>
              <a:t> </a:t>
            </a:r>
            <a:r>
              <a:rPr lang="sv-SE" b="1" baseline="30000" dirty="0" err="1"/>
              <a:t>mycénien</a:t>
            </a:r>
            <a:r>
              <a:rPr lang="sv-SE" b="1" baseline="30000" dirty="0"/>
              <a:t> </a:t>
            </a:r>
            <a:r>
              <a:rPr lang="sv-SE" b="1" baseline="30000" dirty="0" smtClean="0"/>
              <a:t>									Temple </a:t>
            </a:r>
            <a:r>
              <a:rPr lang="sv-SE" b="1" baseline="30000" dirty="0" err="1"/>
              <a:t>grec</a:t>
            </a: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686800" cy="2829242"/>
          </a:xfrm>
        </p:spPr>
        <p:txBody>
          <a:bodyPr>
            <a:noAutofit/>
          </a:bodyPr>
          <a:lstStyle/>
          <a:p>
            <a:pPr marL="0" indent="0">
              <a:buNone/>
            </a:pPr>
            <a:r>
              <a:rPr lang="fr-FR" sz="1600" b="1" dirty="0" smtClean="0">
                <a:latin typeface="Arial" panose="020B0604020202020204"/>
                <a:cs typeface="Arial" panose="020B0604020202020204"/>
              </a:rPr>
              <a:t>PROCÉDÉS </a:t>
            </a:r>
            <a:endParaRPr lang="fr-FR" sz="1600" dirty="0">
              <a:latin typeface="Arial" panose="020B0604020202020204"/>
              <a:cs typeface="Arial" panose="020B0604020202020204"/>
            </a:endParaRPr>
          </a:p>
          <a:p>
            <a:r>
              <a:rPr lang="fr-FR" sz="1600" dirty="0" smtClean="0">
                <a:latin typeface="Arial" panose="020B0604020202020204"/>
                <a:cs typeface="Arial" panose="020B0604020202020204"/>
              </a:rPr>
              <a:t>Architecture de pierre appareillée à plate</a:t>
            </a:r>
            <a:r>
              <a:rPr lang="fr-FR" sz="1600" dirty="0">
                <a:latin typeface="Arial" panose="020B0604020202020204"/>
                <a:cs typeface="Arial" panose="020B0604020202020204"/>
              </a:rPr>
              <a:t>-bande </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DISTRIBUTION </a:t>
            </a:r>
            <a:endParaRPr lang="fr-FR" sz="1600" dirty="0">
              <a:latin typeface="Arial" panose="020B0604020202020204"/>
              <a:cs typeface="Arial" panose="020B0604020202020204"/>
            </a:endParaRPr>
          </a:p>
          <a:p>
            <a:r>
              <a:rPr lang="fr-FR" sz="1600" dirty="0" smtClean="0">
                <a:latin typeface="Arial" panose="020B0604020202020204"/>
                <a:cs typeface="Arial" panose="020B0604020202020204"/>
              </a:rPr>
              <a:t>Edifice placé sur un podium à escaliers continus (</a:t>
            </a:r>
            <a:r>
              <a:rPr lang="fr-FR" sz="1600" i="1" dirty="0">
                <a:latin typeface="Arial" panose="020B0604020202020204"/>
                <a:cs typeface="Arial" panose="020B0604020202020204"/>
              </a:rPr>
              <a:t>stylobate</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r>
              <a:rPr lang="fr-FR" sz="1600" b="1" dirty="0">
                <a:latin typeface="Arial" panose="020B0604020202020204"/>
                <a:cs typeface="Arial" panose="020B0604020202020204"/>
              </a:rPr>
              <a:t>Plan </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Naos</a:t>
            </a:r>
            <a:r>
              <a:rPr lang="fr-FR" sz="1600" i="1" dirty="0" smtClean="0">
                <a:latin typeface="Arial" panose="020B0604020202020204"/>
                <a:cs typeface="Arial" panose="020B0604020202020204"/>
              </a:rPr>
              <a:t> </a:t>
            </a:r>
            <a:r>
              <a:rPr lang="fr-FR" sz="1600" dirty="0">
                <a:latin typeface="Arial" panose="020B0604020202020204"/>
                <a:cs typeface="Arial" panose="020B0604020202020204"/>
              </a:rPr>
              <a:t>(statue du Dieu) </a:t>
            </a:r>
            <a:r>
              <a:rPr lang="fr-FR" sz="1600" dirty="0" err="1">
                <a:latin typeface="Arial" panose="020B0604020202020204"/>
                <a:cs typeface="Arial" panose="020B0604020202020204"/>
              </a:rPr>
              <a:t>précédée</a:t>
            </a:r>
            <a:r>
              <a:rPr lang="fr-FR" sz="1600" dirty="0">
                <a:latin typeface="Arial" panose="020B0604020202020204"/>
                <a:cs typeface="Arial" panose="020B0604020202020204"/>
              </a:rPr>
              <a:t> d’un </a:t>
            </a:r>
            <a:r>
              <a:rPr lang="fr-FR" sz="1600" i="1" dirty="0">
                <a:latin typeface="Arial" panose="020B0604020202020204"/>
                <a:cs typeface="Arial" panose="020B0604020202020204"/>
              </a:rPr>
              <a:t>pronaos </a:t>
            </a:r>
            <a:r>
              <a:rPr lang="fr-FR" sz="1600" dirty="0">
                <a:latin typeface="Arial" panose="020B0604020202020204"/>
                <a:cs typeface="Arial" panose="020B0604020202020204"/>
              </a:rPr>
              <a:t>et </a:t>
            </a:r>
            <a:r>
              <a:rPr lang="fr-FR" sz="1600" dirty="0" smtClean="0">
                <a:latin typeface="Arial" panose="020B0604020202020204"/>
                <a:cs typeface="Arial" panose="020B0604020202020204"/>
              </a:rPr>
              <a:t>entourée </a:t>
            </a:r>
            <a:r>
              <a:rPr lang="fr-FR" sz="1600" dirty="0">
                <a:latin typeface="Arial" panose="020B0604020202020204"/>
                <a:cs typeface="Arial" panose="020B0604020202020204"/>
              </a:rPr>
              <a:t>d’un portique. </a:t>
            </a:r>
            <a:r>
              <a:rPr lang="fr-FR" sz="1600" dirty="0" smtClean="0">
                <a:latin typeface="Arial" panose="020B0604020202020204"/>
                <a:cs typeface="Arial" panose="020B0604020202020204"/>
              </a:rPr>
              <a:t>Parfois</a:t>
            </a:r>
            <a:r>
              <a:rPr lang="fr-FR" sz="1600" dirty="0">
                <a:latin typeface="Arial" panose="020B0604020202020204"/>
                <a:cs typeface="Arial" panose="020B0604020202020204"/>
              </a:rPr>
              <a:t>, vestibule </a:t>
            </a:r>
            <a:r>
              <a:rPr lang="fr-FR" sz="1600" dirty="0" smtClean="0">
                <a:latin typeface="Arial" panose="020B0604020202020204"/>
                <a:cs typeface="Arial" panose="020B0604020202020204"/>
              </a:rPr>
              <a:t>arrière </a:t>
            </a:r>
            <a:r>
              <a:rPr lang="fr-FR" sz="1600" dirty="0">
                <a:latin typeface="Arial" panose="020B0604020202020204"/>
                <a:cs typeface="Arial" panose="020B0604020202020204"/>
              </a:rPr>
              <a:t>(</a:t>
            </a:r>
            <a:r>
              <a:rPr lang="fr-FR" sz="1600" i="1" dirty="0">
                <a:latin typeface="Arial" panose="020B0604020202020204"/>
                <a:cs typeface="Arial" panose="020B0604020202020204"/>
              </a:rPr>
              <a:t>opisthodome</a:t>
            </a:r>
            <a:r>
              <a:rPr lang="fr-FR" sz="1600" dirty="0">
                <a:latin typeface="Arial" panose="020B0604020202020204"/>
                <a:cs typeface="Arial" panose="020B0604020202020204"/>
              </a:rPr>
              <a:t>) servant de </a:t>
            </a:r>
            <a:r>
              <a:rPr lang="fr-FR" sz="1600" dirty="0" err="1" smtClean="0">
                <a:latin typeface="Arial" panose="020B0604020202020204"/>
                <a:cs typeface="Arial" panose="020B0604020202020204"/>
              </a:rPr>
              <a:t>trésor</a:t>
            </a:r>
            <a:endParaRPr lang="fr-FR" sz="1600" dirty="0">
              <a:latin typeface="Arial" panose="020B0604020202020204"/>
              <a:cs typeface="Arial" panose="020B0604020202020204"/>
            </a:endParaRPr>
          </a:p>
          <a:p>
            <a:r>
              <a:rPr lang="fr-FR" sz="1600" b="1" dirty="0" smtClean="0">
                <a:latin typeface="Arial" panose="020B0604020202020204"/>
                <a:cs typeface="Arial" panose="020B0604020202020204"/>
              </a:rPr>
              <a:t>Portique </a:t>
            </a:r>
            <a:r>
              <a:rPr lang="fr-FR" sz="1600" dirty="0">
                <a:latin typeface="Arial" panose="020B0604020202020204"/>
                <a:cs typeface="Arial" panose="020B0604020202020204"/>
              </a:rPr>
              <a:t>: </a:t>
            </a:r>
            <a:r>
              <a:rPr lang="fr-FR" sz="1600" i="1" dirty="0">
                <a:latin typeface="Arial" panose="020B0604020202020204"/>
                <a:cs typeface="Arial" panose="020B0604020202020204"/>
              </a:rPr>
              <a:t>colonnade </a:t>
            </a:r>
            <a:r>
              <a:rPr lang="fr-FR" sz="1600" dirty="0">
                <a:latin typeface="Arial" panose="020B0604020202020204"/>
                <a:cs typeface="Arial" panose="020B0604020202020204"/>
              </a:rPr>
              <a:t>portant les dalles de couverture et la </a:t>
            </a:r>
            <a:r>
              <a:rPr lang="fr-FR" sz="1600" dirty="0" smtClean="0">
                <a:latin typeface="Arial" panose="020B0604020202020204"/>
                <a:cs typeface="Arial" panose="020B0604020202020204"/>
              </a:rPr>
              <a:t>charpente - </a:t>
            </a:r>
            <a:r>
              <a:rPr lang="fr-FR" sz="1600" i="1" dirty="0">
                <a:latin typeface="Arial" panose="020B0604020202020204"/>
                <a:cs typeface="Arial" panose="020B0604020202020204"/>
              </a:rPr>
              <a:t>ordres </a:t>
            </a:r>
            <a:endParaRPr lang="fr-FR" sz="1600" dirty="0">
              <a:latin typeface="Arial" panose="020B0604020202020204"/>
              <a:cs typeface="Arial" panose="020B0604020202020204"/>
            </a:endParaRPr>
          </a:p>
          <a:p>
            <a:r>
              <a:rPr lang="fr-FR" sz="1600" b="1" dirty="0" smtClean="0">
                <a:latin typeface="Arial" panose="020B0604020202020204"/>
                <a:cs typeface="Arial" panose="020B0604020202020204"/>
              </a:rPr>
              <a:t>Couverture </a:t>
            </a:r>
            <a:r>
              <a:rPr lang="fr-FR" sz="1600" dirty="0">
                <a:latin typeface="Arial" panose="020B0604020202020204"/>
                <a:cs typeface="Arial" panose="020B0604020202020204"/>
              </a:rPr>
              <a:t>: toit à deux rampants (tuiles sur charpente) </a:t>
            </a:r>
            <a:r>
              <a:rPr lang="fr-FR" sz="1600" dirty="0" smtClean="0">
                <a:latin typeface="Arial" panose="020B0604020202020204"/>
                <a:cs typeface="Arial" panose="020B0604020202020204"/>
              </a:rPr>
              <a:t>- </a:t>
            </a:r>
            <a:r>
              <a:rPr lang="fr-FR" sz="1600" b="1" dirty="0" smtClean="0">
                <a:latin typeface="Arial" panose="020B0604020202020204"/>
                <a:cs typeface="Arial" panose="020B0604020202020204"/>
              </a:rPr>
              <a:t>fronton </a:t>
            </a:r>
            <a:endParaRPr lang="fr-FR" sz="1600" dirty="0">
              <a:latin typeface="Arial" panose="020B0604020202020204"/>
              <a:cs typeface="Arial" panose="020B0604020202020204"/>
            </a:endParaRPr>
          </a:p>
          <a:p>
            <a:pPr marL="0" indent="0">
              <a:buNone/>
            </a:pPr>
            <a:endParaRPr lang="fr-FR" sz="1600" b="1"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Monument emblématique :  </a:t>
            </a:r>
            <a:br>
              <a:rPr lang="fr-FR" dirty="0">
                <a:solidFill>
                  <a:srgbClr val="FF0000"/>
                </a:solidFill>
              </a:rPr>
            </a:br>
            <a:r>
              <a:rPr lang="fr-FR" dirty="0">
                <a:solidFill>
                  <a:srgbClr val="FF0000"/>
                </a:solidFill>
              </a:rPr>
              <a:t>le Temple Grec</a:t>
            </a:r>
            <a:endParaRPr lang="fr-FR" dirty="0">
              <a:solidFill>
                <a:srgbClr val="FF0000"/>
              </a:solidFill>
            </a:endParaRPr>
          </a:p>
        </p:txBody>
      </p:sp>
      <p:pic>
        <p:nvPicPr>
          <p:cNvPr id="2" name="Image 1" descr="ART_CM_II_2_GRECE 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4046202"/>
            <a:ext cx="7963408" cy="23525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4226560" cy="3408362"/>
          </a:xfrm>
        </p:spPr>
        <p:txBody>
          <a:bodyPr>
            <a:noAutofit/>
          </a:bodyPr>
          <a:lstStyle/>
          <a:p>
            <a:pPr marL="0" indent="0">
              <a:buNone/>
            </a:pPr>
            <a:r>
              <a:rPr lang="fr-FR" sz="1600" b="1" dirty="0">
                <a:latin typeface="Arial" panose="020B0604020202020204"/>
                <a:cs typeface="Arial" panose="020B0604020202020204"/>
              </a:rPr>
              <a:t>DISTRIBUTION : CLASSIFICATION</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In antis </a:t>
            </a:r>
            <a:r>
              <a:rPr lang="fr-FR" sz="1600" dirty="0">
                <a:latin typeface="Arial" panose="020B0604020202020204"/>
                <a:cs typeface="Arial" panose="020B0604020202020204"/>
              </a:rPr>
              <a:t>: colonnes de </a:t>
            </a:r>
            <a:r>
              <a:rPr lang="fr-FR" sz="1600" dirty="0" smtClean="0">
                <a:latin typeface="Arial" panose="020B0604020202020204"/>
                <a:cs typeface="Arial" panose="020B0604020202020204"/>
              </a:rPr>
              <a:t>façade </a:t>
            </a:r>
            <a:r>
              <a:rPr lang="fr-FR" sz="1600" dirty="0">
                <a:latin typeface="Arial" panose="020B0604020202020204"/>
                <a:cs typeface="Arial" panose="020B0604020202020204"/>
              </a:rPr>
              <a:t>entre antes, pas de portique </a:t>
            </a:r>
            <a:r>
              <a:rPr lang="fr-FR" sz="1600" dirty="0" err="1">
                <a:latin typeface="Arial" panose="020B0604020202020204"/>
                <a:cs typeface="Arial" panose="020B0604020202020204"/>
              </a:rPr>
              <a:t>latéral</a:t>
            </a:r>
            <a:r>
              <a:rPr lang="fr-FR" sz="1600" dirty="0">
                <a:latin typeface="Arial" panose="020B0604020202020204"/>
                <a:cs typeface="Arial" panose="020B0604020202020204"/>
              </a:rPr>
              <a:t>.</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Prostyle</a:t>
            </a:r>
            <a:r>
              <a:rPr lang="fr-FR" sz="1600" dirty="0">
                <a:latin typeface="Arial" panose="020B0604020202020204"/>
                <a:cs typeface="Arial" panose="020B0604020202020204"/>
              </a:rPr>
              <a:t> : portique à colonne uniquement devant le temple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Amphiprostyle</a:t>
            </a:r>
            <a:r>
              <a:rPr lang="fr-FR" sz="1600" dirty="0">
                <a:latin typeface="Arial" panose="020B0604020202020204"/>
                <a:cs typeface="Arial" panose="020B0604020202020204"/>
              </a:rPr>
              <a:t> : portique avant et </a:t>
            </a:r>
            <a:r>
              <a:rPr lang="fr-FR" sz="1600" dirty="0" smtClean="0">
                <a:latin typeface="Arial" panose="020B0604020202020204"/>
                <a:cs typeface="Arial" panose="020B0604020202020204"/>
              </a:rPr>
              <a:t>arrière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a:t>
            </a:r>
            <a:r>
              <a:rPr lang="fr-FR" sz="1600" b="1" dirty="0">
                <a:latin typeface="Arial" panose="020B0604020202020204"/>
                <a:cs typeface="Arial" panose="020B0604020202020204"/>
              </a:rPr>
              <a:t> </a:t>
            </a:r>
            <a:r>
              <a:rPr lang="fr-FR" sz="1600" b="1" dirty="0" err="1">
                <a:latin typeface="Arial" panose="020B0604020202020204"/>
                <a:cs typeface="Arial" panose="020B0604020202020204"/>
              </a:rPr>
              <a:t>Périptère</a:t>
            </a:r>
            <a:r>
              <a:rPr lang="fr-FR" sz="1600" b="1" dirty="0">
                <a:latin typeface="Arial" panose="020B0604020202020204"/>
                <a:cs typeface="Arial" panose="020B0604020202020204"/>
              </a:rPr>
              <a:t> </a:t>
            </a:r>
            <a:r>
              <a:rPr lang="fr-FR" sz="1600" dirty="0">
                <a:latin typeface="Arial" panose="020B0604020202020204"/>
                <a:cs typeface="Arial" panose="020B0604020202020204"/>
              </a:rPr>
              <a:t>: portique faisant le tour du</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sanctuaire (type le plus </a:t>
            </a:r>
            <a:r>
              <a:rPr lang="fr-FR" sz="1600" dirty="0" smtClean="0">
                <a:latin typeface="Arial" panose="020B0604020202020204"/>
                <a:cs typeface="Arial" panose="020B0604020202020204"/>
              </a:rPr>
              <a:t>répandu)</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err="1">
                <a:latin typeface="Arial" panose="020B0604020202020204"/>
                <a:cs typeface="Arial" panose="020B0604020202020204"/>
              </a:rPr>
              <a:t>Diptère</a:t>
            </a:r>
            <a:r>
              <a:rPr lang="fr-FR" sz="1600" dirty="0">
                <a:latin typeface="Arial" panose="020B0604020202020204"/>
                <a:cs typeface="Arial" panose="020B0604020202020204"/>
              </a:rPr>
              <a:t> : </a:t>
            </a:r>
            <a:r>
              <a:rPr lang="fr-FR" sz="1600" dirty="0" err="1">
                <a:latin typeface="Arial" panose="020B0604020202020204"/>
                <a:cs typeface="Arial" panose="020B0604020202020204"/>
              </a:rPr>
              <a:t>périptère</a:t>
            </a:r>
            <a:r>
              <a:rPr lang="fr-FR" sz="1600" dirty="0">
                <a:latin typeface="Arial" panose="020B0604020202020204"/>
                <a:cs typeface="Arial" panose="020B0604020202020204"/>
              </a:rPr>
              <a:t> à double </a:t>
            </a:r>
            <a:r>
              <a:rPr lang="fr-FR" sz="1600" dirty="0" smtClean="0">
                <a:latin typeface="Arial" panose="020B0604020202020204"/>
                <a:cs typeface="Arial" panose="020B0604020202020204"/>
              </a:rPr>
              <a:t>colonnade</a:t>
            </a:r>
            <a:endParaRPr lang="fr-FR" sz="1600" dirty="0" smtClean="0">
              <a:latin typeface="Arial" panose="020B0604020202020204"/>
              <a:cs typeface="Arial" panose="020B0604020202020204"/>
            </a:endParaRPr>
          </a:p>
          <a:p>
            <a:pPr marL="0" indent="0">
              <a:buNone/>
            </a:pPr>
            <a:r>
              <a:rPr lang="fr-FR" sz="1600" b="1" i="1" dirty="0" err="1" smtClean="0">
                <a:latin typeface="Arial" panose="020B0604020202020204"/>
                <a:cs typeface="Arial" panose="020B0604020202020204"/>
              </a:rPr>
              <a:t>Tetrastyle</a:t>
            </a:r>
            <a:r>
              <a:rPr lang="fr-FR" sz="1600" b="1" i="1" dirty="0">
                <a:latin typeface="Arial" panose="020B0604020202020204"/>
                <a:cs typeface="Arial" panose="020B0604020202020204"/>
              </a:rPr>
              <a:t>, Hexastyle, Octastyle, </a:t>
            </a:r>
            <a:r>
              <a:rPr lang="fr-FR" sz="1600" b="1" i="1" dirty="0" err="1">
                <a:latin typeface="Arial" panose="020B0604020202020204"/>
                <a:cs typeface="Arial" panose="020B0604020202020204"/>
              </a:rPr>
              <a:t>Décastyle</a:t>
            </a:r>
            <a:r>
              <a:rPr lang="fr-FR" sz="1600" b="1" i="1" dirty="0">
                <a:latin typeface="Arial" panose="020B0604020202020204"/>
                <a:cs typeface="Arial" panose="020B0604020202020204"/>
              </a:rPr>
              <a:t> </a:t>
            </a:r>
            <a:r>
              <a:rPr lang="fr-FR" sz="1600" dirty="0">
                <a:latin typeface="Arial" panose="020B0604020202020204"/>
                <a:cs typeface="Arial" panose="020B0604020202020204"/>
              </a:rPr>
              <a:t>: nombre de colonnes du portique portant le fronton </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Monument emblématique :  </a:t>
            </a:r>
            <a:br>
              <a:rPr lang="fr-FR" dirty="0">
                <a:solidFill>
                  <a:srgbClr val="FF0000"/>
                </a:solidFill>
              </a:rPr>
            </a:br>
            <a:r>
              <a:rPr lang="fr-FR" dirty="0">
                <a:solidFill>
                  <a:srgbClr val="FF0000"/>
                </a:solidFill>
              </a:rPr>
              <a:t>le Temple Grec</a:t>
            </a:r>
            <a:endParaRPr lang="fr-FR" dirty="0">
              <a:solidFill>
                <a:srgbClr val="FF0000"/>
              </a:solidFill>
            </a:endParaRPr>
          </a:p>
        </p:txBody>
      </p:sp>
      <p:pic>
        <p:nvPicPr>
          <p:cNvPr id="4" name="Image 3" descr="ART_CM_II_2_GRECE 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17440" y="1417638"/>
            <a:ext cx="3769360" cy="2922249"/>
          </a:xfrm>
          <a:prstGeom prst="rect">
            <a:avLst/>
          </a:prstGeom>
        </p:spPr>
      </p:pic>
      <p:pic>
        <p:nvPicPr>
          <p:cNvPr id="5" name="Image 4" descr="ART_CM_II_2_GRECE 6.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2960" y="4309029"/>
            <a:ext cx="2783840" cy="2504267"/>
          </a:xfrm>
          <a:prstGeom prst="rect">
            <a:avLst/>
          </a:prstGeom>
        </p:spPr>
      </p:pic>
      <p:pic>
        <p:nvPicPr>
          <p:cNvPr id="7" name="Image 6" descr="ART_CM_II_2_GRECE 5.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624" y="4826000"/>
            <a:ext cx="5743890" cy="17805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5675376" cy="3408362"/>
          </a:xfrm>
        </p:spPr>
        <p:txBody>
          <a:bodyPr>
            <a:noAutofit/>
          </a:bodyPr>
          <a:lstStyle/>
          <a:p>
            <a:pPr marL="0" indent="0">
              <a:buNone/>
            </a:pPr>
            <a:r>
              <a:rPr lang="fr-FR" sz="1600" b="1" dirty="0" smtClean="0">
                <a:latin typeface="Arial" panose="020B0604020202020204"/>
                <a:cs typeface="Arial" panose="020B0604020202020204"/>
              </a:rPr>
              <a:t>CELLA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A</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nef unique ou avec </a:t>
            </a:r>
            <a:r>
              <a:rPr lang="fr-FR" sz="1600" b="1" dirty="0" err="1" smtClean="0">
                <a:latin typeface="Arial" panose="020B0604020202020204"/>
                <a:cs typeface="Arial" panose="020B0604020202020204"/>
              </a:rPr>
              <a:t>collatéraux</a:t>
            </a:r>
            <a:endParaRPr lang="fr-FR" sz="1600" b="1" dirty="0">
              <a:latin typeface="Arial" panose="020B0604020202020204"/>
              <a:cs typeface="Arial" panose="020B0604020202020204"/>
            </a:endParaRPr>
          </a:p>
          <a:p>
            <a:r>
              <a:rPr lang="fr-FR" sz="1600" dirty="0">
                <a:latin typeface="Arial" panose="020B0604020202020204"/>
                <a:cs typeface="Arial" panose="020B0604020202020204"/>
              </a:rPr>
              <a:t>E</a:t>
            </a:r>
            <a:r>
              <a:rPr lang="fr-FR" sz="1600" dirty="0" smtClean="0">
                <a:latin typeface="Arial" panose="020B0604020202020204"/>
                <a:cs typeface="Arial" panose="020B0604020202020204"/>
              </a:rPr>
              <a:t>ntièrement </a:t>
            </a:r>
            <a:r>
              <a:rPr lang="fr-FR" sz="1600" dirty="0">
                <a:latin typeface="Arial" panose="020B0604020202020204"/>
                <a:cs typeface="Arial" panose="020B0604020202020204"/>
              </a:rPr>
              <a:t>couverte ou </a:t>
            </a:r>
            <a:r>
              <a:rPr lang="fr-FR" sz="1600" b="1" dirty="0" err="1">
                <a:latin typeface="Arial" panose="020B0604020202020204"/>
                <a:cs typeface="Arial" panose="020B0604020202020204"/>
              </a:rPr>
              <a:t>hypèthre</a:t>
            </a:r>
            <a:r>
              <a:rPr lang="fr-FR" sz="1600" i="1" dirty="0">
                <a:latin typeface="Arial" panose="020B0604020202020204"/>
                <a:cs typeface="Arial" panose="020B0604020202020204"/>
              </a:rPr>
              <a:t> </a:t>
            </a:r>
            <a:r>
              <a:rPr lang="fr-FR" sz="1600" i="1" dirty="0" smtClean="0">
                <a:latin typeface="Arial" panose="020B0604020202020204"/>
                <a:cs typeface="Arial" panose="020B0604020202020204"/>
              </a:rPr>
              <a:t>(totalement ou en partie dépourvu de toiture)</a:t>
            </a:r>
            <a:endParaRPr lang="fr-FR" sz="1600" dirty="0">
              <a:latin typeface="Arial" panose="020B0604020202020204"/>
              <a:cs typeface="Arial" panose="020B0604020202020204"/>
            </a:endParaRPr>
          </a:p>
          <a:p>
            <a:pPr marL="0" indent="0">
              <a:lnSpc>
                <a:spcPct val="150000"/>
              </a:lnSpc>
              <a:buNone/>
            </a:pPr>
            <a:r>
              <a:rPr lang="fr-FR" sz="1600" b="1" dirty="0" smtClean="0">
                <a:latin typeface="Arial" panose="020B0604020202020204"/>
                <a:cs typeface="Arial" panose="020B0604020202020204"/>
              </a:rPr>
              <a:t>DÉCORATION </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Monument emblématique :  </a:t>
            </a:r>
            <a:br>
              <a:rPr lang="fr-FR" dirty="0">
                <a:solidFill>
                  <a:srgbClr val="FF0000"/>
                </a:solidFill>
              </a:rPr>
            </a:br>
            <a:r>
              <a:rPr lang="fr-FR" dirty="0">
                <a:solidFill>
                  <a:srgbClr val="FF0000"/>
                </a:solidFill>
              </a:rPr>
              <a:t>le Temple Grec</a:t>
            </a:r>
            <a:endParaRPr lang="fr-FR" dirty="0">
              <a:solidFill>
                <a:srgbClr val="FF0000"/>
              </a:solidFill>
            </a:endParaRPr>
          </a:p>
        </p:txBody>
      </p:sp>
      <p:pic>
        <p:nvPicPr>
          <p:cNvPr id="2" name="Image 1" descr="ART_CM_II_2_GRECE 7.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5400000">
            <a:off x="6833616" y="997712"/>
            <a:ext cx="1237488" cy="2468880"/>
          </a:xfrm>
          <a:prstGeom prst="rect">
            <a:avLst/>
          </a:prstGeom>
        </p:spPr>
      </p:pic>
      <p:pic>
        <p:nvPicPr>
          <p:cNvPr id="9" name="Image 8" descr="ART_CM_II_2_GRECE 8.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640" y="3066360"/>
            <a:ext cx="5293360" cy="3633144"/>
          </a:xfrm>
          <a:prstGeom prst="rect">
            <a:avLst/>
          </a:prstGeom>
        </p:spPr>
      </p:pic>
      <p:pic>
        <p:nvPicPr>
          <p:cNvPr id="10" name="Image 9" descr="ART_CM_II_2_GRECE 9.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9200" y="2850896"/>
            <a:ext cx="2301824" cy="38486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7620000" cy="3408362"/>
          </a:xfrm>
        </p:spPr>
        <p:txBody>
          <a:bodyPr>
            <a:noAutofit/>
          </a:bodyPr>
          <a:lstStyle/>
          <a:p>
            <a:pPr marL="0" indent="0">
              <a:buNone/>
            </a:pPr>
            <a:r>
              <a:rPr lang="fr-FR" sz="1600" b="1" dirty="0" smtClean="0">
                <a:latin typeface="Arial" panose="020B0604020202020204"/>
                <a:cs typeface="Arial" panose="020B0604020202020204"/>
              </a:rPr>
              <a:t>ANALYSE</a:t>
            </a:r>
            <a:endParaRPr lang="fr-FR" sz="1600" b="1" dirty="0" smtClean="0">
              <a:latin typeface="Arial" panose="020B0604020202020204"/>
              <a:cs typeface="Arial" panose="020B0604020202020204"/>
            </a:endParaRPr>
          </a:p>
          <a:p>
            <a:r>
              <a:rPr lang="fr-FR" sz="1600" dirty="0" err="1" smtClean="0">
                <a:latin typeface="Arial" panose="020B0604020202020204"/>
                <a:cs typeface="Arial" panose="020B0604020202020204"/>
              </a:rPr>
              <a:t>Système</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de proportion modulaire et d’ornementation des </a:t>
            </a:r>
            <a:r>
              <a:rPr lang="fr-FR" sz="1600" dirty="0" smtClean="0">
                <a:latin typeface="Arial" panose="020B0604020202020204"/>
                <a:cs typeface="Arial" panose="020B0604020202020204"/>
              </a:rPr>
              <a:t>colonnades</a:t>
            </a:r>
            <a:endParaRPr lang="fr-FR" sz="1600" dirty="0" smtClean="0">
              <a:latin typeface="Arial" panose="020B0604020202020204"/>
              <a:cs typeface="Arial" panose="020B0604020202020204"/>
            </a:endParaRPr>
          </a:p>
          <a:p>
            <a:r>
              <a:rPr lang="fr-FR" sz="1600" b="1" dirty="0" err="1" smtClean="0">
                <a:latin typeface="Arial" panose="020B0604020202020204"/>
                <a:cs typeface="Arial" panose="020B0604020202020204"/>
              </a:rPr>
              <a:t>Grèce</a:t>
            </a:r>
            <a:r>
              <a:rPr lang="fr-FR" sz="1600" b="1" dirty="0" smtClean="0">
                <a:latin typeface="Arial" panose="020B0604020202020204"/>
                <a:cs typeface="Arial" panose="020B0604020202020204"/>
              </a:rPr>
              <a:t> </a:t>
            </a:r>
            <a:r>
              <a:rPr lang="fr-FR" sz="1600" b="1" dirty="0">
                <a:latin typeface="Arial" panose="020B0604020202020204"/>
                <a:cs typeface="Arial" panose="020B0604020202020204"/>
              </a:rPr>
              <a:t>antique </a:t>
            </a:r>
            <a:r>
              <a:rPr lang="fr-FR" sz="1600" dirty="0">
                <a:latin typeface="Arial" panose="020B0604020202020204"/>
                <a:cs typeface="Arial" panose="020B0604020202020204"/>
              </a:rPr>
              <a:t>: ordres </a:t>
            </a:r>
            <a:r>
              <a:rPr lang="fr-FR" sz="1600" i="1" dirty="0">
                <a:latin typeface="Arial" panose="020B0604020202020204"/>
                <a:cs typeface="Arial" panose="020B0604020202020204"/>
              </a:rPr>
              <a:t>dorique </a:t>
            </a:r>
            <a:r>
              <a:rPr lang="fr-FR" sz="1600" dirty="0">
                <a:latin typeface="Arial" panose="020B0604020202020204"/>
                <a:cs typeface="Arial" panose="020B0604020202020204"/>
              </a:rPr>
              <a:t>et </a:t>
            </a:r>
            <a:r>
              <a:rPr lang="fr-FR" sz="1600" i="1" dirty="0">
                <a:latin typeface="Arial" panose="020B0604020202020204"/>
                <a:cs typeface="Arial" panose="020B0604020202020204"/>
              </a:rPr>
              <a:t>ionique </a:t>
            </a:r>
            <a:r>
              <a:rPr lang="fr-FR" sz="1600" dirty="0">
                <a:latin typeface="Arial" panose="020B0604020202020204"/>
                <a:cs typeface="Arial" panose="020B0604020202020204"/>
              </a:rPr>
              <a:t>(exceptionnellement </a:t>
            </a:r>
            <a:r>
              <a:rPr lang="fr-FR" sz="1600" i="1" dirty="0">
                <a:latin typeface="Arial" panose="020B0604020202020204"/>
                <a:cs typeface="Arial" panose="020B0604020202020204"/>
              </a:rPr>
              <a:t>corinthien</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endParaRPr lang="fr-FR"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Les ordres</a:t>
            </a:r>
            <a:endParaRPr lang="fr-FR" dirty="0">
              <a:solidFill>
                <a:srgbClr val="FF0000"/>
              </a:solidFill>
            </a:endParaRPr>
          </a:p>
        </p:txBody>
      </p:sp>
      <p:pic>
        <p:nvPicPr>
          <p:cNvPr id="8" name="Image 7" descr="argrec.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10769" y="2611120"/>
            <a:ext cx="6532751" cy="3464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7620000" cy="3408362"/>
          </a:xfrm>
        </p:spPr>
        <p:txBody>
          <a:bodyPr>
            <a:noAutofit/>
          </a:bodyPr>
          <a:lstStyle/>
          <a:p>
            <a:pPr marL="0" indent="0">
              <a:buNone/>
            </a:pPr>
            <a:r>
              <a:rPr lang="fr-FR" sz="1600" b="1" dirty="0">
                <a:latin typeface="Arial" panose="020B0604020202020204"/>
                <a:cs typeface="Arial" panose="020B0604020202020204"/>
              </a:rPr>
              <a:t>ORIGINE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Apparition chez les </a:t>
            </a:r>
            <a:r>
              <a:rPr lang="fr-FR" sz="1600" b="1" dirty="0">
                <a:latin typeface="Arial" panose="020B0604020202020204"/>
                <a:cs typeface="Arial" panose="020B0604020202020204"/>
              </a:rPr>
              <a:t>Doriens</a:t>
            </a:r>
            <a:r>
              <a:rPr lang="fr-FR" sz="1600" dirty="0">
                <a:latin typeface="Arial" panose="020B0604020202020204"/>
                <a:cs typeface="Arial" panose="020B0604020202020204"/>
              </a:rPr>
              <a:t> (une des quatre ethnies majeures de la Grèce antique, qui se distingue par son dialecte) à l’</a:t>
            </a:r>
            <a:r>
              <a:rPr lang="fr-FR" sz="1600" b="1" dirty="0" err="1">
                <a:latin typeface="Arial" panose="020B0604020202020204"/>
                <a:cs typeface="Arial" panose="020B0604020202020204"/>
              </a:rPr>
              <a:t>époque</a:t>
            </a:r>
            <a:r>
              <a:rPr lang="fr-FR" sz="1600" b="1" dirty="0">
                <a:latin typeface="Arial" panose="020B0604020202020204"/>
                <a:cs typeface="Arial" panose="020B0604020202020204"/>
              </a:rPr>
              <a:t> </a:t>
            </a:r>
            <a:r>
              <a:rPr lang="fr-FR" sz="1600" b="1" dirty="0" err="1">
                <a:latin typeface="Arial" panose="020B0604020202020204"/>
                <a:cs typeface="Arial" panose="020B0604020202020204"/>
              </a:rPr>
              <a:t>archaïque</a:t>
            </a:r>
            <a:r>
              <a:rPr lang="fr-FR" sz="1600" b="1" dirty="0">
                <a:latin typeface="Arial" panose="020B0604020202020204"/>
                <a:cs typeface="Arial" panose="020B0604020202020204"/>
              </a:rPr>
              <a:t>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Colonnes trapues : impression de force et d’</a:t>
            </a:r>
            <a:r>
              <a:rPr lang="fr-FR" sz="1600" dirty="0" err="1">
                <a:latin typeface="Arial" panose="020B0604020202020204"/>
                <a:cs typeface="Arial" panose="020B0604020202020204"/>
              </a:rPr>
              <a:t>énergie</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endParaRPr lang="fr-FR" sz="1600" b="1"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MODENATURE ET DECORATION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Transcription dans la pierre des procédés de construction en bois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Aucun rôle structurel dans l’architecture en pierre appareillée </a:t>
            </a:r>
            <a:endParaRPr lang="fr-FR" sz="1600" dirty="0">
              <a:latin typeface="Arial" panose="020B0604020202020204"/>
              <a:cs typeface="Arial" panose="020B0604020202020204"/>
            </a:endParaRPr>
          </a:p>
          <a:p>
            <a:pPr marL="0" indent="0">
              <a:buNone/>
            </a:pPr>
            <a:endParaRPr lang="fr-FR" sz="1600" b="1" dirty="0">
              <a:latin typeface="Arial" panose="020B0604020202020204"/>
              <a:cs typeface="Arial" panose="020B0604020202020204"/>
            </a:endParaRPr>
          </a:p>
          <a:p>
            <a:pPr marL="0" indent="0">
              <a:buNone/>
            </a:pPr>
            <a:endParaRPr lang="fr-FR"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Ordre dorique</a:t>
            </a:r>
            <a:endParaRPr lang="fr-FR" dirty="0">
              <a:solidFill>
                <a:srgbClr val="FF0000"/>
              </a:solidFill>
            </a:endParaRPr>
          </a:p>
        </p:txBody>
      </p:sp>
      <p:pic>
        <p:nvPicPr>
          <p:cNvPr id="2" name="Image 1" descr="ordres 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3220" y="3848100"/>
            <a:ext cx="8546592" cy="28163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4927600" cy="3408362"/>
          </a:xfrm>
        </p:spPr>
        <p:txBody>
          <a:bodyPr>
            <a:noAutofit/>
          </a:bodyPr>
          <a:lstStyle/>
          <a:p>
            <a:pPr marL="0" indent="0">
              <a:buNone/>
            </a:pPr>
            <a:r>
              <a:rPr lang="fr-FR" sz="1600" b="1" dirty="0" smtClean="0">
                <a:latin typeface="Arial" panose="020B0604020202020204"/>
                <a:cs typeface="Arial" panose="020B0604020202020204"/>
              </a:rPr>
              <a:t>CARACTERES </a:t>
            </a:r>
            <a:r>
              <a:rPr lang="fr-FR" sz="1600" b="1" dirty="0">
                <a:latin typeface="Arial" panose="020B0604020202020204"/>
                <a:cs typeface="Arial" panose="020B0604020202020204"/>
              </a:rPr>
              <a:t>GENERAUX </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Colonne </a:t>
            </a:r>
            <a:endParaRPr lang="fr-FR" sz="1600" dirty="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Pas de base, fût cannelé́ fortement galbé</a:t>
            </a:r>
            <a:endParaRPr lang="fr-FR" sz="1600"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Chapiteau : simple </a:t>
            </a:r>
            <a:r>
              <a:rPr lang="fr-FR" sz="1600" b="1" dirty="0" smtClean="0">
                <a:latin typeface="Arial" panose="020B0604020202020204"/>
                <a:cs typeface="Arial" panose="020B0604020202020204"/>
              </a:rPr>
              <a:t>échine</a:t>
            </a:r>
            <a:r>
              <a:rPr lang="fr-FR" sz="1600" dirty="0" smtClean="0">
                <a:latin typeface="Arial" panose="020B0604020202020204"/>
                <a:cs typeface="Arial" panose="020B0604020202020204"/>
              </a:rPr>
              <a:t> + </a:t>
            </a:r>
            <a:r>
              <a:rPr lang="fr-FR" sz="1600" b="1" dirty="0" smtClean="0">
                <a:latin typeface="Arial" panose="020B0604020202020204"/>
                <a:cs typeface="Arial" panose="020B0604020202020204"/>
              </a:rPr>
              <a:t>abaque</a:t>
            </a:r>
            <a:r>
              <a:rPr lang="fr-FR" sz="1600" i="1" dirty="0" smtClean="0">
                <a:latin typeface="Arial" panose="020B0604020202020204"/>
                <a:cs typeface="Arial" panose="020B0604020202020204"/>
              </a:rPr>
              <a:t> </a:t>
            </a:r>
            <a:r>
              <a:rPr lang="fr-FR" sz="1600" dirty="0" smtClean="0">
                <a:latin typeface="Arial" panose="020B0604020202020204"/>
                <a:cs typeface="Arial" panose="020B0604020202020204"/>
              </a:rPr>
              <a:t>carré ; style épuré</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Entablement </a:t>
            </a:r>
            <a:endParaRPr lang="fr-FR" sz="1600" dirty="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a:t>
            </a:r>
            <a:r>
              <a:rPr lang="fr-FR" sz="1600" b="1" dirty="0" smtClean="0">
                <a:latin typeface="Arial" panose="020B0604020202020204"/>
                <a:cs typeface="Arial" panose="020B0604020202020204"/>
              </a:rPr>
              <a:t>Architrave </a:t>
            </a:r>
            <a:r>
              <a:rPr lang="fr-FR" sz="1600" dirty="0" smtClean="0">
                <a:latin typeface="Arial" panose="020B0604020202020204"/>
                <a:cs typeface="Arial" panose="020B0604020202020204"/>
              </a:rPr>
              <a:t>lisse</a:t>
            </a:r>
            <a:br>
              <a:rPr lang="fr-FR" sz="1600" dirty="0">
                <a:latin typeface="Arial" panose="020B0604020202020204"/>
                <a:cs typeface="Arial" panose="020B0604020202020204"/>
              </a:rPr>
            </a:b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Frise :</a:t>
            </a:r>
            <a:r>
              <a:rPr lang="fr-FR" sz="1600" b="1" dirty="0" smtClean="0">
                <a:latin typeface="Arial" panose="020B0604020202020204"/>
                <a:cs typeface="Arial" panose="020B0604020202020204"/>
              </a:rPr>
              <a:t> triglyphes </a:t>
            </a:r>
            <a:r>
              <a:rPr lang="fr-FR" sz="1600" dirty="0" smtClean="0">
                <a:latin typeface="Arial" panose="020B0604020202020204"/>
                <a:cs typeface="Arial" panose="020B0604020202020204"/>
              </a:rPr>
              <a:t>et </a:t>
            </a:r>
            <a:r>
              <a:rPr lang="fr-FR" sz="1600" b="1" dirty="0" err="1" smtClean="0">
                <a:latin typeface="Arial" panose="020B0604020202020204"/>
                <a:cs typeface="Arial" panose="020B0604020202020204"/>
              </a:rPr>
              <a:t>métopes</a:t>
            </a:r>
            <a:r>
              <a:rPr lang="fr-FR" sz="1600" i="1" dirty="0" smtClean="0">
                <a:latin typeface="Arial" panose="020B0604020202020204"/>
                <a:cs typeface="Arial" panose="020B0604020202020204"/>
              </a:rPr>
              <a:t> </a:t>
            </a:r>
            <a:endParaRPr lang="fr-FR" sz="1600" i="1"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Corniche à </a:t>
            </a:r>
            <a:r>
              <a:rPr lang="fr-FR" sz="1600" b="1" dirty="0" smtClean="0">
                <a:latin typeface="Arial" panose="020B0604020202020204"/>
                <a:cs typeface="Arial" panose="020B0604020202020204"/>
              </a:rPr>
              <a:t>mutules</a:t>
            </a:r>
            <a:r>
              <a:rPr lang="fr-FR" sz="1600" i="1" dirty="0" smtClean="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Fronton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a:t>
            </a:r>
            <a:r>
              <a:rPr lang="fr-FR" sz="1600" b="1" dirty="0">
                <a:latin typeface="Arial" panose="020B0604020202020204"/>
                <a:cs typeface="Arial" panose="020B0604020202020204"/>
              </a:rPr>
              <a:t> </a:t>
            </a:r>
            <a:r>
              <a:rPr lang="fr-FR" sz="1600" b="1" dirty="0" smtClean="0">
                <a:latin typeface="Arial" panose="020B0604020202020204"/>
                <a:cs typeface="Arial" panose="020B0604020202020204"/>
              </a:rPr>
              <a:t>Rampants </a:t>
            </a:r>
            <a:r>
              <a:rPr lang="fr-FR" sz="1600" dirty="0" smtClean="0">
                <a:latin typeface="Arial" panose="020B0604020202020204"/>
                <a:cs typeface="Arial" panose="020B0604020202020204"/>
              </a:rPr>
              <a:t>(éléments inclinés </a:t>
            </a:r>
            <a:r>
              <a:rPr lang="fr-FR" sz="1600" dirty="0">
                <a:latin typeface="Arial" panose="020B0604020202020204"/>
                <a:cs typeface="Arial" panose="020B0604020202020204"/>
              </a:rPr>
              <a:t>et </a:t>
            </a:r>
            <a:r>
              <a:rPr lang="fr-FR" sz="1600" dirty="0" smtClean="0">
                <a:latin typeface="Arial" panose="020B0604020202020204"/>
                <a:cs typeface="Arial" panose="020B0604020202020204"/>
              </a:rPr>
              <a:t>disposés </a:t>
            </a:r>
            <a:r>
              <a:rPr lang="fr-FR" sz="1600" dirty="0">
                <a:latin typeface="Arial" panose="020B0604020202020204"/>
                <a:cs typeface="Arial" panose="020B0604020202020204"/>
              </a:rPr>
              <a:t>de manière à offrir une </a:t>
            </a:r>
            <a:r>
              <a:rPr lang="fr-FR" sz="1600" dirty="0" smtClean="0">
                <a:latin typeface="Arial" panose="020B0604020202020204"/>
                <a:cs typeface="Arial" panose="020B0604020202020204"/>
              </a:rPr>
              <a:t>pente</a:t>
            </a:r>
            <a:r>
              <a:rPr lang="fr-FR" sz="1600" dirty="0">
                <a:latin typeface="Arial" panose="020B0604020202020204"/>
                <a:cs typeface="Arial" panose="020B0604020202020204"/>
              </a:rPr>
              <a:t>)</a:t>
            </a:r>
            <a:r>
              <a:rPr lang="fr-FR" sz="1600" dirty="0" smtClean="0">
                <a:latin typeface="Arial" panose="020B0604020202020204"/>
                <a:cs typeface="Arial" panose="020B0604020202020204"/>
              </a:rPr>
              <a:t> sans </a:t>
            </a:r>
            <a:r>
              <a:rPr lang="fr-FR" sz="1600" b="1" dirty="0" smtClean="0">
                <a:latin typeface="Arial" panose="020B0604020202020204"/>
                <a:cs typeface="Arial" panose="020B0604020202020204"/>
              </a:rPr>
              <a:t>mutules</a:t>
            </a:r>
            <a:br>
              <a:rPr lang="fr-FR" sz="1600" i="1" dirty="0">
                <a:latin typeface="Arial" panose="020B0604020202020204"/>
                <a:cs typeface="Arial" panose="020B0604020202020204"/>
              </a:rPr>
            </a:br>
            <a:r>
              <a:rPr lang="fr-FR" sz="1600" dirty="0">
                <a:latin typeface="Arial" panose="020B0604020202020204"/>
                <a:cs typeface="Arial" panose="020B0604020202020204"/>
              </a:rPr>
              <a:t>- O</a:t>
            </a:r>
            <a:r>
              <a:rPr lang="fr-FR" sz="1600" dirty="0" smtClean="0">
                <a:latin typeface="Arial" panose="020B0604020202020204"/>
                <a:cs typeface="Arial" panose="020B0604020202020204"/>
              </a:rPr>
              <a:t>rnements : bas (</a:t>
            </a:r>
            <a:r>
              <a:rPr lang="fr-FR" sz="1600" dirty="0" err="1">
                <a:latin typeface="Arial" panose="020B0604020202020204"/>
                <a:cs typeface="Arial" panose="020B0604020202020204"/>
              </a:rPr>
              <a:t>VI</a:t>
            </a:r>
            <a:r>
              <a:rPr lang="fr-FR" sz="1600" dirty="0" err="1" smtClean="0">
                <a:latin typeface="Arial" panose="020B0604020202020204"/>
                <a:cs typeface="Arial" panose="020B0604020202020204"/>
              </a:rPr>
              <a:t>°s</a:t>
            </a:r>
            <a:r>
              <a:rPr lang="fr-FR" sz="1600" dirty="0" smtClean="0">
                <a:latin typeface="Arial" panose="020B0604020202020204"/>
                <a:cs typeface="Arial" panose="020B0604020202020204"/>
              </a:rPr>
              <a:t> </a:t>
            </a:r>
            <a:r>
              <a:rPr lang="fr-FR" sz="1600" dirty="0" err="1" smtClean="0">
                <a:latin typeface="Arial" panose="020B0604020202020204"/>
                <a:cs typeface="Arial" panose="020B0604020202020204"/>
              </a:rPr>
              <a:t>av.JC</a:t>
            </a:r>
            <a:r>
              <a:rPr lang="fr-FR" sz="1600" dirty="0" smtClean="0">
                <a:latin typeface="Arial" panose="020B0604020202020204"/>
                <a:cs typeface="Arial" panose="020B0604020202020204"/>
              </a:rPr>
              <a:t>) puis haut relief </a:t>
            </a:r>
            <a:endParaRPr lang="fr-FR" sz="1600" dirty="0">
              <a:latin typeface="Arial" panose="020B0604020202020204"/>
              <a:cs typeface="Arial" panose="020B0604020202020204"/>
            </a:endParaRPr>
          </a:p>
          <a:p>
            <a:pPr marL="0" indent="0">
              <a:buNone/>
            </a:pPr>
            <a:endParaRPr lang="fr-FR"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Ordre dorique </a:t>
            </a:r>
            <a:endParaRPr lang="fr-FR" dirty="0">
              <a:solidFill>
                <a:srgbClr val="FF0000"/>
              </a:solidFill>
            </a:endParaRPr>
          </a:p>
        </p:txBody>
      </p:sp>
      <p:pic>
        <p:nvPicPr>
          <p:cNvPr id="4" name="Image 3" descr="ordre_dorique.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51120" y="1808670"/>
            <a:ext cx="3801199" cy="4557078"/>
          </a:xfrm>
          <a:prstGeom prst="rect">
            <a:avLst/>
          </a:prstGeom>
        </p:spPr>
      </p:pic>
      <p:pic>
        <p:nvPicPr>
          <p:cNvPr id="5" name="Image 4" descr="220px-Chapiteau-Partheno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 y="5187188"/>
            <a:ext cx="2011680" cy="1344168"/>
          </a:xfrm>
          <a:prstGeom prst="rect">
            <a:avLst/>
          </a:prstGeom>
        </p:spPr>
      </p:pic>
      <p:pic>
        <p:nvPicPr>
          <p:cNvPr id="8" name="Image 7" descr="1552730636_10072fb70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3680" y="5187188"/>
            <a:ext cx="1828800" cy="1371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4927600" cy="3408362"/>
          </a:xfrm>
        </p:spPr>
        <p:txBody>
          <a:bodyPr>
            <a:noAutofit/>
          </a:bodyPr>
          <a:lstStyle/>
          <a:p>
            <a:pPr marL="0" indent="0">
              <a:buNone/>
            </a:pPr>
            <a:r>
              <a:rPr lang="fr-FR" sz="1600" b="1" dirty="0">
                <a:latin typeface="Arial" panose="020B0604020202020204"/>
                <a:cs typeface="Arial" panose="020B0604020202020204"/>
              </a:rPr>
              <a:t>ORIGINE </a:t>
            </a:r>
            <a:endParaRPr lang="fr-FR" sz="1600" dirty="0">
              <a:latin typeface="Arial" panose="020B0604020202020204"/>
              <a:cs typeface="Arial" panose="020B0604020202020204"/>
            </a:endParaRPr>
          </a:p>
          <a:p>
            <a:r>
              <a:rPr lang="fr-FR" sz="1600" dirty="0" smtClean="0">
                <a:latin typeface="Arial" panose="020B0604020202020204"/>
                <a:cs typeface="Arial" panose="020B0604020202020204"/>
              </a:rPr>
              <a:t>Apparition en Asie Mineure (</a:t>
            </a:r>
            <a:r>
              <a:rPr lang="fr-FR" sz="1600" dirty="0">
                <a:latin typeface="Arial" panose="020B0604020202020204"/>
                <a:cs typeface="Arial" panose="020B0604020202020204"/>
              </a:rPr>
              <a:t>Ionie</a:t>
            </a:r>
            <a:r>
              <a:rPr lang="fr-FR" sz="1600" dirty="0" smtClean="0">
                <a:latin typeface="Arial" panose="020B0604020202020204"/>
                <a:cs typeface="Arial" panose="020B0604020202020204"/>
              </a:rPr>
              <a:t>) à </a:t>
            </a:r>
            <a:r>
              <a:rPr lang="fr-FR" sz="1600" b="1" dirty="0" smtClean="0">
                <a:latin typeface="Arial" panose="020B0604020202020204"/>
                <a:cs typeface="Arial" panose="020B0604020202020204"/>
              </a:rPr>
              <a:t>l’</a:t>
            </a:r>
            <a:r>
              <a:rPr lang="fr-FR" sz="1600" b="1" dirty="0" err="1" smtClean="0">
                <a:latin typeface="Arial" panose="020B0604020202020204"/>
                <a:cs typeface="Arial" panose="020B0604020202020204"/>
              </a:rPr>
              <a:t>époque</a:t>
            </a:r>
            <a:r>
              <a:rPr lang="fr-FR" sz="1600" b="1" dirty="0" smtClean="0">
                <a:latin typeface="Arial" panose="020B0604020202020204"/>
                <a:cs typeface="Arial" panose="020B0604020202020204"/>
              </a:rPr>
              <a:t> </a:t>
            </a:r>
            <a:r>
              <a:rPr lang="fr-FR" sz="1600" b="1" dirty="0" err="1" smtClean="0">
                <a:latin typeface="Arial" panose="020B0604020202020204"/>
                <a:cs typeface="Arial" panose="020B0604020202020204"/>
              </a:rPr>
              <a:t>archaïque</a:t>
            </a:r>
            <a:endParaRPr lang="fr-FR" sz="1600" b="1" dirty="0">
              <a:latin typeface="Arial" panose="020B0604020202020204"/>
              <a:cs typeface="Arial" panose="020B0604020202020204"/>
            </a:endParaRPr>
          </a:p>
          <a:p>
            <a:r>
              <a:rPr lang="fr-FR" sz="1600" dirty="0" smtClean="0">
                <a:latin typeface="Arial" panose="020B0604020202020204"/>
                <a:cs typeface="Arial" panose="020B0604020202020204"/>
              </a:rPr>
              <a:t>Proche des ordres </a:t>
            </a:r>
            <a:r>
              <a:rPr lang="fr-FR" sz="1600" b="1" dirty="0" err="1" smtClean="0">
                <a:latin typeface="Arial" panose="020B0604020202020204"/>
                <a:cs typeface="Arial" panose="020B0604020202020204"/>
              </a:rPr>
              <a:t>lotiforme</a:t>
            </a:r>
            <a:r>
              <a:rPr lang="fr-FR" sz="1600" dirty="0" smtClean="0">
                <a:latin typeface="Arial" panose="020B0604020202020204"/>
                <a:cs typeface="Arial" panose="020B0604020202020204"/>
              </a:rPr>
              <a:t> et </a:t>
            </a:r>
            <a:r>
              <a:rPr lang="fr-FR" sz="1600" b="1" dirty="0" err="1" smtClean="0">
                <a:latin typeface="Arial" panose="020B0604020202020204"/>
                <a:cs typeface="Arial" panose="020B0604020202020204"/>
              </a:rPr>
              <a:t>éolien</a:t>
            </a:r>
            <a:endParaRPr lang="fr-FR" sz="1600" b="1" dirty="0">
              <a:latin typeface="Arial" panose="020B0604020202020204"/>
              <a:cs typeface="Arial" panose="020B0604020202020204"/>
            </a:endParaRPr>
          </a:p>
          <a:p>
            <a:r>
              <a:rPr lang="fr-FR" sz="1600" b="1" dirty="0" err="1" smtClean="0">
                <a:latin typeface="Arial" panose="020B0604020202020204"/>
                <a:cs typeface="Arial" panose="020B0604020202020204"/>
              </a:rPr>
              <a:t>Elégant</a:t>
            </a:r>
            <a:r>
              <a:rPr lang="fr-FR" sz="1600" b="1" dirty="0" smtClean="0">
                <a:latin typeface="Arial" panose="020B0604020202020204"/>
                <a:cs typeface="Arial" panose="020B0604020202020204"/>
              </a:rPr>
              <a:t> </a:t>
            </a:r>
            <a:r>
              <a:rPr lang="fr-FR" sz="1600" dirty="0" smtClean="0">
                <a:latin typeface="Arial" panose="020B0604020202020204"/>
                <a:cs typeface="Arial" panose="020B0604020202020204"/>
              </a:rPr>
              <a:t>: </a:t>
            </a:r>
            <a:r>
              <a:rPr lang="fr-FR" sz="1600" dirty="0" err="1" smtClean="0">
                <a:latin typeface="Arial" panose="020B0604020202020204"/>
                <a:cs typeface="Arial" panose="020B0604020202020204"/>
              </a:rPr>
              <a:t>élanc</a:t>
            </a:r>
            <a:r>
              <a:rPr lang="fr-FR" sz="1600" dirty="0" err="1">
                <a:latin typeface="Arial" panose="020B0604020202020204"/>
                <a:cs typeface="Arial" panose="020B0604020202020204"/>
              </a:rPr>
              <a:t>é</a:t>
            </a:r>
            <a:r>
              <a:rPr lang="fr-FR" sz="1600" dirty="0" smtClean="0">
                <a:latin typeface="Arial" panose="020B0604020202020204"/>
                <a:cs typeface="Arial" panose="020B0604020202020204"/>
              </a:rPr>
              <a:t>, </a:t>
            </a:r>
            <a:r>
              <a:rPr lang="fr-FR" sz="1600" dirty="0" err="1" smtClean="0">
                <a:latin typeface="Arial" panose="020B0604020202020204"/>
                <a:cs typeface="Arial" panose="020B0604020202020204"/>
              </a:rPr>
              <a:t>léger</a:t>
            </a:r>
            <a:r>
              <a:rPr lang="fr-FR" sz="1600" dirty="0" smtClean="0">
                <a:latin typeface="Arial" panose="020B0604020202020204"/>
                <a:cs typeface="Arial" panose="020B0604020202020204"/>
              </a:rPr>
              <a:t>, </a:t>
            </a:r>
            <a:r>
              <a:rPr lang="fr-FR" sz="1600" dirty="0" err="1" smtClean="0">
                <a:latin typeface="Arial" panose="020B0604020202020204"/>
                <a:cs typeface="Arial" panose="020B0604020202020204"/>
              </a:rPr>
              <a:t>décoré</a:t>
            </a:r>
            <a:r>
              <a:rPr lang="fr-FR" sz="1600" dirty="0" smtClean="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endParaRPr lang="fr-FR"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Ordre ionique </a:t>
            </a:r>
            <a:endParaRPr lang="fr-FR" dirty="0">
              <a:solidFill>
                <a:srgbClr val="FF0000"/>
              </a:solidFill>
            </a:endParaRPr>
          </a:p>
        </p:txBody>
      </p:sp>
      <p:pic>
        <p:nvPicPr>
          <p:cNvPr id="2" name="Image 1" descr="ordres 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8340" y="2976881"/>
            <a:ext cx="7516616" cy="3626792"/>
          </a:xfrm>
          <a:prstGeom prst="rect">
            <a:avLst/>
          </a:prstGeom>
        </p:spPr>
      </p:pic>
      <p:sp>
        <p:nvSpPr>
          <p:cNvPr id="7" name="Rectangle 6"/>
          <p:cNvSpPr/>
          <p:nvPr/>
        </p:nvSpPr>
        <p:spPr>
          <a:xfrm>
            <a:off x="873760" y="2977207"/>
            <a:ext cx="3454400" cy="4060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4927600" cy="4332922"/>
          </a:xfrm>
        </p:spPr>
        <p:txBody>
          <a:bodyPr>
            <a:noAutofit/>
          </a:bodyPr>
          <a:lstStyle/>
          <a:p>
            <a:pPr marL="0" indent="0">
              <a:buNone/>
            </a:pPr>
            <a:r>
              <a:rPr lang="fr-FR" sz="1600" b="1" dirty="0" smtClean="0">
                <a:latin typeface="Arial" panose="020B0604020202020204"/>
                <a:cs typeface="Arial" panose="020B0604020202020204"/>
              </a:rPr>
              <a:t>CARACTÈRES GÉNÉRAUX</a:t>
            </a:r>
            <a:endParaRPr lang="fr-FR" sz="1600" b="1"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 </a:t>
            </a:r>
            <a:r>
              <a:rPr lang="fr-FR" sz="1600" b="1" dirty="0" smtClean="0">
                <a:latin typeface="Arial" panose="020B0604020202020204"/>
                <a:cs typeface="Arial" panose="020B0604020202020204"/>
              </a:rPr>
              <a:t>Colonne </a:t>
            </a:r>
            <a:endParaRPr lang="fr-FR" sz="1600" b="1"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Base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err="1" smtClean="0">
                <a:latin typeface="Arial" panose="020B0604020202020204"/>
                <a:cs typeface="Arial" panose="020B0604020202020204"/>
              </a:rPr>
              <a:t>Fût</a:t>
            </a:r>
            <a:r>
              <a:rPr lang="fr-FR" sz="1600" dirty="0" smtClean="0">
                <a:latin typeface="Arial" panose="020B0604020202020204"/>
                <a:cs typeface="Arial" panose="020B0604020202020204"/>
              </a:rPr>
              <a:t> cannelé sans </a:t>
            </a:r>
            <a:r>
              <a:rPr lang="fr-FR" sz="1600" dirty="0">
                <a:latin typeface="Arial" panose="020B0604020202020204"/>
                <a:cs typeface="Arial" panose="020B0604020202020204"/>
              </a:rPr>
              <a:t>galbe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Chapiteau </a:t>
            </a:r>
            <a:r>
              <a:rPr lang="fr-FR" sz="1600" dirty="0">
                <a:latin typeface="Arial" panose="020B0604020202020204"/>
                <a:cs typeface="Arial" panose="020B0604020202020204"/>
              </a:rPr>
              <a:t>à volutes sans </a:t>
            </a:r>
            <a:r>
              <a:rPr lang="fr-FR" sz="1600" dirty="0" smtClean="0">
                <a:latin typeface="Arial" panose="020B0604020202020204"/>
                <a:cs typeface="Arial" panose="020B0604020202020204"/>
              </a:rPr>
              <a:t>abaque</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 </a:t>
            </a:r>
            <a:r>
              <a:rPr lang="fr-FR" sz="1600" b="1" dirty="0" smtClean="0">
                <a:latin typeface="Arial" panose="020B0604020202020204"/>
                <a:cs typeface="Arial" panose="020B0604020202020204"/>
              </a:rPr>
              <a:t>Entablement</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Architrave </a:t>
            </a:r>
            <a:r>
              <a:rPr lang="fr-FR" sz="1600" dirty="0">
                <a:latin typeface="Arial" panose="020B0604020202020204"/>
                <a:cs typeface="Arial" panose="020B0604020202020204"/>
              </a:rPr>
              <a:t>à bandes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a:t>
            </a:r>
            <a:r>
              <a:rPr lang="fr-FR" sz="1600" b="1" dirty="0">
                <a:latin typeface="Arial" panose="020B0604020202020204"/>
                <a:cs typeface="Arial" panose="020B0604020202020204"/>
              </a:rPr>
              <a:t> </a:t>
            </a:r>
            <a:r>
              <a:rPr lang="fr-FR" sz="1600" b="1" dirty="0" smtClean="0">
                <a:latin typeface="Arial" panose="020B0604020202020204"/>
                <a:cs typeface="Arial" panose="020B0604020202020204"/>
              </a:rPr>
              <a:t>Frise </a:t>
            </a:r>
            <a:r>
              <a:rPr lang="fr-FR" sz="1600" b="1" dirty="0" err="1" smtClean="0">
                <a:latin typeface="Arial" panose="020B0604020202020204"/>
                <a:cs typeface="Arial" panose="020B0604020202020204"/>
              </a:rPr>
              <a:t>historiée</a:t>
            </a:r>
            <a:r>
              <a:rPr lang="fr-FR" sz="1600" b="1" dirty="0" smtClean="0">
                <a:latin typeface="Arial" panose="020B0604020202020204"/>
                <a:cs typeface="Arial" panose="020B0604020202020204"/>
              </a:rPr>
              <a:t> </a:t>
            </a:r>
            <a:r>
              <a:rPr lang="fr-FR" sz="1600" dirty="0" smtClean="0">
                <a:latin typeface="Arial" panose="020B0604020202020204"/>
                <a:cs typeface="Arial" panose="020B0604020202020204"/>
              </a:rPr>
              <a:t>(ornée d’un bas relief)</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Corniche </a:t>
            </a:r>
            <a:r>
              <a:rPr lang="fr-FR" sz="1600" dirty="0">
                <a:latin typeface="Arial" panose="020B0604020202020204"/>
                <a:cs typeface="Arial" panose="020B0604020202020204"/>
              </a:rPr>
              <a:t>peu saillante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smtClean="0">
                <a:latin typeface="Arial" panose="020B0604020202020204"/>
                <a:cs typeface="Arial" panose="020B0604020202020204"/>
              </a:rPr>
              <a:t>Denticules </a:t>
            </a:r>
            <a:r>
              <a:rPr lang="fr-FR" sz="1600" dirty="0" smtClean="0">
                <a:latin typeface="Arial" panose="020B0604020202020204"/>
                <a:cs typeface="Arial" panose="020B0604020202020204"/>
              </a:rPr>
              <a:t>: motif ornemental </a:t>
            </a:r>
            <a:r>
              <a:rPr lang="fr-FR" sz="1600" dirty="0">
                <a:latin typeface="Arial" panose="020B0604020202020204"/>
                <a:cs typeface="Arial" panose="020B0604020202020204"/>
              </a:rPr>
              <a:t>(sauf </a:t>
            </a:r>
            <a:r>
              <a:rPr lang="fr-FR" sz="1600" dirty="0" err="1">
                <a:latin typeface="Arial" panose="020B0604020202020204"/>
                <a:cs typeface="Arial" panose="020B0604020202020204"/>
              </a:rPr>
              <a:t>Athènes</a:t>
            </a:r>
            <a:r>
              <a:rPr lang="fr-FR" sz="1600" dirty="0">
                <a:latin typeface="Arial" panose="020B0604020202020204"/>
                <a:cs typeface="Arial" panose="020B0604020202020204"/>
              </a:rPr>
              <a:t>)</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 </a:t>
            </a:r>
            <a:r>
              <a:rPr lang="fr-FR" sz="1600" b="1" dirty="0" smtClean="0">
                <a:latin typeface="Arial" panose="020B0604020202020204"/>
                <a:cs typeface="Arial" panose="020B0604020202020204"/>
              </a:rPr>
              <a:t>Fronton</a:t>
            </a:r>
            <a:endParaRPr lang="fr-FR" sz="1600" b="1" dirty="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Corniche sans denticules</a:t>
            </a:r>
            <a:endParaRPr lang="fr-FR" sz="1600"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Rampants moins pentus qu’avec le dorique </a:t>
            </a:r>
            <a:endParaRPr lang="fr-FR" sz="1600"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Généralement non historié</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Ordre ionique </a:t>
            </a:r>
            <a:endParaRPr lang="fr-FR" dirty="0">
              <a:solidFill>
                <a:srgbClr val="FF0000"/>
              </a:solidFill>
            </a:endParaRPr>
          </a:p>
        </p:txBody>
      </p:sp>
      <p:pic>
        <p:nvPicPr>
          <p:cNvPr id="5" name="Image 4" descr="ordre_ionique.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80561" y="1342988"/>
            <a:ext cx="4450080" cy="5308129"/>
          </a:xfrm>
          <a:prstGeom prst="rect">
            <a:avLst/>
          </a:prstGeom>
        </p:spPr>
      </p:pic>
      <p:pic>
        <p:nvPicPr>
          <p:cNvPr id="9" name="Image 8" descr="chapiteau-Propylees-Acropole-Athene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040" y="5325747"/>
            <a:ext cx="1696720" cy="127253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ordres 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1197580"/>
            <a:ext cx="8305114" cy="5487700"/>
          </a:xfrm>
          <a:prstGeom prst="rect">
            <a:avLst/>
          </a:prstGeom>
        </p:spPr>
      </p:pic>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Rectangle 7"/>
          <p:cNvSpPr/>
          <p:nvPr/>
        </p:nvSpPr>
        <p:spPr>
          <a:xfrm>
            <a:off x="223520" y="1106141"/>
            <a:ext cx="5506720" cy="14237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Rectangle 11"/>
          <p:cNvSpPr/>
          <p:nvPr/>
        </p:nvSpPr>
        <p:spPr>
          <a:xfrm>
            <a:off x="101600" y="2621280"/>
            <a:ext cx="2311400" cy="34673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5181600" cy="1305242"/>
          </a:xfrm>
        </p:spPr>
        <p:txBody>
          <a:bodyPr>
            <a:noAutofit/>
          </a:bodyPr>
          <a:lstStyle/>
          <a:p>
            <a:pPr marL="0" indent="0">
              <a:buNone/>
            </a:pPr>
            <a:r>
              <a:rPr lang="fr-FR" sz="1600" b="1" dirty="0">
                <a:latin typeface="Arial" panose="020B0604020202020204"/>
                <a:cs typeface="Arial" panose="020B0604020202020204"/>
              </a:rPr>
              <a:t>ORIGINE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Connu </a:t>
            </a:r>
            <a:r>
              <a:rPr lang="fr-FR" sz="1600" dirty="0" err="1">
                <a:latin typeface="Arial" panose="020B0604020202020204"/>
                <a:cs typeface="Arial" panose="020B0604020202020204"/>
              </a:rPr>
              <a:t>dès</a:t>
            </a:r>
            <a:r>
              <a:rPr lang="fr-FR" sz="1600" dirty="0">
                <a:latin typeface="Arial" panose="020B0604020202020204"/>
                <a:cs typeface="Arial" panose="020B0604020202020204"/>
              </a:rPr>
              <a:t> l’</a:t>
            </a:r>
            <a:r>
              <a:rPr lang="fr-FR" sz="1600" dirty="0" err="1">
                <a:latin typeface="Arial" panose="020B0604020202020204"/>
                <a:cs typeface="Arial" panose="020B0604020202020204"/>
              </a:rPr>
              <a:t>époque</a:t>
            </a:r>
            <a:r>
              <a:rPr lang="fr-FR" sz="1600" dirty="0">
                <a:latin typeface="Arial" panose="020B0604020202020204"/>
                <a:cs typeface="Arial" panose="020B0604020202020204"/>
              </a:rPr>
              <a:t> classique (fin </a:t>
            </a:r>
            <a:r>
              <a:rPr lang="fr-FR" sz="1600" dirty="0" err="1">
                <a:latin typeface="Arial" panose="020B0604020202020204"/>
                <a:cs typeface="Arial" panose="020B0604020202020204"/>
              </a:rPr>
              <a:t>V°av</a:t>
            </a:r>
            <a:r>
              <a:rPr lang="fr-FR" sz="1600" dirty="0">
                <a:latin typeface="Arial" panose="020B0604020202020204"/>
                <a:cs typeface="Arial" panose="020B0604020202020204"/>
              </a:rPr>
              <a:t>. JC) </a:t>
            </a:r>
            <a:endParaRPr lang="fr-FR" sz="1600" dirty="0">
              <a:latin typeface="Arial" panose="020B0604020202020204"/>
              <a:cs typeface="Arial" panose="020B0604020202020204"/>
            </a:endParaRPr>
          </a:p>
          <a:p>
            <a:r>
              <a:rPr lang="fr-FR" sz="1600" dirty="0" err="1">
                <a:latin typeface="Arial" panose="020B0604020202020204"/>
                <a:cs typeface="Arial" panose="020B0604020202020204"/>
              </a:rPr>
              <a:t>Très</a:t>
            </a:r>
            <a:r>
              <a:rPr lang="fr-FR" sz="1600" dirty="0">
                <a:latin typeface="Arial" panose="020B0604020202020204"/>
                <a:cs typeface="Arial" panose="020B0604020202020204"/>
              </a:rPr>
              <a:t> rarement utilisé avant l’</a:t>
            </a:r>
            <a:r>
              <a:rPr lang="fr-FR" sz="1600" dirty="0" err="1">
                <a:latin typeface="Arial" panose="020B0604020202020204"/>
                <a:cs typeface="Arial" panose="020B0604020202020204"/>
              </a:rPr>
              <a:t>époque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hellénistique</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r>
              <a:rPr lang="fr-FR" sz="1600" dirty="0" smtClean="0">
                <a:latin typeface="Arial" panose="020B0604020202020204"/>
                <a:cs typeface="Arial" panose="020B0604020202020204"/>
              </a:rPr>
              <a:t>Variété </a:t>
            </a:r>
            <a:r>
              <a:rPr lang="fr-FR" sz="1600" dirty="0">
                <a:latin typeface="Arial" panose="020B0604020202020204"/>
                <a:cs typeface="Arial" panose="020B0604020202020204"/>
              </a:rPr>
              <a:t>de l’ionique à chapiteau floral </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Ordre corinthien </a:t>
            </a:r>
            <a:endParaRPr lang="fr-FR"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ordres 5.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1288860"/>
            <a:ext cx="7995920" cy="5155628"/>
          </a:xfrm>
          <a:prstGeom prst="rect">
            <a:avLst/>
          </a:prstGeom>
        </p:spPr>
      </p:pic>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6502400" cy="14848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6004560" cy="1518602"/>
          </a:xfrm>
        </p:spPr>
        <p:txBody>
          <a:bodyPr>
            <a:noAutofit/>
          </a:bodyPr>
          <a:lstStyle/>
          <a:p>
            <a:pPr marL="0" indent="0">
              <a:buNone/>
            </a:pPr>
            <a:r>
              <a:rPr lang="fr-FR" sz="1600" b="1" dirty="0" smtClean="0">
                <a:latin typeface="Arial" panose="020B0604020202020204"/>
                <a:cs typeface="Arial" panose="020B0604020202020204"/>
              </a:rPr>
              <a:t>SPÉCIFICITÉ </a:t>
            </a:r>
            <a:r>
              <a:rPr lang="fr-FR" sz="1600" b="1" dirty="0">
                <a:latin typeface="Arial" panose="020B0604020202020204"/>
                <a:cs typeface="Arial" panose="020B0604020202020204"/>
              </a:rPr>
              <a:t>: CHAPITEAU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Plus </a:t>
            </a:r>
            <a:r>
              <a:rPr lang="fr-FR" sz="1600" dirty="0">
                <a:latin typeface="Arial" panose="020B0604020202020204"/>
                <a:cs typeface="Arial" panose="020B0604020202020204"/>
              </a:rPr>
              <a:t>é</a:t>
            </a:r>
            <a:r>
              <a:rPr lang="fr-FR" sz="1600" dirty="0" smtClean="0">
                <a:latin typeface="Arial" panose="020B0604020202020204"/>
                <a:cs typeface="Arial" panose="020B0604020202020204"/>
              </a:rPr>
              <a:t>levé </a:t>
            </a:r>
            <a:r>
              <a:rPr lang="fr-FR" sz="1600" dirty="0">
                <a:latin typeface="Arial" panose="020B0604020202020204"/>
                <a:cs typeface="Arial" panose="020B0604020202020204"/>
              </a:rPr>
              <a:t>que le ionique : corbeille de fleurs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Double </a:t>
            </a:r>
            <a:r>
              <a:rPr lang="fr-FR" sz="1600" dirty="0" err="1">
                <a:latin typeface="Arial" panose="020B0604020202020204"/>
                <a:cs typeface="Arial" panose="020B0604020202020204"/>
              </a:rPr>
              <a:t>rangée</a:t>
            </a:r>
            <a:r>
              <a:rPr lang="fr-FR" sz="1600" dirty="0">
                <a:latin typeface="Arial" panose="020B0604020202020204"/>
                <a:cs typeface="Arial" panose="020B0604020202020204"/>
              </a:rPr>
              <a:t> de feuilles d’acanthes </a:t>
            </a:r>
            <a:r>
              <a:rPr lang="fr-FR" sz="1600" dirty="0" err="1">
                <a:latin typeface="Arial" panose="020B0604020202020204"/>
                <a:cs typeface="Arial" panose="020B0604020202020204"/>
              </a:rPr>
              <a:t>surmontée</a:t>
            </a:r>
            <a:r>
              <a:rPr lang="fr-FR" sz="1600" dirty="0">
                <a:latin typeface="Arial" panose="020B0604020202020204"/>
                <a:cs typeface="Arial" panose="020B0604020202020204"/>
              </a:rPr>
              <a:t> de 4 volutes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Parfois</a:t>
            </a:r>
            <a:r>
              <a:rPr lang="fr-FR" sz="1600" dirty="0">
                <a:latin typeface="Arial" panose="020B0604020202020204"/>
                <a:cs typeface="Arial" panose="020B0604020202020204"/>
              </a:rPr>
              <a:t>, palmette ou rosace entre les volutes </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Ordre corinthien </a:t>
            </a:r>
            <a:endParaRPr lang="fr-FR"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ordres 6.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2960" y="1178560"/>
            <a:ext cx="8075027" cy="5145532"/>
          </a:xfrm>
          <a:prstGeom prst="rect">
            <a:avLst/>
          </a:prstGeom>
        </p:spPr>
      </p:pic>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6035040" cy="14848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Rectangle 7"/>
          <p:cNvSpPr/>
          <p:nvPr/>
        </p:nvSpPr>
        <p:spPr>
          <a:xfrm>
            <a:off x="101600" y="609600"/>
            <a:ext cx="6126480" cy="263143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6004560" cy="1518602"/>
          </a:xfrm>
        </p:spPr>
        <p:txBody>
          <a:bodyPr>
            <a:noAutofit/>
          </a:bodyPr>
          <a:lstStyle/>
          <a:p>
            <a:pPr marL="0" indent="0">
              <a:buNone/>
            </a:pPr>
            <a:r>
              <a:rPr lang="fr-FR" sz="1600" b="1" dirty="0">
                <a:latin typeface="Arial" panose="020B0604020202020204"/>
                <a:cs typeface="Arial" panose="020B0604020202020204"/>
              </a:rPr>
              <a:t>FONCTION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smtClean="0">
                <a:latin typeface="Arial" panose="020B0604020202020204"/>
                <a:cs typeface="Arial" panose="020B0604020202020204"/>
              </a:rPr>
              <a:t>Dorique </a:t>
            </a:r>
            <a:r>
              <a:rPr lang="fr-FR" sz="1600" dirty="0" smtClean="0">
                <a:latin typeface="Arial" panose="020B0604020202020204"/>
                <a:cs typeface="Arial" panose="020B0604020202020204"/>
              </a:rPr>
              <a:t>: temples importants, portiques </a:t>
            </a:r>
            <a:r>
              <a:rPr lang="fr-FR" sz="1600" dirty="0" err="1" smtClean="0">
                <a:latin typeface="Arial" panose="020B0604020202020204"/>
                <a:cs typeface="Arial" panose="020B0604020202020204"/>
              </a:rPr>
              <a:t>extérieurs</a:t>
            </a:r>
            <a:r>
              <a:rPr lang="fr-FR" sz="1600" dirty="0" smtClean="0">
                <a:latin typeface="Arial" panose="020B0604020202020204"/>
                <a:cs typeface="Arial" panose="020B0604020202020204"/>
              </a:rPr>
              <a:t> </a:t>
            </a:r>
            <a:endParaRPr lang="fr-FR" sz="1600"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a:t>
            </a:r>
            <a:r>
              <a:rPr lang="fr-FR" sz="1600" b="1" dirty="0" smtClean="0">
                <a:latin typeface="Arial" panose="020B0604020202020204"/>
                <a:cs typeface="Arial" panose="020B0604020202020204"/>
              </a:rPr>
              <a:t>Ionique </a:t>
            </a:r>
            <a:r>
              <a:rPr lang="fr-FR" sz="1600" dirty="0" smtClean="0">
                <a:latin typeface="Arial" panose="020B0604020202020204"/>
                <a:cs typeface="Arial" panose="020B0604020202020204"/>
              </a:rPr>
              <a:t>: petits temples, colonnades </a:t>
            </a:r>
            <a:r>
              <a:rPr lang="fr-FR" sz="1600" dirty="0" err="1" smtClean="0">
                <a:latin typeface="Arial" panose="020B0604020202020204"/>
                <a:cs typeface="Arial" panose="020B0604020202020204"/>
              </a:rPr>
              <a:t>intérieures</a:t>
            </a:r>
            <a:r>
              <a:rPr lang="fr-FR" sz="1600" dirty="0" smtClean="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endParaRPr lang="fr-FR" sz="1600" b="1" dirty="0" smtClean="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ORDES SUPERPOSÉS </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Emploi des ordres</a:t>
            </a:r>
            <a:endParaRPr lang="fr-FR"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6035040" cy="14848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6004560" cy="1518602"/>
          </a:xfrm>
        </p:spPr>
        <p:txBody>
          <a:bodyPr>
            <a:noAutofit/>
          </a:bodyPr>
          <a:lstStyle/>
          <a:p>
            <a:pPr marL="0" indent="0">
              <a:buNone/>
            </a:pPr>
            <a:r>
              <a:rPr lang="fr-FR" sz="1600" b="1" dirty="0" smtClean="0">
                <a:latin typeface="Arial" panose="020B0604020202020204"/>
                <a:cs typeface="Arial" panose="020B0604020202020204"/>
              </a:rPr>
              <a:t>ZONES </a:t>
            </a:r>
            <a:r>
              <a:rPr lang="fr-FR" sz="1600" b="1" dirty="0">
                <a:latin typeface="Arial" panose="020B0604020202020204"/>
                <a:cs typeface="Arial" panose="020B0604020202020204"/>
              </a:rPr>
              <a:t>D’INFLUENCES </a:t>
            </a:r>
            <a:r>
              <a:rPr lang="fr-FR" sz="1600" b="1" dirty="0" smtClean="0">
                <a:latin typeface="Arial" panose="020B0604020202020204"/>
                <a:cs typeface="Arial" panose="020B0604020202020204"/>
              </a:rPr>
              <a:t>GÉOGRAPHIQUES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smtClean="0">
                <a:latin typeface="Arial" panose="020B0604020202020204"/>
                <a:cs typeface="Arial" panose="020B0604020202020204"/>
              </a:rPr>
              <a:t>Asie Mineure </a:t>
            </a:r>
            <a:r>
              <a:rPr lang="fr-FR" sz="1600" dirty="0" smtClean="0">
                <a:latin typeface="Arial" panose="020B0604020202020204"/>
                <a:cs typeface="Arial" panose="020B0604020202020204"/>
              </a:rPr>
              <a:t>: ionique prédominant</a:t>
            </a:r>
            <a:br>
              <a:rPr lang="fr-FR" sz="1600" dirty="0">
                <a:latin typeface="Arial" panose="020B0604020202020204"/>
                <a:cs typeface="Arial" panose="020B0604020202020204"/>
              </a:rPr>
            </a:br>
            <a:r>
              <a:rPr lang="fr-FR" sz="1600" dirty="0">
                <a:latin typeface="Arial" panose="020B0604020202020204"/>
                <a:cs typeface="Arial" panose="020B0604020202020204"/>
              </a:rPr>
              <a:t>• </a:t>
            </a:r>
            <a:r>
              <a:rPr lang="fr-FR" sz="1600" b="1" dirty="0" smtClean="0">
                <a:latin typeface="Arial" panose="020B0604020202020204"/>
                <a:cs typeface="Arial" panose="020B0604020202020204"/>
              </a:rPr>
              <a:t>Grande Grèce, Sicile </a:t>
            </a:r>
            <a:r>
              <a:rPr lang="fr-FR" sz="1600" dirty="0" smtClean="0">
                <a:latin typeface="Arial" panose="020B0604020202020204"/>
                <a:cs typeface="Arial" panose="020B0604020202020204"/>
              </a:rPr>
              <a:t>:dorique prédominant </a:t>
            </a:r>
            <a:endParaRPr lang="fr-FR" sz="1600"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a:t>
            </a:r>
            <a:r>
              <a:rPr lang="fr-FR" sz="1600" b="1" dirty="0" smtClean="0">
                <a:latin typeface="Arial" panose="020B0604020202020204"/>
                <a:cs typeface="Arial" panose="020B0604020202020204"/>
              </a:rPr>
              <a:t>Grèce </a:t>
            </a:r>
            <a:r>
              <a:rPr lang="fr-FR" sz="1600" dirty="0" smtClean="0">
                <a:latin typeface="Arial" panose="020B0604020202020204"/>
                <a:cs typeface="Arial" panose="020B0604020202020204"/>
              </a:rPr>
              <a:t>: ionique et dorique </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Emploi des ordres</a:t>
            </a:r>
            <a:endParaRPr lang="fr-FR" dirty="0">
              <a:solidFill>
                <a:srgbClr val="FF0000"/>
              </a:solidFill>
            </a:endParaRPr>
          </a:p>
        </p:txBody>
      </p:sp>
      <p:pic>
        <p:nvPicPr>
          <p:cNvPr id="2" name="Image 1" descr="ordres 7.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2960" y="3060600"/>
            <a:ext cx="7106920" cy="31913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6035040" cy="14848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6004560" cy="2676842"/>
          </a:xfrm>
        </p:spPr>
        <p:txBody>
          <a:bodyPr>
            <a:noAutofit/>
          </a:bodyPr>
          <a:lstStyle/>
          <a:p>
            <a:pPr marL="0" indent="0">
              <a:buNone/>
            </a:pPr>
            <a:r>
              <a:rPr lang="fr-FR" sz="1600" b="1" dirty="0">
                <a:latin typeface="Arial" panose="020B0604020202020204"/>
                <a:cs typeface="Arial" panose="020B0604020202020204"/>
              </a:rPr>
              <a:t>DIFFUSION DU MODELE</a:t>
            </a:r>
            <a:endParaRPr lang="fr-FR" sz="1600" b="1" dirty="0">
              <a:latin typeface="Arial" panose="020B0604020202020204"/>
              <a:cs typeface="Arial" panose="020B0604020202020204"/>
            </a:endParaRPr>
          </a:p>
          <a:p>
            <a:pPr marL="0" indent="0">
              <a:buNone/>
            </a:pPr>
            <a:r>
              <a:rPr lang="fr-FR" sz="1600" b="1" dirty="0" err="1">
                <a:latin typeface="Arial" panose="020B0604020202020204"/>
                <a:cs typeface="Arial" panose="020B0604020202020204"/>
              </a:rPr>
              <a:t>Époque</a:t>
            </a:r>
            <a:r>
              <a:rPr lang="fr-FR" sz="1600" b="1" dirty="0">
                <a:latin typeface="Arial" panose="020B0604020202020204"/>
                <a:cs typeface="Arial" panose="020B0604020202020204"/>
              </a:rPr>
              <a:t> </a:t>
            </a:r>
            <a:r>
              <a:rPr lang="fr-FR" sz="1600" b="1" dirty="0" err="1">
                <a:latin typeface="Arial" panose="020B0604020202020204"/>
                <a:cs typeface="Arial" panose="020B0604020202020204"/>
              </a:rPr>
              <a:t>archaïque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Première </a:t>
            </a:r>
            <a:r>
              <a:rPr lang="fr-FR" sz="1600" dirty="0">
                <a:latin typeface="Arial" panose="020B0604020202020204"/>
                <a:cs typeface="Arial" panose="020B0604020202020204"/>
              </a:rPr>
              <a:t>architecture en pierre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Portique à fronton limité aux temples</a:t>
            </a:r>
            <a:endParaRPr lang="fr-FR" sz="1600" dirty="0">
              <a:latin typeface="Arial" panose="020B0604020202020204"/>
              <a:cs typeface="Arial" panose="020B0604020202020204"/>
            </a:endParaRPr>
          </a:p>
          <a:p>
            <a:pPr marL="0" indent="0">
              <a:buNone/>
            </a:pPr>
            <a:r>
              <a:rPr lang="fr-FR" sz="1600" b="1" dirty="0" err="1">
                <a:latin typeface="Arial" panose="020B0604020202020204"/>
                <a:cs typeface="Arial" panose="020B0604020202020204"/>
              </a:rPr>
              <a:t>Époque</a:t>
            </a:r>
            <a:r>
              <a:rPr lang="fr-FR" sz="1600" b="1" dirty="0">
                <a:latin typeface="Arial" panose="020B0604020202020204"/>
                <a:cs typeface="Arial" panose="020B0604020202020204"/>
              </a:rPr>
              <a:t> classique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err="1">
                <a:latin typeface="Arial" panose="020B0604020202020204"/>
                <a:cs typeface="Arial" panose="020B0604020202020204"/>
              </a:rPr>
              <a:t>IV°s</a:t>
            </a:r>
            <a:r>
              <a:rPr lang="fr-FR" sz="1600" dirty="0">
                <a:latin typeface="Arial" panose="020B0604020202020204"/>
                <a:cs typeface="Arial" panose="020B0604020202020204"/>
              </a:rPr>
              <a:t>. av. JC : extension aux </a:t>
            </a:r>
            <a:r>
              <a:rPr lang="fr-FR" sz="1600" dirty="0" smtClean="0">
                <a:latin typeface="Arial" panose="020B0604020202020204"/>
                <a:cs typeface="Arial" panose="020B0604020202020204"/>
              </a:rPr>
              <a:t>édifices </a:t>
            </a:r>
            <a:r>
              <a:rPr lang="fr-FR" sz="1600" dirty="0">
                <a:latin typeface="Arial" panose="020B0604020202020204"/>
                <a:cs typeface="Arial" panose="020B0604020202020204"/>
              </a:rPr>
              <a:t>publics (</a:t>
            </a:r>
            <a:r>
              <a:rPr lang="fr-FR" sz="1600" dirty="0" smtClean="0">
                <a:latin typeface="Arial" panose="020B0604020202020204"/>
                <a:cs typeface="Arial" panose="020B0604020202020204"/>
              </a:rPr>
              <a:t>agora</a:t>
            </a:r>
            <a:r>
              <a:rPr lang="fr-FR" sz="1600" dirty="0">
                <a:latin typeface="Arial" panose="020B0604020202020204"/>
                <a:cs typeface="Arial" panose="020B0604020202020204"/>
              </a:rPr>
              <a:t>)</a:t>
            </a:r>
            <a:endParaRPr lang="fr-FR" sz="1600" dirty="0">
              <a:latin typeface="Arial" panose="020B0604020202020204"/>
              <a:cs typeface="Arial" panose="020B0604020202020204"/>
            </a:endParaRPr>
          </a:p>
          <a:p>
            <a:pPr marL="0" indent="0">
              <a:buNone/>
            </a:pPr>
            <a:r>
              <a:rPr lang="fr-FR" sz="1600" b="1" dirty="0" err="1">
                <a:latin typeface="Arial" panose="020B0604020202020204"/>
                <a:cs typeface="Arial" panose="020B0604020202020204"/>
              </a:rPr>
              <a:t>Époque</a:t>
            </a:r>
            <a:r>
              <a:rPr lang="fr-FR" sz="1600" b="1" dirty="0">
                <a:latin typeface="Arial" panose="020B0604020202020204"/>
                <a:cs typeface="Arial" panose="020B0604020202020204"/>
              </a:rPr>
              <a:t> </a:t>
            </a:r>
            <a:r>
              <a:rPr lang="fr-FR" sz="1600" b="1" dirty="0" err="1">
                <a:latin typeface="Arial" panose="020B0604020202020204"/>
                <a:cs typeface="Arial" panose="020B0604020202020204"/>
              </a:rPr>
              <a:t>hellénistique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Extension aux </a:t>
            </a:r>
            <a:r>
              <a:rPr lang="fr-FR" sz="1600" dirty="0" err="1">
                <a:latin typeface="Arial" panose="020B0604020202020204"/>
                <a:cs typeface="Arial" panose="020B0604020202020204"/>
              </a:rPr>
              <a:t>édifices</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privés</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hôtels</a:t>
            </a:r>
            <a:r>
              <a:rPr lang="fr-FR" sz="1600" dirty="0">
                <a:latin typeface="Arial" panose="020B0604020202020204"/>
                <a:cs typeface="Arial" panose="020B0604020202020204"/>
              </a:rPr>
              <a:t> particuliers) </a:t>
            </a:r>
            <a:endParaRPr lang="fr-FR" sz="1600"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Jeu avec les ordres</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Datation</a:t>
            </a:r>
            <a:endParaRPr lang="fr-FR" dirty="0">
              <a:solidFill>
                <a:srgbClr val="FF0000"/>
              </a:solidFill>
            </a:endParaRPr>
          </a:p>
        </p:txBody>
      </p:sp>
      <p:pic>
        <p:nvPicPr>
          <p:cNvPr id="5" name="Image 4" descr="temppaest.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49874" y="1288861"/>
            <a:ext cx="2614676" cy="48573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6035040" cy="14848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6004560" cy="2676842"/>
          </a:xfrm>
        </p:spPr>
        <p:txBody>
          <a:bodyPr>
            <a:noAutofit/>
          </a:bodyPr>
          <a:lstStyle/>
          <a:p>
            <a:pPr marL="0" indent="0">
              <a:buNone/>
            </a:pPr>
            <a:r>
              <a:rPr lang="fr-FR" sz="1600" b="1" dirty="0">
                <a:latin typeface="Arial" panose="020B0604020202020204"/>
                <a:cs typeface="Arial" panose="020B0604020202020204"/>
              </a:rPr>
              <a:t>ORDRE DORIQUE : </a:t>
            </a:r>
            <a:r>
              <a:rPr lang="fr-FR" sz="1600" b="1" dirty="0" smtClean="0">
                <a:latin typeface="Arial" panose="020B0604020202020204"/>
                <a:cs typeface="Arial" panose="020B0604020202020204"/>
              </a:rPr>
              <a:t>ÉVOLUTION</a:t>
            </a:r>
            <a:endParaRPr lang="fr-FR" sz="1600" b="1" dirty="0">
              <a:latin typeface="Arial" panose="020B0604020202020204"/>
              <a:cs typeface="Arial" panose="020B0604020202020204"/>
            </a:endParaRPr>
          </a:p>
          <a:p>
            <a:pPr marL="0" indent="0">
              <a:buNone/>
            </a:pPr>
            <a:r>
              <a:rPr lang="fr-FR" sz="1800" dirty="0">
                <a:latin typeface="Arial" panose="020B0604020202020204"/>
                <a:cs typeface="Arial" panose="020B0604020202020204"/>
              </a:rPr>
              <a:t>Style de plus en plus </a:t>
            </a:r>
            <a:r>
              <a:rPr lang="fr-FR" sz="1800" dirty="0" smtClean="0">
                <a:latin typeface="Arial" panose="020B0604020202020204"/>
                <a:cs typeface="Arial" panose="020B0604020202020204"/>
              </a:rPr>
              <a:t>élanc</a:t>
            </a:r>
            <a:r>
              <a:rPr lang="fr-FR" sz="1800" dirty="0">
                <a:latin typeface="Arial" panose="020B0604020202020204"/>
                <a:cs typeface="Arial" panose="020B0604020202020204"/>
              </a:rPr>
              <a:t>é</a:t>
            </a:r>
            <a:endParaRPr lang="fr-FR" sz="18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Chapiteau </a:t>
            </a:r>
            <a:r>
              <a:rPr lang="fr-FR" sz="1600" dirty="0">
                <a:latin typeface="Arial" panose="020B0604020202020204"/>
                <a:cs typeface="Arial" panose="020B0604020202020204"/>
              </a:rPr>
              <a:t>de moins en moins </a:t>
            </a:r>
            <a:r>
              <a:rPr lang="fr-FR" sz="1600" dirty="0" smtClean="0">
                <a:latin typeface="Arial" panose="020B0604020202020204"/>
                <a:cs typeface="Arial" panose="020B0604020202020204"/>
              </a:rPr>
              <a:t>écrasé </a:t>
            </a:r>
            <a:r>
              <a:rPr lang="fr-FR" sz="1600" dirty="0">
                <a:latin typeface="Arial" panose="020B0604020202020204"/>
                <a:cs typeface="Arial" panose="020B0604020202020204"/>
              </a:rPr>
              <a:t>et </a:t>
            </a:r>
            <a:r>
              <a:rPr lang="fr-FR" sz="1600" dirty="0" smtClean="0">
                <a:latin typeface="Arial" panose="020B0604020202020204"/>
                <a:cs typeface="Arial" panose="020B0604020202020204"/>
              </a:rPr>
              <a:t>débordant, </a:t>
            </a:r>
            <a:r>
              <a:rPr lang="fr-FR" sz="1600" dirty="0">
                <a:latin typeface="Arial" panose="020B0604020202020204"/>
                <a:cs typeface="Arial" panose="020B0604020202020204"/>
              </a:rPr>
              <a:t>colonnes moins trapues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Portée </a:t>
            </a:r>
            <a:r>
              <a:rPr lang="fr-FR" sz="1600" dirty="0">
                <a:latin typeface="Arial" panose="020B0604020202020204"/>
                <a:cs typeface="Arial" panose="020B0604020202020204"/>
              </a:rPr>
              <a:t>plus grande des architraves : entrecolonnement plus important</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Pas </a:t>
            </a:r>
            <a:r>
              <a:rPr lang="fr-FR" sz="1600" dirty="0">
                <a:latin typeface="Arial" panose="020B0604020202020204"/>
                <a:cs typeface="Arial" panose="020B0604020202020204"/>
              </a:rPr>
              <a:t>de changement des </a:t>
            </a:r>
            <a:r>
              <a:rPr lang="fr-FR" sz="1600" dirty="0" smtClean="0">
                <a:latin typeface="Arial" panose="020B0604020202020204"/>
                <a:cs typeface="Arial" panose="020B0604020202020204"/>
              </a:rPr>
              <a:t>éléments </a:t>
            </a:r>
            <a:r>
              <a:rPr lang="fr-FR" sz="1600" dirty="0">
                <a:latin typeface="Arial" panose="020B0604020202020204"/>
                <a:cs typeface="Arial" panose="020B0604020202020204"/>
              </a:rPr>
              <a:t>de base avant l’</a:t>
            </a:r>
            <a:r>
              <a:rPr lang="fr-FR" sz="1600" dirty="0" err="1">
                <a:latin typeface="Arial" panose="020B0604020202020204"/>
                <a:cs typeface="Arial" panose="020B0604020202020204"/>
              </a:rPr>
              <a:t>époque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hellénistique</a:t>
            </a:r>
            <a:r>
              <a:rPr lang="fr-FR" sz="1600" dirty="0">
                <a:latin typeface="Arial" panose="020B0604020202020204"/>
                <a:cs typeface="Arial" panose="020B0604020202020204"/>
              </a:rPr>
              <a:t> ou romaine</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Datation</a:t>
            </a:r>
            <a:endParaRPr lang="fr-FR" dirty="0">
              <a:solidFill>
                <a:srgbClr val="FF0000"/>
              </a:solidFill>
            </a:endParaRPr>
          </a:p>
        </p:txBody>
      </p:sp>
      <p:pic>
        <p:nvPicPr>
          <p:cNvPr id="2" name="Image 1" descr="ordres 8.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59840" y="3695452"/>
            <a:ext cx="6624320" cy="300405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6035040" cy="14848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4165600" cy="5440362"/>
          </a:xfrm>
        </p:spPr>
        <p:txBody>
          <a:bodyPr>
            <a:noAutofit/>
          </a:bodyPr>
          <a:lstStyle/>
          <a:p>
            <a:pPr marL="0" indent="0">
              <a:buNone/>
            </a:pPr>
            <a:r>
              <a:rPr lang="fr-FR" sz="1600" b="1" dirty="0">
                <a:latin typeface="Arial" panose="020B0604020202020204"/>
                <a:cs typeface="Arial" panose="020B0604020202020204"/>
              </a:rPr>
              <a:t>ORDRE IONIQUE : EVOLUTION</a:t>
            </a:r>
            <a:endParaRPr lang="fr-FR" sz="1600" b="1" dirty="0">
              <a:latin typeface="Arial" panose="020B0604020202020204"/>
              <a:cs typeface="Arial" panose="020B0604020202020204"/>
            </a:endParaRPr>
          </a:p>
          <a:p>
            <a:pPr>
              <a:buFontTx/>
              <a:buChar char="-"/>
            </a:pPr>
            <a:r>
              <a:rPr lang="fr-FR" sz="1600" dirty="0" smtClean="0">
                <a:latin typeface="Arial" panose="020B0604020202020204"/>
                <a:cs typeface="Arial" panose="020B0604020202020204"/>
              </a:rPr>
              <a:t>Style </a:t>
            </a:r>
            <a:r>
              <a:rPr lang="fr-FR" sz="1600" dirty="0">
                <a:latin typeface="Arial" panose="020B0604020202020204"/>
                <a:cs typeface="Arial" panose="020B0604020202020204"/>
              </a:rPr>
              <a:t>de plus en plus </a:t>
            </a:r>
            <a:r>
              <a:rPr lang="fr-FR" sz="1600" dirty="0" smtClean="0">
                <a:latin typeface="Arial" panose="020B0604020202020204"/>
                <a:cs typeface="Arial" panose="020B0604020202020204"/>
              </a:rPr>
              <a:t>élancé</a:t>
            </a:r>
            <a:endParaRPr lang="fr-FR" sz="1600" dirty="0" smtClean="0">
              <a:latin typeface="Arial" panose="020B0604020202020204"/>
              <a:cs typeface="Arial" panose="020B0604020202020204"/>
            </a:endParaRPr>
          </a:p>
          <a:p>
            <a:pPr marL="0" indent="0">
              <a:buNone/>
            </a:pP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Frise </a:t>
            </a:r>
            <a:r>
              <a:rPr lang="fr-FR" sz="1600" dirty="0" smtClean="0">
                <a:latin typeface="Arial" panose="020B0604020202020204"/>
                <a:cs typeface="Arial" panose="020B0604020202020204"/>
              </a:rPr>
              <a:t>éventuellement </a:t>
            </a:r>
            <a:r>
              <a:rPr lang="fr-FR" sz="1600" dirty="0">
                <a:latin typeface="Arial" panose="020B0604020202020204"/>
                <a:cs typeface="Arial" panose="020B0604020202020204"/>
              </a:rPr>
              <a:t>lisse à partir de l’</a:t>
            </a:r>
            <a:r>
              <a:rPr lang="fr-FR" sz="1600" dirty="0" err="1">
                <a:latin typeface="Arial" panose="020B0604020202020204"/>
                <a:cs typeface="Arial" panose="020B0604020202020204"/>
              </a:rPr>
              <a:t>époque</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hellénistique</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Chapiteau d’angle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Classique à balustre</a:t>
            </a:r>
            <a:r>
              <a:rPr lang="fr-FR" sz="1600" dirty="0">
                <a:latin typeface="Arial" panose="020B0604020202020204"/>
                <a:cs typeface="Arial" panose="020B0604020202020204"/>
              </a:rPr>
              <a:t>: aspect </a:t>
            </a:r>
            <a:r>
              <a:rPr lang="fr-FR" sz="1600" dirty="0" smtClean="0">
                <a:latin typeface="Arial" panose="020B0604020202020204"/>
                <a:cs typeface="Arial" panose="020B0604020202020204"/>
              </a:rPr>
              <a:t>différent </a:t>
            </a:r>
            <a:r>
              <a:rPr lang="fr-FR" sz="1600" dirty="0">
                <a:latin typeface="Arial" panose="020B0604020202020204"/>
                <a:cs typeface="Arial" panose="020B0604020202020204"/>
              </a:rPr>
              <a:t>de face et de </a:t>
            </a:r>
            <a:r>
              <a:rPr lang="fr-FR" sz="1600" dirty="0" smtClean="0">
                <a:latin typeface="Arial" panose="020B0604020202020204"/>
                <a:cs typeface="Arial" panose="020B0604020202020204"/>
              </a:rPr>
              <a:t>coté</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smtClean="0">
                <a:latin typeface="Arial" panose="020B0604020202020204"/>
                <a:cs typeface="Arial" panose="020B0604020202020204"/>
              </a:rPr>
              <a:t>Symétrique </a:t>
            </a:r>
            <a:r>
              <a:rPr lang="fr-FR" sz="1600" b="1" dirty="0">
                <a:latin typeface="Arial" panose="020B0604020202020204"/>
                <a:cs typeface="Arial" panose="020B0604020202020204"/>
              </a:rPr>
              <a:t>à 4 volutes</a:t>
            </a:r>
            <a:r>
              <a:rPr lang="fr-FR" sz="1600" dirty="0">
                <a:latin typeface="Arial" panose="020B0604020202020204"/>
                <a:cs typeface="Arial" panose="020B0604020202020204"/>
              </a:rPr>
              <a:t>: se rencontre partir du </a:t>
            </a:r>
            <a:r>
              <a:rPr lang="fr-FR" sz="1600" dirty="0" err="1">
                <a:latin typeface="Arial" panose="020B0604020202020204"/>
                <a:cs typeface="Arial" panose="020B0604020202020204"/>
              </a:rPr>
              <a:t>IV°s</a:t>
            </a:r>
            <a:r>
              <a:rPr lang="fr-FR" sz="1600" dirty="0">
                <a:latin typeface="Arial" panose="020B0604020202020204"/>
                <a:cs typeface="Arial" panose="020B0604020202020204"/>
              </a:rPr>
              <a:t>. av. </a:t>
            </a:r>
            <a:r>
              <a:rPr lang="fr-FR" sz="1600" dirty="0" smtClean="0">
                <a:latin typeface="Arial" panose="020B0604020202020204"/>
                <a:cs typeface="Arial" panose="020B0604020202020204"/>
              </a:rPr>
              <a:t>JC</a:t>
            </a:r>
            <a:endParaRPr lang="fr-FR" sz="1600" dirty="0" smtClean="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Datation</a:t>
            </a:r>
            <a:endParaRPr lang="fr-FR" dirty="0">
              <a:solidFill>
                <a:srgbClr val="FF0000"/>
              </a:solidFill>
            </a:endParaRPr>
          </a:p>
        </p:txBody>
      </p:sp>
      <p:pic>
        <p:nvPicPr>
          <p:cNvPr id="4" name="Image 3" descr="ordres 10.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36720" y="3792220"/>
            <a:ext cx="4811268" cy="2950464"/>
          </a:xfrm>
          <a:prstGeom prst="rect">
            <a:avLst/>
          </a:prstGeom>
        </p:spPr>
      </p:pic>
      <p:pic>
        <p:nvPicPr>
          <p:cNvPr id="8" name="Image 7" descr="ordres 8.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300" y="2170781"/>
            <a:ext cx="7882128" cy="135940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ordres 1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6260" y="1613981"/>
            <a:ext cx="7947660" cy="5121339"/>
          </a:xfrm>
          <a:prstGeom prst="rect">
            <a:avLst/>
          </a:prstGeom>
        </p:spPr>
      </p:pic>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5669280" cy="13628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4165600" cy="5440362"/>
          </a:xfrm>
        </p:spPr>
        <p:txBody>
          <a:bodyPr>
            <a:noAutofit/>
          </a:bodyPr>
          <a:lstStyle/>
          <a:p>
            <a:pPr marL="0" indent="0">
              <a:buNone/>
            </a:pPr>
            <a:r>
              <a:rPr lang="fr-FR" sz="1600" b="1" dirty="0">
                <a:latin typeface="Arial" panose="020B0604020202020204"/>
                <a:cs typeface="Arial" panose="020B0604020202020204"/>
              </a:rPr>
              <a:t>TEMPLE CIRCULAIRE : tholos</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Essentiellement à partir du </a:t>
            </a:r>
            <a:r>
              <a:rPr lang="fr-FR" sz="1600" dirty="0" err="1">
                <a:latin typeface="Arial" panose="020B0604020202020204"/>
                <a:cs typeface="Arial" panose="020B0604020202020204"/>
              </a:rPr>
              <a:t>IV°s</a:t>
            </a:r>
            <a:r>
              <a:rPr lang="fr-FR" sz="1600" dirty="0">
                <a:latin typeface="Arial" panose="020B0604020202020204"/>
                <a:cs typeface="Arial" panose="020B0604020202020204"/>
              </a:rPr>
              <a:t>. av. JC</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Réservé </a:t>
            </a:r>
            <a:r>
              <a:rPr lang="fr-FR" sz="1600" dirty="0">
                <a:latin typeface="Arial" panose="020B0604020202020204"/>
                <a:cs typeface="Arial" panose="020B0604020202020204"/>
              </a:rPr>
              <a:t>surtout aux monuments votifs (</a:t>
            </a:r>
            <a:r>
              <a:rPr lang="fr-FR" sz="1600" dirty="0" err="1">
                <a:latin typeface="Arial" panose="020B0604020202020204"/>
                <a:cs typeface="Arial" panose="020B0604020202020204"/>
              </a:rPr>
              <a:t>héros</a:t>
            </a:r>
            <a:r>
              <a:rPr lang="fr-FR" sz="1600" dirty="0">
                <a:latin typeface="Arial" panose="020B0604020202020204"/>
                <a:cs typeface="Arial" panose="020B0604020202020204"/>
              </a:rPr>
              <a:t>..</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Autres édifices</a:t>
            </a:r>
            <a:endParaRPr lang="fr-FR"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ordres 1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2560" y="1244842"/>
            <a:ext cx="8401750" cy="5277878"/>
          </a:xfrm>
          <a:prstGeom prst="rect">
            <a:avLst/>
          </a:prstGeom>
        </p:spPr>
      </p:pic>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5110480" cy="13628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Rectangle 7"/>
          <p:cNvSpPr/>
          <p:nvPr/>
        </p:nvSpPr>
        <p:spPr>
          <a:xfrm>
            <a:off x="254000" y="1441261"/>
            <a:ext cx="4958080" cy="25516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4704080" cy="5440362"/>
          </a:xfrm>
        </p:spPr>
        <p:txBody>
          <a:bodyPr>
            <a:noAutofit/>
          </a:bodyPr>
          <a:lstStyle/>
          <a:p>
            <a:pPr marL="0" indent="0">
              <a:buNone/>
            </a:pPr>
            <a:r>
              <a:rPr lang="fr-FR" sz="1600" b="1" dirty="0">
                <a:latin typeface="Arial" panose="020B0604020202020204"/>
                <a:cs typeface="Arial" panose="020B0604020202020204"/>
              </a:rPr>
              <a:t>THEATRE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Edifice autant religieux que civil</a:t>
            </a:r>
            <a:endParaRPr lang="fr-FR" sz="1600" dirty="0">
              <a:latin typeface="Arial" panose="020B0604020202020204"/>
              <a:cs typeface="Arial" panose="020B0604020202020204"/>
            </a:endParaRPr>
          </a:p>
          <a:p>
            <a:pPr marL="0" indent="0">
              <a:buNone/>
            </a:pPr>
            <a:r>
              <a:rPr lang="fr-FR" sz="1600" b="1" dirty="0" err="1">
                <a:latin typeface="Arial" panose="020B0604020202020204"/>
                <a:cs typeface="Arial" panose="020B0604020202020204"/>
              </a:rPr>
              <a:t>Caractères</a:t>
            </a:r>
            <a:r>
              <a:rPr lang="fr-FR" sz="1600" b="1" dirty="0">
                <a:latin typeface="Arial" panose="020B0604020202020204"/>
                <a:cs typeface="Arial" panose="020B0604020202020204"/>
              </a:rPr>
              <a:t> </a:t>
            </a:r>
            <a:r>
              <a:rPr lang="fr-FR" sz="1600" b="1" dirty="0" err="1">
                <a:latin typeface="Arial" panose="020B0604020202020204"/>
                <a:cs typeface="Arial" panose="020B0604020202020204"/>
              </a:rPr>
              <a:t>généraux</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Gradins </a:t>
            </a:r>
            <a:r>
              <a:rPr lang="fr-FR" sz="1600" dirty="0" smtClean="0">
                <a:latin typeface="Arial" panose="020B0604020202020204"/>
                <a:cs typeface="Arial" panose="020B0604020202020204"/>
              </a:rPr>
              <a:t>adossés </a:t>
            </a:r>
            <a:r>
              <a:rPr lang="fr-FR" sz="1600" dirty="0">
                <a:latin typeface="Arial" panose="020B0604020202020204"/>
                <a:cs typeface="Arial" panose="020B0604020202020204"/>
              </a:rPr>
              <a:t>à une colline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Orchestre (chœur) en cercle puis demi-cercle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Tribune </a:t>
            </a:r>
            <a:r>
              <a:rPr lang="fr-FR" sz="1600" dirty="0" smtClean="0">
                <a:latin typeface="Arial" panose="020B0604020202020204"/>
                <a:cs typeface="Arial" panose="020B0604020202020204"/>
              </a:rPr>
              <a:t>étroite </a:t>
            </a:r>
            <a:r>
              <a:rPr lang="fr-FR" sz="1600" dirty="0">
                <a:latin typeface="Arial" panose="020B0604020202020204"/>
                <a:cs typeface="Arial" panose="020B0604020202020204"/>
              </a:rPr>
              <a:t>: acteurs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Proscenium absent ou peu </a:t>
            </a:r>
            <a:r>
              <a:rPr lang="fr-FR" sz="1600" dirty="0" err="1" smtClean="0">
                <a:latin typeface="Arial" panose="020B0604020202020204"/>
                <a:cs typeface="Arial" panose="020B0604020202020204"/>
              </a:rPr>
              <a:t>élevé</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Construction en pierre à partir du </a:t>
            </a:r>
            <a:r>
              <a:rPr lang="fr-FR" sz="1600" dirty="0" err="1">
                <a:latin typeface="Arial" panose="020B0604020202020204"/>
                <a:cs typeface="Arial" panose="020B0604020202020204"/>
              </a:rPr>
              <a:t>IV°s</a:t>
            </a:r>
            <a:r>
              <a:rPr lang="fr-FR" sz="1600" dirty="0">
                <a:latin typeface="Arial" panose="020B0604020202020204"/>
                <a:cs typeface="Arial" panose="020B0604020202020204"/>
              </a:rPr>
              <a:t>. av. JC</a:t>
            </a:r>
            <a:endParaRPr lang="fr-FR" sz="1600" dirty="0" smtClean="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Autres édifices</a:t>
            </a:r>
            <a:endParaRPr lang="fr-FR"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5110480" cy="13628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4704080" cy="5440362"/>
          </a:xfrm>
        </p:spPr>
        <p:txBody>
          <a:bodyPr>
            <a:noAutofit/>
          </a:bodyPr>
          <a:lstStyle/>
          <a:p>
            <a:pPr marL="0" indent="0">
              <a:buNone/>
            </a:pPr>
            <a:r>
              <a:rPr lang="fr-FR" sz="1600" b="1" dirty="0">
                <a:latin typeface="Arial" panose="020B0604020202020204"/>
                <a:cs typeface="Arial" panose="020B0604020202020204"/>
              </a:rPr>
              <a:t>ARCHITECTURE CIVILE</a:t>
            </a:r>
            <a:endParaRPr lang="fr-FR" sz="1600" b="1"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Epoque classique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Maisons en pierre avec </a:t>
            </a:r>
            <a:r>
              <a:rPr lang="fr-FR" sz="1600" dirty="0" err="1">
                <a:latin typeface="Arial" panose="020B0604020202020204"/>
                <a:cs typeface="Arial" panose="020B0604020202020204"/>
              </a:rPr>
              <a:t>pièces</a:t>
            </a:r>
            <a:r>
              <a:rPr lang="fr-FR" sz="1600" dirty="0">
                <a:latin typeface="Arial" panose="020B0604020202020204"/>
                <a:cs typeface="Arial" panose="020B0604020202020204"/>
              </a:rPr>
              <a:t> de vie au fond d’une cour</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err="1">
                <a:latin typeface="Arial" panose="020B0604020202020204"/>
                <a:cs typeface="Arial" panose="020B0604020202020204"/>
              </a:rPr>
              <a:t>Pièce</a:t>
            </a:r>
            <a:r>
              <a:rPr lang="fr-FR" sz="1600" dirty="0">
                <a:latin typeface="Arial" panose="020B0604020202020204"/>
                <a:cs typeface="Arial" panose="020B0604020202020204"/>
              </a:rPr>
              <a:t> principale : </a:t>
            </a:r>
            <a:r>
              <a:rPr lang="fr-FR" sz="1600" b="1" dirty="0" err="1">
                <a:latin typeface="Arial" panose="020B0604020202020204"/>
                <a:cs typeface="Arial" panose="020B0604020202020204"/>
              </a:rPr>
              <a:t>mégaron</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adapté</a:t>
            </a: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Epoque </a:t>
            </a:r>
            <a:r>
              <a:rPr lang="fr-FR" sz="1600" b="1" dirty="0" err="1">
                <a:latin typeface="Arial" panose="020B0604020202020204"/>
                <a:cs typeface="Arial" panose="020B0604020202020204"/>
              </a:rPr>
              <a:t>hellénistique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Plan oriental </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pièces</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disposées</a:t>
            </a:r>
            <a:r>
              <a:rPr lang="fr-FR" sz="1600" dirty="0">
                <a:latin typeface="Arial" panose="020B0604020202020204"/>
                <a:cs typeface="Arial" panose="020B0604020202020204"/>
              </a:rPr>
              <a:t> autour d’une cour centrale à portique (futur atrium romain)</a:t>
            </a:r>
            <a:endParaRPr lang="fr-FR" sz="1600" dirty="0" smtClean="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Autres édifices</a:t>
            </a:r>
            <a:endParaRPr lang="fr-FR" dirty="0">
              <a:solidFill>
                <a:srgbClr val="FF0000"/>
              </a:solidFill>
            </a:endParaRPr>
          </a:p>
        </p:txBody>
      </p:sp>
      <p:pic>
        <p:nvPicPr>
          <p:cNvPr id="2" name="Image 1" descr="ordres 1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53970" y="1417638"/>
            <a:ext cx="4221806" cy="50596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2960" y="2170781"/>
            <a:ext cx="1922515" cy="35905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p:cNvSpPr/>
          <p:nvPr/>
        </p:nvSpPr>
        <p:spPr>
          <a:xfrm>
            <a:off x="101600" y="1288861"/>
            <a:ext cx="5110480" cy="13628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223520" y="1417638"/>
            <a:ext cx="8463280" cy="5440362"/>
          </a:xfrm>
        </p:spPr>
        <p:txBody>
          <a:bodyPr>
            <a:noAutofit/>
          </a:bodyPr>
          <a:lstStyle/>
          <a:p>
            <a:pPr marL="0" indent="0">
              <a:buNone/>
            </a:pPr>
            <a:r>
              <a:rPr lang="fr-FR" sz="1600" b="1" dirty="0">
                <a:latin typeface="Arial" panose="020B0604020202020204"/>
                <a:cs typeface="Arial" panose="020B0604020202020204"/>
              </a:rPr>
              <a:t>ART GREC : ARCHITECTURE A PLATE-BANDE ?</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La </a:t>
            </a:r>
            <a:r>
              <a:rPr lang="fr-FR" sz="1600" dirty="0" err="1">
                <a:latin typeface="Arial" panose="020B0604020202020204"/>
                <a:cs typeface="Arial" panose="020B0604020202020204"/>
              </a:rPr>
              <a:t>voûte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appareillée</a:t>
            </a:r>
            <a:r>
              <a:rPr lang="fr-FR" sz="1600" dirty="0">
                <a:latin typeface="Arial" panose="020B0604020202020204"/>
                <a:cs typeface="Arial" panose="020B0604020202020204"/>
              </a:rPr>
              <a:t> existait </a:t>
            </a:r>
            <a:r>
              <a:rPr lang="fr-FR" sz="1600" dirty="0" err="1">
                <a:latin typeface="Arial" panose="020B0604020202020204"/>
                <a:cs typeface="Arial" panose="020B0604020202020204"/>
              </a:rPr>
              <a:t>dès</a:t>
            </a:r>
            <a:r>
              <a:rPr lang="fr-FR" sz="1600" dirty="0">
                <a:latin typeface="Arial" panose="020B0604020202020204"/>
                <a:cs typeface="Arial" panose="020B0604020202020204"/>
              </a:rPr>
              <a:t> </a:t>
            </a:r>
            <a:r>
              <a:rPr lang="fr-FR" sz="1600" b="1" dirty="0">
                <a:latin typeface="Arial" panose="020B0604020202020204"/>
                <a:cs typeface="Arial" panose="020B0604020202020204"/>
              </a:rPr>
              <a:t>l’</a:t>
            </a:r>
            <a:r>
              <a:rPr lang="fr-FR" sz="1600" b="1" dirty="0" err="1">
                <a:latin typeface="Arial" panose="020B0604020202020204"/>
                <a:cs typeface="Arial" panose="020B0604020202020204"/>
              </a:rPr>
              <a:t>époque</a:t>
            </a:r>
            <a:r>
              <a:rPr lang="fr-FR" sz="1600" b="1" dirty="0">
                <a:latin typeface="Arial" panose="020B0604020202020204"/>
                <a:cs typeface="Arial" panose="020B0604020202020204"/>
              </a:rPr>
              <a:t> classique </a:t>
            </a:r>
            <a:r>
              <a:rPr lang="fr-FR" sz="1600" dirty="0">
                <a:latin typeface="Arial" panose="020B0604020202020204"/>
                <a:cs typeface="Arial" panose="020B0604020202020204"/>
              </a:rPr>
              <a:t>pour les canalisations.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 </a:t>
            </a:r>
            <a:r>
              <a:rPr lang="fr-FR" sz="1600" b="1" dirty="0">
                <a:latin typeface="Arial" panose="020B0604020202020204"/>
                <a:cs typeface="Arial" panose="020B0604020202020204"/>
              </a:rPr>
              <a:t>l’</a:t>
            </a:r>
            <a:r>
              <a:rPr lang="fr-FR" sz="1600" b="1" dirty="0" err="1">
                <a:latin typeface="Arial" panose="020B0604020202020204"/>
                <a:cs typeface="Arial" panose="020B0604020202020204"/>
              </a:rPr>
              <a:t>époque</a:t>
            </a:r>
            <a:r>
              <a:rPr lang="fr-FR" sz="1600" b="1" dirty="0">
                <a:latin typeface="Arial" panose="020B0604020202020204"/>
                <a:cs typeface="Arial" panose="020B0604020202020204"/>
              </a:rPr>
              <a:t> </a:t>
            </a:r>
            <a:r>
              <a:rPr lang="fr-FR" sz="1600" b="1" dirty="0" err="1">
                <a:latin typeface="Arial" panose="020B0604020202020204"/>
                <a:cs typeface="Arial" panose="020B0604020202020204"/>
              </a:rPr>
              <a:t>hellénistique</a:t>
            </a:r>
            <a:r>
              <a:rPr lang="fr-FR" sz="1600" dirty="0">
                <a:latin typeface="Arial" panose="020B0604020202020204"/>
                <a:cs typeface="Arial" panose="020B0604020202020204"/>
              </a:rPr>
              <a:t>, on la rencontre plus </a:t>
            </a:r>
            <a:r>
              <a:rPr lang="fr-FR" sz="1600" dirty="0" err="1">
                <a:latin typeface="Arial" panose="020B0604020202020204"/>
                <a:cs typeface="Arial" panose="020B0604020202020204"/>
              </a:rPr>
              <a:t>fréquemment</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voûte</a:t>
            </a:r>
            <a:r>
              <a:rPr lang="fr-FR" sz="1600" dirty="0">
                <a:latin typeface="Arial" panose="020B0604020202020204"/>
                <a:cs typeface="Arial" panose="020B0604020202020204"/>
              </a:rPr>
              <a:t> en </a:t>
            </a:r>
            <a:r>
              <a:rPr lang="fr-FR" sz="1600" dirty="0" smtClean="0">
                <a:latin typeface="Arial" panose="020B0604020202020204"/>
                <a:cs typeface="Arial" panose="020B0604020202020204"/>
              </a:rPr>
              <a:t>appareil)</a:t>
            </a:r>
            <a:endParaRPr lang="fr-FR" sz="1600" dirty="0" smtClean="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smtClean="0">
                <a:solidFill>
                  <a:srgbClr val="FF0000"/>
                </a:solidFill>
              </a:rPr>
              <a:t>Autres édifices</a:t>
            </a:r>
            <a:endParaRPr lang="fr-FR" dirty="0">
              <a:solidFill>
                <a:srgbClr val="FF0000"/>
              </a:solidFill>
            </a:endParaRPr>
          </a:p>
        </p:txBody>
      </p:sp>
      <p:pic>
        <p:nvPicPr>
          <p:cNvPr id="4" name="Image 3" descr="téléchargement (6).jpe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08400" y="2529840"/>
            <a:ext cx="4758926" cy="3564601"/>
          </a:xfrm>
          <a:prstGeom prst="rect">
            <a:avLst/>
          </a:prstGeom>
        </p:spPr>
      </p:pic>
      <p:sp>
        <p:nvSpPr>
          <p:cNvPr id="5" name="ZoneTexte 4"/>
          <p:cNvSpPr txBox="1"/>
          <p:nvPr/>
        </p:nvSpPr>
        <p:spPr>
          <a:xfrm>
            <a:off x="3698240" y="6117738"/>
            <a:ext cx="2773680" cy="307777"/>
          </a:xfrm>
          <a:prstGeom prst="rect">
            <a:avLst/>
          </a:prstGeom>
          <a:noFill/>
        </p:spPr>
        <p:txBody>
          <a:bodyPr wrap="square" rtlCol="0">
            <a:spAutoFit/>
          </a:bodyPr>
          <a:lstStyle/>
          <a:p>
            <a:r>
              <a:rPr lang="fr-FR" sz="1400" i="1" dirty="0" smtClean="0"/>
              <a:t>Olympie (entrée du stade)</a:t>
            </a:r>
            <a:endParaRPr lang="fr-FR" sz="1400" i="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Futura Std Medium"/>
                <a:cs typeface="Futura Std Medium"/>
              </a:rPr>
              <a:t>Glossaire</a:t>
            </a:r>
            <a:endParaRPr lang="fr-FR" dirty="0">
              <a:solidFill>
                <a:srgbClr val="FF0000"/>
              </a:solidFill>
              <a:latin typeface="Futura Std Medium"/>
              <a:cs typeface="Futura Std Medium"/>
            </a:endParaRPr>
          </a:p>
          <a:p>
            <a:endParaRPr lang="fr-FR" dirty="0">
              <a:solidFill>
                <a:srgbClr val="FF0000"/>
              </a:solidFill>
              <a:latin typeface="Futura Std Medium"/>
              <a:cs typeface="Futura Std Medium"/>
            </a:endParaRPr>
          </a:p>
        </p:txBody>
      </p:sp>
      <p:sp>
        <p:nvSpPr>
          <p:cNvPr id="6" name="Rectangle 5"/>
          <p:cNvSpPr/>
          <p:nvPr/>
        </p:nvSpPr>
        <p:spPr>
          <a:xfrm>
            <a:off x="187412" y="1087756"/>
            <a:ext cx="8844828" cy="5262980"/>
          </a:xfrm>
          <a:prstGeom prst="rect">
            <a:avLst/>
          </a:prstGeom>
        </p:spPr>
        <p:txBody>
          <a:bodyPr wrap="square">
            <a:spAutoFit/>
          </a:bodyPr>
          <a:lstStyle/>
          <a:p>
            <a:pPr lvl="0"/>
            <a:r>
              <a:rPr lang="fr-FR" sz="1600" b="1" dirty="0" smtClean="0">
                <a:solidFill>
                  <a:srgbClr val="FF0000"/>
                </a:solidFill>
                <a:latin typeface="Arial" panose="020B0604020202020204"/>
                <a:cs typeface="Arial" panose="020B0604020202020204"/>
              </a:rPr>
              <a:t>Propylées</a:t>
            </a:r>
            <a:r>
              <a:rPr lang="fr-FR" sz="1600" dirty="0" smtClean="0">
                <a:latin typeface="Arial" panose="020B0604020202020204"/>
                <a:cs typeface="Arial" panose="020B0604020202020204"/>
              </a:rPr>
              <a:t>: Accès monumental (peut être composé de plusieurs </a:t>
            </a:r>
            <a:r>
              <a:rPr lang="fr-FR" sz="1600" b="1" dirty="0" smtClean="0">
                <a:latin typeface="Arial" panose="020B0604020202020204"/>
                <a:cs typeface="Arial" panose="020B0604020202020204"/>
              </a:rPr>
              <a:t>portiques</a:t>
            </a:r>
            <a:r>
              <a:rPr lang="fr-FR" sz="1600" dirty="0" smtClean="0">
                <a:latin typeface="Arial" panose="020B0604020202020204"/>
                <a:cs typeface="Arial" panose="020B0604020202020204"/>
              </a:rPr>
              <a:t>) conduisant </a:t>
            </a:r>
            <a:r>
              <a:rPr lang="fr-FR" sz="1600" dirty="0">
                <a:latin typeface="Arial" panose="020B0604020202020204"/>
                <a:cs typeface="Arial" panose="020B0604020202020204"/>
              </a:rPr>
              <a:t>à un </a:t>
            </a:r>
            <a:r>
              <a:rPr lang="fr-FR" sz="1600" dirty="0" smtClean="0">
                <a:latin typeface="Arial" panose="020B0604020202020204"/>
                <a:cs typeface="Arial" panose="020B0604020202020204"/>
              </a:rPr>
              <a:t>sanctuaire</a:t>
            </a:r>
            <a:r>
              <a:rPr lang="fr-FR" sz="1600" dirty="0">
                <a:latin typeface="Arial" panose="020B0604020202020204"/>
                <a:cs typeface="Arial" panose="020B0604020202020204"/>
              </a:rPr>
              <a:t>. C'est la porte d'entrée d'un sanctuaire, la séparation entre un lieu profane (la cité) et un monde divin (le sanctuaire).</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Portique</a:t>
            </a:r>
            <a:r>
              <a:rPr lang="fr-FR" sz="1600" dirty="0" smtClean="0">
                <a:latin typeface="Arial" panose="020B0604020202020204"/>
                <a:cs typeface="Arial" panose="020B0604020202020204"/>
              </a:rPr>
              <a:t> : Galerie </a:t>
            </a:r>
            <a:r>
              <a:rPr lang="fr-FR" sz="1600" dirty="0">
                <a:latin typeface="Arial" panose="020B0604020202020204"/>
                <a:cs typeface="Arial" panose="020B0604020202020204"/>
              </a:rPr>
              <a:t>couverte dont les voûtes ou les plafonds sont supportés par des colonnes, des piliers ou des arcades soutenues par deux rangées de colonnes, ou par un mur et une rangée de colonnes</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Chapiteau</a:t>
            </a:r>
            <a:r>
              <a:rPr lang="fr-FR" sz="1600" dirty="0" smtClean="0">
                <a:latin typeface="Arial" panose="020B0604020202020204"/>
                <a:cs typeface="Arial" panose="020B0604020202020204"/>
              </a:rPr>
              <a:t> : élément </a:t>
            </a:r>
            <a:r>
              <a:rPr lang="fr-FR" sz="1600" dirty="0">
                <a:latin typeface="Arial" panose="020B0604020202020204"/>
                <a:cs typeface="Arial" panose="020B0604020202020204"/>
              </a:rPr>
              <a:t>de forme évasée qui couronne une colonne et lui transmet les charges qu'elle doit porter est essentiellement formé d'un corps (</a:t>
            </a:r>
            <a:r>
              <a:rPr lang="fr-FR" sz="1600" b="1" dirty="0" smtClean="0">
                <a:solidFill>
                  <a:srgbClr val="FF0000"/>
                </a:solidFill>
                <a:latin typeface="Arial" panose="020B0604020202020204"/>
                <a:cs typeface="Arial" panose="020B0604020202020204"/>
              </a:rPr>
              <a:t>échine</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consistant en un coussin aplati ou rebondi de même épaisseur placé sur le fût de la colonne) et d'un couronnement (</a:t>
            </a:r>
            <a:r>
              <a:rPr lang="fr-FR" sz="1600" b="1" dirty="0" smtClean="0">
                <a:solidFill>
                  <a:srgbClr val="FF0000"/>
                </a:solidFill>
                <a:latin typeface="Arial" panose="020B0604020202020204"/>
                <a:cs typeface="Arial" panose="020B0604020202020204"/>
              </a:rPr>
              <a:t>abaque</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Architrave</a:t>
            </a:r>
            <a:r>
              <a:rPr lang="fr-FR" sz="1600" dirty="0" smtClean="0">
                <a:latin typeface="Arial" panose="020B0604020202020204"/>
                <a:cs typeface="Arial" panose="020B0604020202020204"/>
              </a:rPr>
              <a:t> : l’architrave</a:t>
            </a:r>
            <a:r>
              <a:rPr lang="fr-FR" sz="1600" dirty="0">
                <a:latin typeface="Arial" panose="020B0604020202020204"/>
                <a:cs typeface="Arial" panose="020B0604020202020204"/>
              </a:rPr>
              <a:t>, également appelée épistyle par les Anciens, est une partie de l'entablement qui porte horizontalement sur les colonnes, dans l'architecture antique et les styles qui s'en inspirent</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Triglyphe</a:t>
            </a:r>
            <a:r>
              <a:rPr lang="fr-FR" sz="1600" dirty="0" smtClean="0">
                <a:latin typeface="Arial" panose="020B0604020202020204"/>
                <a:cs typeface="Arial" panose="020B0604020202020204"/>
              </a:rPr>
              <a:t> : ornement </a:t>
            </a:r>
            <a:r>
              <a:rPr lang="fr-FR" sz="1600" dirty="0">
                <a:latin typeface="Arial" panose="020B0604020202020204"/>
                <a:cs typeface="Arial" panose="020B0604020202020204"/>
              </a:rPr>
              <a:t>en relief de l'architecture antique qui sépare les </a:t>
            </a:r>
            <a:r>
              <a:rPr lang="fr-FR" sz="1600" b="1" dirty="0">
                <a:solidFill>
                  <a:srgbClr val="FF0000"/>
                </a:solidFill>
                <a:latin typeface="Arial" panose="020B0604020202020204"/>
                <a:cs typeface="Arial" panose="020B0604020202020204"/>
              </a:rPr>
              <a:t>métopes </a:t>
            </a:r>
            <a:r>
              <a:rPr lang="fr-FR" sz="1600" dirty="0">
                <a:latin typeface="Arial" panose="020B0604020202020204"/>
                <a:cs typeface="Arial" panose="020B0604020202020204"/>
              </a:rPr>
              <a:t>(</a:t>
            </a:r>
            <a:r>
              <a:rPr lang="fr-FR" sz="1600" dirty="0" smtClean="0">
                <a:latin typeface="Arial" panose="020B0604020202020204"/>
                <a:cs typeface="Arial" panose="020B0604020202020204"/>
              </a:rPr>
              <a:t>panneaux architecturaux </a:t>
            </a:r>
            <a:r>
              <a:rPr lang="fr-FR" sz="1600" dirty="0">
                <a:latin typeface="Arial" panose="020B0604020202020204"/>
                <a:cs typeface="Arial" panose="020B0604020202020204"/>
              </a:rPr>
              <a:t>de forme rectangulaire, le plus souvent décoré de </a:t>
            </a:r>
            <a:r>
              <a:rPr lang="fr-FR" sz="1600" dirty="0" smtClean="0">
                <a:latin typeface="Arial" panose="020B0604020202020204"/>
                <a:cs typeface="Arial" panose="020B0604020202020204"/>
              </a:rPr>
              <a:t>reliefs) </a:t>
            </a:r>
            <a:r>
              <a:rPr lang="fr-FR" sz="1600" dirty="0">
                <a:latin typeface="Arial" panose="020B0604020202020204"/>
                <a:cs typeface="Arial" panose="020B0604020202020204"/>
              </a:rPr>
              <a:t>dans la </a:t>
            </a:r>
            <a:r>
              <a:rPr lang="fr-FR" sz="1600" b="1" dirty="0">
                <a:solidFill>
                  <a:srgbClr val="FF0000"/>
                </a:solidFill>
                <a:latin typeface="Arial" panose="020B0604020202020204"/>
                <a:cs typeface="Arial" panose="020B0604020202020204"/>
              </a:rPr>
              <a:t>frise</a:t>
            </a:r>
            <a:r>
              <a:rPr lang="fr-FR" sz="1600" dirty="0">
                <a:latin typeface="Arial" panose="020B0604020202020204"/>
                <a:cs typeface="Arial" panose="020B0604020202020204"/>
              </a:rPr>
              <a:t> dorique et qui se compose de deux canaux entiers (glyphes) et de deux demi-canaux (donc trois glyphes). </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Mutule</a:t>
            </a:r>
            <a:r>
              <a:rPr lang="fr-FR" sz="1600" dirty="0" smtClean="0">
                <a:latin typeface="Arial" panose="020B0604020202020204"/>
                <a:cs typeface="Arial" panose="020B0604020202020204"/>
              </a:rPr>
              <a:t> : </a:t>
            </a:r>
            <a:r>
              <a:rPr lang="fr-FR" sz="1600" dirty="0">
                <a:latin typeface="Arial" panose="020B0604020202020204"/>
                <a:cs typeface="Arial" panose="020B0604020202020204"/>
              </a:rPr>
              <a:t>élément d'ornement de l'architecture antique gréco-romaine constituant une plaquette en biseau et faisant partie de l'entablement. </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Entablement</a:t>
            </a:r>
            <a:r>
              <a:rPr lang="fr-FR" sz="1600" dirty="0" smtClean="0">
                <a:latin typeface="Arial" panose="020B0604020202020204"/>
                <a:cs typeface="Arial" panose="020B0604020202020204"/>
              </a:rPr>
              <a:t> : partie </a:t>
            </a:r>
            <a:r>
              <a:rPr lang="fr-FR" sz="1600" dirty="0">
                <a:latin typeface="Arial" panose="020B0604020202020204"/>
                <a:cs typeface="Arial" panose="020B0604020202020204"/>
              </a:rPr>
              <a:t>supérieure de l'ordre antique comprenant : l'architrave, la frise et la </a:t>
            </a:r>
            <a:r>
              <a:rPr lang="fr-FR" sz="1600" dirty="0" smtClean="0">
                <a:latin typeface="Arial" panose="020B0604020202020204"/>
                <a:cs typeface="Arial" panose="020B0604020202020204"/>
              </a:rPr>
              <a:t>corniche</a:t>
            </a:r>
            <a:br>
              <a:rPr lang="fr-FR" sz="1600" dirty="0">
                <a:latin typeface="Arial" panose="020B0604020202020204"/>
                <a:cs typeface="Arial" panose="020B0604020202020204"/>
              </a:rPr>
            </a:br>
            <a:r>
              <a:rPr lang="fr-FR" sz="1600" b="1" dirty="0" smtClean="0">
                <a:solidFill>
                  <a:srgbClr val="FF0000"/>
                </a:solidFill>
                <a:latin typeface="Arial" panose="020B0604020202020204"/>
                <a:cs typeface="Arial" panose="020B0604020202020204"/>
              </a:rPr>
              <a:t>Stylobate</a:t>
            </a:r>
            <a:r>
              <a:rPr lang="fr-FR" sz="1600" dirty="0" smtClean="0">
                <a:latin typeface="Arial" panose="020B0604020202020204"/>
                <a:cs typeface="Arial" panose="020B0604020202020204"/>
              </a:rPr>
              <a:t> : degré </a:t>
            </a:r>
            <a:r>
              <a:rPr lang="fr-FR" sz="1600" dirty="0">
                <a:latin typeface="Arial" panose="020B0604020202020204"/>
                <a:cs typeface="Arial" panose="020B0604020202020204"/>
              </a:rPr>
              <a:t>supérieur constituant l'emmarchement dans certains cas d'architecture grecque avec péristyle ou faux-péristyle de pilastres.</a:t>
            </a:r>
            <a:endParaRPr lang="fr-FR" sz="1600" dirty="0" smtClean="0">
              <a:latin typeface="Arial" panose="020B0604020202020204"/>
              <a:cs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Futura Std Medium"/>
                <a:cs typeface="Futura Std Medium"/>
              </a:rPr>
              <a:t>Glossaire</a:t>
            </a:r>
            <a:endParaRPr lang="fr-FR" dirty="0">
              <a:solidFill>
                <a:srgbClr val="FF0000"/>
              </a:solidFill>
              <a:latin typeface="Futura Std Medium"/>
              <a:cs typeface="Futura Std Medium"/>
            </a:endParaRPr>
          </a:p>
          <a:p>
            <a:endParaRPr lang="fr-FR" dirty="0">
              <a:solidFill>
                <a:srgbClr val="FF0000"/>
              </a:solidFill>
              <a:latin typeface="Futura Std Medium"/>
              <a:cs typeface="Futura Std Medium"/>
            </a:endParaRPr>
          </a:p>
        </p:txBody>
      </p:sp>
      <p:sp>
        <p:nvSpPr>
          <p:cNvPr id="6" name="Rectangle 5"/>
          <p:cNvSpPr/>
          <p:nvPr/>
        </p:nvSpPr>
        <p:spPr>
          <a:xfrm>
            <a:off x="187412" y="1087756"/>
            <a:ext cx="8844828" cy="1815882"/>
          </a:xfrm>
          <a:prstGeom prst="rect">
            <a:avLst/>
          </a:prstGeom>
        </p:spPr>
        <p:txBody>
          <a:bodyPr wrap="square">
            <a:spAutoFit/>
          </a:bodyPr>
          <a:lstStyle/>
          <a:p>
            <a:pPr lvl="0"/>
            <a:r>
              <a:rPr lang="fr-FR" sz="1600" b="1" dirty="0" smtClean="0">
                <a:solidFill>
                  <a:srgbClr val="FF0000"/>
                </a:solidFill>
                <a:latin typeface="Arial" panose="020B0604020202020204"/>
                <a:cs typeface="Arial" panose="020B0604020202020204"/>
              </a:rPr>
              <a:t>Fronton</a:t>
            </a:r>
            <a:r>
              <a:rPr lang="fr-FR" sz="1600" dirty="0" smtClean="0">
                <a:latin typeface="Arial" panose="020B0604020202020204"/>
                <a:cs typeface="Arial" panose="020B0604020202020204"/>
              </a:rPr>
              <a:t> : Le </a:t>
            </a:r>
            <a:r>
              <a:rPr lang="fr-FR" sz="1600" dirty="0">
                <a:latin typeface="Arial" panose="020B0604020202020204"/>
                <a:cs typeface="Arial" panose="020B0604020202020204"/>
              </a:rPr>
              <a:t>fronton est un couronnement composé d'un cadre mouluré et d'un tympan </a:t>
            </a:r>
            <a:r>
              <a:rPr lang="fr-FR" sz="1600" dirty="0" smtClean="0">
                <a:latin typeface="Arial" panose="020B0604020202020204"/>
                <a:cs typeface="Arial" panose="020B0604020202020204"/>
              </a:rPr>
              <a:t>:</a:t>
            </a:r>
            <a:endParaRPr lang="fr-FR" sz="1600" dirty="0">
              <a:latin typeface="Arial" panose="020B0604020202020204"/>
              <a:cs typeface="Arial" panose="020B0604020202020204"/>
            </a:endParaRPr>
          </a:p>
          <a:p>
            <a:pPr lvl="0"/>
            <a:r>
              <a:rPr lang="fr-FR" sz="1600" dirty="0">
                <a:latin typeface="Arial" panose="020B0604020202020204"/>
                <a:cs typeface="Arial" panose="020B0604020202020204"/>
              </a:rPr>
              <a:t>le</a:t>
            </a:r>
            <a:r>
              <a:rPr lang="fr-FR" sz="1600" b="1" dirty="0">
                <a:solidFill>
                  <a:srgbClr val="FF0000"/>
                </a:solidFill>
                <a:latin typeface="Arial" panose="020B0604020202020204"/>
                <a:cs typeface="Arial" panose="020B0604020202020204"/>
              </a:rPr>
              <a:t> tympan </a:t>
            </a:r>
            <a:r>
              <a:rPr lang="fr-FR" sz="1600" dirty="0">
                <a:latin typeface="Arial" panose="020B0604020202020204"/>
                <a:cs typeface="Arial" panose="020B0604020202020204"/>
              </a:rPr>
              <a:t>peut être plus ou moins ajouré, n'occuper qu'une partie de la surface délimitée par le cadre, ou être réduit à un réseau ;</a:t>
            </a:r>
            <a:endParaRPr lang="fr-FR" sz="1600" dirty="0">
              <a:latin typeface="Arial" panose="020B0604020202020204"/>
              <a:cs typeface="Arial" panose="020B0604020202020204"/>
            </a:endParaRPr>
          </a:p>
          <a:p>
            <a:pPr lvl="0"/>
            <a:r>
              <a:rPr lang="fr-FR" sz="1600" dirty="0">
                <a:latin typeface="Arial" panose="020B0604020202020204"/>
                <a:cs typeface="Arial" panose="020B0604020202020204"/>
              </a:rPr>
              <a:t>le </a:t>
            </a:r>
            <a:r>
              <a:rPr lang="fr-FR" sz="1600" b="1" dirty="0">
                <a:solidFill>
                  <a:srgbClr val="FF0000"/>
                </a:solidFill>
                <a:latin typeface="Arial" panose="020B0604020202020204"/>
                <a:cs typeface="Arial" panose="020B0604020202020204"/>
              </a:rPr>
              <a:t>cadre</a:t>
            </a:r>
            <a:r>
              <a:rPr lang="fr-FR" sz="1600" dirty="0">
                <a:latin typeface="Arial" panose="020B0604020202020204"/>
                <a:cs typeface="Arial" panose="020B0604020202020204"/>
              </a:rPr>
              <a:t> est formé d'une corniche et de deux rampants (corniches rampantes). En général les rampants ont la même moulure que la corniche, sans </a:t>
            </a:r>
            <a:r>
              <a:rPr lang="fr-FR" sz="1600" dirty="0" smtClean="0">
                <a:latin typeface="Arial" panose="020B0604020202020204"/>
                <a:cs typeface="Arial" panose="020B0604020202020204"/>
              </a:rPr>
              <a:t>cimaise (sans courbes).</a:t>
            </a:r>
            <a:endParaRPr lang="fr-FR" sz="1600" dirty="0" smtClean="0">
              <a:latin typeface="Arial" panose="020B0604020202020204"/>
              <a:cs typeface="Arial" panose="020B0604020202020204"/>
            </a:endParaRPr>
          </a:p>
          <a:p>
            <a:pPr lvl="0"/>
            <a:r>
              <a:rPr lang="fr-FR" sz="1600" b="1" dirty="0">
                <a:solidFill>
                  <a:srgbClr val="FF0000"/>
                </a:solidFill>
                <a:latin typeface="Arial" panose="020B0604020202020204"/>
                <a:cs typeface="Arial" panose="020B0604020202020204"/>
              </a:rPr>
              <a:t>plate-</a:t>
            </a:r>
            <a:r>
              <a:rPr lang="fr-FR" sz="1600" b="1" dirty="0" smtClean="0">
                <a:solidFill>
                  <a:srgbClr val="FF0000"/>
                </a:solidFill>
                <a:latin typeface="Arial" panose="020B0604020202020204"/>
                <a:cs typeface="Arial" panose="020B0604020202020204"/>
              </a:rPr>
              <a:t>bande </a:t>
            </a:r>
            <a:r>
              <a:rPr lang="fr-FR" sz="1600" b="1" dirty="0" smtClean="0">
                <a:latin typeface="Arial" panose="020B0604020202020204"/>
                <a:cs typeface="Arial" panose="020B0604020202020204"/>
              </a:rPr>
              <a:t>:</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linteau à système de clé analogue à l'arc, destiné à supporter une charge au-dessus d'une ouverture dans un mur, et dont l'agencement des pierres est horizontal</a:t>
            </a:r>
            <a:endParaRPr lang="fr-FR" sz="1600" dirty="0" smtClean="0">
              <a:latin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8948</Words>
  <Application>WPS Presentation</Application>
  <PresentationFormat>Présentation à l'écran (4:3)</PresentationFormat>
  <Paragraphs>253</Paragraphs>
  <Slides>26</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26</vt:i4>
      </vt:variant>
    </vt:vector>
  </HeadingPairs>
  <TitlesOfParts>
    <vt:vector size="37" baseType="lpstr">
      <vt:lpstr>Arial</vt:lpstr>
      <vt:lpstr>SimSun</vt:lpstr>
      <vt:lpstr>Wingdings</vt:lpstr>
      <vt:lpstr>Arial</vt:lpstr>
      <vt:lpstr>Futura Std Medium</vt:lpstr>
      <vt:lpstr>AMGDT</vt:lpstr>
      <vt:lpstr>Calibri</vt:lpstr>
      <vt:lpstr>Microsoft YaHei</vt:lpstr>
      <vt:lpstr>Arial Unicode MS</vt:lpstr>
      <vt:lpstr>Sitka Subheading Semibold</vt:lpstr>
      <vt:lpstr>Thème Office</vt:lpstr>
      <vt:lpstr>HISTOIRE DE L’ARCHITECTURE </vt:lpstr>
      <vt:lpstr>Chapitre 2 – Grèce antique </vt:lpstr>
      <vt:lpstr>Chronologie</vt:lpstr>
      <vt:lpstr>Monument emblématique :   le Temple Grec</vt:lpstr>
      <vt:lpstr>Monument emblématique :   le Temple Grec</vt:lpstr>
      <vt:lpstr>Monument emblématique :   le Temple Grec</vt:lpstr>
      <vt:lpstr>Monument emblématique :   le Temple Grec</vt:lpstr>
      <vt:lpstr>Monument emblématique :   le Temple Grec</vt:lpstr>
      <vt:lpstr>Les ordres</vt:lpstr>
      <vt:lpstr>Ordre dorique</vt:lpstr>
      <vt:lpstr>Ordre dorique </vt:lpstr>
      <vt:lpstr>Ordre ionique </vt:lpstr>
      <vt:lpstr>Ordre ionique </vt:lpstr>
      <vt:lpstr>Ordre corinthien </vt:lpstr>
      <vt:lpstr>Ordre corinthien </vt:lpstr>
      <vt:lpstr>Emploi des ordres</vt:lpstr>
      <vt:lpstr>Emploi des ordres</vt:lpstr>
      <vt:lpstr>Datation</vt:lpstr>
      <vt:lpstr>Datation</vt:lpstr>
      <vt:lpstr>Datation</vt:lpstr>
      <vt:lpstr>Autres édifices</vt:lpstr>
      <vt:lpstr>Autres édifices</vt:lpstr>
      <vt:lpstr>Autres édifices</vt:lpstr>
      <vt:lpstr>Autres édifices</vt:lpstr>
      <vt:lpstr>PowerPoint 演示文稿</vt:lpstr>
      <vt:lpstr>PowerPoint 演示文稿</vt:lpstr>
    </vt:vector>
  </TitlesOfParts>
  <Company>arting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Henry Moustapha Ngom</cp:lastModifiedBy>
  <cp:revision>153</cp:revision>
  <dcterms:created xsi:type="dcterms:W3CDTF">2015-10-25T15:26:00Z</dcterms:created>
  <dcterms:modified xsi:type="dcterms:W3CDTF">2025-06-10T12:54:07Z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113930C78EDB44DA8D00A5BDE760372B_12</vt:lpwstr>
  </property>
  <property fmtid="{D5CDD505-2E9C-101B-9397-08002B2CF9AE}" pid="3" name="KSOProductBuildVer">
    <vt:lpwstr>3084-12.2.0.21183</vt:lpwstr>
  </property>
</Properties>
</file>