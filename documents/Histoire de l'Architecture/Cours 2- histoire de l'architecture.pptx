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6" r:id="rId3"/>
    <p:sldId id="257" r:id="rId4"/>
    <p:sldId id="260" r:id="rId6"/>
    <p:sldId id="258" r:id="rId7"/>
    <p:sldId id="259" r:id="rId8"/>
    <p:sldId id="281" r:id="rId9"/>
    <p:sldId id="282" r:id="rId10"/>
    <p:sldId id="283" r:id="rId11"/>
    <p:sldId id="284" r:id="rId12"/>
    <p:sldId id="285" r:id="rId13"/>
    <p:sldId id="286" r:id="rId14"/>
    <p:sldId id="287" r:id="rId15"/>
    <p:sldId id="288" r:id="rId16"/>
    <p:sldId id="289" r:id="rId17"/>
    <p:sldId id="290" r:id="rId18"/>
    <p:sldId id="279" r:id="rId19"/>
  </p:sldIdLst>
  <p:sldSz cx="9144000" cy="6858000" type="screen4x3"/>
  <p:notesSz cx="6858000" cy="9144000"/>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4" userDrawn="1">
          <p15:clr>
            <a:srgbClr val="A4A3A4"/>
          </p15:clr>
        </p15:guide>
        <p15:guide id="2" pos="28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p:scale>
          <a:sx n="125" d="100"/>
          <a:sy n="125" d="100"/>
        </p:scale>
        <p:origin x="-624" y="-80"/>
      </p:cViewPr>
      <p:guideLst>
        <p:guide orient="horz" pos="2154"/>
        <p:guide pos="2895"/>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E3A34B-0840-0446-86EF-391E62D3EC31}" type="datetimeFigureOut">
              <a:rPr lang="fr-FR" smtClean="0"/>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8F94D2-74A3-FD49-83C6-6F55007D9FD4}" type="slidenum">
              <a:rPr lang="fr-FR" smtClean="0"/>
            </a:fld>
            <a:endParaRPr lang="fr-FR"/>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hasCustomPrompt="1"/>
          </p:nvPr>
        </p:nvSpPr>
        <p:spPr>
          <a:xfrm>
            <a:off x="685800" y="2130425"/>
            <a:ext cx="7772400" cy="1470025"/>
          </a:xfrm>
        </p:spPr>
        <p:txBody>
          <a:bodyPr/>
          <a:lstStyle/>
          <a:p>
            <a:r>
              <a:rPr lang="fr-FR" smtClean="0"/>
              <a:t>Cliquez et modifiez le titre</a:t>
            </a:r>
            <a:endParaRPr lang="fr-FR"/>
          </a:p>
        </p:txBody>
      </p:sp>
      <p:sp>
        <p:nvSpPr>
          <p:cNvPr id="3" name="Sous-titre 2"/>
          <p:cNvSpPr>
            <a:spLocks noGrp="1"/>
          </p:cNvSpPr>
          <p:nvPr>
            <p:ph type="subTitle" idx="1" hasCustomPrompt="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u contenu 2"/>
          <p:cNvSpPr>
            <a:spLocks noGrp="1"/>
          </p:cNvSpPr>
          <p:nvPr>
            <p:ph idx="1" hasCustomPrompt="1"/>
          </p:nvPr>
        </p:nvSpPr>
        <p:spPr/>
        <p:txBody>
          <a:body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722313" y="4406900"/>
            <a:ext cx="7772400" cy="1362075"/>
          </a:xfrm>
        </p:spPr>
        <p:txBody>
          <a:bodyPr anchor="t"/>
          <a:lstStyle>
            <a:lvl1pPr algn="l">
              <a:defRPr sz="4000" b="1" cap="all"/>
            </a:lvl1pPr>
          </a:lstStyle>
          <a:p>
            <a:r>
              <a:rPr lang="fr-FR" smtClean="0"/>
              <a:t>Cliquez et modifiez le titre</a:t>
            </a:r>
            <a:endParaRPr lang="fr-FR"/>
          </a:p>
        </p:txBody>
      </p:sp>
      <p:sp>
        <p:nvSpPr>
          <p:cNvPr id="3" name="Espace réservé du texte 2"/>
          <p:cNvSpPr>
            <a:spLocks noGrp="1"/>
          </p:cNvSpPr>
          <p:nvPr>
            <p:ph type="body" idx="1" hasCustomPrompt="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endParaRPr lang="fr-FR" smtClean="0"/>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u contenu 2"/>
          <p:cNvSpPr>
            <a:spLocks noGrp="1"/>
          </p:cNvSpPr>
          <p:nvPr>
            <p:ph sz="half" idx="1" hasCustomPrompt="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u contenu 3"/>
          <p:cNvSpPr>
            <a:spLocks noGrp="1"/>
          </p:cNvSpPr>
          <p:nvPr>
            <p:ph sz="half" idx="2" hasCustomPrompt="1"/>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lvl1pPr>
              <a:defRPr/>
            </a:lvl1pPr>
          </a:lstStyle>
          <a:p>
            <a:r>
              <a:rPr lang="fr-FR" smtClean="0"/>
              <a:t>Cliquez et modifiez le titre</a:t>
            </a:r>
            <a:endParaRPr lang="fr-FR"/>
          </a:p>
        </p:txBody>
      </p:sp>
      <p:sp>
        <p:nvSpPr>
          <p:cNvPr id="3" name="Espace réservé du texte 2"/>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endParaRPr lang="fr-FR" smtClean="0"/>
          </a:p>
        </p:txBody>
      </p:sp>
      <p:sp>
        <p:nvSpPr>
          <p:cNvPr id="4" name="Espace réservé du contenu 3"/>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5" name="Espace réservé du texte 4"/>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endParaRPr lang="fr-FR" smtClean="0"/>
          </a:p>
        </p:txBody>
      </p:sp>
      <p:sp>
        <p:nvSpPr>
          <p:cNvPr id="6" name="Espace réservé du contenu 5"/>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EC72AFA2-8D06-AC4A-BB17-A2C238DE2304}" type="datetimeFigureOut">
              <a:rPr lang="fr-FR" smtClean="0"/>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e la date 2"/>
          <p:cNvSpPr>
            <a:spLocks noGrp="1"/>
          </p:cNvSpPr>
          <p:nvPr>
            <p:ph type="dt" sz="half" idx="10"/>
          </p:nvPr>
        </p:nvSpPr>
        <p:spPr/>
        <p:txBody>
          <a:bodyPr/>
          <a:lstStyle/>
          <a:p>
            <a:fld id="{EC72AFA2-8D06-AC4A-BB17-A2C238DE2304}" type="datetimeFigureOut">
              <a:rPr lang="fr-FR" smtClean="0"/>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EC72AFA2-8D06-AC4A-BB17-A2C238DE2304}" type="datetimeFigureOut">
              <a:rPr lang="fr-FR" smtClean="0"/>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457200" y="273050"/>
            <a:ext cx="3008313" cy="1162050"/>
          </a:xfrm>
        </p:spPr>
        <p:txBody>
          <a:bodyPr anchor="b"/>
          <a:lstStyle>
            <a:lvl1pPr algn="l">
              <a:defRPr sz="2000" b="1"/>
            </a:lvl1pPr>
          </a:lstStyle>
          <a:p>
            <a:r>
              <a:rPr lang="fr-FR" smtClean="0"/>
              <a:t>Cliquez et modifiez le titre</a:t>
            </a:r>
            <a:endParaRPr lang="fr-FR"/>
          </a:p>
        </p:txBody>
      </p:sp>
      <p:sp>
        <p:nvSpPr>
          <p:cNvPr id="3" name="Espace réservé du contenu 2"/>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u texte 3"/>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endParaRPr lang="fr-FR" smtClean="0"/>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792288" y="4800600"/>
            <a:ext cx="5486400" cy="566738"/>
          </a:xfrm>
        </p:spPr>
        <p:txBody>
          <a:bodyPr anchor="b"/>
          <a:lstStyle>
            <a:lvl1pPr algn="l">
              <a:defRPr sz="2000" b="1"/>
            </a:lvl1pPr>
          </a:lstStyle>
          <a:p>
            <a:r>
              <a:rPr lang="fr-FR" smtClean="0"/>
              <a:t>Cliquez et modifiez le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endParaRPr lang="fr-FR" smtClean="0"/>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et modifiez le titre</a:t>
            </a:r>
            <a:endParaRPr lang="fr-FR"/>
          </a:p>
        </p:txBody>
      </p:sp>
      <p:sp>
        <p:nvSpPr>
          <p:cNvPr id="3" name="Espace réservé du texte vertical 2"/>
          <p:cNvSpPr>
            <a:spLocks noGrp="1"/>
          </p:cNvSpPr>
          <p:nvPr>
            <p:ph type="body" orient="vert" idx="1" hasCustomPrompt="1"/>
          </p:nvPr>
        </p:nvSpPr>
        <p:spPr/>
        <p:txBody>
          <a:bodyPr vert="eaVert"/>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hasCustomPrompt="1"/>
          </p:nvPr>
        </p:nvSpPr>
        <p:spPr>
          <a:xfrm>
            <a:off x="6629400" y="274638"/>
            <a:ext cx="2057400" cy="5851525"/>
          </a:xfrm>
        </p:spPr>
        <p:txBody>
          <a:bodyPr vert="eaVert"/>
          <a:lstStyle/>
          <a:p>
            <a:r>
              <a:rPr lang="fr-FR" smtClean="0"/>
              <a:t>Cliquez et modifiez le titre</a:t>
            </a:r>
            <a:endParaRPr lang="fr-FR"/>
          </a:p>
        </p:txBody>
      </p:sp>
      <p:sp>
        <p:nvSpPr>
          <p:cNvPr id="3" name="Espace réservé du texte vertical 2"/>
          <p:cNvSpPr>
            <a:spLocks noGrp="1"/>
          </p:cNvSpPr>
          <p:nvPr>
            <p:ph type="body" orient="vert" idx="1" hasCustomPrompt="1"/>
          </p:nvPr>
        </p:nvSpPr>
        <p:spPr>
          <a:xfrm>
            <a:off x="457200" y="274638"/>
            <a:ext cx="6019800" cy="5851525"/>
          </a:xfrm>
        </p:spPr>
        <p:txBody>
          <a:bodyPr vert="eaVert"/>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et modifiez le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72AFA2-8D06-AC4A-BB17-A2C238DE2304}" type="datetimeFigureOut">
              <a:rPr lang="fr-FR" smtClean="0"/>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7253EB-8335-C74A-8688-1E7F3D83491B}" type="slidenum">
              <a:rPr lang="fr-FR" smtClean="0"/>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2.jpeg"/><Relationship Id="rId1"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smtClean="0">
                <a:latin typeface="Quicksand" panose="00000500000000000000" charset="0"/>
                <a:cs typeface="Quicksand" panose="00000500000000000000" charset="0"/>
              </a:rPr>
              <a:t>HISTOIRE DE L’ARCHITECTURE </a:t>
            </a:r>
            <a:endParaRPr lang="fr-FR" dirty="0" smtClean="0">
              <a:latin typeface="Quicksand" panose="00000500000000000000" charset="0"/>
              <a:cs typeface="Quicksand" panose="00000500000000000000" charset="0"/>
            </a:endParaRPr>
          </a:p>
        </p:txBody>
      </p:sp>
      <p:sp>
        <p:nvSpPr>
          <p:cNvPr id="3" name="Sous-titre 2"/>
          <p:cNvSpPr>
            <a:spLocks noGrp="1"/>
          </p:cNvSpPr>
          <p:nvPr>
            <p:ph type="subTitle" idx="1"/>
          </p:nvPr>
        </p:nvSpPr>
        <p:spPr>
          <a:xfrm>
            <a:off x="685800" y="3886200"/>
            <a:ext cx="7772400" cy="1752600"/>
          </a:xfrm>
        </p:spPr>
        <p:txBody>
          <a:bodyPr/>
          <a:lstStyle/>
          <a:p>
            <a:r>
              <a:rPr lang="fr-FR" dirty="0" smtClean="0">
                <a:solidFill>
                  <a:srgbClr val="FF0000"/>
                </a:solidFill>
                <a:latin typeface="Quicksand" panose="00000500000000000000" charset="0"/>
                <a:cs typeface="Quicksand" panose="00000500000000000000" charset="0"/>
              </a:rPr>
              <a:t>PARTIE I – ARCHITECTURE DES PREMIÈRES CIVILISATIONS URBAINES</a:t>
            </a:r>
            <a:endParaRPr lang="fr-FR" dirty="0" smtClean="0">
              <a:solidFill>
                <a:srgbClr val="FF0000"/>
              </a:solidFill>
              <a:latin typeface="Quicksand" panose="00000500000000000000" charset="0"/>
              <a:cs typeface="Quicksand" panose="00000500000000000000" charset="0"/>
            </a:endParaRPr>
          </a:p>
        </p:txBody>
      </p:sp>
      <p:sp>
        <p:nvSpPr>
          <p:cNvPr id="4" name="ZoneTexte 3"/>
          <p:cNvSpPr txBox="1"/>
          <p:nvPr/>
        </p:nvSpPr>
        <p:spPr>
          <a:xfrm>
            <a:off x="327011" y="6351926"/>
            <a:ext cx="1471151" cy="369332"/>
          </a:xfrm>
          <a:prstGeom prst="rect">
            <a:avLst/>
          </a:prstGeom>
          <a:noFill/>
        </p:spPr>
        <p:txBody>
          <a:bodyPr wrap="none" rtlCol="0">
            <a:spAutoFit/>
          </a:bodyPr>
          <a:lstStyle/>
          <a:p>
            <a:pPr algn="r"/>
            <a:r>
              <a:rPr lang="fr-FR" dirty="0" smtClean="0">
                <a:latin typeface="Quicksand" panose="00000500000000000000" charset="0"/>
                <a:cs typeface="Quicksand" panose="00000500000000000000" charset="0"/>
              </a:rPr>
              <a:t>©Carole Diop</a:t>
            </a:r>
            <a:endParaRPr lang="fr-FR" dirty="0" smtClean="0">
              <a:latin typeface="Quicksand" panose="00000500000000000000" charset="0"/>
              <a:cs typeface="Quicksand" panose="00000500000000000000" charset="0"/>
            </a:endParaRPr>
          </a:p>
        </p:txBody>
      </p:sp>
      <p:sp>
        <p:nvSpPr>
          <p:cNvPr id="9" name="ZoneTexte 8"/>
          <p:cNvSpPr txBox="1"/>
          <p:nvPr/>
        </p:nvSpPr>
        <p:spPr>
          <a:xfrm>
            <a:off x="937165" y="369332"/>
            <a:ext cx="7319795" cy="368300"/>
          </a:xfrm>
          <a:prstGeom prst="rect">
            <a:avLst/>
          </a:prstGeom>
          <a:noFill/>
        </p:spPr>
        <p:txBody>
          <a:bodyPr wrap="square" rtlCol="0">
            <a:spAutoFit/>
          </a:bodyPr>
          <a:lstStyle/>
          <a:p>
            <a:pPr algn="ctr"/>
            <a:endParaRPr lang="fr-FR" dirty="0">
              <a:latin typeface="Quicksand" panose="00000500000000000000" charset="0"/>
              <a:cs typeface="Quicksand" panose="00000500000000000000"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Autofit/>
          </a:bodyPr>
          <a:lstStyle/>
          <a:p>
            <a:pPr marL="0" indent="0" algn="just">
              <a:buNone/>
            </a:pPr>
            <a:r>
              <a:rPr lang="fr-FR" sz="1600" dirty="0">
                <a:latin typeface="Arial" panose="020B0604020202020204"/>
                <a:cs typeface="Arial" panose="020B0604020202020204"/>
              </a:rPr>
              <a:t>La </a:t>
            </a:r>
            <a:r>
              <a:rPr lang="fr-FR" sz="1600" b="1" dirty="0">
                <a:latin typeface="Arial" panose="020B0604020202020204"/>
                <a:cs typeface="Arial" panose="020B0604020202020204"/>
              </a:rPr>
              <a:t>Mésopotamie </a:t>
            </a:r>
            <a:r>
              <a:rPr lang="fr-FR" sz="1600" dirty="0">
                <a:latin typeface="Arial" panose="020B0604020202020204"/>
                <a:cs typeface="Arial" panose="020B0604020202020204"/>
              </a:rPr>
              <a:t>(du grec </a:t>
            </a:r>
            <a:r>
              <a:rPr lang="fr-FR" sz="1600" dirty="0" err="1">
                <a:latin typeface="Arial" panose="020B0604020202020204"/>
                <a:cs typeface="Arial" panose="020B0604020202020204"/>
              </a:rPr>
              <a:t>Μεσο</a:t>
            </a:r>
            <a:r>
              <a:rPr lang="fr-FR" sz="1600" dirty="0">
                <a:latin typeface="Arial" panose="020B0604020202020204"/>
                <a:cs typeface="Arial" panose="020B0604020202020204"/>
              </a:rPr>
              <a:t>π</a:t>
            </a:r>
            <a:r>
              <a:rPr lang="fr-FR" sz="1600" dirty="0" err="1">
                <a:latin typeface="Arial" panose="020B0604020202020204"/>
                <a:cs typeface="Arial" panose="020B0604020202020204"/>
              </a:rPr>
              <a:t>οτ</a:t>
            </a:r>
            <a:r>
              <a:rPr lang="fr-FR" sz="1600" dirty="0">
                <a:latin typeface="Arial" panose="020B0604020202020204"/>
                <a:cs typeface="Arial" panose="020B0604020202020204"/>
              </a:rPr>
              <a:t>α</a:t>
            </a:r>
            <a:r>
              <a:rPr lang="fr-FR" sz="1600" dirty="0" err="1">
                <a:latin typeface="Arial" panose="020B0604020202020204"/>
                <a:cs typeface="Arial" panose="020B0604020202020204"/>
              </a:rPr>
              <a:t>μί</a:t>
            </a:r>
            <a:r>
              <a:rPr lang="fr-FR" sz="1600" dirty="0">
                <a:latin typeface="Arial" panose="020B0604020202020204"/>
                <a:cs typeface="Arial" panose="020B0604020202020204"/>
              </a:rPr>
              <a:t>α / </a:t>
            </a:r>
            <a:r>
              <a:rPr lang="fr-FR" sz="1600" dirty="0" err="1">
                <a:latin typeface="Arial" panose="020B0604020202020204"/>
                <a:cs typeface="Arial" panose="020B0604020202020204"/>
              </a:rPr>
              <a:t>Mesopotamíos</a:t>
            </a:r>
            <a:r>
              <a:rPr lang="fr-FR" sz="1600" dirty="0">
                <a:latin typeface="Arial" panose="020B0604020202020204"/>
                <a:cs typeface="Arial" panose="020B0604020202020204"/>
              </a:rPr>
              <a:t>, de </a:t>
            </a:r>
            <a:r>
              <a:rPr lang="fr-FR" sz="1600" dirty="0" err="1">
                <a:latin typeface="Arial" panose="020B0604020202020204"/>
                <a:cs typeface="Arial" panose="020B0604020202020204"/>
              </a:rPr>
              <a:t>μεσο</a:t>
            </a:r>
            <a:r>
              <a:rPr lang="fr-FR" sz="1600" dirty="0">
                <a:latin typeface="Arial" panose="020B0604020202020204"/>
                <a:cs typeface="Arial" panose="020B0604020202020204"/>
              </a:rPr>
              <a:t> / </a:t>
            </a:r>
            <a:r>
              <a:rPr lang="fr-FR" sz="1600" dirty="0" err="1">
                <a:latin typeface="Arial" panose="020B0604020202020204"/>
                <a:cs typeface="Arial" panose="020B0604020202020204"/>
              </a:rPr>
              <a:t>meso</a:t>
            </a:r>
            <a:r>
              <a:rPr lang="fr-FR" sz="1600" dirty="0">
                <a:latin typeface="Arial" panose="020B0604020202020204"/>
                <a:cs typeface="Arial" panose="020B0604020202020204"/>
              </a:rPr>
              <a:t> « entre, au milieu de » et π</a:t>
            </a:r>
            <a:r>
              <a:rPr lang="fr-FR" sz="1600" dirty="0" err="1">
                <a:latin typeface="Arial" panose="020B0604020202020204"/>
                <a:cs typeface="Arial" panose="020B0604020202020204"/>
              </a:rPr>
              <a:t>οτ</a:t>
            </a:r>
            <a:r>
              <a:rPr lang="fr-FR" sz="1600" dirty="0">
                <a:latin typeface="Arial" panose="020B0604020202020204"/>
                <a:cs typeface="Arial" panose="020B0604020202020204"/>
              </a:rPr>
              <a:t>α</a:t>
            </a:r>
            <a:r>
              <a:rPr lang="fr-FR" sz="1600" dirty="0" err="1">
                <a:latin typeface="Arial" panose="020B0604020202020204"/>
                <a:cs typeface="Arial" panose="020B0604020202020204"/>
              </a:rPr>
              <a:t>μός</a:t>
            </a:r>
            <a:r>
              <a:rPr lang="fr-FR" sz="1600" dirty="0">
                <a:latin typeface="Arial" panose="020B0604020202020204"/>
                <a:cs typeface="Arial" panose="020B0604020202020204"/>
              </a:rPr>
              <a:t> / </a:t>
            </a:r>
            <a:r>
              <a:rPr lang="fr-FR" sz="1600" dirty="0" err="1">
                <a:latin typeface="Arial" panose="020B0604020202020204"/>
                <a:cs typeface="Arial" panose="020B0604020202020204"/>
              </a:rPr>
              <a:t>potamós</a:t>
            </a:r>
            <a:r>
              <a:rPr lang="fr-FR" sz="1600" dirty="0">
                <a:latin typeface="Arial" panose="020B0604020202020204"/>
                <a:cs typeface="Arial" panose="020B0604020202020204"/>
              </a:rPr>
              <a:t> « fleuve », littéralement le pays « entre les fleuves ») est une région historique du Moyen-Orient située dans le </a:t>
            </a:r>
            <a:r>
              <a:rPr lang="fr-FR" sz="1600" b="1" dirty="0">
                <a:latin typeface="Arial" panose="020B0604020202020204"/>
                <a:cs typeface="Arial" panose="020B0604020202020204"/>
              </a:rPr>
              <a:t>Croissant fertile</a:t>
            </a:r>
            <a:r>
              <a:rPr lang="fr-FR" sz="1600" dirty="0">
                <a:latin typeface="Arial" panose="020B0604020202020204"/>
                <a:cs typeface="Arial" panose="020B0604020202020204"/>
              </a:rPr>
              <a:t>, entre le Tigre et l'Euphrate. Elle correspond pour sa plus grande part à l'Irak actuel.</a:t>
            </a:r>
            <a:endParaRPr lang="fr-FR" sz="1600" dirty="0">
              <a:latin typeface="Arial" panose="020B0604020202020204"/>
              <a:cs typeface="Arial" panose="020B0604020202020204"/>
            </a:endParaRPr>
          </a:p>
          <a:p>
            <a:pPr marL="0" indent="0" algn="just">
              <a:buNone/>
            </a:pPr>
            <a:r>
              <a:rPr lang="fr-FR" sz="1600" dirty="0">
                <a:latin typeface="Arial" panose="020B0604020202020204"/>
                <a:cs typeface="Arial" panose="020B0604020202020204"/>
              </a:rPr>
              <a:t>Le nord de la Mésopotamie est un vaste plateau désertique, tandis que le sud est une immense plaine alluviale très fertile où, de plus, la présence de nombreux bras de fleuve et de marécages permettait l'irrigation. Cette situation idéale en fit l'un des grands foyers de </a:t>
            </a:r>
            <a:r>
              <a:rPr lang="fr-FR" sz="1600" dirty="0" smtClean="0">
                <a:latin typeface="Arial" panose="020B0604020202020204"/>
                <a:cs typeface="Arial" panose="020B0604020202020204"/>
              </a:rPr>
              <a:t>civilisation. </a:t>
            </a:r>
            <a:endParaRPr lang="fr-FR" sz="1600" dirty="0" smtClean="0">
              <a:latin typeface="Arial" panose="020B0604020202020204"/>
              <a:cs typeface="Arial" panose="020B0604020202020204"/>
            </a:endParaRPr>
          </a:p>
          <a:p>
            <a:pPr marL="0" indent="0" algn="just">
              <a:buNone/>
            </a:pPr>
            <a:r>
              <a:rPr lang="fr-FR" sz="1600" dirty="0" smtClean="0">
                <a:latin typeface="Arial" panose="020B0604020202020204"/>
                <a:cs typeface="Arial" panose="020B0604020202020204"/>
              </a:rPr>
              <a:t>La </a:t>
            </a:r>
            <a:r>
              <a:rPr lang="fr-FR" sz="1600" dirty="0">
                <a:latin typeface="Arial" panose="020B0604020202020204"/>
                <a:cs typeface="Arial" panose="020B0604020202020204"/>
              </a:rPr>
              <a:t>présence de l'homme </a:t>
            </a:r>
            <a:r>
              <a:rPr lang="fr-FR" sz="1600" dirty="0" smtClean="0">
                <a:latin typeface="Arial" panose="020B0604020202020204"/>
                <a:cs typeface="Arial" panose="020B0604020202020204"/>
              </a:rPr>
              <a:t>dans cette région est </a:t>
            </a:r>
            <a:r>
              <a:rPr lang="fr-FR" sz="1600" dirty="0">
                <a:latin typeface="Arial" panose="020B0604020202020204"/>
                <a:cs typeface="Arial" panose="020B0604020202020204"/>
              </a:rPr>
              <a:t>attestée </a:t>
            </a:r>
            <a:r>
              <a:rPr lang="fr-FR" sz="1600" dirty="0" smtClean="0">
                <a:latin typeface="Arial" panose="020B0604020202020204"/>
                <a:cs typeface="Arial" panose="020B0604020202020204"/>
              </a:rPr>
              <a:t>depuis la préhistoire. On relève des </a:t>
            </a:r>
            <a:r>
              <a:rPr lang="fr-FR" sz="1600" dirty="0">
                <a:latin typeface="Arial" panose="020B0604020202020204"/>
                <a:cs typeface="Arial" panose="020B0604020202020204"/>
              </a:rPr>
              <a:t>traces manifestes d'un début de domestication progressive des animaux et des plantes </a:t>
            </a:r>
            <a:r>
              <a:rPr lang="fr-FR" sz="1600" dirty="0" smtClean="0">
                <a:latin typeface="Arial" panose="020B0604020202020204"/>
                <a:cs typeface="Arial" panose="020B0604020202020204"/>
              </a:rPr>
              <a:t>apparaissent dès </a:t>
            </a:r>
            <a:r>
              <a:rPr lang="fr-FR" sz="1600" dirty="0">
                <a:latin typeface="Arial" panose="020B0604020202020204"/>
                <a:cs typeface="Arial" panose="020B0604020202020204"/>
              </a:rPr>
              <a:t>9000 ans av. </a:t>
            </a:r>
            <a:r>
              <a:rPr lang="fr-FR" sz="1600" dirty="0" smtClean="0">
                <a:latin typeface="Arial" panose="020B0604020202020204"/>
                <a:cs typeface="Arial" panose="020B0604020202020204"/>
              </a:rPr>
              <a:t>J.C. </a:t>
            </a:r>
            <a:endParaRPr lang="fr-FR" sz="1600" dirty="0" smtClean="0">
              <a:latin typeface="Arial" panose="020B0604020202020204"/>
              <a:cs typeface="Arial" panose="020B0604020202020204"/>
            </a:endParaRPr>
          </a:p>
        </p:txBody>
      </p:sp>
      <p:sp>
        <p:nvSpPr>
          <p:cNvPr id="6" name="Titre 1"/>
          <p:cNvSpPr>
            <a:spLocks noGrp="1"/>
          </p:cNvSpPr>
          <p:nvPr>
            <p:ph type="title"/>
          </p:nvPr>
        </p:nvSpPr>
        <p:spPr/>
        <p:txBody>
          <a:bodyPr/>
          <a:lstStyle/>
          <a:p>
            <a:r>
              <a:rPr lang="fr-FR" dirty="0" smtClean="0">
                <a:solidFill>
                  <a:srgbClr val="FF0000"/>
                </a:solidFill>
                <a:latin typeface="Quicksand" panose="00000500000000000000" charset="0"/>
                <a:cs typeface="Quicksand" panose="00000500000000000000" charset="0"/>
              </a:rPr>
              <a:t>Chapitre 2 – La Mésopotamie</a:t>
            </a:r>
            <a:endParaRPr lang="fr-FR" dirty="0" smtClean="0">
              <a:solidFill>
                <a:srgbClr val="FF0000"/>
              </a:solidFill>
              <a:latin typeface="Quicksand" panose="00000500000000000000" charset="0"/>
              <a:cs typeface="Quicksand" panose="00000500000000000000"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ART_CM_I_1_MESOPOTAMIE.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41780" y="1346381"/>
            <a:ext cx="6037580" cy="4846647"/>
          </a:xfrm>
          <a:prstGeom prst="rect">
            <a:avLst/>
          </a:prstGeom>
        </p:spPr>
      </p:pic>
      <p:sp>
        <p:nvSpPr>
          <p:cNvPr id="13" name="Rectangle 12"/>
          <p:cNvSpPr/>
          <p:nvPr/>
        </p:nvSpPr>
        <p:spPr>
          <a:xfrm>
            <a:off x="3329241" y="6039139"/>
            <a:ext cx="2517574" cy="307777"/>
          </a:xfrm>
          <a:prstGeom prst="rect">
            <a:avLst/>
          </a:prstGeom>
        </p:spPr>
        <p:txBody>
          <a:bodyPr wrap="none">
            <a:spAutoFit/>
          </a:bodyPr>
          <a:lstStyle/>
          <a:p>
            <a:pPr algn="ctr"/>
            <a:r>
              <a:rPr lang="fr-FR" sz="1400" i="1" dirty="0" smtClean="0"/>
              <a:t>Géographie de la Mésopotamie</a:t>
            </a:r>
            <a:endParaRPr lang="fr-FR" sz="1400" i="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703263" cy="4881562"/>
          </a:xfrm>
        </p:spPr>
        <p:txBody>
          <a:bodyPr>
            <a:noAutofit/>
          </a:bodyPr>
          <a:lstStyle/>
          <a:p>
            <a:pPr marL="0" indent="0" algn="just">
              <a:buNone/>
            </a:pPr>
            <a:r>
              <a:rPr lang="fr-FR" sz="1600" dirty="0">
                <a:latin typeface="Sitka Subheading Semibold" charset="0"/>
                <a:cs typeface="Sitka Subheading Semibold" charset="0"/>
              </a:rPr>
              <a:t>La naissance de l’agriculture va permettre l’expansion des populations et la fondation d’une civilisation, les populations autochtones vont ainsi commencer à se regrouper pour former des </a:t>
            </a:r>
            <a:r>
              <a:rPr lang="fr-FR" sz="1600" dirty="0" smtClean="0">
                <a:latin typeface="Sitka Subheading Semibold" charset="0"/>
                <a:cs typeface="Sitka Subheading Semibold" charset="0"/>
              </a:rPr>
              <a:t>communautés. Longtemps </a:t>
            </a:r>
            <a:r>
              <a:rPr lang="fr-FR" sz="1600" dirty="0">
                <a:latin typeface="Sitka Subheading Semibold" charset="0"/>
                <a:cs typeface="Sitka Subheading Semibold" charset="0"/>
              </a:rPr>
              <a:t>considérés comme des installations temporaires, ces villages présentent pourtant tous les signes d'une </a:t>
            </a:r>
            <a:r>
              <a:rPr lang="fr-FR" sz="1600" dirty="0" smtClean="0">
                <a:latin typeface="Sitka Subheading Semibold" charset="0"/>
                <a:cs typeface="Sitka Subheading Semibold" charset="0"/>
              </a:rPr>
              <a:t>sédentarité.</a:t>
            </a:r>
            <a:r>
              <a:rPr lang="fr-FR" sz="1600" dirty="0">
                <a:latin typeface="Sitka Subheading Semibold" charset="0"/>
                <a:cs typeface="Sitka Subheading Semibold" charset="0"/>
              </a:rPr>
              <a:t> </a:t>
            </a:r>
            <a:endParaRPr lang="fr-FR" sz="1600" dirty="0">
              <a:latin typeface="Sitka Subheading Semibold" charset="0"/>
              <a:cs typeface="Sitka Subheading Semibold" charset="0"/>
            </a:endParaRPr>
          </a:p>
          <a:p>
            <a:pPr marL="0" indent="0" algn="just">
              <a:buNone/>
            </a:pPr>
            <a:r>
              <a:rPr lang="fr-FR" sz="1600" dirty="0" smtClean="0">
                <a:latin typeface="Sitka Subheading Semibold" charset="0"/>
                <a:cs typeface="Sitka Subheading Semibold" charset="0"/>
              </a:rPr>
              <a:t>Les premières chefferies apparaissent </a:t>
            </a:r>
            <a:r>
              <a:rPr lang="fr-FR" sz="1600" dirty="0">
                <a:latin typeface="Sitka Subheading Semibold" charset="0"/>
                <a:cs typeface="Sitka Subheading Semibold" charset="0"/>
              </a:rPr>
              <a:t>à partir du </a:t>
            </a:r>
            <a:r>
              <a:rPr lang="fr-FR" sz="1600" b="1" dirty="0">
                <a:latin typeface="Sitka Subheading Semibold" charset="0"/>
                <a:cs typeface="Sitka Subheading Semibold" charset="0"/>
              </a:rPr>
              <a:t>chalcolithique</a:t>
            </a:r>
            <a:r>
              <a:rPr lang="fr-FR" sz="1600" dirty="0">
                <a:latin typeface="Sitka Subheading Semibold" charset="0"/>
                <a:cs typeface="Sitka Subheading Semibold" charset="0"/>
              </a:rPr>
              <a:t>, vers 6000 av. </a:t>
            </a:r>
            <a:r>
              <a:rPr lang="fr-FR" sz="1600" dirty="0" smtClean="0">
                <a:latin typeface="Sitka Subheading Semibold" charset="0"/>
                <a:cs typeface="Sitka Subheading Semibold" charset="0"/>
              </a:rPr>
              <a:t>J.C. A cette période on </a:t>
            </a:r>
            <a:r>
              <a:rPr lang="fr-FR" sz="1600" dirty="0">
                <a:latin typeface="Sitka Subheading Semibold" charset="0"/>
                <a:cs typeface="Sitka Subheading Semibold" charset="0"/>
              </a:rPr>
              <a:t>note, outre l'usage du cuivre, l'usage de l'irrigation en agriculture, l'apparition des sceaux-cachets, des peintures murales, de la céramique peinte, incisée ou décorée, des premiers sanctuaires ainsi qu'une utilisation généralisée de la </a:t>
            </a:r>
            <a:r>
              <a:rPr lang="fr-FR" sz="1600" dirty="0" smtClean="0">
                <a:latin typeface="Sitka Subheading Semibold" charset="0"/>
                <a:cs typeface="Sitka Subheading Semibold" charset="0"/>
              </a:rPr>
              <a:t>brique de terre (crue ou cuite). </a:t>
            </a:r>
            <a:endParaRPr lang="fr-FR" sz="1600" dirty="0" smtClean="0">
              <a:latin typeface="Sitka Subheading Semibold" charset="0"/>
              <a:cs typeface="Sitka Subheading Semibold" charset="0"/>
            </a:endParaRPr>
          </a:p>
          <a:p>
            <a:pPr marL="0" indent="0" algn="just">
              <a:buNone/>
            </a:pPr>
            <a:r>
              <a:rPr lang="fr-FR" sz="1600" dirty="0" smtClean="0">
                <a:latin typeface="Sitka Subheading Semibold" charset="0"/>
                <a:cs typeface="Sitka Subheading Semibold" charset="0"/>
              </a:rPr>
              <a:t>Entre </a:t>
            </a:r>
            <a:r>
              <a:rPr lang="fr-FR" sz="1600" dirty="0">
                <a:latin typeface="Sitka Subheading Semibold" charset="0"/>
                <a:cs typeface="Sitka Subheading Semibold" charset="0"/>
              </a:rPr>
              <a:t>6000 av. </a:t>
            </a:r>
            <a:r>
              <a:rPr lang="fr-FR" sz="1600" dirty="0" smtClean="0">
                <a:latin typeface="Sitka Subheading Semibold" charset="0"/>
                <a:cs typeface="Sitka Subheading Semibold" charset="0"/>
              </a:rPr>
              <a:t>J.C</a:t>
            </a:r>
            <a:r>
              <a:rPr lang="fr-FR" sz="1600" dirty="0">
                <a:latin typeface="Sitka Subheading Semibold" charset="0"/>
                <a:cs typeface="Sitka Subheading Semibold" charset="0"/>
              </a:rPr>
              <a:t>. et 4</a:t>
            </a:r>
            <a:r>
              <a:rPr lang="fr-FR" sz="1600" dirty="0" smtClean="0">
                <a:latin typeface="Sitka Subheading Semibold" charset="0"/>
                <a:cs typeface="Sitka Subheading Semibold" charset="0"/>
              </a:rPr>
              <a:t>000 </a:t>
            </a:r>
            <a:r>
              <a:rPr lang="fr-FR" sz="1600" dirty="0">
                <a:latin typeface="Sitka Subheading Semibold" charset="0"/>
                <a:cs typeface="Sitka Subheading Semibold" charset="0"/>
              </a:rPr>
              <a:t>av. </a:t>
            </a:r>
            <a:r>
              <a:rPr lang="fr-FR" sz="1600" dirty="0" smtClean="0">
                <a:latin typeface="Sitka Subheading Semibold" charset="0"/>
                <a:cs typeface="Sitka Subheading Semibold" charset="0"/>
              </a:rPr>
              <a:t>J.C., on </a:t>
            </a:r>
            <a:r>
              <a:rPr lang="fr-FR" sz="1600" dirty="0">
                <a:latin typeface="Sitka Subheading Semibold" charset="0"/>
                <a:cs typeface="Sitka Subheading Semibold" charset="0"/>
              </a:rPr>
              <a:t>distingue la succession </a:t>
            </a:r>
            <a:r>
              <a:rPr lang="fr-FR" sz="1600" dirty="0" smtClean="0">
                <a:latin typeface="Sitka Subheading Semibold" charset="0"/>
                <a:cs typeface="Sitka Subheading Semibold" charset="0"/>
              </a:rPr>
              <a:t>de </a:t>
            </a:r>
            <a:r>
              <a:rPr lang="fr-FR" sz="1600" dirty="0">
                <a:latin typeface="Sitka Subheading Semibold" charset="0"/>
                <a:cs typeface="Sitka Subheading Semibold" charset="0"/>
              </a:rPr>
              <a:t>cultures de types différents </a:t>
            </a:r>
            <a:r>
              <a:rPr lang="fr-FR" sz="1600" dirty="0" smtClean="0">
                <a:latin typeface="Sitka Subheading Semibold" charset="0"/>
                <a:cs typeface="Sitka Subheading Semibold" charset="0"/>
              </a:rPr>
              <a:t>:</a:t>
            </a:r>
            <a:endParaRPr lang="fr-FR" sz="1600" dirty="0">
              <a:latin typeface="Sitka Subheading Semibold" charset="0"/>
              <a:cs typeface="Sitka Subheading Semibold" charset="0"/>
            </a:endParaRPr>
          </a:p>
          <a:p>
            <a:pPr marL="0" indent="0" algn="just">
              <a:buNone/>
            </a:pPr>
            <a:r>
              <a:rPr lang="fr-FR" sz="1600" dirty="0">
                <a:latin typeface="Sitka Subheading Semibold" charset="0"/>
                <a:cs typeface="Sitka Subheading Semibold" charset="0"/>
              </a:rPr>
              <a:t>la </a:t>
            </a:r>
            <a:r>
              <a:rPr lang="fr-FR" sz="1600" b="1" dirty="0">
                <a:latin typeface="Sitka Subheading Semibold" charset="0"/>
                <a:cs typeface="Sitka Subheading Semibold" charset="0"/>
              </a:rPr>
              <a:t>Période de </a:t>
            </a:r>
            <a:r>
              <a:rPr lang="fr-FR" sz="1600" b="1" dirty="0" err="1">
                <a:latin typeface="Sitka Subheading Semibold" charset="0"/>
                <a:cs typeface="Sitka Subheading Semibold" charset="0"/>
              </a:rPr>
              <a:t>Hassuna</a:t>
            </a:r>
            <a:r>
              <a:rPr lang="fr-FR" sz="1600" dirty="0">
                <a:latin typeface="Sitka Subheading Semibold" charset="0"/>
                <a:cs typeface="Sitka Subheading Semibold" charset="0"/>
              </a:rPr>
              <a:t> (5 800 av. J.-C. - 5 500 av. </a:t>
            </a:r>
            <a:r>
              <a:rPr lang="fr-FR" sz="1600" dirty="0" smtClean="0">
                <a:latin typeface="Sitka Subheading Semibold" charset="0"/>
                <a:cs typeface="Sitka Subheading Semibold" charset="0"/>
              </a:rPr>
              <a:t>J.C</a:t>
            </a:r>
            <a:r>
              <a:rPr lang="fr-FR" sz="1600" dirty="0">
                <a:latin typeface="Sitka Subheading Semibold" charset="0"/>
                <a:cs typeface="Sitka Subheading Semibold" charset="0"/>
              </a:rPr>
              <a:t>.)</a:t>
            </a:r>
            <a:endParaRPr lang="fr-FR" sz="1600" dirty="0">
              <a:latin typeface="Sitka Subheading Semibold" charset="0"/>
              <a:cs typeface="Sitka Subheading Semibold" charset="0"/>
            </a:endParaRPr>
          </a:p>
          <a:p>
            <a:pPr marL="0" indent="0" algn="just">
              <a:buNone/>
            </a:pPr>
            <a:r>
              <a:rPr lang="fr-FR" sz="1600" dirty="0">
                <a:latin typeface="Sitka Subheading Semibold" charset="0"/>
                <a:cs typeface="Sitka Subheading Semibold" charset="0"/>
              </a:rPr>
              <a:t>la </a:t>
            </a:r>
            <a:r>
              <a:rPr lang="fr-FR" sz="1600" b="1" dirty="0">
                <a:latin typeface="Sitka Subheading Semibold" charset="0"/>
                <a:cs typeface="Sitka Subheading Semibold" charset="0"/>
              </a:rPr>
              <a:t>Période de Samarra </a:t>
            </a:r>
            <a:r>
              <a:rPr lang="fr-FR" sz="1600" dirty="0">
                <a:latin typeface="Sitka Subheading Semibold" charset="0"/>
                <a:cs typeface="Sitka Subheading Semibold" charset="0"/>
              </a:rPr>
              <a:t>(5 600 av. J.-C. - 5 000 av. </a:t>
            </a:r>
            <a:r>
              <a:rPr lang="fr-FR" sz="1600" dirty="0" smtClean="0">
                <a:latin typeface="Sitka Subheading Semibold" charset="0"/>
                <a:cs typeface="Sitka Subheading Semibold" charset="0"/>
              </a:rPr>
              <a:t>J.C</a:t>
            </a:r>
            <a:r>
              <a:rPr lang="fr-FR" sz="1600" dirty="0">
                <a:latin typeface="Sitka Subheading Semibold" charset="0"/>
                <a:cs typeface="Sitka Subheading Semibold" charset="0"/>
              </a:rPr>
              <a:t>.)</a:t>
            </a:r>
            <a:endParaRPr lang="fr-FR" sz="1600" dirty="0">
              <a:latin typeface="Sitka Subheading Semibold" charset="0"/>
              <a:cs typeface="Sitka Subheading Semibold" charset="0"/>
            </a:endParaRPr>
          </a:p>
          <a:p>
            <a:pPr marL="0" indent="0" algn="just">
              <a:buNone/>
            </a:pPr>
            <a:r>
              <a:rPr lang="fr-FR" sz="1600" dirty="0">
                <a:latin typeface="Sitka Subheading Semibold" charset="0"/>
                <a:cs typeface="Sitka Subheading Semibold" charset="0"/>
              </a:rPr>
              <a:t>la </a:t>
            </a:r>
            <a:r>
              <a:rPr lang="fr-FR" sz="1600" b="1" dirty="0">
                <a:latin typeface="Sitka Subheading Semibold" charset="0"/>
                <a:cs typeface="Sitka Subheading Semibold" charset="0"/>
              </a:rPr>
              <a:t>Période de </a:t>
            </a:r>
            <a:r>
              <a:rPr lang="fr-FR" sz="1600" b="1" dirty="0" err="1">
                <a:latin typeface="Sitka Subheading Semibold" charset="0"/>
                <a:cs typeface="Sitka Subheading Semibold" charset="0"/>
              </a:rPr>
              <a:t>Halaf</a:t>
            </a:r>
            <a:r>
              <a:rPr lang="fr-FR" sz="1600" b="1" dirty="0">
                <a:latin typeface="Sitka Subheading Semibold" charset="0"/>
                <a:cs typeface="Sitka Subheading Semibold" charset="0"/>
              </a:rPr>
              <a:t> </a:t>
            </a:r>
            <a:r>
              <a:rPr lang="fr-FR" sz="1600" dirty="0">
                <a:latin typeface="Sitka Subheading Semibold" charset="0"/>
                <a:cs typeface="Sitka Subheading Semibold" charset="0"/>
              </a:rPr>
              <a:t>(5 500 av. J.-C. - 4 700 av. </a:t>
            </a:r>
            <a:r>
              <a:rPr lang="fr-FR" sz="1600" dirty="0" smtClean="0">
                <a:latin typeface="Sitka Subheading Semibold" charset="0"/>
                <a:cs typeface="Sitka Subheading Semibold" charset="0"/>
              </a:rPr>
              <a:t>J.C</a:t>
            </a:r>
            <a:r>
              <a:rPr lang="fr-FR" sz="1600" dirty="0">
                <a:latin typeface="Sitka Subheading Semibold" charset="0"/>
                <a:cs typeface="Sitka Subheading Semibold" charset="0"/>
              </a:rPr>
              <a:t>.</a:t>
            </a:r>
            <a:r>
              <a:rPr lang="fr-FR" sz="1600" dirty="0" smtClean="0">
                <a:latin typeface="Sitka Subheading Semibold" charset="0"/>
                <a:cs typeface="Sitka Subheading Semibold" charset="0"/>
              </a:rPr>
              <a:t>)</a:t>
            </a:r>
            <a:endParaRPr lang="fr-FR" sz="1600" dirty="0" smtClean="0">
              <a:latin typeface="Sitka Subheading Semibold" charset="0"/>
              <a:cs typeface="Sitka Subheading Semibold" charset="0"/>
            </a:endParaRPr>
          </a:p>
          <a:p>
            <a:pPr marL="0" indent="0" algn="just">
              <a:buNone/>
            </a:pPr>
            <a:r>
              <a:rPr lang="fr-FR" sz="1600" dirty="0">
                <a:latin typeface="Sitka Subheading Semibold" charset="0"/>
                <a:cs typeface="Sitka Subheading Semibold" charset="0"/>
              </a:rPr>
              <a:t>la </a:t>
            </a:r>
            <a:r>
              <a:rPr lang="fr-FR" sz="1600" b="1" dirty="0">
                <a:latin typeface="Sitka Subheading Semibold" charset="0"/>
                <a:cs typeface="Sitka Subheading Semibold" charset="0"/>
              </a:rPr>
              <a:t>Période d'</a:t>
            </a:r>
            <a:r>
              <a:rPr lang="fr-FR" sz="1600" b="1" dirty="0" err="1">
                <a:latin typeface="Sitka Subheading Semibold" charset="0"/>
                <a:cs typeface="Sitka Subheading Semibold" charset="0"/>
              </a:rPr>
              <a:t>Obeid</a:t>
            </a:r>
            <a:r>
              <a:rPr lang="fr-FR" sz="1600" b="1" dirty="0">
                <a:latin typeface="Sitka Subheading Semibold" charset="0"/>
                <a:cs typeface="Sitka Subheading Semibold" charset="0"/>
              </a:rPr>
              <a:t> </a:t>
            </a:r>
            <a:r>
              <a:rPr lang="fr-FR" sz="1600" dirty="0" smtClean="0">
                <a:latin typeface="Sitka Subheading Semibold" charset="0"/>
                <a:cs typeface="Sitka Subheading Semibold" charset="0"/>
              </a:rPr>
              <a:t>(6500 </a:t>
            </a:r>
            <a:r>
              <a:rPr lang="fr-FR" sz="1600" dirty="0">
                <a:latin typeface="Sitka Subheading Semibold" charset="0"/>
                <a:cs typeface="Sitka Subheading Semibold" charset="0"/>
              </a:rPr>
              <a:t>av. J.-C. – </a:t>
            </a:r>
            <a:r>
              <a:rPr lang="fr-FR" sz="1600" dirty="0" smtClean="0">
                <a:latin typeface="Sitka Subheading Semibold" charset="0"/>
                <a:cs typeface="Sitka Subheading Semibold" charset="0"/>
              </a:rPr>
              <a:t>3700 </a:t>
            </a:r>
            <a:r>
              <a:rPr lang="fr-FR" sz="1600" dirty="0">
                <a:latin typeface="Sitka Subheading Semibold" charset="0"/>
                <a:cs typeface="Sitka Subheading Semibold" charset="0"/>
              </a:rPr>
              <a:t>av. </a:t>
            </a:r>
            <a:r>
              <a:rPr lang="fr-FR" sz="1600" dirty="0" smtClean="0">
                <a:latin typeface="Sitka Subheading Semibold" charset="0"/>
                <a:cs typeface="Sitka Subheading Semibold" charset="0"/>
              </a:rPr>
              <a:t>J.C</a:t>
            </a:r>
            <a:r>
              <a:rPr lang="fr-FR" sz="1600" dirty="0">
                <a:latin typeface="Sitka Subheading Semibold" charset="0"/>
                <a:cs typeface="Sitka Subheading Semibold" charset="0"/>
              </a:rPr>
              <a:t>.)</a:t>
            </a:r>
            <a:endParaRPr lang="fr-FR" sz="1600" dirty="0">
              <a:latin typeface="Sitka Subheading Semibold" charset="0"/>
              <a:cs typeface="Sitka Subheading Semibold" charset="0"/>
            </a:endParaRPr>
          </a:p>
        </p:txBody>
      </p:sp>
      <p:sp>
        <p:nvSpPr>
          <p:cNvPr id="6" name="Titre 5"/>
          <p:cNvSpPr>
            <a:spLocks noGrp="1"/>
          </p:cNvSpPr>
          <p:nvPr>
            <p:ph type="title"/>
          </p:nvPr>
        </p:nvSpPr>
        <p:spPr/>
        <p:txBody>
          <a:bodyPr/>
          <a:lstStyle/>
          <a:p>
            <a:r>
              <a:rPr lang="fr-FR" dirty="0">
                <a:solidFill>
                  <a:srgbClr val="FF0000"/>
                </a:solidFill>
                <a:latin typeface="Sitka Subheading Semibold" charset="0"/>
                <a:cs typeface="Sitka Subheading Semibold" charset="0"/>
              </a:rPr>
              <a:t>D</a:t>
            </a:r>
            <a:r>
              <a:rPr lang="fr-FR" dirty="0" smtClean="0">
                <a:solidFill>
                  <a:srgbClr val="FF0000"/>
                </a:solidFill>
                <a:latin typeface="Sitka Subheading Semibold" charset="0"/>
                <a:cs typeface="Sitka Subheading Semibold" charset="0"/>
              </a:rPr>
              <a:t>es premières chefferies ...</a:t>
            </a:r>
            <a:endParaRPr lang="fr-FR" dirty="0">
              <a:latin typeface="Sitka Subheading Semibold" charset="0"/>
              <a:cs typeface="Sitka Subheading Semibold"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99171" y="1417638"/>
            <a:ext cx="6504601" cy="5166042"/>
          </a:xfrm>
        </p:spPr>
        <p:txBody>
          <a:bodyPr>
            <a:noAutofit/>
          </a:bodyPr>
          <a:lstStyle/>
          <a:p>
            <a:pPr marL="0" indent="0" algn="just">
              <a:buNone/>
            </a:pPr>
            <a:r>
              <a:rPr lang="fr-FR" sz="1600" dirty="0" smtClean="0">
                <a:latin typeface="Sitka Subheading Semibold" charset="0"/>
                <a:cs typeface="Sitka Subheading Semibold" charset="0"/>
              </a:rPr>
              <a:t>Au IV</a:t>
            </a:r>
            <a:r>
              <a:rPr lang="fr-FR" sz="1600" baseline="30000" dirty="0" smtClean="0">
                <a:latin typeface="Sitka Subheading Semibold" charset="0"/>
                <a:cs typeface="Sitka Subheading Semibold" charset="0"/>
              </a:rPr>
              <a:t>e </a:t>
            </a:r>
            <a:r>
              <a:rPr lang="fr-FR" sz="1600" dirty="0" smtClean="0">
                <a:latin typeface="Sitka Subheading Semibold" charset="0"/>
                <a:cs typeface="Sitka Subheading Semibold" charset="0"/>
              </a:rPr>
              <a:t>millénaire le </a:t>
            </a:r>
            <a:r>
              <a:rPr lang="fr-FR" sz="1600" dirty="0">
                <a:latin typeface="Sitka Subheading Semibold" charset="0"/>
                <a:cs typeface="Sitka Subheading Semibold" charset="0"/>
              </a:rPr>
              <a:t>processus de complexification sociale s'accélère, jusqu’à la constitution de véritables États, puis la création d'une première forme d'écriture qui fait basculer la Mésopotamie dans </a:t>
            </a:r>
            <a:r>
              <a:rPr lang="fr-FR" sz="1600" dirty="0" smtClean="0">
                <a:latin typeface="Sitka Subheading Semibold" charset="0"/>
                <a:cs typeface="Sitka Subheading Semibold" charset="0"/>
              </a:rPr>
              <a:t>l'Histoire</a:t>
            </a:r>
            <a:r>
              <a:rPr lang="fr-FR" sz="1600" dirty="0">
                <a:latin typeface="Sitka Subheading Semibold" charset="0"/>
                <a:cs typeface="Sitka Subheading Semibold" charset="0"/>
              </a:rPr>
              <a:t>. </a:t>
            </a:r>
            <a:r>
              <a:rPr lang="fr-FR" sz="1600" dirty="0" smtClean="0">
                <a:latin typeface="Sitka Subheading Semibold" charset="0"/>
                <a:cs typeface="Sitka Subheading Semibold" charset="0"/>
              </a:rPr>
              <a:t>La période historique est </a:t>
            </a:r>
            <a:r>
              <a:rPr lang="fr-FR" sz="1600" dirty="0">
                <a:latin typeface="Sitka Subheading Semibold" charset="0"/>
                <a:cs typeface="Sitka Subheading Semibold" charset="0"/>
              </a:rPr>
              <a:t>divisée en plusieurs périodes </a:t>
            </a:r>
            <a:r>
              <a:rPr lang="fr-FR" sz="1600" dirty="0" smtClean="0">
                <a:latin typeface="Sitka Subheading Semibold" charset="0"/>
                <a:cs typeface="Sitka Subheading Semibold" charset="0"/>
              </a:rPr>
              <a:t>successives :</a:t>
            </a:r>
            <a:endParaRPr lang="fr-FR" sz="1600" dirty="0">
              <a:latin typeface="Sitka Subheading Semibold" charset="0"/>
              <a:cs typeface="Sitka Subheading Semibold" charset="0"/>
            </a:endParaRPr>
          </a:p>
          <a:p>
            <a:pPr marL="0" indent="0" algn="just">
              <a:buNone/>
            </a:pPr>
            <a:r>
              <a:rPr lang="fr-FR" sz="1600" dirty="0">
                <a:latin typeface="Sitka Subheading Semibold" charset="0"/>
                <a:cs typeface="Sitka Subheading Semibold" charset="0"/>
              </a:rPr>
              <a:t>la </a:t>
            </a:r>
            <a:r>
              <a:rPr lang="fr-FR" sz="1600" b="1" dirty="0">
                <a:latin typeface="Sitka Subheading Semibold" charset="0"/>
                <a:cs typeface="Sitka Subheading Semibold" charset="0"/>
              </a:rPr>
              <a:t>Période d'Uruk </a:t>
            </a:r>
            <a:r>
              <a:rPr lang="fr-FR" sz="1600" dirty="0" smtClean="0">
                <a:latin typeface="Sitka Subheading Semibold" charset="0"/>
                <a:cs typeface="Sitka Subheading Semibold" charset="0"/>
              </a:rPr>
              <a:t>(4000 </a:t>
            </a:r>
            <a:r>
              <a:rPr lang="fr-FR" sz="1600" dirty="0">
                <a:latin typeface="Sitka Subheading Semibold" charset="0"/>
                <a:cs typeface="Sitka Subheading Semibold" charset="0"/>
              </a:rPr>
              <a:t>av. </a:t>
            </a:r>
            <a:r>
              <a:rPr lang="fr-FR" sz="1600" dirty="0" smtClean="0">
                <a:latin typeface="Sitka Subheading Semibold" charset="0"/>
                <a:cs typeface="Sitka Subheading Semibold" charset="0"/>
              </a:rPr>
              <a:t>J.C</a:t>
            </a:r>
            <a:r>
              <a:rPr lang="fr-FR" sz="1600" dirty="0">
                <a:latin typeface="Sitka Subheading Semibold" charset="0"/>
                <a:cs typeface="Sitka Subheading Semibold" charset="0"/>
              </a:rPr>
              <a:t>. - 2 900 av. </a:t>
            </a:r>
            <a:r>
              <a:rPr lang="fr-FR" sz="1600" dirty="0" smtClean="0">
                <a:latin typeface="Sitka Subheading Semibold" charset="0"/>
                <a:cs typeface="Sitka Subheading Semibold" charset="0"/>
              </a:rPr>
              <a:t>J.C</a:t>
            </a:r>
            <a:r>
              <a:rPr lang="fr-FR" sz="1600" dirty="0">
                <a:latin typeface="Sitka Subheading Semibold" charset="0"/>
                <a:cs typeface="Sitka Subheading Semibold" charset="0"/>
              </a:rPr>
              <a:t>.</a:t>
            </a:r>
            <a:r>
              <a:rPr lang="fr-FR" sz="1600" dirty="0" smtClean="0">
                <a:latin typeface="Sitka Subheading Semibold" charset="0"/>
                <a:cs typeface="Sitka Subheading Semibold" charset="0"/>
              </a:rPr>
              <a:t>)</a:t>
            </a:r>
            <a:r>
              <a:rPr lang="fr-FR" sz="1600" dirty="0">
                <a:latin typeface="Sitka Subheading Semibold" charset="0"/>
                <a:cs typeface="Sitka Subheading Semibold" charset="0"/>
              </a:rPr>
              <a:t> </a:t>
            </a:r>
            <a:r>
              <a:rPr lang="fr-FR" sz="1600" dirty="0" smtClean="0">
                <a:latin typeface="Sitka Subheading Semibold" charset="0"/>
                <a:cs typeface="Sitka Subheading Semibold" charset="0"/>
              </a:rPr>
              <a:t>: constitution des premières cités-états et développent de l’écriture.  </a:t>
            </a:r>
            <a:endParaRPr lang="fr-FR" sz="1600" dirty="0" smtClean="0">
              <a:latin typeface="Sitka Subheading Semibold" charset="0"/>
              <a:cs typeface="Sitka Subheading Semibold" charset="0"/>
            </a:endParaRPr>
          </a:p>
          <a:p>
            <a:pPr marL="0" indent="0" algn="just">
              <a:buNone/>
            </a:pPr>
            <a:r>
              <a:rPr lang="fr-FR" sz="1600" dirty="0">
                <a:latin typeface="Sitka Subheading Semibold" charset="0"/>
                <a:cs typeface="Sitka Subheading Semibold" charset="0"/>
              </a:rPr>
              <a:t>Période des </a:t>
            </a:r>
            <a:r>
              <a:rPr lang="fr-FR" sz="1600" b="1" dirty="0">
                <a:latin typeface="Sitka Subheading Semibold" charset="0"/>
                <a:cs typeface="Sitka Subheading Semibold" charset="0"/>
              </a:rPr>
              <a:t>Dynasties archaïques</a:t>
            </a:r>
            <a:r>
              <a:rPr lang="fr-FR" sz="1600" dirty="0">
                <a:latin typeface="Sitka Subheading Semibold" charset="0"/>
                <a:cs typeface="Sitka Subheading Semibold" charset="0"/>
              </a:rPr>
              <a:t> (2 900 av. </a:t>
            </a:r>
            <a:r>
              <a:rPr lang="fr-FR" sz="1600" dirty="0" smtClean="0">
                <a:latin typeface="Sitka Subheading Semibold" charset="0"/>
                <a:cs typeface="Sitka Subheading Semibold" charset="0"/>
              </a:rPr>
              <a:t>J.C</a:t>
            </a:r>
            <a:r>
              <a:rPr lang="fr-FR" sz="1600" dirty="0">
                <a:latin typeface="Sitka Subheading Semibold" charset="0"/>
                <a:cs typeface="Sitka Subheading Semibold" charset="0"/>
              </a:rPr>
              <a:t>. - 2 340 av. </a:t>
            </a:r>
            <a:r>
              <a:rPr lang="fr-FR" sz="1600" dirty="0" smtClean="0">
                <a:latin typeface="Sitka Subheading Semibold" charset="0"/>
                <a:cs typeface="Sitka Subheading Semibold" charset="0"/>
              </a:rPr>
              <a:t>J.C</a:t>
            </a:r>
            <a:r>
              <a:rPr lang="fr-FR" sz="1600" dirty="0">
                <a:latin typeface="Sitka Subheading Semibold" charset="0"/>
                <a:cs typeface="Sitka Subheading Semibold" charset="0"/>
              </a:rPr>
              <a:t>.) </a:t>
            </a:r>
            <a:r>
              <a:rPr lang="fr-FR" sz="1600" dirty="0" smtClean="0">
                <a:latin typeface="Sitka Subheading Semibold" charset="0"/>
                <a:cs typeface="Sitka Subheading Semibold" charset="0"/>
              </a:rPr>
              <a:t>: cités-états de </a:t>
            </a:r>
            <a:r>
              <a:rPr lang="fr-FR" sz="1600" dirty="0">
                <a:latin typeface="Sitka Subheading Semibold" charset="0"/>
                <a:cs typeface="Sitka Subheading Semibold" charset="0"/>
              </a:rPr>
              <a:t>Basse Mésopotamie.</a:t>
            </a:r>
            <a:endParaRPr lang="fr-FR" sz="1600" dirty="0">
              <a:latin typeface="Sitka Subheading Semibold" charset="0"/>
              <a:cs typeface="Sitka Subheading Semibold" charset="0"/>
            </a:endParaRPr>
          </a:p>
          <a:p>
            <a:pPr marL="0" indent="0" algn="just">
              <a:buNone/>
            </a:pPr>
            <a:r>
              <a:rPr lang="fr-FR" sz="1600" b="1" dirty="0">
                <a:latin typeface="Sitka Subheading Semibold" charset="0"/>
                <a:cs typeface="Sitka Subheading Semibold" charset="0"/>
              </a:rPr>
              <a:t>Période d'Akkad</a:t>
            </a:r>
            <a:r>
              <a:rPr lang="fr-FR" sz="1600" dirty="0">
                <a:latin typeface="Sitka Subheading Semibold" charset="0"/>
                <a:cs typeface="Sitka Subheading Semibold" charset="0"/>
              </a:rPr>
              <a:t> (2 340 av. </a:t>
            </a:r>
            <a:r>
              <a:rPr lang="fr-FR" sz="1600" dirty="0" smtClean="0">
                <a:latin typeface="Sitka Subheading Semibold" charset="0"/>
                <a:cs typeface="Sitka Subheading Semibold" charset="0"/>
              </a:rPr>
              <a:t>J.C</a:t>
            </a:r>
            <a:r>
              <a:rPr lang="fr-FR" sz="1600" dirty="0">
                <a:latin typeface="Sitka Subheading Semibold" charset="0"/>
                <a:cs typeface="Sitka Subheading Semibold" charset="0"/>
              </a:rPr>
              <a:t>. </a:t>
            </a:r>
            <a:r>
              <a:rPr lang="fr-FR" sz="1600" dirty="0" smtClean="0">
                <a:latin typeface="Sitka Subheading Semibold" charset="0"/>
                <a:cs typeface="Sitka Subheading Semibold" charset="0"/>
              </a:rPr>
              <a:t>– </a:t>
            </a:r>
            <a:r>
              <a:rPr lang="fr-FR" sz="1600" dirty="0">
                <a:latin typeface="Sitka Subheading Semibold" charset="0"/>
                <a:cs typeface="Sitka Subheading Semibold" charset="0"/>
              </a:rPr>
              <a:t>2 </a:t>
            </a:r>
            <a:r>
              <a:rPr lang="fr-FR" sz="1600" dirty="0" smtClean="0">
                <a:latin typeface="Sitka Subheading Semibold" charset="0"/>
                <a:cs typeface="Sitka Subheading Semibold" charset="0"/>
              </a:rPr>
              <a:t>200 </a:t>
            </a:r>
            <a:r>
              <a:rPr lang="fr-FR" sz="1600" dirty="0">
                <a:latin typeface="Sitka Subheading Semibold" charset="0"/>
                <a:cs typeface="Sitka Subheading Semibold" charset="0"/>
              </a:rPr>
              <a:t>av. </a:t>
            </a:r>
            <a:r>
              <a:rPr lang="fr-FR" sz="1600" dirty="0" smtClean="0">
                <a:latin typeface="Sitka Subheading Semibold" charset="0"/>
                <a:cs typeface="Sitka Subheading Semibold" charset="0"/>
              </a:rPr>
              <a:t>J.C</a:t>
            </a:r>
            <a:r>
              <a:rPr lang="fr-FR" sz="1600" dirty="0">
                <a:latin typeface="Sitka Subheading Semibold" charset="0"/>
                <a:cs typeface="Sitka Subheading Semibold" charset="0"/>
              </a:rPr>
              <a:t>.</a:t>
            </a:r>
            <a:r>
              <a:rPr lang="fr-FR" sz="1600" dirty="0" smtClean="0">
                <a:latin typeface="Sitka Subheading Semibold" charset="0"/>
                <a:cs typeface="Sitka Subheading Semibold" charset="0"/>
              </a:rPr>
              <a:t>) : Premier empire fin des cités-états.</a:t>
            </a:r>
            <a:endParaRPr lang="fr-FR" sz="1600" dirty="0" smtClean="0">
              <a:latin typeface="Sitka Subheading Semibold" charset="0"/>
              <a:cs typeface="Sitka Subheading Semibold" charset="0"/>
            </a:endParaRPr>
          </a:p>
          <a:p>
            <a:pPr marL="0" indent="0" algn="just">
              <a:buNone/>
            </a:pPr>
            <a:r>
              <a:rPr lang="fr-FR" sz="1600" b="1" dirty="0">
                <a:latin typeface="Sitka Subheading Semibold" charset="0"/>
                <a:cs typeface="Sitka Subheading Semibold" charset="0"/>
              </a:rPr>
              <a:t>Période néo-sumérienne </a:t>
            </a:r>
            <a:r>
              <a:rPr lang="fr-FR" sz="1600" dirty="0">
                <a:latin typeface="Sitka Subheading Semibold" charset="0"/>
                <a:cs typeface="Sitka Subheading Semibold" charset="0"/>
              </a:rPr>
              <a:t>(2 </a:t>
            </a:r>
            <a:r>
              <a:rPr lang="fr-FR" sz="1600" dirty="0" smtClean="0">
                <a:latin typeface="Sitka Subheading Semibold" charset="0"/>
                <a:cs typeface="Sitka Subheading Semibold" charset="0"/>
              </a:rPr>
              <a:t>200 </a:t>
            </a:r>
            <a:r>
              <a:rPr lang="fr-FR" sz="1600" dirty="0">
                <a:latin typeface="Sitka Subheading Semibold" charset="0"/>
                <a:cs typeface="Sitka Subheading Semibold" charset="0"/>
              </a:rPr>
              <a:t>av. </a:t>
            </a:r>
            <a:r>
              <a:rPr lang="fr-FR" sz="1600" dirty="0" smtClean="0">
                <a:latin typeface="Sitka Subheading Semibold" charset="0"/>
                <a:cs typeface="Sitka Subheading Semibold" charset="0"/>
              </a:rPr>
              <a:t>J.C</a:t>
            </a:r>
            <a:r>
              <a:rPr lang="fr-FR" sz="1600" dirty="0">
                <a:latin typeface="Sitka Subheading Semibold" charset="0"/>
                <a:cs typeface="Sitka Subheading Semibold" charset="0"/>
              </a:rPr>
              <a:t>. </a:t>
            </a:r>
            <a:r>
              <a:rPr lang="fr-FR" sz="1600" dirty="0" smtClean="0">
                <a:latin typeface="Sitka Subheading Semibold" charset="0"/>
                <a:cs typeface="Sitka Subheading Semibold" charset="0"/>
              </a:rPr>
              <a:t>- 2 000 </a:t>
            </a:r>
            <a:r>
              <a:rPr lang="fr-FR" sz="1600" dirty="0">
                <a:latin typeface="Sitka Subheading Semibold" charset="0"/>
                <a:cs typeface="Sitka Subheading Semibold" charset="0"/>
              </a:rPr>
              <a:t>av. </a:t>
            </a:r>
            <a:r>
              <a:rPr lang="fr-FR" sz="1600" dirty="0" smtClean="0">
                <a:latin typeface="Sitka Subheading Semibold" charset="0"/>
                <a:cs typeface="Sitka Subheading Semibold" charset="0"/>
              </a:rPr>
              <a:t>J.-C</a:t>
            </a:r>
            <a:r>
              <a:rPr lang="fr-FR" sz="1600" dirty="0">
                <a:latin typeface="Sitka Subheading Semibold" charset="0"/>
                <a:cs typeface="Sitka Subheading Semibold" charset="0"/>
              </a:rPr>
              <a:t>.) </a:t>
            </a:r>
            <a:endParaRPr lang="fr-FR" sz="1600" dirty="0" smtClean="0">
              <a:latin typeface="Sitka Subheading Semibold" charset="0"/>
              <a:cs typeface="Sitka Subheading Semibold" charset="0"/>
            </a:endParaRPr>
          </a:p>
          <a:p>
            <a:pPr marL="0" indent="0" algn="just">
              <a:buNone/>
            </a:pPr>
            <a:r>
              <a:rPr lang="fr-FR" sz="1600" b="1" dirty="0" err="1">
                <a:latin typeface="Sitka Subheading Semibold" charset="0"/>
                <a:cs typeface="Sitka Subheading Semibold" charset="0"/>
              </a:rPr>
              <a:t>Cités-états</a:t>
            </a:r>
            <a:r>
              <a:rPr lang="fr-FR" sz="1600" b="1" dirty="0">
                <a:latin typeface="Sitka Subheading Semibold" charset="0"/>
                <a:cs typeface="Sitka Subheading Semibold" charset="0"/>
              </a:rPr>
              <a:t> et Ier empire </a:t>
            </a:r>
            <a:r>
              <a:rPr lang="fr-FR" sz="1600" b="1" dirty="0" smtClean="0">
                <a:latin typeface="Sitka Subheading Semibold" charset="0"/>
                <a:cs typeface="Sitka Subheading Semibold" charset="0"/>
              </a:rPr>
              <a:t>Babylonien </a:t>
            </a:r>
            <a:r>
              <a:rPr lang="fr-FR" sz="1600" dirty="0" smtClean="0">
                <a:latin typeface="Sitka Subheading Semibold" charset="0"/>
                <a:cs typeface="Sitka Subheading Semibold" charset="0"/>
              </a:rPr>
              <a:t>(</a:t>
            </a:r>
            <a:r>
              <a:rPr lang="fr-FR" sz="1600" dirty="0">
                <a:latin typeface="Sitka Subheading Semibold" charset="0"/>
                <a:cs typeface="Sitka Subheading Semibold" charset="0"/>
              </a:rPr>
              <a:t>2 </a:t>
            </a:r>
            <a:r>
              <a:rPr lang="fr-FR" sz="1600" dirty="0" smtClean="0">
                <a:latin typeface="Sitka Subheading Semibold" charset="0"/>
                <a:cs typeface="Sitka Subheading Semibold" charset="0"/>
              </a:rPr>
              <a:t>000 </a:t>
            </a:r>
            <a:r>
              <a:rPr lang="fr-FR" sz="1600" dirty="0">
                <a:latin typeface="Sitka Subheading Semibold" charset="0"/>
                <a:cs typeface="Sitka Subheading Semibold" charset="0"/>
              </a:rPr>
              <a:t>av. </a:t>
            </a:r>
            <a:r>
              <a:rPr lang="fr-FR" sz="1600" dirty="0" smtClean="0">
                <a:latin typeface="Sitka Subheading Semibold" charset="0"/>
                <a:cs typeface="Sitka Subheading Semibold" charset="0"/>
              </a:rPr>
              <a:t>J.C</a:t>
            </a:r>
            <a:r>
              <a:rPr lang="fr-FR" sz="1600" dirty="0">
                <a:latin typeface="Sitka Subheading Semibold" charset="0"/>
                <a:cs typeface="Sitka Subheading Semibold" charset="0"/>
              </a:rPr>
              <a:t>. </a:t>
            </a:r>
            <a:r>
              <a:rPr lang="fr-FR" sz="1600" dirty="0" smtClean="0">
                <a:latin typeface="Sitka Subheading Semibold" charset="0"/>
                <a:cs typeface="Sitka Subheading Semibold" charset="0"/>
              </a:rPr>
              <a:t>– 1 500 </a:t>
            </a:r>
            <a:r>
              <a:rPr lang="fr-FR" sz="1600" dirty="0">
                <a:latin typeface="Sitka Subheading Semibold" charset="0"/>
                <a:cs typeface="Sitka Subheading Semibold" charset="0"/>
              </a:rPr>
              <a:t>av. </a:t>
            </a:r>
            <a:r>
              <a:rPr lang="fr-FR" sz="1600" dirty="0" smtClean="0">
                <a:latin typeface="Sitka Subheading Semibold" charset="0"/>
                <a:cs typeface="Sitka Subheading Semibold" charset="0"/>
              </a:rPr>
              <a:t>J.C</a:t>
            </a:r>
            <a:r>
              <a:rPr lang="fr-FR" sz="1600" dirty="0">
                <a:latin typeface="Sitka Subheading Semibold" charset="0"/>
                <a:cs typeface="Sitka Subheading Semibold" charset="0"/>
              </a:rPr>
              <a:t>.) </a:t>
            </a:r>
            <a:endParaRPr lang="fr-FR" sz="1600" dirty="0">
              <a:latin typeface="Sitka Subheading Semibold" charset="0"/>
              <a:cs typeface="Sitka Subheading Semibold" charset="0"/>
            </a:endParaRPr>
          </a:p>
          <a:p>
            <a:pPr marL="0" indent="0" algn="just">
              <a:buNone/>
            </a:pPr>
            <a:r>
              <a:rPr lang="cs-CZ" sz="1600" b="1" dirty="0" err="1">
                <a:latin typeface="Sitka Subheading Semibold" charset="0"/>
                <a:cs typeface="Sitka Subheading Semibold" charset="0"/>
              </a:rPr>
              <a:t>Hittites</a:t>
            </a:r>
            <a:r>
              <a:rPr lang="cs-CZ" sz="1600" b="1" dirty="0">
                <a:latin typeface="Sitka Subheading Semibold" charset="0"/>
                <a:cs typeface="Sitka Subheading Semibold" charset="0"/>
              </a:rPr>
              <a:t> / </a:t>
            </a:r>
            <a:r>
              <a:rPr lang="cs-CZ" sz="1600" b="1" dirty="0" err="1">
                <a:latin typeface="Sitka Subheading Semibold" charset="0"/>
                <a:cs typeface="Sitka Subheading Semibold" charset="0"/>
              </a:rPr>
              <a:t>Mitami</a:t>
            </a:r>
            <a:r>
              <a:rPr lang="cs-CZ" sz="1600" b="1" dirty="0">
                <a:latin typeface="Sitka Subheading Semibold" charset="0"/>
                <a:cs typeface="Sitka Subheading Semibold" charset="0"/>
              </a:rPr>
              <a:t> / Babylone / (Egypte)</a:t>
            </a:r>
            <a:r>
              <a:rPr lang="cs-CZ" sz="1600" dirty="0">
                <a:latin typeface="Sitka Subheading Semibold" charset="0"/>
                <a:cs typeface="Sitka Subheading Semibold" charset="0"/>
              </a:rPr>
              <a:t> </a:t>
            </a:r>
            <a:r>
              <a:rPr lang="fr-FR" sz="1600" dirty="0">
                <a:latin typeface="Sitka Subheading Semibold" charset="0"/>
                <a:cs typeface="Sitka Subheading Semibold" charset="0"/>
              </a:rPr>
              <a:t>(1 500 av. J.C. – 900 av. J.C.) </a:t>
            </a:r>
            <a:endParaRPr lang="fr-FR" sz="1600" dirty="0">
              <a:latin typeface="Sitka Subheading Semibold" charset="0"/>
              <a:cs typeface="Sitka Subheading Semibold" charset="0"/>
            </a:endParaRPr>
          </a:p>
          <a:p>
            <a:pPr marL="0" indent="0" algn="just">
              <a:buNone/>
            </a:pPr>
            <a:r>
              <a:rPr lang="en-US" sz="1600" b="1" dirty="0">
                <a:latin typeface="Sitka Subheading Semibold" charset="0"/>
                <a:cs typeface="Sitka Subheading Semibold" charset="0"/>
              </a:rPr>
              <a:t>Empire </a:t>
            </a:r>
            <a:r>
              <a:rPr lang="en-US" sz="1600" b="1" dirty="0" err="1">
                <a:latin typeface="Sitka Subheading Semibold" charset="0"/>
                <a:cs typeface="Sitka Subheading Semibold" charset="0"/>
              </a:rPr>
              <a:t>Assyrien</a:t>
            </a:r>
            <a:r>
              <a:rPr lang="en-US" sz="1600" b="1" dirty="0">
                <a:latin typeface="Sitka Subheading Semibold" charset="0"/>
                <a:cs typeface="Sitka Subheading Semibold" charset="0"/>
              </a:rPr>
              <a:t> (</a:t>
            </a:r>
            <a:r>
              <a:rPr lang="en-US" sz="1600" b="1" dirty="0" err="1">
                <a:latin typeface="Sitka Subheading Semibold" charset="0"/>
                <a:cs typeface="Sitka Subheading Semibold" charset="0"/>
              </a:rPr>
              <a:t>Sargonides</a:t>
            </a:r>
            <a:r>
              <a:rPr lang="en-US" sz="1600" b="1" dirty="0" smtClean="0">
                <a:latin typeface="Sitka Subheading Semibold" charset="0"/>
                <a:cs typeface="Sitka Subheading Semibold" charset="0"/>
              </a:rPr>
              <a:t>)</a:t>
            </a:r>
            <a:r>
              <a:rPr lang="fr-FR" sz="1600" dirty="0">
                <a:latin typeface="Sitka Subheading Semibold" charset="0"/>
                <a:cs typeface="Sitka Subheading Semibold" charset="0"/>
              </a:rPr>
              <a:t> </a:t>
            </a:r>
            <a:r>
              <a:rPr lang="fr-FR" sz="1600" dirty="0" smtClean="0">
                <a:latin typeface="Sitka Subheading Semibold" charset="0"/>
                <a:cs typeface="Sitka Subheading Semibold" charset="0"/>
              </a:rPr>
              <a:t>(900 </a:t>
            </a:r>
            <a:r>
              <a:rPr lang="fr-FR" sz="1600" dirty="0">
                <a:latin typeface="Sitka Subheading Semibold" charset="0"/>
                <a:cs typeface="Sitka Subheading Semibold" charset="0"/>
              </a:rPr>
              <a:t>av. J.C. – </a:t>
            </a:r>
            <a:r>
              <a:rPr lang="fr-FR" sz="1600" dirty="0" smtClean="0">
                <a:latin typeface="Sitka Subheading Semibold" charset="0"/>
                <a:cs typeface="Sitka Subheading Semibold" charset="0"/>
              </a:rPr>
              <a:t>609 </a:t>
            </a:r>
            <a:r>
              <a:rPr lang="fr-FR" sz="1600" dirty="0">
                <a:latin typeface="Sitka Subheading Semibold" charset="0"/>
                <a:cs typeface="Sitka Subheading Semibold" charset="0"/>
              </a:rPr>
              <a:t>av. J.C.) </a:t>
            </a:r>
            <a:br>
              <a:rPr lang="en-US" sz="1600" dirty="0">
                <a:latin typeface="Sitka Subheading Semibold" charset="0"/>
                <a:cs typeface="Sitka Subheading Semibold" charset="0"/>
              </a:rPr>
            </a:br>
            <a:r>
              <a:rPr lang="en-US" sz="1600" b="1" dirty="0" err="1">
                <a:latin typeface="Sitka Subheading Semibold" charset="0"/>
                <a:cs typeface="Sitka Subheading Semibold" charset="0"/>
              </a:rPr>
              <a:t>II</a:t>
            </a:r>
            <a:r>
              <a:rPr lang="en-US" sz="1600" b="1" baseline="30000" dirty="0" err="1">
                <a:latin typeface="Sitka Subheading Semibold" charset="0"/>
                <a:cs typeface="Sitka Subheading Semibold" charset="0"/>
              </a:rPr>
              <a:t>nd</a:t>
            </a:r>
            <a:r>
              <a:rPr lang="en-US" sz="1600" b="1" dirty="0">
                <a:latin typeface="Sitka Subheading Semibold" charset="0"/>
                <a:cs typeface="Sitka Subheading Semibold" charset="0"/>
              </a:rPr>
              <a:t> Empire </a:t>
            </a:r>
            <a:r>
              <a:rPr lang="en-US" sz="1600" b="1" dirty="0" err="1" smtClean="0">
                <a:latin typeface="Sitka Subheading Semibold" charset="0"/>
                <a:cs typeface="Sitka Subheading Semibold" charset="0"/>
              </a:rPr>
              <a:t>Babylonien</a:t>
            </a:r>
            <a:r>
              <a:rPr lang="en-US" sz="1600" b="1" dirty="0" smtClean="0">
                <a:latin typeface="Sitka Subheading Semibold" charset="0"/>
                <a:cs typeface="Sitka Subheading Semibold" charset="0"/>
              </a:rPr>
              <a:t> </a:t>
            </a:r>
            <a:r>
              <a:rPr lang="fr-FR" sz="1600" dirty="0" smtClean="0">
                <a:latin typeface="Sitka Subheading Semibold" charset="0"/>
                <a:cs typeface="Sitka Subheading Semibold" charset="0"/>
              </a:rPr>
              <a:t>(625 </a:t>
            </a:r>
            <a:r>
              <a:rPr lang="fr-FR" sz="1600" dirty="0">
                <a:latin typeface="Sitka Subheading Semibold" charset="0"/>
                <a:cs typeface="Sitka Subheading Semibold" charset="0"/>
              </a:rPr>
              <a:t>av. J.C. – </a:t>
            </a:r>
            <a:r>
              <a:rPr lang="fr-FR" sz="1600" dirty="0" smtClean="0">
                <a:latin typeface="Sitka Subheading Semibold" charset="0"/>
                <a:cs typeface="Sitka Subheading Semibold" charset="0"/>
              </a:rPr>
              <a:t>539 </a:t>
            </a:r>
            <a:r>
              <a:rPr lang="fr-FR" sz="1600" dirty="0">
                <a:latin typeface="Sitka Subheading Semibold" charset="0"/>
                <a:cs typeface="Sitka Subheading Semibold" charset="0"/>
              </a:rPr>
              <a:t>av. J.C.) </a:t>
            </a:r>
            <a:br>
              <a:rPr lang="en-US" sz="1600" dirty="0">
                <a:latin typeface="Sitka Subheading Semibold" charset="0"/>
                <a:cs typeface="Sitka Subheading Semibold" charset="0"/>
              </a:rPr>
            </a:br>
            <a:r>
              <a:rPr lang="en-US" sz="1600" b="1" dirty="0">
                <a:latin typeface="Sitka Subheading Semibold" charset="0"/>
                <a:cs typeface="Sitka Subheading Semibold" charset="0"/>
              </a:rPr>
              <a:t>Empire </a:t>
            </a:r>
            <a:r>
              <a:rPr lang="en-US" sz="1600" b="1" dirty="0" err="1">
                <a:latin typeface="Sitka Subheading Semibold" charset="0"/>
                <a:cs typeface="Sitka Subheading Semibold" charset="0"/>
              </a:rPr>
              <a:t>Perse</a:t>
            </a:r>
            <a:r>
              <a:rPr lang="en-US" sz="1600" b="1" dirty="0">
                <a:latin typeface="Sitka Subheading Semibold" charset="0"/>
                <a:cs typeface="Sitka Subheading Semibold" charset="0"/>
              </a:rPr>
              <a:t> </a:t>
            </a:r>
            <a:r>
              <a:rPr lang="fr-FR" sz="1600" dirty="0" smtClean="0">
                <a:latin typeface="Sitka Subheading Semibold" charset="0"/>
                <a:cs typeface="Sitka Subheading Semibold" charset="0"/>
              </a:rPr>
              <a:t>(539 </a:t>
            </a:r>
            <a:r>
              <a:rPr lang="fr-FR" sz="1600" dirty="0">
                <a:latin typeface="Sitka Subheading Semibold" charset="0"/>
                <a:cs typeface="Sitka Subheading Semibold" charset="0"/>
              </a:rPr>
              <a:t>av. J.C. – </a:t>
            </a:r>
            <a:r>
              <a:rPr lang="fr-FR" sz="1600" dirty="0" smtClean="0">
                <a:latin typeface="Sitka Subheading Semibold" charset="0"/>
                <a:cs typeface="Sitka Subheading Semibold" charset="0"/>
              </a:rPr>
              <a:t>330 </a:t>
            </a:r>
            <a:r>
              <a:rPr lang="fr-FR" sz="1600" dirty="0">
                <a:latin typeface="Sitka Subheading Semibold" charset="0"/>
                <a:cs typeface="Sitka Subheading Semibold" charset="0"/>
              </a:rPr>
              <a:t>av. J.C.) </a:t>
            </a:r>
            <a:br>
              <a:rPr lang="en-US" sz="1600" dirty="0">
                <a:latin typeface="Sitka Subheading Semibold" charset="0"/>
                <a:cs typeface="Sitka Subheading Semibold" charset="0"/>
              </a:rPr>
            </a:br>
            <a:endParaRPr lang="en-US" sz="1600" b="1" dirty="0">
              <a:latin typeface="Sitka Subheading Semibold" charset="0"/>
              <a:cs typeface="Sitka Subheading Semibold" charset="0"/>
            </a:endParaRPr>
          </a:p>
          <a:p>
            <a:pPr marL="0" indent="0" algn="just">
              <a:buNone/>
            </a:pPr>
            <a:endParaRPr lang="en-US" sz="1600" dirty="0">
              <a:latin typeface="Sitka Subheading Semibold" charset="0"/>
              <a:cs typeface="Sitka Subheading Semibold" charset="0"/>
            </a:endParaRPr>
          </a:p>
          <a:p>
            <a:pPr marL="0" indent="0" algn="just">
              <a:buNone/>
            </a:pPr>
            <a:br>
              <a:rPr lang="en-US" sz="1600" dirty="0">
                <a:latin typeface="Sitka Subheading Semibold" charset="0"/>
                <a:cs typeface="Sitka Subheading Semibold" charset="0"/>
              </a:rPr>
            </a:br>
            <a:endParaRPr lang="en-US" sz="1600" dirty="0">
              <a:latin typeface="Sitka Subheading Semibold" charset="0"/>
              <a:cs typeface="Sitka Subheading Semibold" charset="0"/>
            </a:endParaRPr>
          </a:p>
          <a:p>
            <a:pPr marL="0" indent="0" algn="just">
              <a:buNone/>
            </a:pPr>
            <a:endParaRPr lang="cs-CZ" sz="1600" dirty="0">
              <a:latin typeface="Sitka Subheading Semibold" charset="0"/>
              <a:cs typeface="Sitka Subheading Semibold" charset="0"/>
            </a:endParaRPr>
          </a:p>
          <a:p>
            <a:pPr marL="0" indent="0" algn="just">
              <a:buNone/>
            </a:pPr>
            <a:endParaRPr lang="fr-FR" sz="1600" b="1" dirty="0">
              <a:latin typeface="Sitka Subheading Semibold" charset="0"/>
              <a:cs typeface="Sitka Subheading Semibold" charset="0"/>
            </a:endParaRPr>
          </a:p>
          <a:p>
            <a:pPr marL="0" indent="0" algn="just">
              <a:buNone/>
            </a:pPr>
            <a:endParaRPr lang="fr-FR" sz="1600" dirty="0" smtClean="0">
              <a:latin typeface="Sitka Subheading Semibold" charset="0"/>
              <a:cs typeface="Sitka Subheading Semibold" charset="0"/>
            </a:endParaRPr>
          </a:p>
        </p:txBody>
      </p:sp>
      <p:sp>
        <p:nvSpPr>
          <p:cNvPr id="6" name="Titre 1"/>
          <p:cNvSpPr>
            <a:spLocks noGrp="1"/>
          </p:cNvSpPr>
          <p:nvPr>
            <p:ph type="title"/>
          </p:nvPr>
        </p:nvSpPr>
        <p:spPr>
          <a:xfrm>
            <a:off x="299172" y="274638"/>
            <a:ext cx="8539889" cy="1143000"/>
          </a:xfrm>
        </p:spPr>
        <p:txBody>
          <a:bodyPr>
            <a:normAutofit/>
          </a:bodyPr>
          <a:lstStyle/>
          <a:p>
            <a:r>
              <a:rPr lang="fr-FR" dirty="0" smtClean="0">
                <a:solidFill>
                  <a:srgbClr val="FF0000"/>
                </a:solidFill>
                <a:latin typeface="Sitka Subheading Semibold" charset="0"/>
                <a:cs typeface="Sitka Subheading Semibold" charset="0"/>
              </a:rPr>
              <a:t>… Aux empires</a:t>
            </a:r>
            <a:endParaRPr lang="fr-FR" dirty="0" smtClean="0">
              <a:solidFill>
                <a:srgbClr val="FF0000"/>
              </a:solidFill>
              <a:latin typeface="Sitka Subheading Semibold" charset="0"/>
              <a:cs typeface="Sitka Subheading Semibold" charset="0"/>
            </a:endParaRPr>
          </a:p>
        </p:txBody>
      </p:sp>
      <p:pic>
        <p:nvPicPr>
          <p:cNvPr id="12" name="Image 11" descr="220px-Met_(2)_-_Administrative_tablet,_Jamdat_Nasr,_Uruk_III_style_-_3100–2900_B.C_(détail).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898900" y="1417638"/>
            <a:ext cx="1940161" cy="1772602"/>
          </a:xfrm>
          <a:prstGeom prst="rect">
            <a:avLst/>
          </a:prstGeom>
        </p:spPr>
      </p:pic>
      <p:sp>
        <p:nvSpPr>
          <p:cNvPr id="13" name="Rectangle 12"/>
          <p:cNvSpPr/>
          <p:nvPr/>
        </p:nvSpPr>
        <p:spPr>
          <a:xfrm>
            <a:off x="6803772" y="3190241"/>
            <a:ext cx="2116570" cy="646331"/>
          </a:xfrm>
          <a:prstGeom prst="rect">
            <a:avLst/>
          </a:prstGeom>
        </p:spPr>
        <p:txBody>
          <a:bodyPr wrap="square">
            <a:spAutoFit/>
          </a:bodyPr>
          <a:lstStyle/>
          <a:p>
            <a:pPr algn="ctr"/>
            <a:r>
              <a:rPr lang="fr-FR" sz="1200" i="1" dirty="0">
                <a:latin typeface="Sitka Subheading Semibold" charset="0"/>
                <a:cs typeface="Sitka Subheading Semibold" charset="0"/>
              </a:rPr>
              <a:t>Tablette administrative (détail) de la période d'Uruk III (c. 3200-3000 av. J.-C.</a:t>
            </a:r>
            <a:r>
              <a:rPr lang="fr-FR" sz="1200" i="1" dirty="0" smtClean="0">
                <a:latin typeface="Sitka Subheading Semibold" charset="0"/>
                <a:cs typeface="Sitka Subheading Semibold" charset="0"/>
              </a:rPr>
              <a:t>).</a:t>
            </a:r>
            <a:endParaRPr lang="fr-FR" sz="1200" i="1" dirty="0">
              <a:latin typeface="Sitka Subheading Semibold" charset="0"/>
              <a:cs typeface="Sitka Subheading Semibold" charset="0"/>
            </a:endParaRPr>
          </a:p>
        </p:txBody>
      </p:sp>
      <p:pic>
        <p:nvPicPr>
          <p:cNvPr id="17" name="Image 16" descr="220px-Tomb_of_Artaxerxes_I.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0034" y="4021238"/>
            <a:ext cx="1612485" cy="2242820"/>
          </a:xfrm>
          <a:prstGeom prst="rect">
            <a:avLst/>
          </a:prstGeom>
        </p:spPr>
      </p:pic>
      <p:sp>
        <p:nvSpPr>
          <p:cNvPr id="18" name="ZoneTexte 17"/>
          <p:cNvSpPr txBox="1"/>
          <p:nvPr/>
        </p:nvSpPr>
        <p:spPr>
          <a:xfrm>
            <a:off x="6803772" y="6264058"/>
            <a:ext cx="2340227" cy="461665"/>
          </a:xfrm>
          <a:prstGeom prst="rect">
            <a:avLst/>
          </a:prstGeom>
          <a:noFill/>
        </p:spPr>
        <p:txBody>
          <a:bodyPr wrap="square" rtlCol="0">
            <a:spAutoFit/>
          </a:bodyPr>
          <a:lstStyle/>
          <a:p>
            <a:pPr algn="ctr"/>
            <a:r>
              <a:rPr lang="fr-FR" sz="1200" i="1" dirty="0" smtClean="0">
                <a:latin typeface="Sitka Subheading Semibold" charset="0"/>
                <a:cs typeface="Sitka Subheading Semibold" charset="0"/>
              </a:rPr>
              <a:t>Le tombeau du roi perse </a:t>
            </a:r>
            <a:r>
              <a:rPr lang="fr-FR" sz="1200" i="1" dirty="0" err="1" smtClean="0">
                <a:latin typeface="Sitka Subheading Semibold" charset="0"/>
                <a:cs typeface="Sitka Subheading Semibold" charset="0"/>
              </a:rPr>
              <a:t>Artaxerxès</a:t>
            </a:r>
            <a:r>
              <a:rPr lang="fr-FR" sz="1200" i="1" dirty="0" smtClean="0">
                <a:latin typeface="Sitka Subheading Semibold" charset="0"/>
                <a:cs typeface="Sitka Subheading Semibold" charset="0"/>
              </a:rPr>
              <a:t> </a:t>
            </a:r>
            <a:r>
              <a:rPr lang="fr-FR" sz="1200" i="1" dirty="0">
                <a:latin typeface="Sitka Subheading Semibold" charset="0"/>
                <a:cs typeface="Sitka Subheading Semibold" charset="0"/>
              </a:rPr>
              <a:t>Ier à </a:t>
            </a:r>
            <a:r>
              <a:rPr lang="fr-FR" sz="1200" i="1" dirty="0" err="1">
                <a:latin typeface="Sitka Subheading Semibold" charset="0"/>
                <a:cs typeface="Sitka Subheading Semibold" charset="0"/>
              </a:rPr>
              <a:t>Naqsh</a:t>
            </a:r>
            <a:r>
              <a:rPr lang="fr-FR" sz="1200" i="1" dirty="0">
                <a:latin typeface="Sitka Subheading Semibold" charset="0"/>
                <a:cs typeface="Sitka Subheading Semibold" charset="0"/>
              </a:rPr>
              <a:t>-e </a:t>
            </a:r>
            <a:r>
              <a:rPr lang="fr-FR" sz="1200" i="1" dirty="0" err="1">
                <a:latin typeface="Sitka Subheading Semibold" charset="0"/>
                <a:cs typeface="Sitka Subheading Semibold" charset="0"/>
              </a:rPr>
              <a:t>Rostam</a:t>
            </a:r>
            <a:r>
              <a:rPr lang="fr-FR" sz="1200" i="1" dirty="0">
                <a:latin typeface="Sitka Subheading Semibold" charset="0"/>
                <a:cs typeface="Sitka Subheading Semibold" charset="0"/>
              </a:rPr>
              <a:t>.</a:t>
            </a:r>
            <a:endParaRPr lang="fr-FR" sz="1200" i="1" dirty="0">
              <a:latin typeface="Sitka Subheading Semibold" charset="0"/>
              <a:cs typeface="Sitka Subheading Semibold"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Sitka Subheading Semibold" charset="0"/>
                <a:cs typeface="Sitka Subheading Semibold" charset="0"/>
              </a:rPr>
              <a:t>Procédés de construction </a:t>
            </a:r>
            <a:endParaRPr lang="fr-FR" dirty="0" smtClean="0">
              <a:solidFill>
                <a:srgbClr val="FF0000"/>
              </a:solidFill>
              <a:latin typeface="Sitka Subheading Semibold" charset="0"/>
              <a:cs typeface="Sitka Subheading Semibold" charset="0"/>
            </a:endParaRPr>
          </a:p>
        </p:txBody>
      </p:sp>
      <p:sp>
        <p:nvSpPr>
          <p:cNvPr id="5" name="Rectangle 4"/>
          <p:cNvSpPr/>
          <p:nvPr/>
        </p:nvSpPr>
        <p:spPr>
          <a:xfrm>
            <a:off x="299171" y="1417638"/>
            <a:ext cx="8539889" cy="1384995"/>
          </a:xfrm>
          <a:prstGeom prst="rect">
            <a:avLst/>
          </a:prstGeom>
        </p:spPr>
        <p:txBody>
          <a:bodyPr wrap="square">
            <a:spAutoFit/>
          </a:bodyPr>
          <a:lstStyle/>
          <a:p>
            <a:r>
              <a:rPr lang="fr-FR" b="1" dirty="0" smtClean="0">
                <a:latin typeface="Sitka Subheading Semibold" charset="0"/>
                <a:cs typeface="Sitka Subheading Semibold" charset="0"/>
              </a:rPr>
              <a:t>MURS </a:t>
            </a:r>
            <a:endParaRPr lang="fr-FR" b="1" dirty="0" smtClean="0">
              <a:latin typeface="Sitka Subheading Semibold" charset="0"/>
              <a:cs typeface="Sitka Subheading Semibold" charset="0"/>
            </a:endParaRPr>
          </a:p>
          <a:p>
            <a:pPr marL="285750" indent="-285750">
              <a:buFont typeface="Arial" panose="020B0604020202020204"/>
              <a:buChar char="•"/>
            </a:pPr>
            <a:r>
              <a:rPr lang="fr-FR" sz="1600" b="1" dirty="0" smtClean="0">
                <a:latin typeface="Sitka Subheading Semibold" charset="0"/>
                <a:cs typeface="Sitka Subheading Semibold" charset="0"/>
              </a:rPr>
              <a:t>Habitations </a:t>
            </a:r>
            <a:r>
              <a:rPr lang="fr-FR" sz="1600" b="1" dirty="0">
                <a:latin typeface="Sitka Subheading Semibold" charset="0"/>
                <a:cs typeface="Sitka Subheading Semibold" charset="0"/>
              </a:rPr>
              <a:t>rurales </a:t>
            </a:r>
            <a:r>
              <a:rPr lang="fr-FR" sz="1600" dirty="0">
                <a:latin typeface="Sitka Subheading Semibold" charset="0"/>
                <a:cs typeface="Sitka Subheading Semibold" charset="0"/>
              </a:rPr>
              <a:t>: torchis (paille, boue, roseaux</a:t>
            </a:r>
            <a:r>
              <a:rPr lang="fr-FR" sz="1600" dirty="0" smtClean="0">
                <a:latin typeface="Sitka Subheading Semibold" charset="0"/>
                <a:cs typeface="Sitka Subheading Semibold" charset="0"/>
              </a:rPr>
              <a:t>). </a:t>
            </a:r>
            <a:endParaRPr lang="fr-FR" sz="1600" dirty="0">
              <a:latin typeface="Sitka Subheading Semibold" charset="0"/>
              <a:cs typeface="Sitka Subheading Semibold" charset="0"/>
            </a:endParaRPr>
          </a:p>
          <a:p>
            <a:pPr marL="285750" indent="-285750">
              <a:buFont typeface="Arial" panose="020B0604020202020204"/>
              <a:buChar char="•"/>
            </a:pPr>
            <a:r>
              <a:rPr lang="fr-FR" sz="1600" b="1" dirty="0" err="1" smtClean="0">
                <a:latin typeface="Sitka Subheading Semibold" charset="0"/>
                <a:cs typeface="Sitka Subheading Semibold" charset="0"/>
              </a:rPr>
              <a:t>Édifices</a:t>
            </a:r>
            <a:r>
              <a:rPr lang="fr-FR" sz="1600" b="1" dirty="0" smtClean="0">
                <a:latin typeface="Sitka Subheading Semibold" charset="0"/>
                <a:cs typeface="Sitka Subheading Semibold" charset="0"/>
              </a:rPr>
              <a:t> </a:t>
            </a:r>
            <a:r>
              <a:rPr lang="fr-FR" sz="1600" b="1" dirty="0">
                <a:latin typeface="Sitka Subheading Semibold" charset="0"/>
                <a:cs typeface="Sitka Subheading Semibold" charset="0"/>
              </a:rPr>
              <a:t>urbains (temples, palais, remparts) </a:t>
            </a:r>
            <a:r>
              <a:rPr lang="fr-FR" sz="1600" dirty="0">
                <a:latin typeface="Sitka Subheading Semibold" charset="0"/>
                <a:cs typeface="Sitka Subheading Semibold" charset="0"/>
              </a:rPr>
              <a:t>: Briques crues (Babylonie) ou crues et cuites en </a:t>
            </a:r>
            <a:r>
              <a:rPr lang="fr-FR" sz="1600" dirty="0" smtClean="0">
                <a:latin typeface="Sitka Subheading Semibold" charset="0"/>
                <a:cs typeface="Sitka Subheading Semibold" charset="0"/>
              </a:rPr>
              <a:t>revêtement </a:t>
            </a:r>
            <a:r>
              <a:rPr lang="fr-FR" sz="1600" dirty="0">
                <a:latin typeface="Sitka Subheading Semibold" charset="0"/>
                <a:cs typeface="Sitka Subheading Semibold" charset="0"/>
              </a:rPr>
              <a:t>ou soubassement (Assyrie</a:t>
            </a:r>
            <a:r>
              <a:rPr lang="fr-FR" sz="1600" dirty="0" smtClean="0">
                <a:latin typeface="Sitka Subheading Semibold" charset="0"/>
                <a:cs typeface="Sitka Subheading Semibold" charset="0"/>
              </a:rPr>
              <a:t>).</a:t>
            </a:r>
            <a:endParaRPr lang="fr-FR" sz="1600" dirty="0">
              <a:latin typeface="Sitka Subheading Semibold" charset="0"/>
              <a:cs typeface="Sitka Subheading Semibold" charset="0"/>
            </a:endParaRPr>
          </a:p>
          <a:p>
            <a:endParaRPr lang="fr-FR" dirty="0" smtClean="0">
              <a:latin typeface="Sitka Subheading Semibold" charset="0"/>
              <a:cs typeface="Sitka Subheading Semibold" charset="0"/>
            </a:endParaRPr>
          </a:p>
        </p:txBody>
      </p:sp>
      <p:pic>
        <p:nvPicPr>
          <p:cNvPr id="3" name="Image 2" descr="doc 2.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43100" y="2802633"/>
            <a:ext cx="5236464" cy="35356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Sitka Subheading Semibold" charset="0"/>
                <a:cs typeface="Sitka Subheading Semibold" charset="0"/>
              </a:rPr>
              <a:t>Procédés de construction </a:t>
            </a:r>
            <a:endParaRPr lang="fr-FR" dirty="0" smtClean="0">
              <a:solidFill>
                <a:srgbClr val="FF0000"/>
              </a:solidFill>
              <a:latin typeface="Sitka Subheading Semibold" charset="0"/>
              <a:cs typeface="Sitka Subheading Semibold" charset="0"/>
            </a:endParaRPr>
          </a:p>
        </p:txBody>
      </p:sp>
      <p:sp>
        <p:nvSpPr>
          <p:cNvPr id="5" name="Rectangle 4"/>
          <p:cNvSpPr/>
          <p:nvPr/>
        </p:nvSpPr>
        <p:spPr>
          <a:xfrm>
            <a:off x="299171" y="1417638"/>
            <a:ext cx="8539889" cy="2831544"/>
          </a:xfrm>
          <a:prstGeom prst="rect">
            <a:avLst/>
          </a:prstGeom>
        </p:spPr>
        <p:txBody>
          <a:bodyPr wrap="square">
            <a:spAutoFit/>
          </a:bodyPr>
          <a:lstStyle/>
          <a:p>
            <a:r>
              <a:rPr lang="fr-FR" b="1" dirty="0">
                <a:latin typeface="Sitka Subheading Semibold" charset="0"/>
                <a:cs typeface="Sitka Subheading Semibold" charset="0"/>
              </a:rPr>
              <a:t>COUVERTURE DES ESPACES BÂTIS </a:t>
            </a:r>
            <a:endParaRPr lang="fr-FR" b="1" dirty="0" smtClean="0">
              <a:latin typeface="Sitka Subheading Semibold" charset="0"/>
              <a:cs typeface="Sitka Subheading Semibold" charset="0"/>
            </a:endParaRPr>
          </a:p>
          <a:p>
            <a:r>
              <a:rPr lang="fr-FR" sz="1600" b="1" dirty="0" smtClean="0">
                <a:latin typeface="Sitka Subheading Semibold" charset="0"/>
                <a:cs typeface="Sitka Subheading Semibold" charset="0"/>
              </a:rPr>
              <a:t>Problème majeur </a:t>
            </a:r>
            <a:r>
              <a:rPr lang="fr-FR" sz="1600" b="1" dirty="0">
                <a:latin typeface="Sitka Subheading Semibold" charset="0"/>
                <a:cs typeface="Sitka Subheading Semibold" charset="0"/>
              </a:rPr>
              <a:t>de l’architecture </a:t>
            </a:r>
            <a:r>
              <a:rPr lang="fr-FR" sz="1600" dirty="0" smtClean="0">
                <a:latin typeface="Sitka Subheading Semibold" charset="0"/>
                <a:cs typeface="Sitka Subheading Semibold" charset="0"/>
              </a:rPr>
              <a:t>:</a:t>
            </a:r>
            <a:endParaRPr lang="fr-FR" sz="1600" dirty="0" smtClean="0">
              <a:latin typeface="Sitka Subheading Semibold" charset="0"/>
              <a:cs typeface="Sitka Subheading Semibold" charset="0"/>
            </a:endParaRPr>
          </a:p>
          <a:p>
            <a:pPr marL="285750" indent="-285750">
              <a:buFont typeface="Arial" panose="020B0604020202020204"/>
              <a:buChar char="•"/>
            </a:pPr>
            <a:r>
              <a:rPr lang="fr-FR" sz="1600" dirty="0" smtClean="0">
                <a:latin typeface="Sitka Subheading Semibold" charset="0"/>
                <a:cs typeface="Sitka Subheading Semibold" charset="0"/>
              </a:rPr>
              <a:t>Comment couvrir un espace ?</a:t>
            </a:r>
            <a:endParaRPr lang="fr-FR" sz="1600" dirty="0">
              <a:latin typeface="Sitka Subheading Semibold" charset="0"/>
              <a:cs typeface="Sitka Subheading Semibold" charset="0"/>
            </a:endParaRPr>
          </a:p>
          <a:p>
            <a:pPr marL="285750" indent="-285750">
              <a:buFont typeface="Arial" panose="020B0604020202020204"/>
              <a:buChar char="•"/>
            </a:pPr>
            <a:r>
              <a:rPr lang="fr-FR" sz="1600" dirty="0" smtClean="0">
                <a:latin typeface="Sitka Subheading Semibold" charset="0"/>
                <a:cs typeface="Sitka Subheading Semibold" charset="0"/>
              </a:rPr>
              <a:t>Problème de portée de la couverture sur un espace vide cantonné de murs.</a:t>
            </a:r>
            <a:endParaRPr lang="fr-FR" sz="1600" dirty="0">
              <a:latin typeface="Sitka Subheading Semibold" charset="0"/>
              <a:cs typeface="Sitka Subheading Semibold" charset="0"/>
            </a:endParaRPr>
          </a:p>
          <a:p>
            <a:r>
              <a:rPr lang="fr-FR" sz="1600" b="1" dirty="0" smtClean="0">
                <a:latin typeface="Sitka Subheading Semibold" charset="0"/>
                <a:cs typeface="Sitka Subheading Semibold" charset="0"/>
              </a:rPr>
              <a:t>Mésopotamie </a:t>
            </a:r>
            <a:r>
              <a:rPr lang="fr-FR" sz="1600" dirty="0">
                <a:latin typeface="Sitka Subheading Semibold" charset="0"/>
                <a:cs typeface="Sitka Subheading Semibold" charset="0"/>
              </a:rPr>
              <a:t>: </a:t>
            </a:r>
            <a:r>
              <a:rPr lang="fr-FR" sz="1600" b="1" dirty="0">
                <a:latin typeface="Sitka Subheading Semibold" charset="0"/>
                <a:cs typeface="Sitka Subheading Semibold" charset="0"/>
              </a:rPr>
              <a:t>zone </a:t>
            </a:r>
            <a:r>
              <a:rPr lang="fr-FR" sz="1600" b="1" dirty="0" smtClean="0">
                <a:latin typeface="Sitka Subheading Semibold" charset="0"/>
                <a:cs typeface="Sitka Subheading Semibold" charset="0"/>
              </a:rPr>
              <a:t>très </a:t>
            </a:r>
            <a:r>
              <a:rPr lang="fr-FR" sz="1600" b="1" dirty="0">
                <a:latin typeface="Sitka Subheading Semibold" charset="0"/>
                <a:cs typeface="Sitka Subheading Semibold" charset="0"/>
              </a:rPr>
              <a:t>aride, </a:t>
            </a:r>
            <a:r>
              <a:rPr lang="fr-FR" sz="1600" b="1" dirty="0" smtClean="0">
                <a:latin typeface="Sitka Subheading Semibold" charset="0"/>
                <a:cs typeface="Sitka Subheading Semibold" charset="0"/>
              </a:rPr>
              <a:t>désert argileux</a:t>
            </a:r>
            <a:endParaRPr lang="fr-FR" sz="1600" b="1" dirty="0" smtClean="0">
              <a:latin typeface="Sitka Subheading Semibold" charset="0"/>
              <a:cs typeface="Sitka Subheading Semibold" charset="0"/>
            </a:endParaRPr>
          </a:p>
          <a:p>
            <a:pPr marL="285750" indent="-285750">
              <a:buFont typeface="Arial" panose="020B0604020202020204"/>
              <a:buChar char="•"/>
            </a:pPr>
            <a:r>
              <a:rPr lang="fr-FR" sz="1600" dirty="0" smtClean="0">
                <a:latin typeface="Sitka Subheading Semibold" charset="0"/>
                <a:cs typeface="Sitka Subheading Semibold" charset="0"/>
              </a:rPr>
              <a:t>Pas </a:t>
            </a:r>
            <a:r>
              <a:rPr lang="fr-FR" sz="1600" dirty="0">
                <a:latin typeface="Sitka Subheading Semibold" charset="0"/>
                <a:cs typeface="Sitka Subheading Semibold" charset="0"/>
              </a:rPr>
              <a:t>besoin de couverture avec rampants (en pente) : toit </a:t>
            </a:r>
            <a:r>
              <a:rPr lang="fr-FR" sz="1600" dirty="0" smtClean="0">
                <a:latin typeface="Sitka Subheading Semibold" charset="0"/>
                <a:cs typeface="Sitka Subheading Semibold" charset="0"/>
              </a:rPr>
              <a:t>plat. </a:t>
            </a:r>
            <a:endParaRPr lang="fr-FR" sz="1600" dirty="0">
              <a:latin typeface="Sitka Subheading Semibold" charset="0"/>
              <a:cs typeface="Sitka Subheading Semibold" charset="0"/>
            </a:endParaRPr>
          </a:p>
          <a:p>
            <a:pPr marL="285750" indent="-285750">
              <a:buFont typeface="Arial" panose="020B0604020202020204"/>
              <a:buChar char="•"/>
            </a:pPr>
            <a:r>
              <a:rPr lang="fr-FR" sz="1600" dirty="0" smtClean="0">
                <a:latin typeface="Sitka Subheading Semibold" charset="0"/>
                <a:cs typeface="Sitka Subheading Semibold" charset="0"/>
              </a:rPr>
              <a:t>Couverture </a:t>
            </a:r>
            <a:r>
              <a:rPr lang="fr-FR" sz="1600" dirty="0">
                <a:latin typeface="Sitka Subheading Semibold" charset="0"/>
                <a:cs typeface="Sitka Subheading Semibold" charset="0"/>
              </a:rPr>
              <a:t>avec </a:t>
            </a:r>
            <a:r>
              <a:rPr lang="fr-FR" sz="1600" dirty="0" smtClean="0">
                <a:latin typeface="Sitka Subheading Semibold" charset="0"/>
                <a:cs typeface="Sitka Subheading Semibold" charset="0"/>
              </a:rPr>
              <a:t>pénurie </a:t>
            </a:r>
            <a:r>
              <a:rPr lang="fr-FR" sz="1600" dirty="0">
                <a:latin typeface="Sitka Subheading Semibold" charset="0"/>
                <a:cs typeface="Sitka Subheading Semibold" charset="0"/>
              </a:rPr>
              <a:t>de </a:t>
            </a:r>
            <a:r>
              <a:rPr lang="fr-FR" sz="1600" dirty="0" smtClean="0">
                <a:latin typeface="Sitka Subheading Semibold" charset="0"/>
                <a:cs typeface="Sitka Subheading Semibold" charset="0"/>
              </a:rPr>
              <a:t>bois.</a:t>
            </a:r>
            <a:endParaRPr lang="fr-FR" sz="1600" dirty="0">
              <a:latin typeface="Sitka Subheading Semibold" charset="0"/>
              <a:cs typeface="Sitka Subheading Semibold" charset="0"/>
            </a:endParaRPr>
          </a:p>
          <a:p>
            <a:pPr marL="285750" indent="-285750">
              <a:buFont typeface="Wingdings" panose="05000000000000000000" pitchFamily="2" charset="2"/>
              <a:buChar char="ü"/>
            </a:pPr>
            <a:r>
              <a:rPr lang="fr-FR" sz="1600" dirty="0">
                <a:latin typeface="Sitka Subheading Semibold" charset="0"/>
                <a:cs typeface="Sitka Subheading Semibold" charset="0"/>
              </a:rPr>
              <a:t>	</a:t>
            </a:r>
            <a:r>
              <a:rPr lang="fr-FR" sz="1600" dirty="0" smtClean="0">
                <a:latin typeface="Sitka Subheading Semibold" charset="0"/>
                <a:cs typeface="Sitka Subheading Semibold" charset="0"/>
              </a:rPr>
              <a:t>Plafond </a:t>
            </a:r>
            <a:r>
              <a:rPr lang="fr-FR" sz="1600" dirty="0">
                <a:latin typeface="Sitka Subheading Semibold" charset="0"/>
                <a:cs typeface="Sitka Subheading Semibold" charset="0"/>
              </a:rPr>
              <a:t>de bois + paille + </a:t>
            </a:r>
            <a:r>
              <a:rPr lang="fr-FR" sz="1600" dirty="0" smtClean="0">
                <a:latin typeface="Sitka Subheading Semibold" charset="0"/>
                <a:cs typeface="Sitka Subheading Semibold" charset="0"/>
              </a:rPr>
              <a:t>torchis. </a:t>
            </a:r>
            <a:endParaRPr lang="fr-FR" sz="1600" dirty="0">
              <a:latin typeface="Sitka Subheading Semibold" charset="0"/>
              <a:cs typeface="Sitka Subheading Semibold" charset="0"/>
            </a:endParaRPr>
          </a:p>
          <a:p>
            <a:pPr marL="285750" indent="-285750">
              <a:buFont typeface="Wingdings" panose="05000000000000000000" pitchFamily="2" charset="2"/>
              <a:buChar char="ü"/>
            </a:pPr>
            <a:r>
              <a:rPr lang="fr-FR" sz="1600" dirty="0" smtClean="0">
                <a:latin typeface="Sitka Subheading Semibold" charset="0"/>
                <a:cs typeface="Sitka Subheading Semibold" charset="0"/>
              </a:rPr>
              <a:t>􏰁	Petites pièces </a:t>
            </a:r>
            <a:r>
              <a:rPr lang="fr-FR" sz="1600" dirty="0">
                <a:latin typeface="Sitka Subheading Semibold" charset="0"/>
                <a:cs typeface="Sitka Subheading Semibold" charset="0"/>
              </a:rPr>
              <a:t>pour </a:t>
            </a:r>
            <a:r>
              <a:rPr lang="fr-FR" sz="1600" dirty="0" smtClean="0">
                <a:latin typeface="Sitka Subheading Semibold" charset="0"/>
                <a:cs typeface="Sitka Subheading Semibold" charset="0"/>
              </a:rPr>
              <a:t>limitée </a:t>
            </a:r>
            <a:r>
              <a:rPr lang="fr-FR" sz="1600" dirty="0">
                <a:latin typeface="Sitka Subheading Semibold" charset="0"/>
                <a:cs typeface="Sitka Subheading Semibold" charset="0"/>
              </a:rPr>
              <a:t>la </a:t>
            </a:r>
            <a:r>
              <a:rPr lang="fr-FR" sz="1600" dirty="0" smtClean="0">
                <a:latin typeface="Sitka Subheading Semibold" charset="0"/>
                <a:cs typeface="Sitka Subheading Semibold" charset="0"/>
              </a:rPr>
              <a:t>portée. </a:t>
            </a:r>
            <a:r>
              <a:rPr lang="fr-FR" sz="1600" dirty="0">
                <a:latin typeface="Sitka Subheading Semibold" charset="0"/>
                <a:cs typeface="Sitka Subheading Semibold" charset="0"/>
              </a:rPr>
              <a:t>􏰁 </a:t>
            </a:r>
            <a:endParaRPr lang="fr-FR" sz="1600" dirty="0" smtClean="0">
              <a:latin typeface="Sitka Subheading Semibold" charset="0"/>
              <a:cs typeface="Sitka Subheading Semibold" charset="0"/>
            </a:endParaRPr>
          </a:p>
          <a:p>
            <a:pPr marL="285750" indent="-285750">
              <a:buFont typeface="Wingdings" panose="05000000000000000000" pitchFamily="2" charset="2"/>
              <a:buChar char="ü"/>
            </a:pPr>
            <a:r>
              <a:rPr lang="fr-FR" sz="1600" dirty="0">
                <a:latin typeface="Sitka Subheading Semibold" charset="0"/>
                <a:cs typeface="Sitka Subheading Semibold" charset="0"/>
              </a:rPr>
              <a:t>	</a:t>
            </a:r>
            <a:r>
              <a:rPr lang="fr-FR" sz="1600" dirty="0" smtClean="0">
                <a:latin typeface="Sitka Subheading Semibold" charset="0"/>
                <a:cs typeface="Sitka Subheading Semibold" charset="0"/>
              </a:rPr>
              <a:t>Nombre </a:t>
            </a:r>
            <a:r>
              <a:rPr lang="fr-FR" sz="1600" dirty="0">
                <a:latin typeface="Sitka Subheading Semibold" charset="0"/>
                <a:cs typeface="Sitka Subheading Semibold" charset="0"/>
              </a:rPr>
              <a:t>d’</a:t>
            </a:r>
            <a:r>
              <a:rPr lang="fr-FR" sz="1600" dirty="0" err="1">
                <a:latin typeface="Sitka Subheading Semibold" charset="0"/>
                <a:cs typeface="Sitka Subheading Semibold" charset="0"/>
              </a:rPr>
              <a:t>étages</a:t>
            </a:r>
            <a:r>
              <a:rPr lang="fr-FR" sz="1600" dirty="0">
                <a:latin typeface="Sitka Subheading Semibold" charset="0"/>
                <a:cs typeface="Sitka Subheading Semibold" charset="0"/>
              </a:rPr>
              <a:t> </a:t>
            </a:r>
            <a:r>
              <a:rPr lang="fr-FR" sz="1600" dirty="0" smtClean="0">
                <a:latin typeface="Sitka Subheading Semibold" charset="0"/>
                <a:cs typeface="Sitka Subheading Semibold" charset="0"/>
              </a:rPr>
              <a:t>limité. </a:t>
            </a:r>
            <a:endParaRPr lang="fr-FR" sz="1600" dirty="0">
              <a:latin typeface="Sitka Subheading Semibold" charset="0"/>
              <a:cs typeface="Sitka Subheading Semibold" charset="0"/>
            </a:endParaRPr>
          </a:p>
          <a:p>
            <a:pPr marL="285750" indent="-285750">
              <a:buFont typeface="Wingdings" panose="05000000000000000000" pitchFamily="2" charset="2"/>
              <a:buChar char="ü"/>
            </a:pPr>
            <a:endParaRPr lang="fr-FR" sz="1600" dirty="0" smtClean="0">
              <a:latin typeface="Sitka Subheading Semibold" charset="0"/>
              <a:cs typeface="Sitka Subheading Semibold" charset="0"/>
            </a:endParaRPr>
          </a:p>
        </p:txBody>
      </p:sp>
      <p:pic>
        <p:nvPicPr>
          <p:cNvPr id="2" name="Image 1" descr="doc 3.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59540" y="3420364"/>
            <a:ext cx="3779520" cy="25481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Sitka Subheading Semibold" charset="0"/>
                <a:cs typeface="Sitka Subheading Semibold" charset="0"/>
              </a:rPr>
              <a:t>Procédés de construction </a:t>
            </a:r>
            <a:endParaRPr lang="fr-FR" dirty="0" smtClean="0">
              <a:solidFill>
                <a:srgbClr val="FF0000"/>
              </a:solidFill>
              <a:latin typeface="Sitka Subheading Semibold" charset="0"/>
              <a:cs typeface="Sitka Subheading Semibold" charset="0"/>
            </a:endParaRPr>
          </a:p>
        </p:txBody>
      </p:sp>
      <p:sp>
        <p:nvSpPr>
          <p:cNvPr id="5" name="Rectangle 4"/>
          <p:cNvSpPr/>
          <p:nvPr/>
        </p:nvSpPr>
        <p:spPr>
          <a:xfrm>
            <a:off x="299171" y="1417638"/>
            <a:ext cx="8539889" cy="1354217"/>
          </a:xfrm>
          <a:prstGeom prst="rect">
            <a:avLst/>
          </a:prstGeom>
        </p:spPr>
        <p:txBody>
          <a:bodyPr wrap="square">
            <a:spAutoFit/>
          </a:bodyPr>
          <a:lstStyle/>
          <a:p>
            <a:r>
              <a:rPr lang="fr-FR" b="1" dirty="0">
                <a:latin typeface="Sitka Subheading Semibold" charset="0"/>
                <a:cs typeface="Sitka Subheading Semibold" charset="0"/>
              </a:rPr>
              <a:t>VOUTEMENTS EN BRIQUE </a:t>
            </a:r>
            <a:endParaRPr lang="fr-FR" dirty="0">
              <a:latin typeface="Sitka Subheading Semibold" charset="0"/>
              <a:cs typeface="Sitka Subheading Semibold" charset="0"/>
            </a:endParaRPr>
          </a:p>
          <a:p>
            <a:r>
              <a:rPr lang="fr-FR" sz="1600" dirty="0">
                <a:latin typeface="Sitka Subheading Semibold" charset="0"/>
                <a:cs typeface="Sitka Subheading Semibold" charset="0"/>
              </a:rPr>
              <a:t>• Rares et de petite </a:t>
            </a:r>
            <a:r>
              <a:rPr lang="fr-FR" sz="1600" dirty="0" smtClean="0">
                <a:latin typeface="Sitka Subheading Semibold" charset="0"/>
                <a:cs typeface="Sitka Subheading Semibold" charset="0"/>
              </a:rPr>
              <a:t>portée </a:t>
            </a:r>
            <a:r>
              <a:rPr lang="fr-FR" sz="1600" dirty="0">
                <a:latin typeface="Sitka Subheading Semibold" charset="0"/>
                <a:cs typeface="Sitka Subheading Semibold" charset="0"/>
              </a:rPr>
              <a:t>avant l’Empire Assyrien (934 / 610 av. JC) </a:t>
            </a:r>
            <a:r>
              <a:rPr lang="fr-FR" sz="1600" dirty="0" smtClean="0">
                <a:latin typeface="Sitka Subheading Semibold" charset="0"/>
                <a:cs typeface="Sitka Subheading Semibold" charset="0"/>
              </a:rPr>
              <a:t>– réservéé </a:t>
            </a:r>
            <a:r>
              <a:rPr lang="fr-FR" sz="1600" dirty="0">
                <a:latin typeface="Sitka Subheading Semibold" charset="0"/>
                <a:cs typeface="Sitka Subheading Semibold" charset="0"/>
              </a:rPr>
              <a:t>à l’architecture </a:t>
            </a:r>
            <a:r>
              <a:rPr lang="fr-FR" sz="1600" dirty="0" smtClean="0">
                <a:latin typeface="Sitka Subheading Semibold" charset="0"/>
                <a:cs typeface="Sitka Subheading Semibold" charset="0"/>
              </a:rPr>
              <a:t>monumentale. </a:t>
            </a:r>
            <a:endParaRPr lang="fr-FR" sz="1600" dirty="0">
              <a:latin typeface="Sitka Subheading Semibold" charset="0"/>
              <a:cs typeface="Sitka Subheading Semibold" charset="0"/>
            </a:endParaRPr>
          </a:p>
          <a:p>
            <a:r>
              <a:rPr lang="fr-FR" sz="1600" dirty="0">
                <a:latin typeface="Sitka Subheading Semibold" charset="0"/>
                <a:cs typeface="Sitka Subheading Semibold" charset="0"/>
              </a:rPr>
              <a:t>• Construction </a:t>
            </a:r>
            <a:r>
              <a:rPr lang="fr-FR" sz="1600" dirty="0" smtClean="0">
                <a:latin typeface="Sitka Subheading Semibold" charset="0"/>
                <a:cs typeface="Sitka Subheading Semibold" charset="0"/>
              </a:rPr>
              <a:t>généralement </a:t>
            </a:r>
            <a:r>
              <a:rPr lang="fr-FR" sz="1600" dirty="0">
                <a:latin typeface="Sitka Subheading Semibold" charset="0"/>
                <a:cs typeface="Sitka Subheading Semibold" charset="0"/>
              </a:rPr>
              <a:t>par </a:t>
            </a:r>
            <a:r>
              <a:rPr lang="fr-FR" sz="1600" b="1" dirty="0">
                <a:latin typeface="Sitka Subheading Semibold" charset="0"/>
                <a:cs typeface="Sitka Subheading Semibold" charset="0"/>
              </a:rPr>
              <a:t>lits </a:t>
            </a:r>
            <a:r>
              <a:rPr lang="fr-FR" sz="1600" b="1" dirty="0" smtClean="0">
                <a:latin typeface="Sitka Subheading Semibold" charset="0"/>
                <a:cs typeface="Sitka Subheading Semibold" charset="0"/>
              </a:rPr>
              <a:t>inclinés </a:t>
            </a:r>
            <a:r>
              <a:rPr lang="fr-FR" sz="1600" dirty="0">
                <a:latin typeface="Sitka Subheading Semibold" charset="0"/>
                <a:cs typeface="Sitka Subheading Semibold" charset="0"/>
              </a:rPr>
              <a:t>(autoporteurs) sans </a:t>
            </a:r>
            <a:r>
              <a:rPr lang="fr-FR" sz="1600" b="1" dirty="0" smtClean="0">
                <a:latin typeface="Sitka Subheading Semibold" charset="0"/>
                <a:cs typeface="Sitka Subheading Semibold" charset="0"/>
              </a:rPr>
              <a:t>cintres. </a:t>
            </a:r>
            <a:endParaRPr lang="fr-FR" sz="1600" b="1" dirty="0">
              <a:latin typeface="Sitka Subheading Semibold" charset="0"/>
              <a:cs typeface="Sitka Subheading Semibold" charset="0"/>
            </a:endParaRPr>
          </a:p>
          <a:p>
            <a:pPr marL="285750" indent="-285750">
              <a:buFont typeface="Wingdings" panose="05000000000000000000" pitchFamily="2" charset="2"/>
              <a:buChar char="ü"/>
            </a:pPr>
            <a:endParaRPr lang="fr-FR" sz="1600" dirty="0" smtClean="0">
              <a:latin typeface="Sitka Subheading Semibold" charset="0"/>
              <a:cs typeface="Sitka Subheading Semibold" charset="0"/>
            </a:endParaRPr>
          </a:p>
        </p:txBody>
      </p:sp>
      <p:pic>
        <p:nvPicPr>
          <p:cNvPr id="3" name="Image 2" descr="doc 4.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61060" y="2599135"/>
            <a:ext cx="7409180" cy="3721429"/>
          </a:xfrm>
          <a:prstGeom prst="rect">
            <a:avLst/>
          </a:prstGeom>
        </p:spPr>
      </p:pic>
      <p:sp>
        <p:nvSpPr>
          <p:cNvPr id="6" name="Rectangle 5"/>
          <p:cNvSpPr/>
          <p:nvPr/>
        </p:nvSpPr>
        <p:spPr>
          <a:xfrm>
            <a:off x="5445620" y="6302145"/>
            <a:ext cx="3393440" cy="461665"/>
          </a:xfrm>
          <a:prstGeom prst="rect">
            <a:avLst/>
          </a:prstGeom>
        </p:spPr>
        <p:txBody>
          <a:bodyPr wrap="square">
            <a:spAutoFit/>
          </a:bodyPr>
          <a:lstStyle/>
          <a:p>
            <a:pPr algn="ctr"/>
            <a:r>
              <a:rPr lang="fr-FR" sz="1200" i="1" dirty="0">
                <a:latin typeface="Sitka Subheading Semibold" charset="0"/>
                <a:cs typeface="Sitka Subheading Semibold" charset="0"/>
              </a:rPr>
              <a:t>La Porte d'Ishtar de Babylone, vie siècle av. J.-C., reconstituée au </a:t>
            </a:r>
            <a:r>
              <a:rPr lang="fr-FR" sz="1200" i="1" dirty="0" err="1">
                <a:latin typeface="Sitka Subheading Semibold" charset="0"/>
                <a:cs typeface="Sitka Subheading Semibold" charset="0"/>
              </a:rPr>
              <a:t>Pergamon</a:t>
            </a:r>
            <a:r>
              <a:rPr lang="fr-FR" sz="1200" i="1" dirty="0">
                <a:latin typeface="Sitka Subheading Semibold" charset="0"/>
                <a:cs typeface="Sitka Subheading Semibold" charset="0"/>
              </a:rPr>
              <a:t> Museum de Berlin.</a:t>
            </a:r>
            <a:endParaRPr lang="fr-FR" sz="1200" i="1" dirty="0">
              <a:latin typeface="Sitka Subheading Semibold" charset="0"/>
              <a:cs typeface="Sitka Subheading Semibold"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Sitka Subheading Semibold" charset="0"/>
                <a:cs typeface="Sitka Subheading Semibold" charset="0"/>
              </a:rPr>
              <a:t>Procédés de construction </a:t>
            </a:r>
            <a:endParaRPr lang="fr-FR" dirty="0" smtClean="0">
              <a:solidFill>
                <a:srgbClr val="FF0000"/>
              </a:solidFill>
              <a:latin typeface="Sitka Subheading Semibold" charset="0"/>
              <a:cs typeface="Sitka Subheading Semibold" charset="0"/>
            </a:endParaRPr>
          </a:p>
        </p:txBody>
      </p:sp>
      <p:sp>
        <p:nvSpPr>
          <p:cNvPr id="5" name="Rectangle 4"/>
          <p:cNvSpPr/>
          <p:nvPr/>
        </p:nvSpPr>
        <p:spPr>
          <a:xfrm>
            <a:off x="299171" y="1417638"/>
            <a:ext cx="8539889" cy="1107996"/>
          </a:xfrm>
          <a:prstGeom prst="rect">
            <a:avLst/>
          </a:prstGeom>
        </p:spPr>
        <p:txBody>
          <a:bodyPr wrap="square">
            <a:spAutoFit/>
          </a:bodyPr>
          <a:lstStyle/>
          <a:p>
            <a:r>
              <a:rPr lang="fr-FR" b="1" dirty="0" smtClean="0">
                <a:latin typeface="Sitka Subheading Semibold" charset="0"/>
                <a:cs typeface="Sitka Subheading Semibold" charset="0"/>
              </a:rPr>
              <a:t>COLONNES </a:t>
            </a:r>
            <a:endParaRPr lang="fr-FR" dirty="0">
              <a:latin typeface="Sitka Subheading Semibold" charset="0"/>
              <a:cs typeface="Sitka Subheading Semibold" charset="0"/>
            </a:endParaRPr>
          </a:p>
          <a:p>
            <a:pPr marL="285750" indent="-285750">
              <a:buFont typeface="Arial" panose="020B0604020202020204"/>
              <a:buChar char="•"/>
            </a:pPr>
            <a:r>
              <a:rPr lang="fr-FR" sz="1600" b="1" dirty="0">
                <a:latin typeface="Sitka Subheading Semibold" charset="0"/>
                <a:cs typeface="Sitka Subheading Semibold" charset="0"/>
              </a:rPr>
              <a:t>Empire Perse (539/330 av. JC) </a:t>
            </a:r>
            <a:r>
              <a:rPr lang="fr-FR" sz="1600" dirty="0">
                <a:latin typeface="Sitka Subheading Semibold" charset="0"/>
                <a:cs typeface="Sitka Subheading Semibold" charset="0"/>
              </a:rPr>
              <a:t>: salles </a:t>
            </a:r>
            <a:r>
              <a:rPr lang="fr-FR" sz="1600" i="1" dirty="0">
                <a:latin typeface="Sitka Subheading Semibold" charset="0"/>
                <a:cs typeface="Sitka Subheading Semibold" charset="0"/>
              </a:rPr>
              <a:t>hypostyles </a:t>
            </a:r>
            <a:r>
              <a:rPr lang="fr-FR" sz="1600" dirty="0">
                <a:latin typeface="Sitka Subheading Semibold" charset="0"/>
                <a:cs typeface="Sitka Subheading Semibold" charset="0"/>
              </a:rPr>
              <a:t>à colonnes de pierre. </a:t>
            </a:r>
            <a:r>
              <a:rPr lang="fr-FR" sz="1600" i="1" dirty="0">
                <a:latin typeface="Sitka Subheading Semibold" charset="0"/>
                <a:cs typeface="Sitka Subheading Semibold" charset="0"/>
              </a:rPr>
              <a:t>Architraves </a:t>
            </a:r>
            <a:r>
              <a:rPr lang="fr-FR" sz="1600" dirty="0">
                <a:latin typeface="Sitka Subheading Semibold" charset="0"/>
                <a:cs typeface="Sitka Subheading Semibold" charset="0"/>
              </a:rPr>
              <a:t>et plafond en bois </a:t>
            </a:r>
            <a:endParaRPr lang="fr-FR" sz="1600" dirty="0">
              <a:latin typeface="Sitka Subheading Semibold" charset="0"/>
              <a:cs typeface="Sitka Subheading Semibold" charset="0"/>
            </a:endParaRPr>
          </a:p>
          <a:p>
            <a:pPr marL="285750" indent="-285750">
              <a:buFont typeface="Arial" panose="020B0604020202020204"/>
              <a:buChar char="•"/>
            </a:pPr>
            <a:r>
              <a:rPr lang="fr-FR" sz="1600" dirty="0" smtClean="0">
                <a:latin typeface="Sitka Subheading Semibold" charset="0"/>
                <a:cs typeface="Sitka Subheading Semibold" charset="0"/>
              </a:rPr>
              <a:t>Rares </a:t>
            </a:r>
            <a:r>
              <a:rPr lang="fr-FR" sz="1600" dirty="0">
                <a:latin typeface="Sitka Subheading Semibold" charset="0"/>
                <a:cs typeface="Sitka Subheading Semibold" charset="0"/>
              </a:rPr>
              <a:t>salles à colonnes en bois auparavant </a:t>
            </a:r>
            <a:endParaRPr lang="fr-FR" sz="1600" dirty="0">
              <a:latin typeface="Sitka Subheading Semibold" charset="0"/>
              <a:cs typeface="Sitka Subheading Semibold" charset="0"/>
            </a:endParaRPr>
          </a:p>
        </p:txBody>
      </p:sp>
      <p:pic>
        <p:nvPicPr>
          <p:cNvPr id="2" name="Image 1" descr="doc 5.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68960" y="2721122"/>
            <a:ext cx="5054600" cy="3808709"/>
          </a:xfrm>
          <a:prstGeom prst="rect">
            <a:avLst/>
          </a:prstGeom>
        </p:spPr>
      </p:pic>
      <p:sp>
        <p:nvSpPr>
          <p:cNvPr id="6" name="Rectangle 5"/>
          <p:cNvSpPr/>
          <p:nvPr/>
        </p:nvSpPr>
        <p:spPr>
          <a:xfrm>
            <a:off x="568960" y="6435341"/>
            <a:ext cx="5054600" cy="276999"/>
          </a:xfrm>
          <a:prstGeom prst="rect">
            <a:avLst/>
          </a:prstGeom>
        </p:spPr>
        <p:txBody>
          <a:bodyPr wrap="square">
            <a:spAutoFit/>
          </a:bodyPr>
          <a:lstStyle/>
          <a:p>
            <a:pPr algn="ctr"/>
            <a:r>
              <a:rPr lang="fr-FR" sz="1200" i="1" dirty="0">
                <a:latin typeface="Sitka Subheading Semibold" charset="0"/>
                <a:cs typeface="Sitka Subheading Semibold" charset="0"/>
              </a:rPr>
              <a:t>Ruines de </a:t>
            </a:r>
            <a:r>
              <a:rPr lang="fr-FR" sz="1200" i="1" dirty="0" smtClean="0">
                <a:latin typeface="Sitka Subheading Semibold" charset="0"/>
                <a:cs typeface="Sitka Subheading Semibold" charset="0"/>
              </a:rPr>
              <a:t>Persépolis </a:t>
            </a:r>
            <a:r>
              <a:rPr lang="fr-FR" sz="1200" i="1" dirty="0">
                <a:latin typeface="Sitka Subheading Semibold" charset="0"/>
                <a:cs typeface="Sitka Subheading Semibold" charset="0"/>
              </a:rPr>
              <a:t>antique, Iran. Palais d'Apadana.</a:t>
            </a:r>
            <a:endParaRPr lang="fr-FR" sz="1200" i="1" dirty="0">
              <a:latin typeface="Sitka Subheading Semibold" charset="0"/>
              <a:cs typeface="Sitka Subheading Semibold" charset="0"/>
            </a:endParaRPr>
          </a:p>
        </p:txBody>
      </p:sp>
      <p:pic>
        <p:nvPicPr>
          <p:cNvPr id="7" name="Image 6" descr="pol_col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88380" y="2721122"/>
            <a:ext cx="2415540" cy="3736538"/>
          </a:xfrm>
          <a:prstGeom prst="rect">
            <a:avLst/>
          </a:prstGeom>
        </p:spPr>
      </p:pic>
      <p:sp>
        <p:nvSpPr>
          <p:cNvPr id="8" name="Rectangle 7"/>
          <p:cNvSpPr/>
          <p:nvPr/>
        </p:nvSpPr>
        <p:spPr>
          <a:xfrm>
            <a:off x="5709780" y="6435341"/>
            <a:ext cx="3129280" cy="276999"/>
          </a:xfrm>
          <a:prstGeom prst="rect">
            <a:avLst/>
          </a:prstGeom>
        </p:spPr>
        <p:txBody>
          <a:bodyPr wrap="square">
            <a:spAutoFit/>
          </a:bodyPr>
          <a:lstStyle/>
          <a:p>
            <a:pPr algn="ctr"/>
            <a:r>
              <a:rPr lang="fr-FR" sz="1200" i="1" dirty="0" smtClean="0">
                <a:latin typeface="Sitka Subheading Semibold" charset="0"/>
                <a:cs typeface="Sitka Subheading Semibold" charset="0"/>
              </a:rPr>
              <a:t>Chapiteau de colonne, </a:t>
            </a:r>
            <a:r>
              <a:rPr lang="fr-FR" sz="1200" i="1" dirty="0">
                <a:latin typeface="Sitka Subheading Semibold" charset="0"/>
                <a:cs typeface="Sitka Subheading Semibold" charset="0"/>
              </a:rPr>
              <a:t>Iran. Palais d'Apadana.</a:t>
            </a:r>
            <a:endParaRPr lang="fr-FR" sz="1200" i="1" dirty="0">
              <a:latin typeface="Sitka Subheading Semibold" charset="0"/>
              <a:cs typeface="Sitka Subheading Semibold"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Quicksand" panose="00000500000000000000" charset="0"/>
                <a:cs typeface="Quicksand" panose="00000500000000000000" charset="0"/>
              </a:rPr>
              <a:t>Décoration</a:t>
            </a:r>
            <a:endParaRPr lang="fr-FR" dirty="0" smtClean="0">
              <a:solidFill>
                <a:srgbClr val="FF0000"/>
              </a:solidFill>
              <a:latin typeface="Quicksand" panose="00000500000000000000" charset="0"/>
              <a:cs typeface="Quicksand" panose="00000500000000000000" charset="0"/>
            </a:endParaRPr>
          </a:p>
        </p:txBody>
      </p:sp>
      <p:sp>
        <p:nvSpPr>
          <p:cNvPr id="5" name="Rectangle 4"/>
          <p:cNvSpPr/>
          <p:nvPr/>
        </p:nvSpPr>
        <p:spPr>
          <a:xfrm>
            <a:off x="299171" y="1417638"/>
            <a:ext cx="8539889" cy="1107996"/>
          </a:xfrm>
          <a:prstGeom prst="rect">
            <a:avLst/>
          </a:prstGeom>
        </p:spPr>
        <p:txBody>
          <a:bodyPr wrap="square">
            <a:spAutoFit/>
          </a:bodyPr>
          <a:lstStyle/>
          <a:p>
            <a:r>
              <a:rPr lang="fr-FR" b="1" dirty="0" smtClean="0">
                <a:latin typeface="Arial" panose="020B0604020202020204"/>
                <a:cs typeface="Arial" panose="020B0604020202020204"/>
              </a:rPr>
              <a:t>URUK ET DYNASTIES ARCHAÏQUES </a:t>
            </a:r>
            <a:endParaRPr lang="fr-FR" dirty="0" smtClean="0">
              <a:latin typeface="Arial" panose="020B0604020202020204"/>
              <a:cs typeface="Arial" panose="020B0604020202020204"/>
            </a:endParaRPr>
          </a:p>
          <a:p>
            <a:r>
              <a:rPr lang="fr-FR" sz="1600" dirty="0" smtClean="0">
                <a:latin typeface="Arial" panose="020B0604020202020204"/>
                <a:cs typeface="Arial" panose="020B0604020202020204"/>
              </a:rPr>
              <a:t>• Briques posées </a:t>
            </a:r>
            <a:r>
              <a:rPr lang="fr-FR" sz="1600" dirty="0">
                <a:latin typeface="Arial" panose="020B0604020202020204"/>
                <a:cs typeface="Arial" panose="020B0604020202020204"/>
              </a:rPr>
              <a:t>en champ horizontaux plus motifs en </a:t>
            </a:r>
            <a:r>
              <a:rPr lang="fr-FR" sz="1600" dirty="0" smtClean="0">
                <a:latin typeface="Arial" panose="020B0604020202020204"/>
                <a:cs typeface="Arial" panose="020B0604020202020204"/>
              </a:rPr>
              <a:t>arêtes </a:t>
            </a:r>
            <a:r>
              <a:rPr lang="fr-FR" sz="1600" dirty="0">
                <a:latin typeface="Arial" panose="020B0604020202020204"/>
                <a:cs typeface="Arial" panose="020B0604020202020204"/>
              </a:rPr>
              <a:t>de poisson (</a:t>
            </a:r>
            <a:r>
              <a:rPr lang="fr-FR" sz="1600" i="1" dirty="0">
                <a:latin typeface="Arial" panose="020B0604020202020204"/>
                <a:cs typeface="Arial" panose="020B0604020202020204"/>
              </a:rPr>
              <a:t>opus </a:t>
            </a:r>
            <a:r>
              <a:rPr lang="fr-FR" sz="1600" i="1" dirty="0" err="1">
                <a:latin typeface="Arial" panose="020B0604020202020204"/>
                <a:cs typeface="Arial" panose="020B0604020202020204"/>
              </a:rPr>
              <a:t>spicatum</a:t>
            </a:r>
            <a:r>
              <a:rPr lang="fr-FR" sz="1600" dirty="0" smtClean="0">
                <a:latin typeface="Arial" panose="020B0604020202020204"/>
                <a:cs typeface="Arial" panose="020B0604020202020204"/>
              </a:rPr>
              <a:t>). </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 </a:t>
            </a:r>
            <a:r>
              <a:rPr lang="fr-FR" sz="1600" dirty="0" smtClean="0">
                <a:latin typeface="Arial" panose="020B0604020202020204"/>
                <a:cs typeface="Arial" panose="020B0604020202020204"/>
              </a:rPr>
              <a:t>Mosaïques </a:t>
            </a:r>
            <a:r>
              <a:rPr lang="fr-FR" sz="1600" dirty="0">
                <a:latin typeface="Arial" panose="020B0604020202020204"/>
                <a:cs typeface="Arial" panose="020B0604020202020204"/>
              </a:rPr>
              <a:t>de petits </a:t>
            </a:r>
            <a:r>
              <a:rPr lang="fr-FR" sz="1600" dirty="0" smtClean="0">
                <a:latin typeface="Arial" panose="020B0604020202020204"/>
                <a:cs typeface="Arial" panose="020B0604020202020204"/>
              </a:rPr>
              <a:t>cônes </a:t>
            </a:r>
            <a:r>
              <a:rPr lang="fr-FR" sz="1600" dirty="0">
                <a:latin typeface="Arial" panose="020B0604020202020204"/>
                <a:cs typeface="Arial" panose="020B0604020202020204"/>
              </a:rPr>
              <a:t>de terre </a:t>
            </a:r>
            <a:r>
              <a:rPr lang="fr-FR" sz="1600" dirty="0" smtClean="0">
                <a:latin typeface="Arial" panose="020B0604020202020204"/>
                <a:cs typeface="Arial" panose="020B0604020202020204"/>
              </a:rPr>
              <a:t>cuite. </a:t>
            </a:r>
            <a:endParaRPr lang="fr-FR" sz="1600" dirty="0">
              <a:latin typeface="Arial" panose="020B0604020202020204"/>
              <a:cs typeface="Arial" panose="020B0604020202020204"/>
            </a:endParaRPr>
          </a:p>
          <a:p>
            <a:endParaRPr lang="fr-FR" sz="1600" dirty="0">
              <a:latin typeface="Arial" panose="020B0604020202020204"/>
              <a:cs typeface="Arial" panose="020B0604020202020204"/>
            </a:endParaRPr>
          </a:p>
        </p:txBody>
      </p:sp>
      <p:pic>
        <p:nvPicPr>
          <p:cNvPr id="3" name="Image 2" descr="doc 6.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407524" y="2525634"/>
            <a:ext cx="5431536" cy="3870960"/>
          </a:xfrm>
          <a:prstGeom prst="rect">
            <a:avLst/>
          </a:prstGeom>
        </p:spPr>
      </p:pic>
      <p:pic>
        <p:nvPicPr>
          <p:cNvPr id="6" name="Image 5" descr="doc 7.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700" y="2525634"/>
            <a:ext cx="2812898" cy="38709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Quicksand" panose="00000500000000000000" charset="0"/>
                <a:cs typeface="Quicksand" panose="00000500000000000000" charset="0"/>
              </a:rPr>
              <a:t>Décoration</a:t>
            </a:r>
            <a:endParaRPr lang="fr-FR" dirty="0" smtClean="0">
              <a:solidFill>
                <a:srgbClr val="FF0000"/>
              </a:solidFill>
              <a:latin typeface="Quicksand" panose="00000500000000000000" charset="0"/>
              <a:cs typeface="Quicksand" panose="00000500000000000000" charset="0"/>
            </a:endParaRPr>
          </a:p>
        </p:txBody>
      </p:sp>
      <p:sp>
        <p:nvSpPr>
          <p:cNvPr id="5" name="Rectangle 4"/>
          <p:cNvSpPr/>
          <p:nvPr/>
        </p:nvSpPr>
        <p:spPr>
          <a:xfrm>
            <a:off x="614131" y="1423036"/>
            <a:ext cx="3378749" cy="1077218"/>
          </a:xfrm>
          <a:prstGeom prst="rect">
            <a:avLst/>
          </a:prstGeom>
        </p:spPr>
        <p:txBody>
          <a:bodyPr wrap="square">
            <a:spAutoFit/>
          </a:bodyPr>
          <a:lstStyle/>
          <a:p>
            <a:r>
              <a:rPr lang="fr-FR" sz="1600" b="1" dirty="0" smtClean="0">
                <a:latin typeface="Arial" panose="020B0604020202020204"/>
                <a:cs typeface="Arial" panose="020B0604020202020204"/>
              </a:rPr>
              <a:t>II</a:t>
            </a:r>
            <a:r>
              <a:rPr lang="fr-FR" sz="1600" b="1" baseline="30000" dirty="0" smtClean="0">
                <a:latin typeface="Arial" panose="020B0604020202020204"/>
                <a:cs typeface="Arial" panose="020B0604020202020204"/>
              </a:rPr>
              <a:t>e</a:t>
            </a:r>
            <a:r>
              <a:rPr lang="fr-FR" sz="1600" b="1" dirty="0" smtClean="0">
                <a:latin typeface="Arial" panose="020B0604020202020204"/>
                <a:cs typeface="Arial" panose="020B0604020202020204"/>
              </a:rPr>
              <a:t> </a:t>
            </a:r>
            <a:r>
              <a:rPr lang="fr-FR" sz="1600" b="1" dirty="0">
                <a:latin typeface="Arial" panose="020B0604020202020204"/>
                <a:cs typeface="Arial" panose="020B0604020202020204"/>
              </a:rPr>
              <a:t>et </a:t>
            </a:r>
            <a:r>
              <a:rPr lang="fr-FR" sz="1600" b="1" dirty="0" err="1" smtClean="0">
                <a:latin typeface="Arial" panose="020B0604020202020204"/>
                <a:cs typeface="Arial" panose="020B0604020202020204"/>
              </a:rPr>
              <a:t>I</a:t>
            </a:r>
            <a:r>
              <a:rPr lang="fr-FR" sz="1600" b="1" baseline="30000" dirty="0" err="1" smtClean="0">
                <a:latin typeface="Arial" panose="020B0604020202020204"/>
                <a:cs typeface="Arial" panose="020B0604020202020204"/>
              </a:rPr>
              <a:t>e</a:t>
            </a:r>
            <a:r>
              <a:rPr lang="fr-FR" sz="1600" b="1" dirty="0" err="1" smtClean="0">
                <a:latin typeface="Arial" panose="020B0604020202020204"/>
                <a:cs typeface="Arial" panose="020B0604020202020204"/>
              </a:rPr>
              <a:t>Millénaire</a:t>
            </a:r>
            <a:r>
              <a:rPr lang="fr-FR" sz="1600" b="1" dirty="0" smtClean="0">
                <a:latin typeface="Arial" panose="020B0604020202020204"/>
                <a:cs typeface="Arial" panose="020B0604020202020204"/>
              </a:rPr>
              <a:t> </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B</a:t>
            </a:r>
            <a:r>
              <a:rPr lang="fr-FR" sz="1600" dirty="0" smtClean="0">
                <a:latin typeface="Arial" panose="020B0604020202020204"/>
                <a:cs typeface="Arial" panose="020B0604020202020204"/>
              </a:rPr>
              <a:t>riques </a:t>
            </a:r>
            <a:r>
              <a:rPr lang="fr-FR" sz="1600" dirty="0" err="1">
                <a:latin typeface="Arial" panose="020B0604020202020204"/>
                <a:cs typeface="Arial" panose="020B0604020202020204"/>
              </a:rPr>
              <a:t>émaillées</a:t>
            </a:r>
            <a:r>
              <a:rPr lang="fr-FR" sz="1600" dirty="0">
                <a:latin typeface="Arial" panose="020B0604020202020204"/>
                <a:cs typeface="Arial" panose="020B0604020202020204"/>
              </a:rPr>
              <a:t> / </a:t>
            </a:r>
            <a:r>
              <a:rPr lang="fr-FR" sz="1600" dirty="0" err="1">
                <a:latin typeface="Arial" panose="020B0604020202020204"/>
                <a:cs typeface="Arial" panose="020B0604020202020204"/>
              </a:rPr>
              <a:t>glaçures</a:t>
            </a:r>
            <a:r>
              <a:rPr lang="fr-FR" sz="1600" dirty="0">
                <a:latin typeface="Arial" panose="020B0604020202020204"/>
                <a:cs typeface="Arial" panose="020B0604020202020204"/>
              </a:rPr>
              <a:t> </a:t>
            </a:r>
            <a:endParaRPr lang="fr-FR" sz="1600" dirty="0" smtClean="0">
              <a:latin typeface="Arial" panose="020B0604020202020204"/>
              <a:cs typeface="Arial" panose="020B0604020202020204"/>
            </a:endParaRPr>
          </a:p>
          <a:p>
            <a:r>
              <a:rPr lang="fr-FR" sz="1600" dirty="0">
                <a:latin typeface="Arial" panose="020B0604020202020204"/>
                <a:cs typeface="Arial" panose="020B0604020202020204"/>
              </a:rPr>
              <a:t>B</a:t>
            </a:r>
            <a:r>
              <a:rPr lang="fr-FR" sz="1600" dirty="0" smtClean="0">
                <a:latin typeface="Arial" panose="020B0604020202020204"/>
                <a:cs typeface="Arial" panose="020B0604020202020204"/>
              </a:rPr>
              <a:t>riques </a:t>
            </a:r>
            <a:r>
              <a:rPr lang="fr-FR" sz="1600" dirty="0" err="1">
                <a:latin typeface="Arial" panose="020B0604020202020204"/>
                <a:cs typeface="Arial" panose="020B0604020202020204"/>
              </a:rPr>
              <a:t>moulées</a:t>
            </a:r>
            <a:r>
              <a:rPr lang="fr-FR" sz="1600" dirty="0">
                <a:latin typeface="Arial" panose="020B0604020202020204"/>
                <a:cs typeface="Arial" panose="020B0604020202020204"/>
              </a:rPr>
              <a:t> : </a:t>
            </a:r>
            <a:r>
              <a:rPr lang="fr-FR" sz="1600" b="1" i="1" dirty="0">
                <a:latin typeface="Arial" panose="020B0604020202020204"/>
                <a:cs typeface="Arial" panose="020B0604020202020204"/>
              </a:rPr>
              <a:t>bas-relief </a:t>
            </a:r>
            <a:endParaRPr lang="fr-FR" sz="1600" dirty="0">
              <a:latin typeface="Arial" panose="020B0604020202020204"/>
              <a:cs typeface="Arial" panose="020B0604020202020204"/>
            </a:endParaRPr>
          </a:p>
          <a:p>
            <a:endParaRPr lang="fr-FR" sz="1600" dirty="0">
              <a:latin typeface="Arial" panose="020B0604020202020204"/>
              <a:cs typeface="Arial" panose="020B0604020202020204"/>
            </a:endParaRPr>
          </a:p>
        </p:txBody>
      </p:sp>
      <p:pic>
        <p:nvPicPr>
          <p:cNvPr id="2" name="Image 1" descr="800px-Pergamon_Museum_Berlin_2007113.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226560" y="1417638"/>
            <a:ext cx="4064000" cy="3048000"/>
          </a:xfrm>
          <a:prstGeom prst="rect">
            <a:avLst/>
          </a:prstGeom>
        </p:spPr>
      </p:pic>
      <p:sp>
        <p:nvSpPr>
          <p:cNvPr id="7" name="Rectangle 6"/>
          <p:cNvSpPr/>
          <p:nvPr/>
        </p:nvSpPr>
        <p:spPr>
          <a:xfrm>
            <a:off x="4226560" y="4476245"/>
            <a:ext cx="4064000" cy="646331"/>
          </a:xfrm>
          <a:prstGeom prst="rect">
            <a:avLst/>
          </a:prstGeom>
        </p:spPr>
        <p:txBody>
          <a:bodyPr wrap="square">
            <a:spAutoFit/>
          </a:bodyPr>
          <a:lstStyle/>
          <a:p>
            <a:pPr algn="ctr"/>
            <a:r>
              <a:rPr lang="fr-FR" sz="1200" i="1" dirty="0"/>
              <a:t>Panneau de briques à glaçure en relief provenant de la Voie processionnelle de Babylone : lion passant à gauche, </a:t>
            </a:r>
            <a:r>
              <a:rPr lang="fr-FR" sz="1200" i="1" dirty="0" err="1"/>
              <a:t>Pergamon</a:t>
            </a:r>
            <a:r>
              <a:rPr lang="fr-FR" sz="1200" i="1" dirty="0"/>
              <a:t> Museum de Berlin.</a:t>
            </a:r>
            <a:endParaRPr lang="fr-FR" sz="1200" i="1" dirty="0"/>
          </a:p>
        </p:txBody>
      </p:sp>
      <p:pic>
        <p:nvPicPr>
          <p:cNvPr id="8" name="Image 7" descr="Assyrian_Door_Statu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840" y="2500253"/>
            <a:ext cx="2540000" cy="3817987"/>
          </a:xfrm>
          <a:prstGeom prst="rect">
            <a:avLst/>
          </a:prstGeom>
        </p:spPr>
      </p:pic>
      <p:sp>
        <p:nvSpPr>
          <p:cNvPr id="9" name="Rectangle 8"/>
          <p:cNvSpPr/>
          <p:nvPr/>
        </p:nvSpPr>
        <p:spPr>
          <a:xfrm>
            <a:off x="349971" y="6303000"/>
            <a:ext cx="3480349" cy="461665"/>
          </a:xfrm>
          <a:prstGeom prst="rect">
            <a:avLst/>
          </a:prstGeom>
        </p:spPr>
        <p:txBody>
          <a:bodyPr wrap="square">
            <a:spAutoFit/>
          </a:bodyPr>
          <a:lstStyle/>
          <a:p>
            <a:pPr algn="ctr"/>
            <a:r>
              <a:rPr lang="fr-FR" sz="1200" i="1" dirty="0" smtClean="0"/>
              <a:t>Taureau androcéphale ailé </a:t>
            </a:r>
            <a:r>
              <a:rPr lang="fr-FR" sz="1200" i="1" dirty="0"/>
              <a:t>provenant d'une porte du palais de Kalkhu, </a:t>
            </a:r>
            <a:r>
              <a:rPr lang="fr-FR" sz="1200" i="1" dirty="0" err="1"/>
              <a:t>Metropolitan</a:t>
            </a:r>
            <a:r>
              <a:rPr lang="fr-FR" sz="1200" i="1" dirty="0"/>
              <a:t> Museum of Art.</a:t>
            </a:r>
            <a:endParaRPr lang="fr-FR" sz="1200" i="1" dirty="0"/>
          </a:p>
        </p:txBody>
      </p:sp>
      <p:sp>
        <p:nvSpPr>
          <p:cNvPr id="10" name="Rectangle 9"/>
          <p:cNvSpPr/>
          <p:nvPr/>
        </p:nvSpPr>
        <p:spPr>
          <a:xfrm>
            <a:off x="3992880" y="5319822"/>
            <a:ext cx="4572000" cy="1323439"/>
          </a:xfrm>
          <a:prstGeom prst="rect">
            <a:avLst/>
          </a:prstGeom>
        </p:spPr>
        <p:txBody>
          <a:bodyPr>
            <a:spAutoFit/>
          </a:bodyPr>
          <a:lstStyle/>
          <a:p>
            <a:r>
              <a:rPr lang="fr-FR" sz="1600" b="1" dirty="0">
                <a:latin typeface="Arial" panose="020B0604020202020204"/>
                <a:cs typeface="Arial" panose="020B0604020202020204"/>
              </a:rPr>
              <a:t>Sculpture en haut relief ou ronde-bosse</a:t>
            </a:r>
            <a:endParaRPr lang="fr-FR" sz="1600" b="1" dirty="0">
              <a:latin typeface="Arial" panose="020B0604020202020204"/>
              <a:cs typeface="Arial" panose="020B0604020202020204"/>
            </a:endParaRPr>
          </a:p>
          <a:p>
            <a:r>
              <a:rPr lang="fr-FR" sz="1600" dirty="0">
                <a:latin typeface="Arial" panose="020B0604020202020204"/>
                <a:cs typeface="Arial" panose="020B0604020202020204"/>
              </a:rPr>
              <a:t>• Sculptures taillées dans la pierre</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 Ne se développe qu’au </a:t>
            </a:r>
            <a:r>
              <a:rPr lang="fr-FR" sz="1600" dirty="0" err="1">
                <a:latin typeface="Arial" panose="020B0604020202020204"/>
                <a:cs typeface="Arial" panose="020B0604020202020204"/>
              </a:rPr>
              <a:t>I°millénaire</a:t>
            </a:r>
            <a:r>
              <a:rPr lang="fr-FR" sz="1600" dirty="0">
                <a:latin typeface="Arial" panose="020B0604020202020204"/>
                <a:cs typeface="Arial" panose="020B0604020202020204"/>
              </a:rPr>
              <a:t> (Assyrie, Néo-Babylone et Perse) lorsque les empires en ont les moyens</a:t>
            </a:r>
            <a:endParaRPr lang="fr-FR" sz="1600" dirty="0">
              <a:latin typeface="Arial" panose="020B0604020202020204"/>
              <a:cs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Quicksand" panose="00000500000000000000" charset="0"/>
                <a:cs typeface="Quicksand" panose="00000500000000000000" charset="0"/>
              </a:rPr>
              <a:t>Evolution de l’habitat</a:t>
            </a:r>
            <a:endParaRPr lang="fr-FR" dirty="0" smtClean="0">
              <a:solidFill>
                <a:srgbClr val="FF0000"/>
              </a:solidFill>
              <a:latin typeface="Quicksand" panose="00000500000000000000" charset="0"/>
              <a:cs typeface="Quicksand" panose="00000500000000000000" charset="0"/>
            </a:endParaRPr>
          </a:p>
        </p:txBody>
      </p:sp>
      <p:sp>
        <p:nvSpPr>
          <p:cNvPr id="5" name="Rectangle 4"/>
          <p:cNvSpPr/>
          <p:nvPr/>
        </p:nvSpPr>
        <p:spPr>
          <a:xfrm>
            <a:off x="614131" y="1423036"/>
            <a:ext cx="4415069" cy="1077218"/>
          </a:xfrm>
          <a:prstGeom prst="rect">
            <a:avLst/>
          </a:prstGeom>
        </p:spPr>
        <p:txBody>
          <a:bodyPr wrap="square">
            <a:spAutoFit/>
          </a:bodyPr>
          <a:lstStyle/>
          <a:p>
            <a:r>
              <a:rPr lang="fr-FR" sz="1600" b="1" dirty="0" err="1">
                <a:latin typeface="Arial" panose="020B0604020202020204"/>
                <a:cs typeface="Arial" panose="020B0604020202020204"/>
              </a:rPr>
              <a:t>Première</a:t>
            </a:r>
            <a:r>
              <a:rPr lang="fr-FR" sz="1600" b="1" dirty="0">
                <a:latin typeface="Arial" panose="020B0604020202020204"/>
                <a:cs typeface="Arial" panose="020B0604020202020204"/>
              </a:rPr>
              <a:t> chefferies </a:t>
            </a:r>
            <a:r>
              <a:rPr lang="fr-FR" sz="1600" dirty="0">
                <a:latin typeface="Arial" panose="020B0604020202020204"/>
                <a:cs typeface="Arial" panose="020B0604020202020204"/>
              </a:rPr>
              <a:t>(5000 / 3500 av. JC) </a:t>
            </a:r>
            <a:endParaRPr lang="fr-FR" sz="1600" dirty="0" smtClean="0">
              <a:latin typeface="Arial" panose="020B0604020202020204"/>
              <a:cs typeface="Arial" panose="020B0604020202020204"/>
            </a:endParaRPr>
          </a:p>
          <a:p>
            <a:pPr marL="285750" indent="-285750">
              <a:buFont typeface="Arial" panose="020B0604020202020204"/>
              <a:buChar char="•"/>
            </a:pPr>
            <a:r>
              <a:rPr lang="fr-FR" sz="1600" dirty="0" smtClean="0">
                <a:latin typeface="Arial" panose="020B0604020202020204"/>
                <a:cs typeface="Arial" panose="020B0604020202020204"/>
              </a:rPr>
              <a:t>Plan rectangulaire.</a:t>
            </a:r>
            <a:endParaRPr lang="fr-FR" sz="1600" dirty="0">
              <a:latin typeface="Arial" panose="020B0604020202020204"/>
              <a:cs typeface="Arial" panose="020B0604020202020204"/>
            </a:endParaRPr>
          </a:p>
          <a:p>
            <a:pPr marL="285750" indent="-285750">
              <a:buFont typeface="Arial" panose="020B0604020202020204"/>
              <a:buChar char="•"/>
            </a:pPr>
            <a:r>
              <a:rPr lang="fr-FR" sz="1600" dirty="0" err="1" smtClean="0">
                <a:latin typeface="Arial" panose="020B0604020202020204"/>
                <a:cs typeface="Arial" panose="020B0604020202020204"/>
              </a:rPr>
              <a:t>Entrée</a:t>
            </a: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par le toit. </a:t>
            </a:r>
            <a:endParaRPr lang="fr-FR" sz="1600" dirty="0">
              <a:latin typeface="Arial" panose="020B0604020202020204"/>
              <a:cs typeface="Arial" panose="020B0604020202020204"/>
            </a:endParaRPr>
          </a:p>
          <a:p>
            <a:endParaRPr lang="fr-FR" sz="1600" dirty="0">
              <a:latin typeface="Arial" panose="020B0604020202020204"/>
              <a:cs typeface="Arial" panose="020B0604020202020204"/>
            </a:endParaRPr>
          </a:p>
        </p:txBody>
      </p:sp>
      <p:pic>
        <p:nvPicPr>
          <p:cNvPr id="3" name="Image 2" descr="catalhoyuk.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57267" y="2259094"/>
            <a:ext cx="6889453" cy="44956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p:nvPr/>
        </p:nvSpPr>
        <p:spPr>
          <a:xfrm>
            <a:off x="194945" y="280035"/>
            <a:ext cx="8837295" cy="113792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Quicksand" panose="00000500000000000000" charset="0"/>
                <a:cs typeface="Quicksand" panose="00000500000000000000" charset="0"/>
              </a:rPr>
              <a:t>Evolution de l’habitat</a:t>
            </a:r>
            <a:endParaRPr lang="fr-FR" dirty="0" smtClean="0">
              <a:solidFill>
                <a:srgbClr val="FF0000"/>
              </a:solidFill>
              <a:latin typeface="Quicksand" panose="00000500000000000000" charset="0"/>
              <a:cs typeface="Quicksand" panose="00000500000000000000" charset="0"/>
            </a:endParaRPr>
          </a:p>
        </p:txBody>
      </p:sp>
      <p:sp>
        <p:nvSpPr>
          <p:cNvPr id="5" name="Rectangle 4"/>
          <p:cNvSpPr/>
          <p:nvPr/>
        </p:nvSpPr>
        <p:spPr>
          <a:xfrm>
            <a:off x="614131" y="1423036"/>
            <a:ext cx="4415069" cy="1815882"/>
          </a:xfrm>
          <a:prstGeom prst="rect">
            <a:avLst/>
          </a:prstGeom>
        </p:spPr>
        <p:txBody>
          <a:bodyPr wrap="square">
            <a:spAutoFit/>
          </a:bodyPr>
          <a:lstStyle/>
          <a:p>
            <a:r>
              <a:rPr lang="fr-FR" sz="1600" b="1" dirty="0">
                <a:latin typeface="Arial" panose="020B0604020202020204"/>
                <a:cs typeface="Arial" panose="020B0604020202020204"/>
              </a:rPr>
              <a:t>Epoque proto-urbaine </a:t>
            </a:r>
            <a:r>
              <a:rPr lang="fr-FR" sz="1600" dirty="0">
                <a:latin typeface="Arial" panose="020B0604020202020204"/>
                <a:cs typeface="Arial" panose="020B0604020202020204"/>
              </a:rPr>
              <a:t>(3500 / 2900 av. JC) Premiers </a:t>
            </a:r>
            <a:r>
              <a:rPr lang="fr-FR" sz="1600" dirty="0" smtClean="0">
                <a:latin typeface="Arial" panose="020B0604020202020204"/>
                <a:cs typeface="Arial" panose="020B0604020202020204"/>
              </a:rPr>
              <a:t>édifices </a:t>
            </a:r>
            <a:r>
              <a:rPr lang="fr-FR" sz="1600" dirty="0">
                <a:latin typeface="Arial" panose="020B0604020202020204"/>
                <a:cs typeface="Arial" panose="020B0604020202020204"/>
              </a:rPr>
              <a:t>se distinguant </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des autres </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 Plan tripartite </a:t>
            </a:r>
            <a:r>
              <a:rPr lang="fr-FR" sz="1600" dirty="0" smtClean="0">
                <a:latin typeface="Arial" panose="020B0604020202020204"/>
                <a:cs typeface="Arial" panose="020B0604020202020204"/>
              </a:rPr>
              <a:t>mésopotamien </a:t>
            </a:r>
            <a:r>
              <a:rPr lang="fr-FR" sz="1600" dirty="0">
                <a:latin typeface="Arial" panose="020B0604020202020204"/>
                <a:cs typeface="Arial" panose="020B0604020202020204"/>
              </a:rPr>
              <a:t>• Nef centrale + </a:t>
            </a:r>
            <a:r>
              <a:rPr lang="fr-FR" sz="1600" dirty="0" smtClean="0">
                <a:latin typeface="Arial" panose="020B0604020202020204"/>
                <a:cs typeface="Arial" panose="020B0604020202020204"/>
              </a:rPr>
              <a:t>pièces</a:t>
            </a:r>
            <a:br>
              <a:rPr lang="fr-FR" sz="1600" dirty="0">
                <a:latin typeface="Arial" panose="020B0604020202020204"/>
                <a:cs typeface="Arial" panose="020B0604020202020204"/>
              </a:rPr>
            </a:br>
            <a:r>
              <a:rPr lang="fr-FR" sz="1600" dirty="0">
                <a:latin typeface="Arial" panose="020B0604020202020204"/>
                <a:cs typeface="Arial" panose="020B0604020202020204"/>
              </a:rPr>
              <a:t>• Plus de 200 m2 </a:t>
            </a:r>
            <a:endParaRPr lang="fr-FR" sz="1600" dirty="0">
              <a:latin typeface="Arial" panose="020B0604020202020204"/>
              <a:cs typeface="Arial" panose="020B0604020202020204"/>
            </a:endParaRPr>
          </a:p>
          <a:p>
            <a:endParaRPr lang="fr-FR" sz="1600" dirty="0">
              <a:latin typeface="Arial" panose="020B0604020202020204"/>
              <a:cs typeface="Arial" panose="020B0604020202020204"/>
            </a:endParaRPr>
          </a:p>
        </p:txBody>
      </p:sp>
      <p:pic>
        <p:nvPicPr>
          <p:cNvPr id="2" name="Image 1" descr="w_KL5mghI09bsTApbrWcFGyxrcrcB8s4eVCfEhDHiu30KhE9Corja_5MXHmQoiSuN93c60egvATtuO7MObGLSyevqX-Rdw23f5RiFzoOTZ6Zvu_QNZJOQZ6XhA.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49441" y="1423036"/>
            <a:ext cx="3646578" cy="2760980"/>
          </a:xfrm>
          <a:prstGeom prst="rect">
            <a:avLst/>
          </a:prstGeom>
        </p:spPr>
      </p:pic>
      <p:sp>
        <p:nvSpPr>
          <p:cNvPr id="6" name="Rectangle 5"/>
          <p:cNvSpPr/>
          <p:nvPr/>
        </p:nvSpPr>
        <p:spPr>
          <a:xfrm>
            <a:off x="614130" y="4638040"/>
            <a:ext cx="5492029" cy="1077218"/>
          </a:xfrm>
          <a:prstGeom prst="rect">
            <a:avLst/>
          </a:prstGeom>
        </p:spPr>
        <p:txBody>
          <a:bodyPr wrap="square">
            <a:spAutoFit/>
          </a:bodyPr>
          <a:lstStyle/>
          <a:p>
            <a:r>
              <a:rPr lang="fr-FR" sz="1600" b="1" dirty="0">
                <a:latin typeface="Arial" panose="020B0604020202020204"/>
                <a:cs typeface="Arial" panose="020B0604020202020204"/>
              </a:rPr>
              <a:t>Dynasties archaïques </a:t>
            </a:r>
            <a:r>
              <a:rPr lang="fr-FR" sz="1600" dirty="0">
                <a:latin typeface="Arial" panose="020B0604020202020204"/>
                <a:cs typeface="Arial" panose="020B0604020202020204"/>
              </a:rPr>
              <a:t>(Sumer ; 2900 / 2340 av. JC)</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 Première séparation temporel / intemporel et donc palais / temple</a:t>
            </a:r>
            <a:endParaRPr lang="fr-FR" sz="1600" dirty="0">
              <a:latin typeface="Arial" panose="020B0604020202020204"/>
              <a:cs typeface="Arial" panose="020B0604020202020204"/>
            </a:endParaRPr>
          </a:p>
          <a:p>
            <a:r>
              <a:rPr lang="fr-FR" sz="1600" dirty="0">
                <a:latin typeface="Arial" panose="020B0604020202020204"/>
                <a:cs typeface="Arial" panose="020B0604020202020204"/>
              </a:rPr>
              <a:t>• Apparition de </a:t>
            </a:r>
            <a:r>
              <a:rPr lang="fr-FR" sz="1600" b="1" dirty="0">
                <a:latin typeface="Arial" panose="020B0604020202020204"/>
                <a:cs typeface="Arial" panose="020B0604020202020204"/>
              </a:rPr>
              <a:t>l’architecture monumentale</a:t>
            </a:r>
            <a:endParaRPr lang="fr-FR" sz="1600" b="1" dirty="0">
              <a:latin typeface="Arial" panose="020B0604020202020204"/>
              <a:cs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Sitka Subheading Semibold" charset="0"/>
                <a:cs typeface="Sitka Subheading Semibold" charset="0"/>
              </a:rPr>
              <a:t>Architecture Monumentale</a:t>
            </a:r>
            <a:endParaRPr lang="fr-FR" dirty="0" smtClean="0">
              <a:solidFill>
                <a:srgbClr val="FF0000"/>
              </a:solidFill>
              <a:latin typeface="Sitka Subheading Semibold" charset="0"/>
              <a:cs typeface="Sitka Subheading Semibold" charset="0"/>
            </a:endParaRPr>
          </a:p>
        </p:txBody>
      </p:sp>
      <p:sp>
        <p:nvSpPr>
          <p:cNvPr id="5" name="Rectangle 4"/>
          <p:cNvSpPr/>
          <p:nvPr/>
        </p:nvSpPr>
        <p:spPr>
          <a:xfrm>
            <a:off x="614131" y="1423036"/>
            <a:ext cx="5492029" cy="2062103"/>
          </a:xfrm>
          <a:prstGeom prst="rect">
            <a:avLst/>
          </a:prstGeom>
        </p:spPr>
        <p:txBody>
          <a:bodyPr wrap="square">
            <a:spAutoFit/>
          </a:bodyPr>
          <a:lstStyle/>
          <a:p>
            <a:r>
              <a:rPr lang="fr-FR" sz="1600" b="1" dirty="0">
                <a:latin typeface="Sitka Subheading Semibold" charset="0"/>
                <a:cs typeface="Sitka Subheading Semibold" charset="0"/>
              </a:rPr>
              <a:t>ZIGGOURAT </a:t>
            </a:r>
            <a:endParaRPr lang="fr-FR" sz="1600" dirty="0">
              <a:latin typeface="Sitka Subheading Semibold" charset="0"/>
              <a:cs typeface="Sitka Subheading Semibold" charset="0"/>
            </a:endParaRPr>
          </a:p>
          <a:p>
            <a:r>
              <a:rPr lang="fr-FR" sz="1600" dirty="0">
                <a:latin typeface="Sitka Subheading Semibold" charset="0"/>
                <a:cs typeface="Sitka Subheading Semibold" charset="0"/>
              </a:rPr>
              <a:t>Temple. Edifice </a:t>
            </a:r>
            <a:r>
              <a:rPr lang="fr-FR" sz="1600" dirty="0" smtClean="0">
                <a:latin typeface="Sitka Subheading Semibold" charset="0"/>
                <a:cs typeface="Sitka Subheading Semibold" charset="0"/>
              </a:rPr>
              <a:t>emblématique </a:t>
            </a:r>
            <a:r>
              <a:rPr lang="fr-FR" sz="1600" dirty="0">
                <a:latin typeface="Sitka Subheading Semibold" charset="0"/>
                <a:cs typeface="Sitka Subheading Semibold" charset="0"/>
              </a:rPr>
              <a:t>de l’architecture </a:t>
            </a:r>
            <a:r>
              <a:rPr lang="fr-FR" sz="1600" dirty="0" smtClean="0">
                <a:latin typeface="Sitka Subheading Semibold" charset="0"/>
                <a:cs typeface="Sitka Subheading Semibold" charset="0"/>
              </a:rPr>
              <a:t>mésopotamienne </a:t>
            </a:r>
            <a:endParaRPr lang="fr-FR" sz="1600" dirty="0">
              <a:latin typeface="Sitka Subheading Semibold" charset="0"/>
              <a:cs typeface="Sitka Subheading Semibold" charset="0"/>
            </a:endParaRPr>
          </a:p>
          <a:p>
            <a:r>
              <a:rPr lang="fr-FR" sz="1600" b="1" dirty="0" err="1">
                <a:latin typeface="Sitka Subheading Semibold" charset="0"/>
                <a:cs typeface="Sitka Subheading Semibold" charset="0"/>
              </a:rPr>
              <a:t>Néo-Sumer</a:t>
            </a:r>
            <a:r>
              <a:rPr lang="fr-FR" sz="1600" b="1" dirty="0">
                <a:latin typeface="Sitka Subheading Semibold" charset="0"/>
                <a:cs typeface="Sitka Subheading Semibold" charset="0"/>
              </a:rPr>
              <a:t> </a:t>
            </a:r>
            <a:r>
              <a:rPr lang="fr-FR" sz="1600" dirty="0">
                <a:latin typeface="Sitka Subheading Semibold" charset="0"/>
                <a:cs typeface="Sitka Subheading Semibold" charset="0"/>
              </a:rPr>
              <a:t>(Ur-</a:t>
            </a:r>
            <a:r>
              <a:rPr lang="fr-FR" sz="1600" dirty="0" err="1">
                <a:latin typeface="Sitka Subheading Semibold" charset="0"/>
                <a:cs typeface="Sitka Subheading Semibold" charset="0"/>
              </a:rPr>
              <a:t>Nammu</a:t>
            </a:r>
            <a:r>
              <a:rPr lang="fr-FR" sz="1600" dirty="0">
                <a:latin typeface="Sitka Subheading Semibold" charset="0"/>
                <a:cs typeface="Sitka Subheading Semibold" charset="0"/>
              </a:rPr>
              <a:t> : 2212-2094 av. JC) </a:t>
            </a:r>
            <a:endParaRPr lang="fr-FR" sz="1600" dirty="0">
              <a:latin typeface="Sitka Subheading Semibold" charset="0"/>
              <a:cs typeface="Sitka Subheading Semibold" charset="0"/>
            </a:endParaRPr>
          </a:p>
          <a:p>
            <a:r>
              <a:rPr lang="fr-FR" sz="1600" dirty="0">
                <a:latin typeface="Sitka Subheading Semibold" charset="0"/>
                <a:cs typeface="Sitka Subheading Semibold" charset="0"/>
              </a:rPr>
              <a:t>• Edifice rectangulaire orienté suivant les points cardinaux </a:t>
            </a:r>
            <a:endParaRPr lang="fr-FR" sz="1600" dirty="0" smtClean="0">
              <a:latin typeface="Sitka Subheading Semibold" charset="0"/>
              <a:cs typeface="Sitka Subheading Semibold" charset="0"/>
            </a:endParaRPr>
          </a:p>
          <a:p>
            <a:r>
              <a:rPr lang="fr-FR" sz="1600" dirty="0" smtClean="0">
                <a:latin typeface="Sitka Subheading Semibold" charset="0"/>
                <a:cs typeface="Sitka Subheading Semibold" charset="0"/>
              </a:rPr>
              <a:t>• </a:t>
            </a:r>
            <a:r>
              <a:rPr lang="fr-FR" sz="1600" dirty="0">
                <a:latin typeface="Sitka Subheading Semibold" charset="0"/>
                <a:cs typeface="Sitka Subheading Semibold" charset="0"/>
              </a:rPr>
              <a:t>Murs </a:t>
            </a:r>
            <a:r>
              <a:rPr lang="fr-FR" sz="1600" dirty="0" smtClean="0">
                <a:latin typeface="Sitka Subheading Semibold" charset="0"/>
                <a:cs typeface="Sitka Subheading Semibold" charset="0"/>
              </a:rPr>
              <a:t>inclinés </a:t>
            </a:r>
            <a:r>
              <a:rPr lang="fr-FR" sz="1600" dirty="0">
                <a:latin typeface="Sitka Subheading Semibold" charset="0"/>
                <a:cs typeface="Sitka Subheading Semibold" charset="0"/>
              </a:rPr>
              <a:t>par </a:t>
            </a:r>
            <a:r>
              <a:rPr lang="fr-FR" sz="1600" dirty="0" smtClean="0">
                <a:latin typeface="Sitka Subheading Semibold" charset="0"/>
                <a:cs typeface="Sitka Subheading Semibold" charset="0"/>
              </a:rPr>
              <a:t>réduction </a:t>
            </a:r>
            <a:r>
              <a:rPr lang="fr-FR" sz="1600" dirty="0">
                <a:latin typeface="Sitka Subheading Semibold" charset="0"/>
                <a:cs typeface="Sitka Subheading Semibold" charset="0"/>
              </a:rPr>
              <a:t>progressive de leur </a:t>
            </a:r>
            <a:r>
              <a:rPr lang="fr-FR" sz="1600" dirty="0" err="1">
                <a:latin typeface="Sitka Subheading Semibold" charset="0"/>
                <a:cs typeface="Sitka Subheading Semibold" charset="0"/>
              </a:rPr>
              <a:t>épaisseur</a:t>
            </a:r>
            <a:r>
              <a:rPr lang="fr-FR" sz="1600" dirty="0">
                <a:latin typeface="Sitka Subheading Semibold" charset="0"/>
                <a:cs typeface="Sitka Subheading Semibold" charset="0"/>
              </a:rPr>
              <a:t> </a:t>
            </a:r>
            <a:endParaRPr lang="fr-FR" sz="1600" dirty="0" smtClean="0">
              <a:latin typeface="Sitka Subheading Semibold" charset="0"/>
              <a:cs typeface="Sitka Subheading Semibold" charset="0"/>
            </a:endParaRPr>
          </a:p>
          <a:p>
            <a:r>
              <a:rPr lang="fr-FR" sz="1600" dirty="0" smtClean="0">
                <a:latin typeface="Sitka Subheading Semibold" charset="0"/>
                <a:cs typeface="Sitka Subheading Semibold" charset="0"/>
              </a:rPr>
              <a:t>• </a:t>
            </a:r>
            <a:r>
              <a:rPr lang="fr-FR" sz="1600" dirty="0">
                <a:latin typeface="Sitka Subheading Semibold" charset="0"/>
                <a:cs typeface="Sitka Subheading Semibold" charset="0"/>
              </a:rPr>
              <a:t>Temple </a:t>
            </a:r>
            <a:r>
              <a:rPr lang="fr-FR" sz="1600" dirty="0" smtClean="0">
                <a:latin typeface="Sitka Subheading Semibold" charset="0"/>
                <a:cs typeface="Sitka Subheading Semibold" charset="0"/>
              </a:rPr>
              <a:t>supérieur </a:t>
            </a:r>
            <a:r>
              <a:rPr lang="fr-FR" sz="1600" dirty="0">
                <a:latin typeface="Sitka Subheading Semibold" charset="0"/>
                <a:cs typeface="Sitka Subheading Semibold" charset="0"/>
              </a:rPr>
              <a:t>: demeure de la </a:t>
            </a:r>
            <a:r>
              <a:rPr lang="fr-FR" sz="1600" dirty="0" smtClean="0">
                <a:latin typeface="Sitka Subheading Semibold" charset="0"/>
                <a:cs typeface="Sitka Subheading Semibold" charset="0"/>
              </a:rPr>
              <a:t>divinité́ </a:t>
            </a:r>
            <a:endParaRPr lang="fr-FR" sz="1600" dirty="0">
              <a:latin typeface="Sitka Subheading Semibold" charset="0"/>
              <a:cs typeface="Sitka Subheading Semibold" charset="0"/>
            </a:endParaRPr>
          </a:p>
          <a:p>
            <a:endParaRPr lang="fr-FR" sz="1600" dirty="0">
              <a:latin typeface="Sitka Subheading Semibold" charset="0"/>
              <a:cs typeface="Sitka Subheading Semibold" charset="0"/>
            </a:endParaRPr>
          </a:p>
        </p:txBody>
      </p:sp>
      <p:pic>
        <p:nvPicPr>
          <p:cNvPr id="7" name="Image 6" descr="doc 8.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3500" y="3345180"/>
            <a:ext cx="8997696" cy="306019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p:nvPr/>
        </p:nvSpPr>
        <p:spPr>
          <a:xfrm>
            <a:off x="267970" y="280035"/>
            <a:ext cx="8764270" cy="117030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Quicksand" panose="00000500000000000000" charset="0"/>
                <a:cs typeface="Quicksand" panose="00000500000000000000" charset="0"/>
              </a:rPr>
              <a:t>Architecture Monumentale</a:t>
            </a:r>
            <a:endParaRPr lang="fr-FR" dirty="0" smtClean="0">
              <a:solidFill>
                <a:srgbClr val="FF0000"/>
              </a:solidFill>
              <a:latin typeface="Quicksand" panose="00000500000000000000" charset="0"/>
              <a:cs typeface="Quicksand" panose="00000500000000000000" charset="0"/>
            </a:endParaRPr>
          </a:p>
        </p:txBody>
      </p:sp>
      <p:sp>
        <p:nvSpPr>
          <p:cNvPr id="5" name="Rectangle 4"/>
          <p:cNvSpPr/>
          <p:nvPr/>
        </p:nvSpPr>
        <p:spPr>
          <a:xfrm>
            <a:off x="614131" y="1423036"/>
            <a:ext cx="5492029" cy="584776"/>
          </a:xfrm>
          <a:prstGeom prst="rect">
            <a:avLst/>
          </a:prstGeom>
        </p:spPr>
        <p:txBody>
          <a:bodyPr wrap="square">
            <a:spAutoFit/>
          </a:bodyPr>
          <a:lstStyle/>
          <a:p>
            <a:r>
              <a:rPr lang="fr-FR" sz="1600" b="1" dirty="0" smtClean="0">
                <a:latin typeface="Arial" panose="020B0604020202020204"/>
                <a:cs typeface="Arial" panose="020B0604020202020204"/>
              </a:rPr>
              <a:t>II</a:t>
            </a:r>
            <a:r>
              <a:rPr lang="fr-FR" sz="1600" b="1" baseline="30000" dirty="0" smtClean="0">
                <a:latin typeface="Arial" panose="020B0604020202020204"/>
                <a:cs typeface="Arial" panose="020B0604020202020204"/>
              </a:rPr>
              <a:t>e </a:t>
            </a:r>
            <a:r>
              <a:rPr lang="fr-FR" sz="1600" b="1" dirty="0" smtClean="0">
                <a:latin typeface="Arial" panose="020B0604020202020204"/>
                <a:cs typeface="Arial" panose="020B0604020202020204"/>
              </a:rPr>
              <a:t>et</a:t>
            </a:r>
            <a:r>
              <a:rPr lang="fr-FR" sz="1600" b="1" baseline="30000" dirty="0" smtClean="0">
                <a:latin typeface="Arial" panose="020B0604020202020204"/>
                <a:cs typeface="Arial" panose="020B0604020202020204"/>
              </a:rPr>
              <a:t> </a:t>
            </a:r>
            <a:r>
              <a:rPr lang="fr-FR" sz="1600" b="1" dirty="0" smtClean="0">
                <a:latin typeface="Arial" panose="020B0604020202020204"/>
                <a:cs typeface="Arial" panose="020B0604020202020204"/>
              </a:rPr>
              <a:t>I millénaires </a:t>
            </a:r>
            <a:endParaRPr lang="fr-FR" sz="1600" dirty="0">
              <a:latin typeface="Arial" panose="020B0604020202020204"/>
              <a:cs typeface="Arial" panose="020B0604020202020204"/>
            </a:endParaRPr>
          </a:p>
          <a:p>
            <a:endParaRPr lang="fr-FR" sz="1600" dirty="0">
              <a:latin typeface="Arial" panose="020B0604020202020204"/>
              <a:cs typeface="Arial" panose="020B0604020202020204"/>
            </a:endParaRPr>
          </a:p>
        </p:txBody>
      </p:sp>
      <p:pic>
        <p:nvPicPr>
          <p:cNvPr id="2" name="Image 1" descr="doc 9.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6700" y="1423036"/>
            <a:ext cx="8607552" cy="4626864"/>
          </a:xfrm>
          <a:prstGeom prst="rect">
            <a:avLst/>
          </a:prstGeom>
        </p:spPr>
      </p:pic>
      <p:sp>
        <p:nvSpPr>
          <p:cNvPr id="6" name="Rectangle 5"/>
          <p:cNvSpPr/>
          <p:nvPr/>
        </p:nvSpPr>
        <p:spPr>
          <a:xfrm>
            <a:off x="936506" y="6049900"/>
            <a:ext cx="2926080" cy="276999"/>
          </a:xfrm>
          <a:prstGeom prst="rect">
            <a:avLst/>
          </a:prstGeom>
        </p:spPr>
        <p:txBody>
          <a:bodyPr wrap="square">
            <a:spAutoFit/>
          </a:bodyPr>
          <a:lstStyle/>
          <a:p>
            <a:pPr algn="ctr"/>
            <a:r>
              <a:rPr lang="fr-FR" sz="1200" i="1" dirty="0" smtClean="0"/>
              <a:t>Palais de </a:t>
            </a:r>
            <a:r>
              <a:rPr lang="fr-FR" sz="1200" i="1" dirty="0" err="1" smtClean="0"/>
              <a:t>Zimri</a:t>
            </a:r>
            <a:r>
              <a:rPr lang="fr-FR" sz="1200" i="1" dirty="0" smtClean="0"/>
              <a:t>-Lim </a:t>
            </a:r>
            <a:endParaRPr lang="fr-FR" sz="1200" i="1" dirty="0"/>
          </a:p>
        </p:txBody>
      </p:sp>
      <p:sp>
        <p:nvSpPr>
          <p:cNvPr id="9" name="Rectangle 8"/>
          <p:cNvSpPr/>
          <p:nvPr/>
        </p:nvSpPr>
        <p:spPr>
          <a:xfrm>
            <a:off x="5356106" y="6188399"/>
            <a:ext cx="2926080" cy="276999"/>
          </a:xfrm>
          <a:prstGeom prst="rect">
            <a:avLst/>
          </a:prstGeom>
        </p:spPr>
        <p:txBody>
          <a:bodyPr wrap="square">
            <a:spAutoFit/>
          </a:bodyPr>
          <a:lstStyle/>
          <a:p>
            <a:pPr algn="ctr"/>
            <a:r>
              <a:rPr lang="fr-FR" sz="1200" i="1" dirty="0" smtClean="0"/>
              <a:t>Palais de Sargon</a:t>
            </a:r>
            <a:endParaRPr lang="fr-FR" sz="1200" i="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smtClean="0">
                <a:solidFill>
                  <a:srgbClr val="FF0000"/>
                </a:solidFill>
                <a:latin typeface="Quicksand" panose="00000500000000000000" charset="0"/>
                <a:cs typeface="Quicksand" panose="00000500000000000000" charset="0"/>
              </a:rPr>
              <a:t>Glossaire</a:t>
            </a:r>
            <a:endParaRPr lang="fr-FR" dirty="0">
              <a:solidFill>
                <a:srgbClr val="FF0000"/>
              </a:solidFill>
              <a:latin typeface="Quicksand" panose="00000500000000000000" charset="0"/>
              <a:cs typeface="Quicksand" panose="00000500000000000000" charset="0"/>
            </a:endParaRPr>
          </a:p>
          <a:p>
            <a:endParaRPr lang="fr-FR" dirty="0">
              <a:solidFill>
                <a:srgbClr val="FF0000"/>
              </a:solidFill>
              <a:latin typeface="Quicksand" panose="00000500000000000000" charset="0"/>
              <a:cs typeface="Quicksand" panose="00000500000000000000" charset="0"/>
            </a:endParaRPr>
          </a:p>
        </p:txBody>
      </p:sp>
      <p:sp>
        <p:nvSpPr>
          <p:cNvPr id="6" name="Rectangle 5"/>
          <p:cNvSpPr/>
          <p:nvPr/>
        </p:nvSpPr>
        <p:spPr>
          <a:xfrm>
            <a:off x="187412" y="1087756"/>
            <a:ext cx="8844828" cy="3293209"/>
          </a:xfrm>
          <a:prstGeom prst="rect">
            <a:avLst/>
          </a:prstGeom>
        </p:spPr>
        <p:txBody>
          <a:bodyPr wrap="square">
            <a:spAutoFit/>
          </a:bodyPr>
          <a:lstStyle/>
          <a:p>
            <a:pPr lvl="0"/>
            <a:r>
              <a:rPr lang="fr-FR" sz="1600" b="1" dirty="0" smtClean="0">
                <a:solidFill>
                  <a:srgbClr val="FF0000"/>
                </a:solidFill>
                <a:latin typeface="Arial" panose="020B0604020202020204"/>
                <a:cs typeface="Arial" panose="020B0604020202020204"/>
              </a:rPr>
              <a:t>Mésopotamie </a:t>
            </a:r>
            <a:r>
              <a:rPr lang="fr-FR" sz="1600" dirty="0" smtClean="0">
                <a:latin typeface="Arial" panose="020B0604020202020204"/>
                <a:cs typeface="Arial" panose="020B0604020202020204"/>
              </a:rPr>
              <a:t>: région </a:t>
            </a:r>
            <a:r>
              <a:rPr lang="fr-FR" sz="1600" dirty="0">
                <a:latin typeface="Arial" panose="020B0604020202020204"/>
                <a:cs typeface="Arial" panose="020B0604020202020204"/>
              </a:rPr>
              <a:t>historique du Moyen-Orient située dans le </a:t>
            </a:r>
            <a:r>
              <a:rPr lang="fr-FR" sz="1600" b="1" dirty="0">
                <a:latin typeface="Arial" panose="020B0604020202020204"/>
                <a:cs typeface="Arial" panose="020B0604020202020204"/>
              </a:rPr>
              <a:t>Croissant fertile</a:t>
            </a:r>
            <a:r>
              <a:rPr lang="fr-FR" sz="1600" dirty="0">
                <a:latin typeface="Arial" panose="020B0604020202020204"/>
                <a:cs typeface="Arial" panose="020B0604020202020204"/>
              </a:rPr>
              <a:t>, entre le Tigre et l'Euphrate. Elle correspond pour sa plus grande part à l'Irak </a:t>
            </a:r>
            <a:r>
              <a:rPr lang="fr-FR" sz="1600" dirty="0" smtClean="0">
                <a:latin typeface="Arial" panose="020B0604020202020204"/>
                <a:cs typeface="Arial" panose="020B0604020202020204"/>
              </a:rPr>
              <a:t>actuel.</a:t>
            </a:r>
            <a:endParaRPr lang="fr-FR" sz="1600" dirty="0" smtClean="0">
              <a:latin typeface="Arial" panose="020B0604020202020204"/>
              <a:cs typeface="Arial" panose="020B0604020202020204"/>
            </a:endParaRPr>
          </a:p>
          <a:p>
            <a:pPr lvl="0"/>
            <a:r>
              <a:rPr lang="fr-FR" sz="1600" b="1" dirty="0" smtClean="0">
                <a:solidFill>
                  <a:srgbClr val="FF0000"/>
                </a:solidFill>
                <a:latin typeface="Arial" panose="020B0604020202020204"/>
                <a:cs typeface="Arial" panose="020B0604020202020204"/>
              </a:rPr>
              <a:t>Cintre </a:t>
            </a:r>
            <a:r>
              <a:rPr lang="fr-FR" sz="1600" dirty="0">
                <a:latin typeface="Arial" panose="020B0604020202020204"/>
                <a:cs typeface="Arial" panose="020B0604020202020204"/>
              </a:rPr>
              <a:t>: un échafaudage ou coffrage en forme d’arc-de-cercle qui sert à construire et à soutenir une voûte jusqu'à ce qu'elle soit terminée et les mortiers </a:t>
            </a:r>
            <a:r>
              <a:rPr lang="fr-FR" sz="1600" dirty="0" smtClean="0">
                <a:latin typeface="Arial" panose="020B0604020202020204"/>
                <a:cs typeface="Arial" panose="020B0604020202020204"/>
              </a:rPr>
              <a:t>séchés, ou courbe intérieure d’une voûte.</a:t>
            </a:r>
            <a:endParaRPr lang="fr-FR" sz="1600" dirty="0" smtClean="0">
              <a:latin typeface="Arial" panose="020B0604020202020204"/>
              <a:cs typeface="Arial" panose="020B0604020202020204"/>
            </a:endParaRPr>
          </a:p>
          <a:p>
            <a:pPr lvl="0"/>
            <a:r>
              <a:rPr lang="fr-FR" sz="1600" b="1" dirty="0" smtClean="0">
                <a:solidFill>
                  <a:srgbClr val="FF0000"/>
                </a:solidFill>
                <a:latin typeface="Arial" panose="020B0604020202020204"/>
                <a:cs typeface="Arial" panose="020B0604020202020204"/>
              </a:rPr>
              <a:t>Hypostyle</a:t>
            </a:r>
            <a:r>
              <a:rPr lang="fr-FR" sz="1600" dirty="0" smtClean="0">
                <a:latin typeface="Arial" panose="020B0604020202020204"/>
                <a:cs typeface="Arial" panose="020B0604020202020204"/>
              </a:rPr>
              <a:t> </a:t>
            </a:r>
            <a:r>
              <a:rPr lang="fr-FR" sz="1600" dirty="0">
                <a:latin typeface="Arial" panose="020B0604020202020204"/>
                <a:cs typeface="Arial" panose="020B0604020202020204"/>
              </a:rPr>
              <a:t>:  Le terme « hypostyle » vient du grec ancien </a:t>
            </a:r>
            <a:r>
              <a:rPr lang="fr-FR" sz="1600" dirty="0" err="1">
                <a:latin typeface="Arial" panose="020B0604020202020204"/>
                <a:cs typeface="Arial" panose="020B0604020202020204"/>
              </a:rPr>
              <a:t>hupostulos</a:t>
            </a:r>
            <a:r>
              <a:rPr lang="fr-FR" sz="1600" dirty="0">
                <a:latin typeface="Arial" panose="020B0604020202020204"/>
                <a:cs typeface="Arial" panose="020B0604020202020204"/>
              </a:rPr>
              <a:t> et signifie en « supporté par des colonnes ». Le terme est fréquent en Égypte antique car il désigne certaines vastes salles des temples mais il est aussi utilisé dans d'autres civilisations telle que l'hellénistique avec le temple d'Eleusis non loin d'Athènes en Grèce.</a:t>
            </a:r>
            <a:endParaRPr lang="fr-FR" sz="1600" dirty="0">
              <a:latin typeface="Arial" panose="020B0604020202020204"/>
              <a:cs typeface="Arial" panose="020B0604020202020204"/>
            </a:endParaRPr>
          </a:p>
          <a:p>
            <a:pPr lvl="0"/>
            <a:r>
              <a:rPr lang="fr-FR" sz="1600" b="1" dirty="0" smtClean="0">
                <a:solidFill>
                  <a:srgbClr val="FF0000"/>
                </a:solidFill>
                <a:latin typeface="Arial" panose="020B0604020202020204"/>
                <a:cs typeface="Arial" panose="020B0604020202020204"/>
              </a:rPr>
              <a:t>Plate-bande / Architrave </a:t>
            </a:r>
            <a:r>
              <a:rPr lang="fr-FR" sz="1600" dirty="0" smtClean="0">
                <a:latin typeface="Arial" panose="020B0604020202020204"/>
                <a:cs typeface="Arial" panose="020B0604020202020204"/>
              </a:rPr>
              <a:t>: La </a:t>
            </a:r>
            <a:r>
              <a:rPr lang="fr-FR" sz="1600" dirty="0">
                <a:latin typeface="Arial" panose="020B0604020202020204"/>
                <a:cs typeface="Arial" panose="020B0604020202020204"/>
              </a:rPr>
              <a:t>plate-bande est un linteau à système de clé analogue à l'arc, destiné à supporter une charge au-dessus d'une ouverture dans un mur, et dont l'agencement des pierres est horizontal. Il allie la stabilité et la résistance de l'arc au faible encombrement du linteau.</a:t>
            </a:r>
            <a:endParaRPr lang="fr-FR" sz="1600" dirty="0" smtClean="0">
              <a:latin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6922</Words>
  <Application>WPS Presentation</Application>
  <PresentationFormat>Présentation à l'écran (4:3)</PresentationFormat>
  <Paragraphs>151</Paragraphs>
  <Slides>16</Slides>
  <Notes>11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16</vt:i4>
      </vt:variant>
    </vt:vector>
  </HeadingPairs>
  <TitlesOfParts>
    <vt:vector size="30" baseType="lpstr">
      <vt:lpstr>Arial</vt:lpstr>
      <vt:lpstr>SimSun</vt:lpstr>
      <vt:lpstr>Wingdings</vt:lpstr>
      <vt:lpstr>Arial</vt:lpstr>
      <vt:lpstr>Futura Std Medium</vt:lpstr>
      <vt:lpstr>AMGDT</vt:lpstr>
      <vt:lpstr>Sitka Subheading Semibold</vt:lpstr>
      <vt:lpstr>Calibri</vt:lpstr>
      <vt:lpstr>Microsoft YaHei</vt:lpstr>
      <vt:lpstr>Arial Unicode MS</vt:lpstr>
      <vt:lpstr>Carter One</vt:lpstr>
      <vt:lpstr>Quicksand</vt:lpstr>
      <vt:lpstr>Noto Sans</vt:lpstr>
      <vt:lpstr>Thème Office</vt:lpstr>
      <vt:lpstr>HISTOIRE DE L’ARCHITECTURE </vt:lpstr>
      <vt:lpstr>Chapitre 2 – La Mésopotamie</vt:lpstr>
      <vt:lpstr>PowerPoint 演示文稿</vt:lpstr>
      <vt:lpstr>Des premières chefferies ...</vt:lpstr>
      <vt:lpstr>… Aux empires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arting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HISTOIRE DE L’ARCHITECTURE </dc:title>
  <dc:creator>Carole Diop</dc:creator>
  <cp:lastModifiedBy>Henry Moustapha Ngom</cp:lastModifiedBy>
  <cp:revision>93</cp:revision>
  <dcterms:created xsi:type="dcterms:W3CDTF">2015-10-25T15:26:00Z</dcterms:created>
  <dcterms:modified xsi:type="dcterms:W3CDTF">2025-07-09T11:43:15Z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D54C3F32AAFC4723BFED5430EAA031AC_12</vt:lpwstr>
  </property>
  <property fmtid="{D5CDD505-2E9C-101B-9397-08002B2CF9AE}" pid="3" name="KSOProductBuildVer">
    <vt:lpwstr>3084-12.2.0.21602</vt:lpwstr>
  </property>
</Properties>
</file>