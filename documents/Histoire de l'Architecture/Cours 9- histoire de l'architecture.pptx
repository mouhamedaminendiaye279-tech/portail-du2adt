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83" r:id="rId7"/>
    <p:sldId id="284" r:id="rId8"/>
    <p:sldId id="285" r:id="rId9"/>
    <p:sldId id="286" r:id="rId10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00" autoAdjust="0"/>
  </p:normalViewPr>
  <p:slideViewPr>
    <p:cSldViewPr snapToGrid="0" snapToObjects="1">
      <p:cViewPr>
        <p:scale>
          <a:sx n="125" d="100"/>
          <a:sy n="125" d="100"/>
        </p:scale>
        <p:origin x="-36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3A34B-0840-0446-86EF-391E62D3EC31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F94D2-74A3-FD49-83C6-6F55007D9FD4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F94D2-74A3-FD49-83C6-6F55007D9FD4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F94D2-74A3-FD49-83C6-6F55007D9FD4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F94D2-74A3-FD49-83C6-6F55007D9FD4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F94D2-74A3-FD49-83C6-6F55007D9FD4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F94D2-74A3-FD49-83C6-6F55007D9FD4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2AFA2-8D06-AC4A-BB17-A2C238DE230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253EB-8335-C74A-8688-1E7F3D83491B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HISTOIRE DE L’ARCHITECTURE </a:t>
            </a:r>
            <a:endParaRPr lang="fr-FR" dirty="0" smtClean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</p:spPr>
        <p:txBody>
          <a:bodyPr/>
          <a:lstStyle/>
          <a:p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PARTIE IV </a:t>
            </a:r>
            <a:endParaRPr lang="fr-FR" dirty="0">
              <a:solidFill>
                <a:srgbClr val="FF0000"/>
              </a:solidFill>
              <a:latin typeface="Palatino Linotype" panose="02040502050505030304" charset="0"/>
              <a:cs typeface="Palatino Linotype" panose="02040502050505030304" charset="0"/>
            </a:endParaRPr>
          </a:p>
          <a:p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 LES ROYAUMES AFRICAINS</a:t>
            </a:r>
            <a:endParaRPr lang="fr-FR" dirty="0">
              <a:solidFill>
                <a:srgbClr val="FF0000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27011" y="6351926"/>
            <a:ext cx="1471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©Carole Diop</a:t>
            </a:r>
            <a:endParaRPr lang="fr-FR" dirty="0" smtClean="0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25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Historiquement l'architecture éthiopienne est largement influencée par la 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civilisation </a:t>
            </a:r>
            <a:r>
              <a:rPr lang="fr-FR" sz="1600" b="1" dirty="0" err="1" smtClean="0">
                <a:latin typeface="Palatino Linotype" panose="02040502050505030304" charset="0"/>
                <a:cs typeface="Palatino Linotype" panose="02040502050505030304" charset="0"/>
              </a:rPr>
              <a:t>aksoumite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(Ier siècle av. J.-C. – Xe siècle)  au niveau du plan des monuments (carrés ou rectangulaires), des élévations (murs à rentrants et saillants, plafonds et toits plats) mais également au niveau de la technique de construction (poutres apparentes dites "têtes de singe", moellons et bois alternés). Cette influence a persisté même après le passage de la 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dynastie </a:t>
            </a:r>
            <a:r>
              <a:rPr lang="fr-FR" sz="1600" b="1" dirty="0" err="1" smtClean="0">
                <a:latin typeface="Palatino Linotype" panose="02040502050505030304" charset="0"/>
                <a:cs typeface="Palatino Linotype" panose="02040502050505030304" charset="0"/>
              </a:rPr>
              <a:t>Aksoumite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à la 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dynastie </a:t>
            </a:r>
            <a:r>
              <a:rPr lang="fr-FR" sz="1600" b="1" dirty="0" err="1" smtClean="0">
                <a:latin typeface="Palatino Linotype" panose="02040502050505030304" charset="0"/>
                <a:cs typeface="Palatino Linotype" panose="02040502050505030304" charset="0"/>
              </a:rPr>
              <a:t>Zagwe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au 12</a:t>
            </a:r>
            <a:r>
              <a:rPr lang="fr-FR" sz="1600" baseline="30000" dirty="0" smtClean="0">
                <a:latin typeface="Palatino Linotype" panose="02040502050505030304" charset="0"/>
                <a:cs typeface="Palatino Linotype" panose="02040502050505030304" charset="0"/>
              </a:rPr>
              <a:t>e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 siècle. Des Stèles et plus tard des églises entières ont été taillées dans la roche. Entre le XIe et le XIIe, une série d'églises rupestres seront taillées à 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Lalibela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 et dans toute la province du Tigré.</a:t>
            </a: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Chaque église à une forme, une dimension et un ensemble de détails uniques, issus d’une combinaison de différents styles et symboles, même si les influences les plus importantes remontent aux 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basiliques paléochrétiennes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. Seuls quatre des onze églises monolithes sont complètement libres - debout et attachées à la roche d'origine par la base. Les autres sont semi</a:t>
            </a:r>
            <a:r>
              <a:rPr lang="fr-FR" sz="1600" smtClean="0">
                <a:latin typeface="Palatino Linotype" panose="02040502050505030304" charset="0"/>
                <a:cs typeface="Palatino Linotype" panose="02040502050505030304" charset="0"/>
              </a:rPr>
              <a:t>-détachée,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pleinement incluses dans la roche et se détachant seulement avec leur façade.</a:t>
            </a: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La plus grande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, </a:t>
            </a:r>
            <a:r>
              <a:rPr lang="fr-FR" sz="1600" b="1" dirty="0" err="1">
                <a:latin typeface="Palatino Linotype" panose="02040502050505030304" charset="0"/>
                <a:cs typeface="Palatino Linotype" panose="02040502050505030304" charset="0"/>
              </a:rPr>
              <a:t>Bet</a:t>
            </a:r>
            <a:r>
              <a:rPr lang="fr-FR" sz="1600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600" b="1" dirty="0" err="1">
                <a:latin typeface="Palatino Linotype" panose="02040502050505030304" charset="0"/>
                <a:cs typeface="Palatino Linotype" panose="02040502050505030304" charset="0"/>
              </a:rPr>
              <a:t>Medhani</a:t>
            </a:r>
            <a:r>
              <a:rPr lang="fr-FR" sz="1600" b="1" dirty="0">
                <a:latin typeface="Palatino Linotype" panose="02040502050505030304" charset="0"/>
                <a:cs typeface="Palatino Linotype" panose="02040502050505030304" charset="0"/>
              </a:rPr>
              <a:t> Alem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( Maison du Sauveur du Monde ) est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entourée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par 36 piliers et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fait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en quelque sorte penser à un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ancien temple grec,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tandis que l'église de </a:t>
            </a:r>
            <a:r>
              <a:rPr lang="fr-FR" sz="1600" b="1" dirty="0" err="1">
                <a:latin typeface="Palatino Linotype" panose="02040502050505030304" charset="0"/>
                <a:cs typeface="Palatino Linotype" panose="02040502050505030304" charset="0"/>
              </a:rPr>
              <a:t>Bet</a:t>
            </a:r>
            <a:r>
              <a:rPr lang="fr-FR" sz="1600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600" b="1" dirty="0" err="1" smtClean="0">
                <a:latin typeface="Palatino Linotype" panose="02040502050505030304" charset="0"/>
                <a:cs typeface="Palatino Linotype" panose="02040502050505030304" charset="0"/>
              </a:rPr>
              <a:t>Giyorgis</a:t>
            </a:r>
            <a:r>
              <a:rPr lang="fr-FR" sz="1600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(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Église Saint-Georges), est façonnée sous la forme d'une croix orthodoxe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extrudée.</a:t>
            </a: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Chapitre 2 – Le Moyen Âge Ethiopien</a:t>
            </a:r>
            <a:endParaRPr lang="fr-FR" dirty="0" smtClean="0">
              <a:solidFill>
                <a:srgbClr val="FF0000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3520" y="1417638"/>
            <a:ext cx="8703263" cy="4881562"/>
          </a:xfrm>
        </p:spPr>
        <p:txBody>
          <a:bodyPr>
            <a:noAutofit/>
          </a:bodyPr>
          <a:lstStyle/>
          <a:p>
            <a:r>
              <a:rPr lang="fr-FR" sz="1600" b="1" dirty="0" smtClean="0">
                <a:latin typeface="Arial" panose="020B0604020202020204"/>
                <a:cs typeface="Arial" panose="020B0604020202020204"/>
              </a:rPr>
              <a:t>Ier siècle </a:t>
            </a:r>
            <a:r>
              <a:rPr lang="fr-FR" sz="1600" dirty="0" smtClean="0">
                <a:latin typeface="Arial" panose="020B0604020202020204"/>
                <a:cs typeface="Arial" panose="020B0604020202020204"/>
              </a:rPr>
              <a:t>		Fondation </a:t>
            </a:r>
            <a:r>
              <a:rPr lang="fr-FR" sz="1600" dirty="0">
                <a:latin typeface="Arial" panose="020B0604020202020204"/>
                <a:cs typeface="Arial" panose="020B0604020202020204"/>
              </a:rPr>
              <a:t>du royaume d'Aksoum. </a:t>
            </a:r>
            <a:r>
              <a:rPr lang="fr-FR" sz="1600" dirty="0" err="1">
                <a:latin typeface="Arial" panose="020B0604020202020204"/>
                <a:cs typeface="Arial" panose="020B0604020202020204"/>
              </a:rPr>
              <a:t>Zoskales</a:t>
            </a:r>
            <a:r>
              <a:rPr lang="fr-FR" sz="1600" dirty="0">
                <a:latin typeface="Arial" panose="020B0604020202020204"/>
                <a:cs typeface="Arial" panose="020B0604020202020204"/>
              </a:rPr>
              <a:t>, premier empereur.</a:t>
            </a:r>
            <a:endParaRPr lang="fr-FR" sz="1600" dirty="0" smtClean="0">
              <a:latin typeface="Arial" panose="020B0604020202020204"/>
              <a:cs typeface="Arial" panose="020B0604020202020204"/>
            </a:endParaRPr>
          </a:p>
          <a:p>
            <a:r>
              <a:rPr lang="fr-FR" sz="1600" b="1" dirty="0" smtClean="0">
                <a:latin typeface="Arial" panose="020B0604020202020204"/>
                <a:cs typeface="Arial" panose="020B0604020202020204"/>
              </a:rPr>
              <a:t>325-350</a:t>
            </a:r>
            <a:r>
              <a:rPr lang="fr-FR" sz="1600" dirty="0" smtClean="0">
                <a:latin typeface="Arial" panose="020B0604020202020204"/>
                <a:cs typeface="Arial" panose="020B0604020202020204"/>
              </a:rPr>
              <a:t> 		Conversion des élites au christianisme sous le règne du roi </a:t>
            </a:r>
            <a:r>
              <a:rPr lang="fr-FR" sz="1600" b="1" dirty="0" err="1" smtClean="0">
                <a:latin typeface="Arial" panose="020B0604020202020204"/>
                <a:cs typeface="Arial" panose="020B0604020202020204"/>
              </a:rPr>
              <a:t>Ezana</a:t>
            </a:r>
            <a:r>
              <a:rPr lang="fr-FR" sz="1600" dirty="0" smtClean="0">
                <a:latin typeface="Arial" panose="020B0604020202020204"/>
                <a:cs typeface="Arial" panose="020B0604020202020204"/>
              </a:rPr>
              <a:t> et 					invasion du royaume de </a:t>
            </a:r>
            <a:r>
              <a:rPr lang="fr-FR" sz="1600" dirty="0" err="1" smtClean="0">
                <a:latin typeface="Arial" panose="020B0604020202020204"/>
                <a:cs typeface="Arial" panose="020B0604020202020204"/>
              </a:rPr>
              <a:t>Koush</a:t>
            </a:r>
            <a:r>
              <a:rPr lang="fr-FR" sz="1600" dirty="0" smtClean="0">
                <a:latin typeface="Arial" panose="020B0604020202020204"/>
                <a:cs typeface="Arial" panose="020B0604020202020204"/>
              </a:rPr>
              <a:t> (Nubie)</a:t>
            </a:r>
            <a:endParaRPr lang="fr-FR" sz="1600" i="1" dirty="0" smtClean="0">
              <a:latin typeface="Arial" panose="020B0604020202020204"/>
              <a:cs typeface="Arial" panose="020B0604020202020204"/>
            </a:endParaRPr>
          </a:p>
          <a:p>
            <a:r>
              <a:rPr lang="fr-FR" sz="1600" b="1" dirty="0" smtClean="0">
                <a:latin typeface="Arial" panose="020B0604020202020204"/>
                <a:cs typeface="Arial" panose="020B0604020202020204"/>
              </a:rPr>
              <a:t>Xe siècle </a:t>
            </a:r>
            <a:r>
              <a:rPr lang="fr-FR" sz="1600" dirty="0" smtClean="0">
                <a:latin typeface="Arial" panose="020B0604020202020204"/>
                <a:cs typeface="Arial" panose="020B0604020202020204"/>
              </a:rPr>
              <a:t> 		Déclin </a:t>
            </a:r>
            <a:r>
              <a:rPr lang="fr-FR" sz="1600" dirty="0">
                <a:latin typeface="Arial" panose="020B0604020202020204"/>
                <a:cs typeface="Arial" panose="020B0604020202020204"/>
              </a:rPr>
              <a:t>du royaume d'Aksoum. </a:t>
            </a:r>
            <a:r>
              <a:rPr lang="fr-FR" sz="1600" b="1" dirty="0" err="1">
                <a:latin typeface="Arial" panose="020B0604020202020204"/>
                <a:cs typeface="Arial" panose="020B0604020202020204"/>
              </a:rPr>
              <a:t>Dil</a:t>
            </a:r>
            <a:r>
              <a:rPr lang="fr-FR" sz="1600" b="1" dirty="0">
                <a:latin typeface="Arial" panose="020B0604020202020204"/>
                <a:cs typeface="Arial" panose="020B0604020202020204"/>
              </a:rPr>
              <a:t> </a:t>
            </a:r>
            <a:r>
              <a:rPr lang="fr-FR" sz="1600" b="1" dirty="0" err="1">
                <a:latin typeface="Arial" panose="020B0604020202020204"/>
                <a:cs typeface="Arial" panose="020B0604020202020204"/>
              </a:rPr>
              <a:t>Na'od</a:t>
            </a:r>
            <a:r>
              <a:rPr lang="fr-FR" sz="1600" dirty="0">
                <a:latin typeface="Arial" panose="020B0604020202020204"/>
                <a:cs typeface="Arial" panose="020B0604020202020204"/>
              </a:rPr>
              <a:t>, dernier empereur.</a:t>
            </a:r>
            <a:endParaRPr lang="fr-FR" sz="1600" dirty="0" smtClean="0">
              <a:latin typeface="Arial" panose="020B0604020202020204"/>
              <a:cs typeface="Arial" panose="020B0604020202020204"/>
            </a:endParaRPr>
          </a:p>
          <a:p>
            <a:r>
              <a:rPr lang="fr-FR" sz="1600" b="1" dirty="0" smtClean="0">
                <a:latin typeface="Arial" panose="020B0604020202020204"/>
                <a:cs typeface="Arial" panose="020B0604020202020204"/>
              </a:rPr>
              <a:t>1140-1270</a:t>
            </a:r>
            <a:r>
              <a:rPr lang="fr-FR" sz="1600" dirty="0">
                <a:latin typeface="Arial" panose="020B0604020202020204"/>
                <a:cs typeface="Arial" panose="020B0604020202020204"/>
              </a:rPr>
              <a:t>	</a:t>
            </a:r>
            <a:r>
              <a:rPr lang="fr-FR" sz="1600" dirty="0" smtClean="0">
                <a:latin typeface="Arial" panose="020B0604020202020204"/>
                <a:cs typeface="Arial" panose="020B0604020202020204"/>
              </a:rPr>
              <a:t>	</a:t>
            </a:r>
            <a:r>
              <a:rPr lang="fr-FR" sz="1600" b="1" dirty="0" smtClean="0">
                <a:latin typeface="Arial" panose="020B0604020202020204"/>
                <a:cs typeface="Arial" panose="020B0604020202020204"/>
              </a:rPr>
              <a:t>Dynastie </a:t>
            </a:r>
            <a:r>
              <a:rPr lang="fr-FR" sz="1600" b="1" dirty="0" err="1" smtClean="0">
                <a:latin typeface="Arial" panose="020B0604020202020204"/>
                <a:cs typeface="Arial" panose="020B0604020202020204"/>
              </a:rPr>
              <a:t>Zagwé</a:t>
            </a:r>
            <a:r>
              <a:rPr lang="fr-FR" sz="1600" b="1" dirty="0" smtClean="0">
                <a:latin typeface="Arial" panose="020B0604020202020204"/>
                <a:cs typeface="Arial" panose="020B0604020202020204"/>
              </a:rPr>
              <a:t> – </a:t>
            </a:r>
            <a:r>
              <a:rPr lang="hr-HR" sz="1600" b="1" dirty="0" smtClean="0">
                <a:latin typeface="Arial" panose="020B0604020202020204"/>
                <a:cs typeface="Arial" panose="020B0604020202020204"/>
              </a:rPr>
              <a:t>Lalibela ou </a:t>
            </a:r>
            <a:r>
              <a:rPr lang="de-DE" sz="1600" b="1" dirty="0">
                <a:latin typeface="Arial" panose="020B0604020202020204"/>
                <a:cs typeface="Arial" panose="020B0604020202020204"/>
              </a:rPr>
              <a:t> </a:t>
            </a:r>
            <a:r>
              <a:rPr lang="de-DE" sz="1600" b="1" dirty="0" err="1">
                <a:latin typeface="Arial" panose="020B0604020202020204"/>
                <a:cs typeface="Arial" panose="020B0604020202020204"/>
              </a:rPr>
              <a:t>Gebre</a:t>
            </a:r>
            <a:r>
              <a:rPr lang="de-DE" sz="1600" b="1" dirty="0">
                <a:latin typeface="Arial" panose="020B0604020202020204"/>
                <a:cs typeface="Arial" panose="020B0604020202020204"/>
              </a:rPr>
              <a:t> </a:t>
            </a:r>
            <a:r>
              <a:rPr lang="de-DE" sz="1600" b="1" dirty="0" err="1">
                <a:latin typeface="Arial" panose="020B0604020202020204"/>
                <a:cs typeface="Arial" panose="020B0604020202020204"/>
              </a:rPr>
              <a:t>Mesqel</a:t>
            </a:r>
            <a:r>
              <a:rPr lang="de-DE" sz="1600" b="1" dirty="0">
                <a:latin typeface="Arial" panose="020B0604020202020204"/>
                <a:cs typeface="Arial" panose="020B0604020202020204"/>
              </a:rPr>
              <a:t> </a:t>
            </a:r>
            <a:r>
              <a:rPr lang="hr-HR" sz="1600" b="1" dirty="0" smtClean="0">
                <a:latin typeface="Arial" panose="020B0604020202020204"/>
                <a:cs typeface="Arial" panose="020B0604020202020204"/>
              </a:rPr>
              <a:t> </a:t>
            </a:r>
            <a:r>
              <a:rPr lang="hr-HR" sz="1600" b="1" dirty="0">
                <a:latin typeface="Arial" panose="020B0604020202020204"/>
                <a:cs typeface="Arial" panose="020B0604020202020204"/>
              </a:rPr>
              <a:t>(v. 1190-1225</a:t>
            </a:r>
            <a:r>
              <a:rPr lang="hr-HR" sz="1600" b="1" dirty="0" smtClean="0">
                <a:latin typeface="Arial" panose="020B0604020202020204"/>
                <a:cs typeface="Arial" panose="020B0604020202020204"/>
              </a:rPr>
              <a:t>)</a:t>
            </a:r>
            <a:endParaRPr lang="hr-HR" sz="1600" b="1" dirty="0" smtClean="0">
              <a:latin typeface="Arial" panose="020B0604020202020204"/>
              <a:cs typeface="Arial" panose="020B0604020202020204"/>
            </a:endParaRPr>
          </a:p>
          <a:p>
            <a:r>
              <a:rPr lang="hr-HR" sz="1600" b="1" dirty="0" smtClean="0">
                <a:latin typeface="Arial" panose="020B0604020202020204"/>
                <a:cs typeface="Arial" panose="020B0604020202020204"/>
              </a:rPr>
              <a:t>1270	 		</a:t>
            </a:r>
            <a:r>
              <a:rPr lang="hr-HR" sz="1600" dirty="0" smtClean="0">
                <a:latin typeface="Arial" panose="020B0604020202020204"/>
                <a:cs typeface="Arial" panose="020B0604020202020204"/>
              </a:rPr>
              <a:t>Instauration de la</a:t>
            </a:r>
            <a:r>
              <a:rPr lang="fr-FR" sz="1600" dirty="0">
                <a:latin typeface="Arial" panose="020B0604020202020204"/>
                <a:cs typeface="Arial" panose="020B0604020202020204"/>
              </a:rPr>
              <a:t> </a:t>
            </a:r>
            <a:r>
              <a:rPr lang="fr-FR" sz="1600" b="1" dirty="0" smtClean="0">
                <a:latin typeface="Arial" panose="020B0604020202020204"/>
                <a:cs typeface="Arial" panose="020B0604020202020204"/>
              </a:rPr>
              <a:t>dynastie </a:t>
            </a:r>
            <a:r>
              <a:rPr lang="fr-FR" sz="1600" b="1" dirty="0" err="1" smtClean="0">
                <a:latin typeface="Arial" panose="020B0604020202020204"/>
                <a:cs typeface="Arial" panose="020B0604020202020204"/>
              </a:rPr>
              <a:t>Salomonide</a:t>
            </a:r>
            <a:r>
              <a:rPr lang="fr-FR" sz="1600" b="1" dirty="0" smtClean="0">
                <a:latin typeface="Arial" panose="020B0604020202020204"/>
                <a:cs typeface="Arial" panose="020B0604020202020204"/>
              </a:rPr>
              <a:t> </a:t>
            </a:r>
            <a:r>
              <a:rPr lang="fr-FR" sz="1600" dirty="0" smtClean="0">
                <a:latin typeface="Arial" panose="020B0604020202020204"/>
                <a:cs typeface="Arial" panose="020B0604020202020204"/>
              </a:rPr>
              <a:t>fondée par </a:t>
            </a:r>
            <a:r>
              <a:rPr lang="it-IT" sz="1600" dirty="0">
                <a:latin typeface="Arial" panose="020B0604020202020204"/>
                <a:cs typeface="Arial" panose="020B0604020202020204"/>
              </a:rPr>
              <a:t> </a:t>
            </a:r>
            <a:r>
              <a:rPr lang="it-IT" sz="1600" b="1" dirty="0" err="1">
                <a:latin typeface="Arial" panose="020B0604020202020204"/>
                <a:cs typeface="Arial" panose="020B0604020202020204"/>
              </a:rPr>
              <a:t>Yekouno</a:t>
            </a:r>
            <a:r>
              <a:rPr lang="it-IT" sz="1600" b="1" dirty="0">
                <a:latin typeface="Arial" panose="020B0604020202020204"/>
                <a:cs typeface="Arial" panose="020B0604020202020204"/>
              </a:rPr>
              <a:t> </a:t>
            </a:r>
            <a:r>
              <a:rPr lang="it-IT" sz="1600" b="1" dirty="0" err="1" smtClean="0">
                <a:latin typeface="Arial" panose="020B0604020202020204"/>
                <a:cs typeface="Arial" panose="020B0604020202020204"/>
              </a:rPr>
              <a:t>Amlak</a:t>
            </a:r>
            <a:r>
              <a:rPr lang="it-IT" sz="1600" b="1" dirty="0" smtClean="0">
                <a:latin typeface="Arial" panose="020B0604020202020204"/>
                <a:cs typeface="Arial" panose="020B0604020202020204"/>
              </a:rPr>
              <a:t> </a:t>
            </a:r>
            <a:endParaRPr lang="it-IT" sz="1600" b="1" dirty="0" smtClean="0">
              <a:latin typeface="Arial" panose="020B0604020202020204"/>
              <a:cs typeface="Arial" panose="020B0604020202020204"/>
            </a:endParaRPr>
          </a:p>
          <a:p>
            <a:r>
              <a:rPr lang="hr-HR" sz="1600" b="1" dirty="0" smtClean="0">
                <a:latin typeface="Arial" panose="020B0604020202020204"/>
                <a:cs typeface="Arial" panose="020B0604020202020204"/>
              </a:rPr>
              <a:t>1270 </a:t>
            </a:r>
            <a:r>
              <a:rPr lang="fr-FR" sz="1600" b="1" dirty="0" smtClean="0">
                <a:latin typeface="Arial" panose="020B0604020202020204"/>
                <a:cs typeface="Arial" panose="020B0604020202020204"/>
              </a:rPr>
              <a:t>–</a:t>
            </a:r>
            <a:r>
              <a:rPr lang="hr-HR" sz="1600" b="1" dirty="0" smtClean="0">
                <a:latin typeface="Arial" panose="020B0604020202020204"/>
                <a:cs typeface="Arial" panose="020B0604020202020204"/>
              </a:rPr>
              <a:t> 1500 	</a:t>
            </a:r>
            <a:r>
              <a:rPr lang="hr-HR" sz="1600" dirty="0" smtClean="0">
                <a:latin typeface="Arial" panose="020B0604020202020204"/>
                <a:cs typeface="Arial" panose="020B0604020202020204"/>
              </a:rPr>
              <a:t>Développement du chritianisme orthodoxe</a:t>
            </a:r>
            <a:endParaRPr lang="fr-FR" sz="1600" dirty="0" smtClean="0">
              <a:latin typeface="Arial" panose="020B0604020202020204"/>
              <a:cs typeface="Arial" panose="020B0604020202020204"/>
            </a:endParaRPr>
          </a:p>
          <a:p>
            <a:endParaRPr lang="fr-FR" sz="1600" dirty="0">
              <a:latin typeface="Arial" panose="020B0604020202020204"/>
              <a:cs typeface="Arial" panose="020B0604020202020204"/>
            </a:endParaRPr>
          </a:p>
          <a:p>
            <a:endParaRPr lang="fr-FR" sz="1600" dirty="0" smtClean="0">
              <a:latin typeface="Arial" panose="020B0604020202020204"/>
              <a:cs typeface="Arial" panose="020B0604020202020204"/>
            </a:endParaRPr>
          </a:p>
          <a:p>
            <a:endParaRPr lang="fr-FR" sz="1600" dirty="0">
              <a:latin typeface="Arial" panose="020B0604020202020204"/>
              <a:cs typeface="Arial" panose="020B0604020202020204"/>
            </a:endParaRPr>
          </a:p>
          <a:p>
            <a:endParaRPr lang="fr-FR" sz="1600" dirty="0" smtClean="0">
              <a:latin typeface="Arial" panose="020B0604020202020204"/>
              <a:cs typeface="Arial" panose="020B0604020202020204"/>
            </a:endParaRPr>
          </a:p>
          <a:p>
            <a:endParaRPr lang="fr-FR" sz="1600" dirty="0">
              <a:latin typeface="Arial" panose="020B0604020202020204"/>
              <a:cs typeface="Arial" panose="020B0604020202020204"/>
            </a:endParaRPr>
          </a:p>
          <a:p>
            <a:endParaRPr lang="fr-FR" sz="1600" dirty="0" smtClean="0">
              <a:latin typeface="Arial" panose="020B0604020202020204"/>
              <a:cs typeface="Arial" panose="020B0604020202020204"/>
            </a:endParaRPr>
          </a:p>
          <a:p>
            <a:endParaRPr lang="fr-FR" sz="1600" dirty="0">
              <a:latin typeface="Arial" panose="020B0604020202020204"/>
              <a:cs typeface="Arial" panose="020B0604020202020204"/>
            </a:endParaRPr>
          </a:p>
          <a:p>
            <a:endParaRPr lang="fr-FR" sz="1600" dirty="0" smtClean="0">
              <a:latin typeface="Arial" panose="020B0604020202020204"/>
              <a:cs typeface="Arial" panose="020B0604020202020204"/>
            </a:endParaRPr>
          </a:p>
          <a:p>
            <a:endParaRPr lang="fr-FR" sz="1600" dirty="0">
              <a:latin typeface="Arial" panose="020B0604020202020204"/>
              <a:cs typeface="Arial" panose="020B0604020202020204"/>
            </a:endParaRPr>
          </a:p>
          <a:p>
            <a:endParaRPr lang="fr-FR" sz="1600" dirty="0" smtClean="0">
              <a:latin typeface="Arial" panose="020B0604020202020204"/>
              <a:cs typeface="Arial" panose="020B0604020202020204"/>
            </a:endParaRPr>
          </a:p>
          <a:p>
            <a:pPr marL="0" indent="0" algn="ctr">
              <a:buNone/>
            </a:pPr>
            <a:r>
              <a:rPr lang="fr-FR" sz="1200" dirty="0" smtClean="0">
                <a:latin typeface="Arial" panose="020B0604020202020204"/>
                <a:cs typeface="Arial" panose="020B0604020202020204"/>
              </a:rPr>
              <a:t>Carte de l’empire d’Aksoum</a:t>
            </a:r>
            <a:endParaRPr lang="fr-FR" sz="1600" dirty="0">
              <a:latin typeface="Arial" panose="020B0604020202020204"/>
              <a:cs typeface="Arial" panose="020B0604020202020204"/>
            </a:endParaRPr>
          </a:p>
          <a:p>
            <a:pPr marL="0" indent="0">
              <a:buNone/>
            </a:pPr>
            <a:endParaRPr lang="fr-FR"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FF0000"/>
                </a:solidFill>
              </a:rPr>
              <a:t>Chronologie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Image 3" descr="220px-Adal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513" y="3667760"/>
            <a:ext cx="265860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5140960" cy="49733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PROCÉDÉS :</a:t>
            </a:r>
            <a:endParaRPr lang="fr-FR" sz="1600" b="1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Ouvrages monolithiques</a:t>
            </a:r>
            <a:endParaRPr lang="fr-FR" sz="1600" b="1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Stèles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 : éléments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les plus identifiables de l'héritage </a:t>
            </a:r>
            <a:r>
              <a:rPr lang="fr-FR" sz="1600" dirty="0" err="1">
                <a:latin typeface="Palatino Linotype" panose="02040502050505030304" charset="0"/>
                <a:cs typeface="Palatino Linotype" panose="02040502050505030304" charset="0"/>
              </a:rPr>
              <a:t>aksoumite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. </a:t>
            </a: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algn="just">
              <a:buFontTx/>
              <a:buChar char="-"/>
            </a:pP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Tours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de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pierre (monolithes) qui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servaient à marquer les tombes ou à décorer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des bâtiments</a:t>
            </a: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algn="just">
              <a:buFontTx/>
              <a:buChar char="-"/>
            </a:pP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Généralement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gravées avec l'emblème du roi ou celui d'un personnage noble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.</a:t>
            </a: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Le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plus important de ces immenses obélisques mesurait 33 mètres de haut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.</a:t>
            </a: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Tombeaux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 : tels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que le «tombeau de la fausse porte" et les tombes de </a:t>
            </a:r>
            <a:r>
              <a:rPr lang="fr-FR" sz="1600" b="1" dirty="0">
                <a:latin typeface="Palatino Linotype" panose="02040502050505030304" charset="0"/>
                <a:cs typeface="Palatino Linotype" panose="02040502050505030304" charset="0"/>
              </a:rPr>
              <a:t>Kaleb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 et </a:t>
            </a:r>
            <a:r>
              <a:rPr lang="fr-FR" sz="1600" b="1" dirty="0" err="1">
                <a:latin typeface="Palatino Linotype" panose="02040502050505030304" charset="0"/>
                <a:cs typeface="Palatino Linotype" panose="02040502050505030304" charset="0"/>
              </a:rPr>
              <a:t>Gebre</a:t>
            </a:r>
            <a:r>
              <a:rPr lang="fr-FR" sz="1600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600" b="1" dirty="0" err="1">
                <a:latin typeface="Palatino Linotype" panose="02040502050505030304" charset="0"/>
                <a:cs typeface="Palatino Linotype" panose="02040502050505030304" charset="0"/>
              </a:rPr>
              <a:t>Mesqel</a:t>
            </a:r>
            <a:r>
              <a:rPr lang="fr-FR" sz="1600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à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Aksoum</a:t>
            </a:r>
            <a:endParaRPr lang="fr-FR" sz="16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Autres techniques de construction (architecture civile et religieuse) </a:t>
            </a:r>
            <a:endParaRPr lang="fr-FR" sz="1600" b="1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- Couches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de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pierres (moellons) </a:t>
            </a: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et de bois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alternées</a:t>
            </a:r>
            <a:endParaRPr lang="fr-FR" sz="1600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600" dirty="0">
                <a:latin typeface="Palatino Linotype" panose="02040502050505030304" charset="0"/>
                <a:cs typeface="Palatino Linotype" panose="02040502050505030304" charset="0"/>
              </a:rPr>
              <a:t>- poutres apparentes dites 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« 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têtes </a:t>
            </a:r>
            <a:r>
              <a:rPr lang="fr-FR" sz="1600" b="1" dirty="0">
                <a:latin typeface="Palatino Linotype" panose="02040502050505030304" charset="0"/>
                <a:cs typeface="Palatino Linotype" panose="02040502050505030304" charset="0"/>
              </a:rPr>
              <a:t>de </a:t>
            </a:r>
            <a:r>
              <a:rPr lang="fr-FR" sz="1600" b="1" dirty="0" smtClean="0">
                <a:latin typeface="Palatino Linotype" panose="02040502050505030304" charset="0"/>
                <a:cs typeface="Palatino Linotype" panose="02040502050505030304" charset="0"/>
              </a:rPr>
              <a:t>singe</a:t>
            </a:r>
            <a:r>
              <a:rPr lang="fr-FR" sz="1600" dirty="0" smtClean="0">
                <a:latin typeface="Palatino Linotype" panose="02040502050505030304" charset="0"/>
                <a:cs typeface="Palatino Linotype" panose="02040502050505030304" charset="0"/>
              </a:rPr>
              <a:t> »</a:t>
            </a:r>
            <a:endParaRPr lang="fr-FR" sz="1600" dirty="0" smtClean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L’architecture </a:t>
            </a:r>
            <a:r>
              <a:rPr lang="fr-FR" dirty="0" err="1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aksoumite</a:t>
            </a:r>
            <a:endParaRPr lang="fr-FR" dirty="0">
              <a:solidFill>
                <a:srgbClr val="FF0000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pic>
        <p:nvPicPr>
          <p:cNvPr id="2" name="Image 1" descr="180px-Stela_aksum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417638"/>
            <a:ext cx="2306320" cy="3075093"/>
          </a:xfrm>
          <a:prstGeom prst="rect">
            <a:avLst/>
          </a:prstGeom>
        </p:spPr>
      </p:pic>
      <p:pic>
        <p:nvPicPr>
          <p:cNvPr id="4" name="Image 3" descr="Architecture of Ethiopia - Wikipedia, the free encyclopedi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640" y="4599940"/>
            <a:ext cx="2550160" cy="191262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6136640" y="6447730"/>
            <a:ext cx="255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 smtClean="0">
                <a:latin typeface="Palatino Linotype" panose="02040502050505030304" charset="0"/>
                <a:cs typeface="Palatino Linotype" panose="02040502050505030304" charset="0"/>
              </a:rPr>
              <a:t>Eglise de </a:t>
            </a:r>
            <a:r>
              <a:rPr lang="en-US" sz="1000" dirty="0" err="1">
                <a:latin typeface="Palatino Linotype" panose="02040502050505030304" charset="0"/>
                <a:cs typeface="Palatino Linotype" panose="02040502050505030304" charset="0"/>
              </a:rPr>
              <a:t>Abune</a:t>
            </a:r>
            <a:r>
              <a:rPr lang="en-US" sz="1000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en-US" sz="1000" dirty="0" err="1" smtClean="0">
                <a:latin typeface="Palatino Linotype" panose="02040502050505030304" charset="0"/>
                <a:cs typeface="Palatino Linotype" panose="02040502050505030304" charset="0"/>
              </a:rPr>
              <a:t>Aregawi</a:t>
            </a:r>
            <a:r>
              <a:rPr lang="en-US" sz="1000" dirty="0" smtClean="0">
                <a:latin typeface="Palatino Linotype" panose="02040502050505030304" charset="0"/>
                <a:cs typeface="Palatino Linotype" panose="02040502050505030304" charset="0"/>
              </a:rPr>
              <a:t>, </a:t>
            </a:r>
            <a:r>
              <a:rPr lang="fr-FR" sz="1000" dirty="0" smtClean="0">
                <a:latin typeface="Palatino Linotype" panose="02040502050505030304" charset="0"/>
                <a:cs typeface="Palatino Linotype" panose="02040502050505030304" charset="0"/>
              </a:rPr>
              <a:t>monastère </a:t>
            </a:r>
            <a:r>
              <a:rPr lang="fr-FR" sz="1000" dirty="0">
                <a:latin typeface="Palatino Linotype" panose="02040502050505030304" charset="0"/>
                <a:cs typeface="Palatino Linotype" panose="02040502050505030304" charset="0"/>
              </a:rPr>
              <a:t>de </a:t>
            </a:r>
            <a:r>
              <a:rPr lang="fr-FR" sz="1000" dirty="0" err="1">
                <a:latin typeface="Palatino Linotype" panose="02040502050505030304" charset="0"/>
                <a:cs typeface="Palatino Linotype" panose="02040502050505030304" charset="0"/>
              </a:rPr>
              <a:t>Debre</a:t>
            </a:r>
            <a:r>
              <a:rPr lang="fr-FR" sz="1000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000" dirty="0" err="1" smtClean="0">
                <a:latin typeface="Palatino Linotype" panose="02040502050505030304" charset="0"/>
                <a:cs typeface="Palatino Linotype" panose="02040502050505030304" charset="0"/>
              </a:rPr>
              <a:t>Damo</a:t>
            </a:r>
            <a:r>
              <a:rPr lang="fr-FR" sz="1000" dirty="0" smtClean="0">
                <a:latin typeface="Palatino Linotype" panose="02040502050505030304" charset="0"/>
                <a:cs typeface="Palatino Linotype" panose="02040502050505030304" charset="0"/>
              </a:rPr>
              <a:t>, </a:t>
            </a:r>
            <a:r>
              <a:rPr lang="fr-FR" sz="1000" dirty="0">
                <a:latin typeface="Palatino Linotype" panose="02040502050505030304" charset="0"/>
                <a:cs typeface="Palatino Linotype" panose="02040502050505030304" charset="0"/>
              </a:rPr>
              <a:t>6ème </a:t>
            </a:r>
            <a:r>
              <a:rPr lang="fr-FR" sz="1000" dirty="0" smtClean="0">
                <a:latin typeface="Palatino Linotype" panose="02040502050505030304" charset="0"/>
                <a:cs typeface="Palatino Linotype" panose="02040502050505030304" charset="0"/>
              </a:rPr>
              <a:t>siècle</a:t>
            </a:r>
            <a:endParaRPr lang="fr-FR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4897120" cy="49733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Tout au long de la période médiévale, L’architecture </a:t>
            </a:r>
            <a:r>
              <a:rPr lang="fr-FR" sz="1400" dirty="0" err="1" smtClean="0">
                <a:latin typeface="Palatino Linotype" panose="02040502050505030304" charset="0"/>
                <a:cs typeface="Palatino Linotype" panose="02040502050505030304" charset="0"/>
              </a:rPr>
              <a:t>aksoumite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 et sa tradition monolithique persiste et continue d’influencer les bâtisseurs de l’époque. Cette influence est particulièrement forte entre le Xe et le XIIe siècle. A cette époque des églises monolithiques creusées dans la roche sont réalisées sur l’ensemble du territoire.</a:t>
            </a:r>
            <a:endParaRPr lang="fr-FR" sz="14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Les plus célèbres sont les 11 églises de Lalibela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, taillé dans 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la roche 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volcanique rougeâtre de trois collines. 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Les « 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églises » sont de deux types différents : </a:t>
            </a:r>
            <a:r>
              <a:rPr lang="fr-FR" sz="1400" b="1" dirty="0">
                <a:latin typeface="Palatino Linotype" panose="02040502050505030304" charset="0"/>
                <a:cs typeface="Palatino Linotype" panose="02040502050505030304" charset="0"/>
              </a:rPr>
              <a:t>monolithes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 ou </a:t>
            </a:r>
            <a:r>
              <a:rPr lang="fr-FR" sz="1400" b="1" dirty="0">
                <a:latin typeface="Palatino Linotype" panose="02040502050505030304" charset="0"/>
                <a:cs typeface="Palatino Linotype" panose="02040502050505030304" charset="0"/>
              </a:rPr>
              <a:t>hypogées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. 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Elles sont attribuées au roi </a:t>
            </a:r>
            <a:r>
              <a:rPr lang="fr-FR" sz="1400" b="1" dirty="0" err="1" smtClean="0">
                <a:latin typeface="Palatino Linotype" panose="02040502050505030304" charset="0"/>
                <a:cs typeface="Palatino Linotype" panose="02040502050505030304" charset="0"/>
              </a:rPr>
              <a:t>Gebre</a:t>
            </a:r>
            <a:r>
              <a:rPr lang="fr-FR" sz="1400" b="1" dirty="0" smtClean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400" b="1" dirty="0" err="1" smtClean="0">
                <a:latin typeface="Palatino Linotype" panose="02040502050505030304" charset="0"/>
                <a:cs typeface="Palatino Linotype" panose="02040502050505030304" charset="0"/>
              </a:rPr>
              <a:t>Mesqel</a:t>
            </a:r>
            <a:r>
              <a:rPr lang="fr-FR" sz="1400" b="1" dirty="0" smtClean="0">
                <a:latin typeface="Palatino Linotype" panose="02040502050505030304" charset="0"/>
                <a:cs typeface="Palatino Linotype" panose="02040502050505030304" charset="0"/>
              </a:rPr>
              <a:t> Lalibela 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(La cité monastique s’appelait </a:t>
            </a:r>
            <a:r>
              <a:rPr lang="fr-FR" sz="1400" dirty="0" err="1" smtClean="0">
                <a:latin typeface="Palatino Linotype" panose="02040502050505030304" charset="0"/>
                <a:cs typeface="Palatino Linotype" panose="02040502050505030304" charset="0"/>
              </a:rPr>
              <a:t>Roha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 et </a:t>
            </a:r>
            <a:r>
              <a:rPr lang="fr-FR" sz="1400" dirty="0" err="1" smtClean="0">
                <a:latin typeface="Palatino Linotype" panose="02040502050505030304" charset="0"/>
                <a:cs typeface="Palatino Linotype" panose="02040502050505030304" charset="0"/>
              </a:rPr>
              <a:t>Adefa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 avant sont règne).</a:t>
            </a:r>
            <a:endParaRPr lang="fr-FR" sz="14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Les églises monolithes sont  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entièrement sculptées dans le roc et présentent toutes 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leurs façades à l'air libre (exemple : </a:t>
            </a:r>
            <a:r>
              <a:rPr lang="fr-FR" sz="1400" dirty="0" err="1" smtClean="0">
                <a:latin typeface="Palatino Linotype" panose="02040502050505030304" charset="0"/>
                <a:cs typeface="Palatino Linotype" panose="02040502050505030304" charset="0"/>
              </a:rPr>
              <a:t>Bete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400" dirty="0" err="1" smtClean="0">
                <a:latin typeface="Palatino Linotype" panose="02040502050505030304" charset="0"/>
                <a:cs typeface="Palatino Linotype" panose="02040502050505030304" charset="0"/>
              </a:rPr>
              <a:t>Giyorgis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). L'intérieur comporte nefs, travées, piliers, arcs, absides… tous taillés dans le roc. </a:t>
            </a:r>
            <a:endParaRPr lang="fr-FR" sz="1400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marL="0" indent="0" algn="just">
              <a:buNone/>
            </a:pP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Les églises hypogées elles sont 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creusées dans l'épaisseur de falaises et laissent apparaître seulement </a:t>
            </a:r>
            <a:r>
              <a:rPr lang="fr-FR" sz="1400" dirty="0" smtClean="0">
                <a:latin typeface="Palatino Linotype" panose="02040502050505030304" charset="0"/>
                <a:cs typeface="Palatino Linotype" panose="02040502050505030304" charset="0"/>
              </a:rPr>
              <a:t>certains éléments 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comme l'entrée ou la façade (exemple : </a:t>
            </a:r>
            <a:r>
              <a:rPr lang="fr-FR" sz="1400" dirty="0" err="1">
                <a:latin typeface="Palatino Linotype" panose="02040502050505030304" charset="0"/>
                <a:cs typeface="Palatino Linotype" panose="02040502050505030304" charset="0"/>
              </a:rPr>
              <a:t>Bete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400" dirty="0" err="1">
                <a:latin typeface="Palatino Linotype" panose="02040502050505030304" charset="0"/>
                <a:cs typeface="Palatino Linotype" panose="02040502050505030304" charset="0"/>
              </a:rPr>
              <a:t>Gologota-Selassié</a:t>
            </a:r>
            <a:r>
              <a:rPr lang="fr-FR" sz="1400" dirty="0">
                <a:latin typeface="Palatino Linotype" panose="02040502050505030304" charset="0"/>
                <a:cs typeface="Palatino Linotype" panose="02040502050505030304" charset="0"/>
              </a:rPr>
              <a:t>).</a:t>
            </a:r>
            <a:endParaRPr lang="fr-FR" sz="1400" dirty="0" smtClean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Les </a:t>
            </a:r>
            <a:r>
              <a:rPr lang="fr-FR" dirty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é</a:t>
            </a:r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glises monolithiques de </a:t>
            </a:r>
            <a:r>
              <a:rPr lang="fr-FR" dirty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L</a:t>
            </a:r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alibela</a:t>
            </a:r>
            <a:endParaRPr lang="fr-FR" dirty="0">
              <a:solidFill>
                <a:srgbClr val="FF0000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555898" y="6532880"/>
            <a:ext cx="3262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 err="1">
                <a:latin typeface="Palatino Linotype" panose="02040502050505030304" charset="0"/>
                <a:cs typeface="Palatino Linotype" panose="02040502050505030304" charset="0"/>
              </a:rPr>
              <a:t>Bet</a:t>
            </a:r>
            <a:r>
              <a:rPr lang="fr-FR" sz="1000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000" b="1" dirty="0" err="1">
                <a:latin typeface="Palatino Linotype" panose="02040502050505030304" charset="0"/>
                <a:cs typeface="Palatino Linotype" panose="02040502050505030304" charset="0"/>
              </a:rPr>
              <a:t>Giyorgis</a:t>
            </a:r>
            <a:r>
              <a:rPr lang="fr-FR" sz="1000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sz="1000" dirty="0">
                <a:latin typeface="Palatino Linotype" panose="02040502050505030304" charset="0"/>
                <a:cs typeface="Palatino Linotype" panose="02040502050505030304" charset="0"/>
              </a:rPr>
              <a:t>(Église Saint-Georges)</a:t>
            </a:r>
            <a:endParaRPr lang="fr-FR" sz="1000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pic>
        <p:nvPicPr>
          <p:cNvPr id="9" name="Image 8" descr="800px-Bete_Giyorgis_01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360" y="4267098"/>
            <a:ext cx="3271520" cy="2306422"/>
          </a:xfrm>
          <a:prstGeom prst="rect">
            <a:avLst/>
          </a:prstGeom>
        </p:spPr>
      </p:pic>
      <p:pic>
        <p:nvPicPr>
          <p:cNvPr id="10" name="Image 9" descr="Karta_Lalibel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360" y="1417638"/>
            <a:ext cx="32715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Les </a:t>
            </a:r>
            <a:r>
              <a:rPr lang="fr-FR" dirty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é</a:t>
            </a:r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glises monolithiques de </a:t>
            </a:r>
            <a:r>
              <a:rPr lang="fr-FR" dirty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L</a:t>
            </a:r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alibela</a:t>
            </a:r>
            <a:endParaRPr lang="fr-FR" dirty="0">
              <a:solidFill>
                <a:srgbClr val="FF0000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pic>
        <p:nvPicPr>
          <p:cNvPr id="4" name="Image 3" descr="800px-Ethiopie_Lalibela_Bet_Medhane_Alem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640" y="3561080"/>
            <a:ext cx="4070773" cy="3053080"/>
          </a:xfrm>
          <a:prstGeom prst="rect">
            <a:avLst/>
          </a:prstGeom>
        </p:spPr>
      </p:pic>
      <p:pic>
        <p:nvPicPr>
          <p:cNvPr id="7" name="Image 6" descr="800px-Bete_Medhane_Alem_in_Lalibel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97580"/>
            <a:ext cx="4155440" cy="31165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417638"/>
            <a:ext cx="6502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err="1">
                <a:latin typeface="Palatino Linotype" panose="02040502050505030304" charset="0"/>
                <a:cs typeface="Palatino Linotype" panose="02040502050505030304" charset="0"/>
              </a:rPr>
              <a:t>Bet</a:t>
            </a:r>
            <a:r>
              <a:rPr lang="fr-FR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b="1" dirty="0" err="1">
                <a:latin typeface="Palatino Linotype" panose="02040502050505030304" charset="0"/>
                <a:cs typeface="Palatino Linotype" panose="02040502050505030304" charset="0"/>
              </a:rPr>
              <a:t>Medhani</a:t>
            </a:r>
            <a:r>
              <a:rPr lang="fr-FR" b="1" dirty="0">
                <a:latin typeface="Palatino Linotype" panose="02040502050505030304" charset="0"/>
                <a:cs typeface="Palatino Linotype" panose="02040502050505030304" charset="0"/>
              </a:rPr>
              <a:t> Alem </a:t>
            </a:r>
            <a:r>
              <a:rPr lang="fr-FR" dirty="0">
                <a:latin typeface="Palatino Linotype" panose="02040502050505030304" charset="0"/>
                <a:cs typeface="Palatino Linotype" panose="02040502050505030304" charset="0"/>
              </a:rPr>
              <a:t>( Maison du Sauveur du Monde </a:t>
            </a:r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)</a:t>
            </a:r>
            <a:endParaRPr lang="fr-FR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La plus grande des 11 églises</a:t>
            </a:r>
            <a:endParaRPr lang="fr-FR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Entourée </a:t>
            </a:r>
            <a:r>
              <a:rPr lang="fr-FR" dirty="0">
                <a:latin typeface="Palatino Linotype" panose="02040502050505030304" charset="0"/>
                <a:cs typeface="Palatino Linotype" panose="02040502050505030304" charset="0"/>
              </a:rPr>
              <a:t>par 36 </a:t>
            </a:r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piliers – Inspirée des temples grecs</a:t>
            </a:r>
            <a:endParaRPr lang="fr-FR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Les </a:t>
            </a:r>
            <a:r>
              <a:rPr lang="fr-FR" dirty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é</a:t>
            </a:r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glises monolithiques de </a:t>
            </a:r>
            <a:r>
              <a:rPr lang="fr-FR" dirty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L</a:t>
            </a:r>
            <a:r>
              <a:rPr lang="fr-FR" dirty="0" smtClean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</a:rPr>
              <a:t>alibela</a:t>
            </a:r>
            <a:endParaRPr lang="fr-FR" dirty="0">
              <a:solidFill>
                <a:srgbClr val="FF0000"/>
              </a:solid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417638"/>
            <a:ext cx="6502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 err="1">
                <a:latin typeface="Palatino Linotype" panose="02040502050505030304" charset="0"/>
                <a:cs typeface="Palatino Linotype" panose="02040502050505030304" charset="0"/>
              </a:rPr>
              <a:t>Bet</a:t>
            </a:r>
            <a:r>
              <a:rPr lang="fr-FR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b="1" dirty="0" err="1">
                <a:latin typeface="Palatino Linotype" panose="02040502050505030304" charset="0"/>
                <a:cs typeface="Palatino Linotype" panose="02040502050505030304" charset="0"/>
              </a:rPr>
              <a:t>Giyorgis</a:t>
            </a:r>
            <a:r>
              <a:rPr lang="fr-FR" b="1" dirty="0">
                <a:latin typeface="Palatino Linotype" panose="02040502050505030304" charset="0"/>
                <a:cs typeface="Palatino Linotype" panose="02040502050505030304" charset="0"/>
              </a:rPr>
              <a:t> </a:t>
            </a:r>
            <a:r>
              <a:rPr lang="fr-FR" dirty="0">
                <a:latin typeface="Palatino Linotype" panose="02040502050505030304" charset="0"/>
                <a:cs typeface="Palatino Linotype" panose="02040502050505030304" charset="0"/>
              </a:rPr>
              <a:t>(Église Saint-Georges</a:t>
            </a:r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)</a:t>
            </a:r>
            <a:endParaRPr lang="fr-FR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algn="just"/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Façonnée </a:t>
            </a:r>
            <a:r>
              <a:rPr lang="fr-FR" dirty="0">
                <a:latin typeface="Palatino Linotype" panose="02040502050505030304" charset="0"/>
                <a:cs typeface="Palatino Linotype" panose="02040502050505030304" charset="0"/>
              </a:rPr>
              <a:t>sous la forme d'une croix orthodoxe </a:t>
            </a:r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extrudée.</a:t>
            </a:r>
            <a:endParaRPr lang="fr-FR" dirty="0" smtClean="0">
              <a:latin typeface="Palatino Linotype" panose="02040502050505030304" charset="0"/>
              <a:cs typeface="Palatino Linotype" panose="02040502050505030304" charset="0"/>
            </a:endParaRPr>
          </a:p>
          <a:p>
            <a:pPr algn="just"/>
            <a:r>
              <a:rPr lang="fr-FR" dirty="0" smtClean="0">
                <a:latin typeface="Palatino Linotype" panose="02040502050505030304" charset="0"/>
                <a:cs typeface="Palatino Linotype" panose="02040502050505030304" charset="0"/>
              </a:rPr>
              <a:t>Plan centré</a:t>
            </a:r>
            <a:endParaRPr lang="fr-FR" dirty="0">
              <a:latin typeface="Palatino Linotype" panose="02040502050505030304" charset="0"/>
              <a:cs typeface="Palatino Linotype" panose="02040502050505030304" charset="0"/>
            </a:endParaRPr>
          </a:p>
          <a:p>
            <a:pPr algn="just"/>
            <a:endParaRPr lang="fr-FR" dirty="0">
              <a:latin typeface="Palatino Linotype" panose="02040502050505030304" charset="0"/>
              <a:cs typeface="Palatino Linotype" panose="02040502050505030304" charset="0"/>
            </a:endParaRPr>
          </a:p>
          <a:p>
            <a:endParaRPr lang="fr-FR" dirty="0">
              <a:latin typeface="Palatino Linotype" panose="02040502050505030304" charset="0"/>
              <a:cs typeface="Palatino Linotype" panose="02040502050505030304" charset="0"/>
            </a:endParaRPr>
          </a:p>
        </p:txBody>
      </p:sp>
      <p:pic>
        <p:nvPicPr>
          <p:cNvPr id="2" name="Image 1" descr="lalibela-03-Biete-Giyorgis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480" y="3328907"/>
            <a:ext cx="4439920" cy="3167143"/>
          </a:xfrm>
          <a:prstGeom prst="rect">
            <a:avLst/>
          </a:prstGeom>
        </p:spPr>
      </p:pic>
      <p:pic>
        <p:nvPicPr>
          <p:cNvPr id="3" name="Image 2" descr="téléchargement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" y="2884632"/>
            <a:ext cx="2804160" cy="36114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4116</Words>
  <Application>WPS Presentation</Application>
  <PresentationFormat>Présentation à l'écran (4:3)</PresentationFormat>
  <Paragraphs>74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Arial</vt:lpstr>
      <vt:lpstr>Futura Std Medium</vt:lpstr>
      <vt:lpstr>AMGDT</vt:lpstr>
      <vt:lpstr>Calibri</vt:lpstr>
      <vt:lpstr>Microsoft YaHei</vt:lpstr>
      <vt:lpstr>Arial Unicode MS</vt:lpstr>
      <vt:lpstr>Carter One</vt:lpstr>
      <vt:lpstr>Palatino Linotype</vt:lpstr>
      <vt:lpstr>Noto Sans</vt:lpstr>
      <vt:lpstr>Thème Office</vt:lpstr>
      <vt:lpstr>HISTOIRE DE L’ARCHITECTURE </vt:lpstr>
      <vt:lpstr>Chapitre 2 – Le Moyen Âge Ethiopien</vt:lpstr>
      <vt:lpstr>Chronologie</vt:lpstr>
      <vt:lpstr>L’architecture aksoumite</vt:lpstr>
      <vt:lpstr>Les églises monolithiques de Lalibela</vt:lpstr>
      <vt:lpstr>Les églises monolithiques de Lalibela</vt:lpstr>
      <vt:lpstr>Les églises monolithiques de Lalibela</vt:lpstr>
    </vt:vector>
  </TitlesOfParts>
  <Company>arting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HISTOIRE DE L’ARCHITECTURE </dc:title>
  <dc:creator>Carole Diop</dc:creator>
  <cp:lastModifiedBy>Henry Moustapha Ngom</cp:lastModifiedBy>
  <cp:revision>249</cp:revision>
  <cp:lastPrinted>2016-03-07T02:06:00Z</cp:lastPrinted>
  <dcterms:created xsi:type="dcterms:W3CDTF">2015-10-25T15:26:00Z</dcterms:created>
  <dcterms:modified xsi:type="dcterms:W3CDTF">2025-11-13T17:41:14Z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BDC64C4410164F98ADEAF9AC3E27E4DD_12</vt:lpwstr>
  </property>
  <property fmtid="{D5CDD505-2E9C-101B-9397-08002B2CF9AE}" pid="3" name="KSOProductBuildVer">
    <vt:lpwstr>3084-12.2.0.23149</vt:lpwstr>
  </property>
</Properties>
</file>