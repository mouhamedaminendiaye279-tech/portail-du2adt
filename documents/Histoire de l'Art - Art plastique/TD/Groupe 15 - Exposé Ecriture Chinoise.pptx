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8288000" cy="10287000"/>
  <p:notesSz cx="6858000" cy="9144000"/>
  <p:embeddedFontLst>
    <p:embeddedFont>
      <p:font typeface="Cormorant Garamond" panose="00000500000000000000"/>
      <p:regular r:id="rId28"/>
    </p:embeddedFont>
    <p:embeddedFont>
      <p:font typeface="Amsterdam Four" panose="02000500000000000000"/>
      <p:regular r:id="rId29"/>
    </p:embeddedFont>
    <p:embeddedFont>
      <p:font typeface="Cormorant Garamond Bold" panose="00000800000000000000"/>
      <p:bold r:id="rId30"/>
    </p:embeddedFont>
    <p:embeddedFont>
      <p:font typeface="Poppins" panose="00000500000000000000"/>
      <p:regular r:id="rId31"/>
    </p:embeddedFont>
    <p:embeddedFont>
      <p:font typeface="Calibri" panose="020F0502020204030204"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font" Target="fonts/font8.fntdata"/><Relationship Id="rId34" Type="http://schemas.openxmlformats.org/officeDocument/2006/relationships/font" Target="fonts/font7.fntdata"/><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7.pn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7.pn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7.png"/><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17.png"/><Relationship Id="rId2" Type="http://schemas.openxmlformats.org/officeDocument/2006/relationships/image" Target="../media/image22.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7.png"/><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25.jpe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7.png"/><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3.svg"/><Relationship Id="rId3" Type="http://schemas.openxmlformats.org/officeDocument/2006/relationships/image" Target="../media/image17.png"/><Relationship Id="rId2" Type="http://schemas.openxmlformats.org/officeDocument/2006/relationships/image" Target="../media/image29.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4.jpeg"/><Relationship Id="rId4" Type="http://schemas.openxmlformats.org/officeDocument/2006/relationships/image" Target="../media/image3.svg"/><Relationship Id="rId3" Type="http://schemas.openxmlformats.org/officeDocument/2006/relationships/image" Target="../media/image17.png"/><Relationship Id="rId2" Type="http://schemas.openxmlformats.org/officeDocument/2006/relationships/image" Target="../media/image33.jpeg"/><Relationship Id="rId1" Type="http://schemas.openxmlformats.org/officeDocument/2006/relationships/image" Target="../media/image32.jpe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7.jpeg"/><Relationship Id="rId4" Type="http://schemas.openxmlformats.org/officeDocument/2006/relationships/image" Target="../media/image36.jpe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35.jpe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17.png"/><Relationship Id="rId2" Type="http://schemas.openxmlformats.org/officeDocument/2006/relationships/image" Target="../media/image38.jpe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Freeform 3"/>
          <p:cNvSpPr/>
          <p:nvPr/>
        </p:nvSpPr>
        <p:spPr>
          <a:xfrm flipH="1">
            <a:off x="-1575052" y="-425506"/>
            <a:ext cx="4684376" cy="2546597"/>
          </a:xfrm>
          <a:custGeom>
            <a:avLst/>
            <a:gdLst/>
            <a:ahLst/>
            <a:cxnLst/>
            <a:rect l="l" t="t" r="r" b="b"/>
            <a:pathLst>
              <a:path w="4684376" h="2546597">
                <a:moveTo>
                  <a:pt x="4684376" y="0"/>
                </a:moveTo>
                <a:lnTo>
                  <a:pt x="0" y="0"/>
                </a:lnTo>
                <a:lnTo>
                  <a:pt x="0" y="2546597"/>
                </a:lnTo>
                <a:lnTo>
                  <a:pt x="4684376" y="2546597"/>
                </a:lnTo>
                <a:lnTo>
                  <a:pt x="468437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338134" y="4845506"/>
            <a:ext cx="5723690" cy="3111606"/>
          </a:xfrm>
          <a:custGeom>
            <a:avLst/>
            <a:gdLst/>
            <a:ahLst/>
            <a:cxnLst/>
            <a:rect l="l" t="t" r="r" b="b"/>
            <a:pathLst>
              <a:path w="5723690" h="3111606">
                <a:moveTo>
                  <a:pt x="0" y="0"/>
                </a:moveTo>
                <a:lnTo>
                  <a:pt x="5723690" y="0"/>
                </a:lnTo>
                <a:lnTo>
                  <a:pt x="5723690" y="3111606"/>
                </a:lnTo>
                <a:lnTo>
                  <a:pt x="0" y="31116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661541" y="5717414"/>
            <a:ext cx="10238466" cy="1320165"/>
          </a:xfrm>
          <a:prstGeom prst="rect">
            <a:avLst/>
          </a:prstGeom>
        </p:spPr>
        <p:txBody>
          <a:bodyPr lIns="0" tIns="0" rIns="0" bIns="0" rtlCol="0" anchor="t">
            <a:spAutoFit/>
          </a:bodyPr>
          <a:lstStyle/>
          <a:p>
            <a:pPr algn="ctr">
              <a:lnSpc>
                <a:spcPts val="5280"/>
              </a:lnSpc>
            </a:pPr>
            <a:r>
              <a:rPr lang="en-US" sz="40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Henry Moustapha Ngom</a:t>
            </a:r>
            <a:endParaRPr lang="en-US" sz="40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ctr">
              <a:lnSpc>
                <a:spcPts val="5280"/>
              </a:lnSpc>
            </a:pPr>
            <a:r>
              <a:rPr lang="en-US" sz="40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Mouhamadou Moustapha Niang</a:t>
            </a:r>
            <a:endParaRPr lang="en-US" sz="40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6" name="TextBox 6"/>
          <p:cNvSpPr txBox="1"/>
          <p:nvPr/>
        </p:nvSpPr>
        <p:spPr>
          <a:xfrm>
            <a:off x="-97229" y="2533806"/>
            <a:ext cx="18482459" cy="2520448"/>
          </a:xfrm>
          <a:prstGeom prst="rect">
            <a:avLst/>
          </a:prstGeom>
        </p:spPr>
        <p:txBody>
          <a:bodyPr lIns="0" tIns="0" rIns="0" bIns="0" rtlCol="0" anchor="t">
            <a:spAutoFit/>
          </a:bodyPr>
          <a:lstStyle/>
          <a:p>
            <a:pPr algn="ctr">
              <a:lnSpc>
                <a:spcPts val="10175"/>
              </a:lnSpc>
            </a:pPr>
            <a:r>
              <a:rPr lang="en-US" sz="7270" spc="319">
                <a:solidFill>
                  <a:srgbClr val="000000"/>
                </a:solidFill>
                <a:latin typeface="Amsterdam Four" panose="02000500000000000000"/>
                <a:ea typeface="Amsterdam Four" panose="02000500000000000000"/>
                <a:cs typeface="Amsterdam Four" panose="02000500000000000000"/>
                <a:sym typeface="Amsterdam Four" panose="02000500000000000000"/>
              </a:rPr>
              <a:t>L'écriture chinoise : un art millénaire </a:t>
            </a:r>
            <a:endParaRPr lang="en-US" sz="7270" spc="319">
              <a:solidFill>
                <a:srgbClr val="000000"/>
              </a:solidFill>
              <a:latin typeface="Amsterdam Four" panose="02000500000000000000"/>
              <a:ea typeface="Amsterdam Four" panose="02000500000000000000"/>
              <a:cs typeface="Amsterdam Four" panose="02000500000000000000"/>
              <a:sym typeface="Amsterdam Four" panose="02000500000000000000"/>
            </a:endParaRPr>
          </a:p>
          <a:p>
            <a:pPr algn="ctr">
              <a:lnSpc>
                <a:spcPts val="10175"/>
              </a:lnSpc>
            </a:pPr>
            <a:r>
              <a:rPr lang="en-US" sz="7270" spc="319">
                <a:solidFill>
                  <a:srgbClr val="000000"/>
                </a:solidFill>
                <a:latin typeface="Amsterdam Four" panose="02000500000000000000"/>
                <a:ea typeface="Amsterdam Four" panose="02000500000000000000"/>
                <a:cs typeface="Amsterdam Four" panose="02000500000000000000"/>
                <a:sym typeface="Amsterdam Four" panose="02000500000000000000"/>
              </a:rPr>
              <a:t>au cœur de l'architecture et de la culture</a:t>
            </a:r>
            <a:endParaRPr lang="en-US" sz="7270" spc="319">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7" name="AutoShape 7"/>
          <p:cNvSpPr/>
          <p:nvPr/>
        </p:nvSpPr>
        <p:spPr>
          <a:xfrm>
            <a:off x="5534654" y="5619370"/>
            <a:ext cx="6492240"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3033391" y="0"/>
            <a:ext cx="5254609" cy="10287000"/>
            <a:chOff x="0" y="0"/>
            <a:chExt cx="1001210" cy="1960079"/>
          </a:xfrm>
        </p:grpSpPr>
        <p:sp>
          <p:nvSpPr>
            <p:cNvPr id="4" name="Freeform 4"/>
            <p:cNvSpPr/>
            <p:nvPr/>
          </p:nvSpPr>
          <p:spPr>
            <a:xfrm>
              <a:off x="0" y="0"/>
              <a:ext cx="1001210" cy="1960079"/>
            </a:xfrm>
            <a:custGeom>
              <a:avLst/>
              <a:gdLst/>
              <a:ahLst/>
              <a:cxnLst/>
              <a:rect l="l" t="t" r="r" b="b"/>
              <a:pathLst>
                <a:path w="1001210" h="1960079">
                  <a:moveTo>
                    <a:pt x="0" y="0"/>
                  </a:moveTo>
                  <a:lnTo>
                    <a:pt x="1001210" y="0"/>
                  </a:lnTo>
                  <a:lnTo>
                    <a:pt x="1001210" y="1960079"/>
                  </a:lnTo>
                  <a:lnTo>
                    <a:pt x="0" y="1960079"/>
                  </a:lnTo>
                  <a:close/>
                </a:path>
              </a:pathLst>
            </a:custGeom>
            <a:blipFill>
              <a:blip r:embed="rId2"/>
              <a:stretch>
                <a:fillRect t="-34082" b="-34082"/>
              </a:stretch>
            </a:blipFill>
          </p:spPr>
        </p:sp>
      </p:grpSp>
      <p:sp>
        <p:nvSpPr>
          <p:cNvPr id="5" name="Freeform 5"/>
          <p:cNvSpPr/>
          <p:nvPr/>
        </p:nvSpPr>
        <p:spPr>
          <a:xfrm>
            <a:off x="11083867" y="8282383"/>
            <a:ext cx="5723690" cy="3111606"/>
          </a:xfrm>
          <a:custGeom>
            <a:avLst/>
            <a:gdLst/>
            <a:ahLst/>
            <a:cxnLst/>
            <a:rect l="l" t="t" r="r" b="b"/>
            <a:pathLst>
              <a:path w="5723690" h="3111606">
                <a:moveTo>
                  <a:pt x="0" y="0"/>
                </a:moveTo>
                <a:lnTo>
                  <a:pt x="5723690" y="0"/>
                </a:lnTo>
                <a:lnTo>
                  <a:pt x="5723690" y="3111606"/>
                </a:lnTo>
                <a:lnTo>
                  <a:pt x="0" y="31116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833145" y="-1050719"/>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736291" y="2514493"/>
            <a:ext cx="4410826" cy="1497733"/>
          </a:xfrm>
          <a:prstGeom prst="rect">
            <a:avLst/>
          </a:prstGeom>
        </p:spPr>
        <p:txBody>
          <a:bodyPr lIns="0" tIns="0" rIns="0" bIns="0" rtlCol="0" anchor="t">
            <a:spAutoFit/>
          </a:bodyPr>
          <a:lstStyle/>
          <a:p>
            <a:pPr algn="l">
              <a:lnSpc>
                <a:spcPts val="11505"/>
              </a:lnSpc>
            </a:pPr>
            <a:r>
              <a:rPr lang="en-US" sz="10655">
                <a:solidFill>
                  <a:srgbClr val="000000"/>
                </a:solidFill>
                <a:latin typeface="Amsterdam Four" panose="02000500000000000000"/>
                <a:ea typeface="Amsterdam Four" panose="02000500000000000000"/>
                <a:cs typeface="Amsterdam Four" panose="02000500000000000000"/>
                <a:sym typeface="Amsterdam Four" panose="02000500000000000000"/>
              </a:rPr>
              <a:t>Plan </a:t>
            </a:r>
            <a:endParaRPr lang="en-US" sz="1065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8" name="TextBox 8"/>
          <p:cNvSpPr txBox="1"/>
          <p:nvPr/>
        </p:nvSpPr>
        <p:spPr>
          <a:xfrm>
            <a:off x="1738440" y="4473693"/>
            <a:ext cx="10741952" cy="3484969"/>
          </a:xfrm>
          <a:prstGeom prst="rect">
            <a:avLst/>
          </a:prstGeom>
        </p:spPr>
        <p:txBody>
          <a:bodyPr lIns="0" tIns="0" rIns="0" bIns="0" rtlCol="0" anchor="t">
            <a:spAutoFit/>
          </a:bodyPr>
          <a:lstStyle/>
          <a:p>
            <a:pPr algn="just">
              <a:lnSpc>
                <a:spcPts val="6980"/>
              </a:lnSpc>
            </a:pPr>
            <a:r>
              <a:rPr lang="en-US" sz="430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rPr>
              <a:t>I- </a:t>
            </a:r>
            <a:r>
              <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Origine et évolution de l’écriture chinoise</a:t>
            </a:r>
            <a:endPar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6980"/>
              </a:lnSpc>
            </a:pPr>
            <a:r>
              <a:rPr lang="en-US" sz="430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rPr>
              <a:t>II- </a:t>
            </a:r>
            <a:r>
              <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L’écriture et l’Architecture</a:t>
            </a:r>
            <a:endPar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6980"/>
              </a:lnSpc>
            </a:pPr>
            <a:r>
              <a:rPr lang="en-US" sz="430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rPr>
              <a:t>III-</a:t>
            </a:r>
            <a:r>
              <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 L’écriture et les Arts</a:t>
            </a:r>
            <a:endPar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6980"/>
              </a:lnSpc>
            </a:pPr>
            <a:r>
              <a:rPr lang="en-US" sz="4305" b="1">
                <a:solidFill>
                  <a:srgbClr val="000000"/>
                </a:solidFill>
                <a:latin typeface="Cormorant Garamond Bold" panose="00000800000000000000"/>
                <a:ea typeface="Cormorant Garamond Bold" panose="00000800000000000000"/>
                <a:cs typeface="Cormorant Garamond Bold" panose="00000800000000000000"/>
                <a:sym typeface="Cormorant Garamond Bold" panose="00000800000000000000"/>
              </a:rPr>
              <a:t>IV- </a:t>
            </a:r>
            <a:r>
              <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Influence de l’écriture sur les autres cultures</a:t>
            </a:r>
            <a:endParaRPr lang="en-US" sz="43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9860738" y="0"/>
            <a:ext cx="6368201" cy="7842948"/>
            <a:chOff x="0" y="0"/>
            <a:chExt cx="1294050" cy="1593725"/>
          </a:xfrm>
        </p:grpSpPr>
        <p:sp>
          <p:nvSpPr>
            <p:cNvPr id="4" name="Freeform 4"/>
            <p:cNvSpPr/>
            <p:nvPr/>
          </p:nvSpPr>
          <p:spPr>
            <a:xfrm>
              <a:off x="0" y="0"/>
              <a:ext cx="1294050" cy="1593725"/>
            </a:xfrm>
            <a:custGeom>
              <a:avLst/>
              <a:gdLst/>
              <a:ahLst/>
              <a:cxnLst/>
              <a:rect l="l" t="t" r="r" b="b"/>
              <a:pathLst>
                <a:path w="1294050" h="1593725">
                  <a:moveTo>
                    <a:pt x="0" y="0"/>
                  </a:moveTo>
                  <a:lnTo>
                    <a:pt x="1294050" y="0"/>
                  </a:lnTo>
                  <a:lnTo>
                    <a:pt x="1294050" y="1593725"/>
                  </a:lnTo>
                  <a:lnTo>
                    <a:pt x="0" y="1593725"/>
                  </a:lnTo>
                  <a:close/>
                </a:path>
              </a:pathLst>
            </a:custGeom>
            <a:blipFill>
              <a:blip r:embed="rId2"/>
              <a:stretch>
                <a:fillRect t="-11129" b="-11129"/>
              </a:stretch>
            </a:blipFill>
          </p:spPr>
        </p:sp>
      </p:grpSp>
      <p:sp>
        <p:nvSpPr>
          <p:cNvPr id="5" name="Freeform 5"/>
          <p:cNvSpPr/>
          <p:nvPr/>
        </p:nvSpPr>
        <p:spPr>
          <a:xfrm flipH="1">
            <a:off x="-633433" y="-527103"/>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3044838" y="7430790"/>
            <a:ext cx="5948459" cy="3233799"/>
          </a:xfrm>
          <a:custGeom>
            <a:avLst/>
            <a:gdLst/>
            <a:ahLst/>
            <a:cxnLst/>
            <a:rect l="l" t="t" r="r" b="b"/>
            <a:pathLst>
              <a:path w="5948459" h="3233799">
                <a:moveTo>
                  <a:pt x="0" y="0"/>
                </a:moveTo>
                <a:lnTo>
                  <a:pt x="5948460" y="0"/>
                </a:lnTo>
                <a:lnTo>
                  <a:pt x="5948460" y="3233799"/>
                </a:lnTo>
                <a:lnTo>
                  <a:pt x="0" y="32337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110364" y="3086552"/>
            <a:ext cx="5016485" cy="834922"/>
          </a:xfrm>
          <a:prstGeom prst="rect">
            <a:avLst/>
          </a:prstGeom>
        </p:spPr>
        <p:txBody>
          <a:bodyPr lIns="0" tIns="0" rIns="0" bIns="0" rtlCol="0" anchor="t">
            <a:spAutoFit/>
          </a:bodyPr>
          <a:lstStyle/>
          <a:p>
            <a:pPr algn="l">
              <a:lnSpc>
                <a:spcPts val="6245"/>
              </a:lnSpc>
            </a:pPr>
            <a:r>
              <a:rPr lang="en-US" sz="6245">
                <a:solidFill>
                  <a:srgbClr val="000000"/>
                </a:solidFill>
                <a:latin typeface="Amsterdam Four" panose="02000500000000000000"/>
                <a:ea typeface="Amsterdam Four" panose="02000500000000000000"/>
                <a:cs typeface="Amsterdam Four" panose="02000500000000000000"/>
                <a:sym typeface="Amsterdam Four" panose="02000500000000000000"/>
              </a:rPr>
              <a:t>Introduction</a:t>
            </a:r>
            <a:endParaRPr lang="en-US" sz="62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8" name="TextBox 8"/>
          <p:cNvSpPr txBox="1"/>
          <p:nvPr/>
        </p:nvSpPr>
        <p:spPr>
          <a:xfrm>
            <a:off x="1478137" y="4315046"/>
            <a:ext cx="7498327" cy="3758364"/>
          </a:xfrm>
          <a:prstGeom prst="rect">
            <a:avLst/>
          </a:prstGeom>
        </p:spPr>
        <p:txBody>
          <a:bodyPr lIns="0" tIns="0" rIns="0" bIns="0" rtlCol="0" anchor="t">
            <a:spAutoFit/>
          </a:bodyPr>
          <a:lstStyle/>
          <a:p>
            <a:pPr algn="just">
              <a:lnSpc>
                <a:spcPts val="3370"/>
              </a:lnSpc>
            </a:pPr>
            <a:r>
              <a:rPr lang="en-US" sz="24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L’écriture chinoise, parmi les systèmes d’écriture les plus anciens et captivants encore en usage, a vu le jour il y a plus de 3500 ans sous la dynastie Shang. Partant de pictogrammes simples représentant la nature, elle s’est transformée au gré des dynasties, adoptant des formes comme le style sigillaire ou clérical, pour aboutir au style régulier, toujours d’actualité. Son influence s'étend sur toutes les formes d'art, y compris l'architecture et l'urbanisme.</a:t>
            </a:r>
            <a:endParaRPr lang="en-US" sz="24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370"/>
              </a:lnSpc>
            </a:pPr>
          </a:p>
        </p:txBody>
      </p:sp>
      <p:sp>
        <p:nvSpPr>
          <p:cNvPr id="9" name="TextBox 9"/>
          <p:cNvSpPr txBox="1"/>
          <p:nvPr/>
        </p:nvSpPr>
        <p:spPr>
          <a:xfrm>
            <a:off x="9675667" y="7988055"/>
            <a:ext cx="6738342" cy="249360"/>
          </a:xfrm>
          <a:prstGeom prst="rect">
            <a:avLst/>
          </a:prstGeom>
        </p:spPr>
        <p:txBody>
          <a:bodyPr lIns="0" tIns="0" rIns="0" bIns="0" rtlCol="0" anchor="t">
            <a:spAutoFit/>
          </a:bodyPr>
          <a:lstStyle/>
          <a:p>
            <a:pPr algn="ctr">
              <a:lnSpc>
                <a:spcPts val="2005"/>
              </a:lnSpc>
              <a:spcBef>
                <a:spcPct val="0"/>
              </a:spcBef>
            </a:pPr>
            <a:r>
              <a:rPr lang="en-US" sz="1430">
                <a:solidFill>
                  <a:srgbClr val="000000"/>
                </a:solidFill>
                <a:latin typeface="Poppins" panose="00000500000000000000"/>
                <a:ea typeface="Poppins" panose="00000500000000000000"/>
                <a:cs typeface="Poppins" panose="00000500000000000000"/>
                <a:sym typeface="Poppins" panose="00000500000000000000"/>
              </a:rPr>
              <a:t>calligraphie de 王羲之 (Wáng Xīzhī),  célèbre calligraphe de la dynastie Jin.</a:t>
            </a:r>
            <a:endParaRPr lang="en-US" sz="1430">
              <a:solidFill>
                <a:srgbClr val="000000"/>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Freeform 3"/>
          <p:cNvSpPr/>
          <p:nvPr/>
        </p:nvSpPr>
        <p:spPr>
          <a:xfrm>
            <a:off x="1502487" y="2024798"/>
            <a:ext cx="14757818" cy="6237404"/>
          </a:xfrm>
          <a:custGeom>
            <a:avLst/>
            <a:gdLst/>
            <a:ahLst/>
            <a:cxnLst/>
            <a:rect l="l" t="t" r="r" b="b"/>
            <a:pathLst>
              <a:path w="14757818" h="6237404">
                <a:moveTo>
                  <a:pt x="0" y="0"/>
                </a:moveTo>
                <a:lnTo>
                  <a:pt x="14757818" y="0"/>
                </a:lnTo>
                <a:lnTo>
                  <a:pt x="14757818" y="6237404"/>
                </a:lnTo>
                <a:lnTo>
                  <a:pt x="0" y="6237404"/>
                </a:lnTo>
                <a:lnTo>
                  <a:pt x="0" y="0"/>
                </a:lnTo>
                <a:close/>
              </a:path>
            </a:pathLst>
          </a:custGeom>
          <a:blipFill>
            <a:blip r:embed="rId2"/>
            <a:stretch>
              <a:fillRect t="-4696"/>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276591" y="2327628"/>
            <a:ext cx="3644456" cy="5631744"/>
            <a:chOff x="0" y="0"/>
            <a:chExt cx="1061710" cy="1640651"/>
          </a:xfrm>
        </p:grpSpPr>
        <p:sp>
          <p:nvSpPr>
            <p:cNvPr id="4" name="Freeform 4"/>
            <p:cNvSpPr/>
            <p:nvPr/>
          </p:nvSpPr>
          <p:spPr>
            <a:xfrm>
              <a:off x="0" y="0"/>
              <a:ext cx="1061710" cy="1640651"/>
            </a:xfrm>
            <a:custGeom>
              <a:avLst/>
              <a:gdLst/>
              <a:ahLst/>
              <a:cxnLst/>
              <a:rect l="l" t="t" r="r" b="b"/>
              <a:pathLst>
                <a:path w="1061710" h="1640651">
                  <a:moveTo>
                    <a:pt x="0" y="0"/>
                  </a:moveTo>
                  <a:lnTo>
                    <a:pt x="1061710" y="0"/>
                  </a:lnTo>
                  <a:lnTo>
                    <a:pt x="1061710" y="1640651"/>
                  </a:lnTo>
                  <a:lnTo>
                    <a:pt x="0" y="1640651"/>
                  </a:lnTo>
                  <a:close/>
                </a:path>
              </a:pathLst>
            </a:custGeom>
            <a:blipFill>
              <a:blip r:embed="rId2"/>
              <a:stretch>
                <a:fillRect l="-651" r="-651"/>
              </a:stretch>
            </a:blipFill>
          </p:spPr>
        </p:sp>
      </p:grpSp>
      <p:sp>
        <p:nvSpPr>
          <p:cNvPr id="5" name="Freeform 5"/>
          <p:cNvSpPr/>
          <p:nvPr/>
        </p:nvSpPr>
        <p:spPr>
          <a:xfrm flipH="1">
            <a:off x="-1134270" y="6750568"/>
            <a:ext cx="4821720" cy="2621262"/>
          </a:xfrm>
          <a:custGeom>
            <a:avLst/>
            <a:gdLst/>
            <a:ahLst/>
            <a:cxnLst/>
            <a:rect l="l" t="t" r="r" b="b"/>
            <a:pathLst>
              <a:path w="4821720" h="2621262">
                <a:moveTo>
                  <a:pt x="4821721" y="0"/>
                </a:moveTo>
                <a:lnTo>
                  <a:pt x="0" y="0"/>
                </a:lnTo>
                <a:lnTo>
                  <a:pt x="0" y="2621262"/>
                </a:lnTo>
                <a:lnTo>
                  <a:pt x="4821721" y="2621262"/>
                </a:lnTo>
                <a:lnTo>
                  <a:pt x="4821721"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4943682" y="-1349029"/>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5634310" y="3376111"/>
            <a:ext cx="11432861" cy="796392"/>
          </a:xfrm>
          <a:prstGeom prst="rect">
            <a:avLst/>
          </a:prstGeom>
        </p:spPr>
        <p:txBody>
          <a:bodyPr lIns="0" tIns="0" rIns="0" bIns="0" rtlCol="0" anchor="t">
            <a:spAutoFit/>
          </a:bodyPr>
          <a:lstStyle/>
          <a:p>
            <a:pPr algn="l">
              <a:lnSpc>
                <a:spcPts val="6505"/>
              </a:lnSpc>
            </a:pPr>
            <a:r>
              <a:rPr lang="en-US" sz="4645">
                <a:solidFill>
                  <a:srgbClr val="000000"/>
                </a:solidFill>
                <a:latin typeface="Amsterdam Four" panose="02000500000000000000"/>
                <a:ea typeface="Amsterdam Four" panose="02000500000000000000"/>
                <a:cs typeface="Amsterdam Four" panose="02000500000000000000"/>
                <a:sym typeface="Amsterdam Four" panose="02000500000000000000"/>
              </a:rPr>
              <a:t>1- Origine</a:t>
            </a:r>
            <a:endParaRPr lang="en-US" sz="46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8" name="TextBox 8"/>
          <p:cNvSpPr txBox="1"/>
          <p:nvPr/>
        </p:nvSpPr>
        <p:spPr>
          <a:xfrm>
            <a:off x="5835941" y="4625192"/>
            <a:ext cx="10132758"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Les premières traces d'écriture chinoise datent de la dynastie Shang (1600-1046 av. J.-C.), avec les premières inscriptions découvertes sur des os oraculaires et des carapaces de tortues, appelées jiaguwen. Ces caractères primitifs, souvent pictographiques, représentaient des objets ou des concepts simples, comme le soleil (日) ou la montagne (山), et servaient à des fins divinatoires.</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9" name="TextBox 9"/>
          <p:cNvSpPr txBox="1"/>
          <p:nvPr/>
        </p:nvSpPr>
        <p:spPr>
          <a:xfrm>
            <a:off x="570079" y="532079"/>
            <a:ext cx="11432861" cy="888468"/>
          </a:xfrm>
          <a:prstGeom prst="rect">
            <a:avLst/>
          </a:prstGeom>
        </p:spPr>
        <p:txBody>
          <a:bodyPr lIns="0" tIns="0" rIns="0" bIns="0" rtlCol="0" anchor="t">
            <a:spAutoFit/>
          </a:bodyPr>
          <a:lstStyle/>
          <a:p>
            <a:pPr algn="l">
              <a:lnSpc>
                <a:spcPts val="720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I- Origine et évolution de l’écriture chinoise</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Freeform 3"/>
          <p:cNvSpPr/>
          <p:nvPr/>
        </p:nvSpPr>
        <p:spPr>
          <a:xfrm flipH="1">
            <a:off x="-1754592" y="6922880"/>
            <a:ext cx="4821720" cy="2621262"/>
          </a:xfrm>
          <a:custGeom>
            <a:avLst/>
            <a:gdLst/>
            <a:ahLst/>
            <a:cxnLst/>
            <a:rect l="l" t="t" r="r" b="b"/>
            <a:pathLst>
              <a:path w="4821720" h="2621262">
                <a:moveTo>
                  <a:pt x="4821720" y="0"/>
                </a:moveTo>
                <a:lnTo>
                  <a:pt x="0" y="0"/>
                </a:lnTo>
                <a:lnTo>
                  <a:pt x="0" y="2621262"/>
                </a:lnTo>
                <a:lnTo>
                  <a:pt x="4821720" y="2621262"/>
                </a:lnTo>
                <a:lnTo>
                  <a:pt x="482172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5426155" y="-1056099"/>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1611862"/>
            <a:ext cx="15431992" cy="6462147"/>
          </a:xfrm>
          <a:custGeom>
            <a:avLst/>
            <a:gdLst/>
            <a:ahLst/>
            <a:cxnLst/>
            <a:rect l="l" t="t" r="r" b="b"/>
            <a:pathLst>
              <a:path w="15431992" h="6462147">
                <a:moveTo>
                  <a:pt x="0" y="0"/>
                </a:moveTo>
                <a:lnTo>
                  <a:pt x="15431992" y="0"/>
                </a:lnTo>
                <a:lnTo>
                  <a:pt x="15431992" y="6462146"/>
                </a:lnTo>
                <a:lnTo>
                  <a:pt x="0" y="6462146"/>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Freeform 3"/>
          <p:cNvSpPr/>
          <p:nvPr/>
        </p:nvSpPr>
        <p:spPr>
          <a:xfrm>
            <a:off x="8907212" y="1930144"/>
            <a:ext cx="7726943" cy="7328156"/>
          </a:xfrm>
          <a:custGeom>
            <a:avLst/>
            <a:gdLst/>
            <a:ahLst/>
            <a:cxnLst/>
            <a:rect l="l" t="t" r="r" b="b"/>
            <a:pathLst>
              <a:path w="7726943" h="7328156">
                <a:moveTo>
                  <a:pt x="0" y="0"/>
                </a:moveTo>
                <a:lnTo>
                  <a:pt x="7726942" y="0"/>
                </a:lnTo>
                <a:lnTo>
                  <a:pt x="7726942" y="7328156"/>
                </a:lnTo>
                <a:lnTo>
                  <a:pt x="0" y="7328156"/>
                </a:lnTo>
                <a:lnTo>
                  <a:pt x="0" y="0"/>
                </a:lnTo>
                <a:close/>
              </a:path>
            </a:pathLst>
          </a:custGeom>
          <a:blipFill>
            <a:blip r:embed="rId2"/>
            <a:stretch>
              <a:fillRect l="-397" r="-397"/>
            </a:stretch>
          </a:blipFill>
        </p:spPr>
      </p:sp>
      <p:sp>
        <p:nvSpPr>
          <p:cNvPr id="4" name="Freeform 4"/>
          <p:cNvSpPr/>
          <p:nvPr/>
        </p:nvSpPr>
        <p:spPr>
          <a:xfrm>
            <a:off x="13044838" y="7430790"/>
            <a:ext cx="5948459" cy="3233799"/>
          </a:xfrm>
          <a:custGeom>
            <a:avLst/>
            <a:gdLst/>
            <a:ahLst/>
            <a:cxnLst/>
            <a:rect l="l" t="t" r="r" b="b"/>
            <a:pathLst>
              <a:path w="5948459" h="3233799">
                <a:moveTo>
                  <a:pt x="0" y="0"/>
                </a:moveTo>
                <a:lnTo>
                  <a:pt x="5948460" y="0"/>
                </a:lnTo>
                <a:lnTo>
                  <a:pt x="5948460" y="3233799"/>
                </a:lnTo>
                <a:lnTo>
                  <a:pt x="0" y="32337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806433" y="390927"/>
            <a:ext cx="16675134" cy="888468"/>
          </a:xfrm>
          <a:prstGeom prst="rect">
            <a:avLst/>
          </a:prstGeom>
        </p:spPr>
        <p:txBody>
          <a:bodyPr lIns="0" tIns="0" rIns="0" bIns="0" rtlCol="0" anchor="t">
            <a:spAutoFit/>
          </a:bodyPr>
          <a:lstStyle/>
          <a:p>
            <a:pPr algn="l">
              <a:lnSpc>
                <a:spcPts val="720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Selon les légendes, l’inventeur de la langue chinoise: Cang Jie (仓颉).</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6" name="TextBox 6"/>
          <p:cNvSpPr txBox="1"/>
          <p:nvPr/>
        </p:nvSpPr>
        <p:spPr>
          <a:xfrm>
            <a:off x="1750227" y="2837129"/>
            <a:ext cx="6023163" cy="5059323"/>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Selon les légendes, l’inventeur de la langue chinoise se nommerait Cang Jie (仓颉).</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On dit qu’il était l’un des ministres de l’empereur Huangdi, aussi appelé l’Empereur jaune (2697 – 2599). Cang Jie aurait eu quatre yeux qui lui permettaient de « voir » et de « savoir » mieux que quiconque.</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En observant les empreintes des animaux au sol, Cang Jie aurait compris comment transcrire les idées et les choses avec des symboles distinctifs.</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Satisfait du travail effectué par son ministre, l’Empereur jaune aurait promulgué l’usage de ces symboles dans tout le pays. C’est ainsi que seraient nés les premiers caractères…</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5281051" y="0"/>
            <a:ext cx="13006949" cy="5262764"/>
            <a:chOff x="0" y="0"/>
            <a:chExt cx="2411584" cy="975755"/>
          </a:xfrm>
        </p:grpSpPr>
        <p:sp>
          <p:nvSpPr>
            <p:cNvPr id="4" name="Freeform 4"/>
            <p:cNvSpPr/>
            <p:nvPr/>
          </p:nvSpPr>
          <p:spPr>
            <a:xfrm>
              <a:off x="0" y="0"/>
              <a:ext cx="2411584" cy="975755"/>
            </a:xfrm>
            <a:custGeom>
              <a:avLst/>
              <a:gdLst/>
              <a:ahLst/>
              <a:cxnLst/>
              <a:rect l="l" t="t" r="r" b="b"/>
              <a:pathLst>
                <a:path w="2411584" h="975755">
                  <a:moveTo>
                    <a:pt x="0" y="0"/>
                  </a:moveTo>
                  <a:lnTo>
                    <a:pt x="2411584" y="0"/>
                  </a:lnTo>
                  <a:lnTo>
                    <a:pt x="2411584" y="975755"/>
                  </a:lnTo>
                  <a:lnTo>
                    <a:pt x="0" y="975755"/>
                  </a:lnTo>
                  <a:close/>
                </a:path>
              </a:pathLst>
            </a:custGeom>
            <a:blipFill>
              <a:blip r:embed="rId2"/>
              <a:stretch>
                <a:fillRect t="-19528" b="-19528"/>
              </a:stretch>
            </a:blipFill>
          </p:spPr>
        </p:sp>
      </p:grpSp>
      <p:sp>
        <p:nvSpPr>
          <p:cNvPr id="5" name="Freeform 5"/>
          <p:cNvSpPr/>
          <p:nvPr/>
        </p:nvSpPr>
        <p:spPr>
          <a:xfrm flipH="1">
            <a:off x="1256839" y="1814847"/>
            <a:ext cx="5723690" cy="3111606"/>
          </a:xfrm>
          <a:custGeom>
            <a:avLst/>
            <a:gdLst/>
            <a:ahLst/>
            <a:cxnLst/>
            <a:rect l="l" t="t" r="r" b="b"/>
            <a:pathLst>
              <a:path w="5723690" h="3111606">
                <a:moveTo>
                  <a:pt x="5723689" y="0"/>
                </a:moveTo>
                <a:lnTo>
                  <a:pt x="0" y="0"/>
                </a:lnTo>
                <a:lnTo>
                  <a:pt x="0" y="3111606"/>
                </a:lnTo>
                <a:lnTo>
                  <a:pt x="5723689" y="3111606"/>
                </a:lnTo>
                <a:lnTo>
                  <a:pt x="5723689"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5812637" y="3212493"/>
            <a:ext cx="5723690" cy="3111606"/>
          </a:xfrm>
          <a:custGeom>
            <a:avLst/>
            <a:gdLst/>
            <a:ahLst/>
            <a:cxnLst/>
            <a:rect l="l" t="t" r="r" b="b"/>
            <a:pathLst>
              <a:path w="5723690" h="3111606">
                <a:moveTo>
                  <a:pt x="0" y="0"/>
                </a:moveTo>
                <a:lnTo>
                  <a:pt x="5723690" y="0"/>
                </a:lnTo>
                <a:lnTo>
                  <a:pt x="5723690" y="3111606"/>
                </a:lnTo>
                <a:lnTo>
                  <a:pt x="0" y="31116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256839" y="7489180"/>
            <a:ext cx="15495068" cy="1544267"/>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L'écriture a connu une évolution significative à travers les dynasties, passant de formes pictographiques à des caractères stylisés, chaque style reflétant les changements sociaux, culturels et technologiques de son époque. Sous les dynasties Zhou et Qin, l'écriture s'est transformée avec l'introduction du style sigillaire (zhuanshu) et la réforme de Qin Shi Huang, qui a unifié les systèmes régionaux. Par la suite, le style clérical (lishu) et le style régulier (kaishu) sous les Han ont affiné l'écriture, ce dernier formant la base de l'écriture manuscrite moderne.</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8" name="TextBox 8"/>
          <p:cNvSpPr txBox="1"/>
          <p:nvPr/>
        </p:nvSpPr>
        <p:spPr>
          <a:xfrm>
            <a:off x="1028700" y="6368737"/>
            <a:ext cx="11432861" cy="796392"/>
          </a:xfrm>
          <a:prstGeom prst="rect">
            <a:avLst/>
          </a:prstGeom>
        </p:spPr>
        <p:txBody>
          <a:bodyPr lIns="0" tIns="0" rIns="0" bIns="0" rtlCol="0" anchor="t">
            <a:spAutoFit/>
          </a:bodyPr>
          <a:lstStyle/>
          <a:p>
            <a:pPr algn="l">
              <a:lnSpc>
                <a:spcPts val="6505"/>
              </a:lnSpc>
            </a:pPr>
            <a:r>
              <a:rPr lang="en-US" sz="4645">
                <a:solidFill>
                  <a:srgbClr val="000000"/>
                </a:solidFill>
                <a:latin typeface="Amsterdam Four" panose="02000500000000000000"/>
                <a:ea typeface="Amsterdam Four" panose="02000500000000000000"/>
                <a:cs typeface="Amsterdam Four" panose="02000500000000000000"/>
                <a:sym typeface="Amsterdam Four" panose="02000500000000000000"/>
              </a:rPr>
              <a:t>2-Évolution : Les Styles d'écriture</a:t>
            </a:r>
            <a:endParaRPr lang="en-US" sz="46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Freeform 3"/>
          <p:cNvSpPr/>
          <p:nvPr/>
        </p:nvSpPr>
        <p:spPr>
          <a:xfrm>
            <a:off x="13635818" y="-843372"/>
            <a:ext cx="5723690" cy="3111606"/>
          </a:xfrm>
          <a:custGeom>
            <a:avLst/>
            <a:gdLst/>
            <a:ahLst/>
            <a:cxnLst/>
            <a:rect l="l" t="t" r="r" b="b"/>
            <a:pathLst>
              <a:path w="5723690" h="3111606">
                <a:moveTo>
                  <a:pt x="0" y="0"/>
                </a:moveTo>
                <a:lnTo>
                  <a:pt x="5723689" y="0"/>
                </a:lnTo>
                <a:lnTo>
                  <a:pt x="5723689" y="3111606"/>
                </a:lnTo>
                <a:lnTo>
                  <a:pt x="0" y="31116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2157914" y="7859376"/>
            <a:ext cx="5723690" cy="3111606"/>
          </a:xfrm>
          <a:custGeom>
            <a:avLst/>
            <a:gdLst/>
            <a:ahLst/>
            <a:cxnLst/>
            <a:rect l="l" t="t" r="r" b="b"/>
            <a:pathLst>
              <a:path w="5723690" h="3111606">
                <a:moveTo>
                  <a:pt x="5723689" y="0"/>
                </a:moveTo>
                <a:lnTo>
                  <a:pt x="0" y="0"/>
                </a:lnTo>
                <a:lnTo>
                  <a:pt x="0" y="3111606"/>
                </a:lnTo>
                <a:lnTo>
                  <a:pt x="5723689" y="3111606"/>
                </a:lnTo>
                <a:lnTo>
                  <a:pt x="5723689"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rot="0">
            <a:off x="9858129" y="5229439"/>
            <a:ext cx="2963178" cy="4028861"/>
            <a:chOff x="0" y="0"/>
            <a:chExt cx="809767" cy="1100993"/>
          </a:xfrm>
        </p:grpSpPr>
        <p:sp>
          <p:nvSpPr>
            <p:cNvPr id="6" name="Freeform 6"/>
            <p:cNvSpPr/>
            <p:nvPr/>
          </p:nvSpPr>
          <p:spPr>
            <a:xfrm>
              <a:off x="0" y="0"/>
              <a:ext cx="809767" cy="1100993"/>
            </a:xfrm>
            <a:custGeom>
              <a:avLst/>
              <a:gdLst/>
              <a:ahLst/>
              <a:cxnLst/>
              <a:rect l="l" t="t" r="r" b="b"/>
              <a:pathLst>
                <a:path w="809767" h="1100993">
                  <a:moveTo>
                    <a:pt x="0" y="0"/>
                  </a:moveTo>
                  <a:lnTo>
                    <a:pt x="809767" y="0"/>
                  </a:lnTo>
                  <a:lnTo>
                    <a:pt x="809767" y="1100993"/>
                  </a:lnTo>
                  <a:lnTo>
                    <a:pt x="0" y="1100993"/>
                  </a:lnTo>
                  <a:close/>
                </a:path>
              </a:pathLst>
            </a:custGeom>
            <a:blipFill>
              <a:blip r:embed="rId4"/>
              <a:stretch>
                <a:fillRect t="-2863" b="-2863"/>
              </a:stretch>
            </a:blipFill>
          </p:spPr>
        </p:sp>
      </p:grpSp>
      <p:grpSp>
        <p:nvGrpSpPr>
          <p:cNvPr id="7" name="Group 7"/>
          <p:cNvGrpSpPr/>
          <p:nvPr/>
        </p:nvGrpSpPr>
        <p:grpSpPr>
          <a:xfrm rot="0">
            <a:off x="1028700" y="5143500"/>
            <a:ext cx="2963178" cy="4028861"/>
            <a:chOff x="0" y="0"/>
            <a:chExt cx="809767" cy="1100993"/>
          </a:xfrm>
        </p:grpSpPr>
        <p:sp>
          <p:nvSpPr>
            <p:cNvPr id="8" name="Freeform 8"/>
            <p:cNvSpPr/>
            <p:nvPr/>
          </p:nvSpPr>
          <p:spPr>
            <a:xfrm>
              <a:off x="0" y="0"/>
              <a:ext cx="809767" cy="1100993"/>
            </a:xfrm>
            <a:custGeom>
              <a:avLst/>
              <a:gdLst/>
              <a:ahLst/>
              <a:cxnLst/>
              <a:rect l="l" t="t" r="r" b="b"/>
              <a:pathLst>
                <a:path w="809767" h="1100993">
                  <a:moveTo>
                    <a:pt x="0" y="0"/>
                  </a:moveTo>
                  <a:lnTo>
                    <a:pt x="809767" y="0"/>
                  </a:lnTo>
                  <a:lnTo>
                    <a:pt x="809767" y="1100993"/>
                  </a:lnTo>
                  <a:lnTo>
                    <a:pt x="0" y="1100993"/>
                  </a:lnTo>
                  <a:close/>
                </a:path>
              </a:pathLst>
            </a:custGeom>
            <a:blipFill>
              <a:blip r:embed="rId5"/>
              <a:stretch>
                <a:fillRect b="-26535"/>
              </a:stretch>
            </a:blipFill>
          </p:spPr>
        </p:sp>
      </p:grpSp>
      <p:sp>
        <p:nvSpPr>
          <p:cNvPr id="9" name="TextBox 9"/>
          <p:cNvSpPr txBox="1"/>
          <p:nvPr/>
        </p:nvSpPr>
        <p:spPr>
          <a:xfrm>
            <a:off x="4325273" y="4957461"/>
            <a:ext cx="4298645" cy="473411"/>
          </a:xfrm>
          <a:prstGeom prst="rect">
            <a:avLst/>
          </a:prstGeom>
        </p:spPr>
        <p:txBody>
          <a:bodyPr lIns="0" tIns="0" rIns="0" bIns="0" rtlCol="0" anchor="t">
            <a:spAutoFit/>
          </a:bodyPr>
          <a:lstStyle/>
          <a:p>
            <a:pPr algn="l">
              <a:lnSpc>
                <a:spcPts val="3830"/>
              </a:lnSpc>
            </a:pPr>
            <a:r>
              <a:rPr lang="en-US" sz="2735">
                <a:solidFill>
                  <a:srgbClr val="000000"/>
                </a:solidFill>
                <a:latin typeface="Amsterdam Four" panose="02000500000000000000"/>
                <a:ea typeface="Amsterdam Four" panose="02000500000000000000"/>
                <a:cs typeface="Amsterdam Four" panose="02000500000000000000"/>
                <a:sym typeface="Amsterdam Four" panose="02000500000000000000"/>
              </a:rPr>
              <a:t>Le grand sceau (dazhuan 大篆)</a:t>
            </a:r>
            <a:endParaRPr lang="en-US" sz="273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0" name="TextBox 10"/>
          <p:cNvSpPr txBox="1"/>
          <p:nvPr/>
        </p:nvSpPr>
        <p:spPr>
          <a:xfrm>
            <a:off x="13208880" y="4957461"/>
            <a:ext cx="4045121" cy="473411"/>
          </a:xfrm>
          <a:prstGeom prst="rect">
            <a:avLst/>
          </a:prstGeom>
        </p:spPr>
        <p:txBody>
          <a:bodyPr lIns="0" tIns="0" rIns="0" bIns="0" rtlCol="0" anchor="t">
            <a:spAutoFit/>
          </a:bodyPr>
          <a:lstStyle/>
          <a:p>
            <a:pPr algn="l">
              <a:lnSpc>
                <a:spcPts val="3830"/>
              </a:lnSpc>
            </a:pPr>
            <a:r>
              <a:rPr lang="en-US" sz="2735">
                <a:solidFill>
                  <a:srgbClr val="000000"/>
                </a:solidFill>
                <a:latin typeface="Amsterdam Four" panose="02000500000000000000"/>
                <a:ea typeface="Amsterdam Four" panose="02000500000000000000"/>
                <a:cs typeface="Amsterdam Four" panose="02000500000000000000"/>
                <a:sym typeface="Amsterdam Four" panose="02000500000000000000"/>
              </a:rPr>
              <a:t> Le petit sceau (xiaozhuan 小篆)</a:t>
            </a:r>
            <a:endParaRPr lang="en-US" sz="273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1" name="TextBox 11"/>
          <p:cNvSpPr txBox="1"/>
          <p:nvPr/>
        </p:nvSpPr>
        <p:spPr>
          <a:xfrm>
            <a:off x="703931" y="1888386"/>
            <a:ext cx="10882396" cy="1934845"/>
          </a:xfrm>
          <a:prstGeom prst="rect">
            <a:avLst/>
          </a:prstGeom>
        </p:spPr>
        <p:txBody>
          <a:bodyPr lIns="0" tIns="0" rIns="0" bIns="0" rtlCol="0" anchor="t">
            <a:spAutoFit/>
          </a:bodyPr>
          <a:lstStyle/>
          <a:p>
            <a:pPr algn="just">
              <a:lnSpc>
                <a:spcPts val="3080"/>
              </a:lnSpc>
            </a:pPr>
            <a:r>
              <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 zhuanshu, ou style du sceau, est une écriture chinoise ancienne et élégante, standardisée sous la dynastie Qin. Elle se caractérise par des traits uniformes, une structure équilibrée et un aspect décoratif. Utilisée pour les sceaux officiels et les inscriptions importantes, elle se décline en grand sceau (dazhuan 大篆) et en petit sceau (xiaozhuan 小篆). Bien que complexe et peu pratique pour l'écriture quotidienne, elle reste une forme d'art respectée.</a:t>
            </a:r>
            <a:endPar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12" name="TextBox 12"/>
          <p:cNvSpPr txBox="1"/>
          <p:nvPr/>
        </p:nvSpPr>
        <p:spPr>
          <a:xfrm>
            <a:off x="703931" y="582879"/>
            <a:ext cx="7139549" cy="796392"/>
          </a:xfrm>
          <a:prstGeom prst="rect">
            <a:avLst/>
          </a:prstGeom>
        </p:spPr>
        <p:txBody>
          <a:bodyPr lIns="0" tIns="0" rIns="0" bIns="0" rtlCol="0" anchor="t">
            <a:spAutoFit/>
          </a:bodyPr>
          <a:lstStyle/>
          <a:p>
            <a:pPr algn="l">
              <a:lnSpc>
                <a:spcPts val="6505"/>
              </a:lnSpc>
            </a:pPr>
            <a:r>
              <a:rPr lang="en-US" sz="4645">
                <a:solidFill>
                  <a:srgbClr val="000000"/>
                </a:solidFill>
                <a:latin typeface="Amsterdam Four" panose="02000500000000000000"/>
                <a:ea typeface="Amsterdam Four" panose="02000500000000000000"/>
                <a:cs typeface="Amsterdam Four" panose="02000500000000000000"/>
                <a:sym typeface="Amsterdam Four" panose="02000500000000000000"/>
              </a:rPr>
              <a:t>Style du sceau (zhuanshu 篆书)</a:t>
            </a:r>
            <a:endParaRPr lang="en-US" sz="46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3" name="TextBox 13"/>
          <p:cNvSpPr txBox="1"/>
          <p:nvPr/>
        </p:nvSpPr>
        <p:spPr>
          <a:xfrm>
            <a:off x="4386949" y="5761355"/>
            <a:ext cx="4236969" cy="3496945"/>
          </a:xfrm>
          <a:prstGeom prst="rect">
            <a:avLst/>
          </a:prstGeom>
        </p:spPr>
        <p:txBody>
          <a:bodyPr lIns="0" tIns="0" rIns="0" bIns="0" rtlCol="0" anchor="t">
            <a:spAutoFit/>
          </a:bodyPr>
          <a:lstStyle/>
          <a:p>
            <a:pPr algn="just">
              <a:lnSpc>
                <a:spcPts val="3080"/>
              </a:lnSpc>
            </a:pPr>
            <a:r>
              <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C’est l'ensemble des formes d'écriture chinoise antérieures à l'unification de la dynastie Qin. Il s'est développé principalement sous la dynastie Zhou, se manifestant sur des bronzes et des tambours de pierre. Caractérisé par une diversité de formes, il reflète les variations régionales et les premières étapes d'évolution de l'écriture.</a:t>
            </a:r>
            <a:endPar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14" name="TextBox 14"/>
          <p:cNvSpPr txBox="1"/>
          <p:nvPr/>
        </p:nvSpPr>
        <p:spPr>
          <a:xfrm>
            <a:off x="13233857" y="5761355"/>
            <a:ext cx="4236969" cy="3496945"/>
          </a:xfrm>
          <a:prstGeom prst="rect">
            <a:avLst/>
          </a:prstGeom>
        </p:spPr>
        <p:txBody>
          <a:bodyPr lIns="0" tIns="0" rIns="0" bIns="0" rtlCol="0" anchor="t">
            <a:spAutoFit/>
          </a:bodyPr>
          <a:lstStyle/>
          <a:p>
            <a:pPr algn="just">
              <a:lnSpc>
                <a:spcPts val="3080"/>
              </a:lnSpc>
            </a:pPr>
            <a:r>
              <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Elle se caractérise par des traits uniformes et élégants, remplaçant les variations régionales du grand sceau. Utilisée pour les inscriptions officielles et les sceaux impériaux, elle a facilité la communication à travers l'empire. Bien qu'elle ne soit plus utilisée au quotidien, elle reste une forme d'art respectée dans la calligraphie.</a:t>
            </a:r>
            <a:endParaRPr lang="en-US" sz="2200">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028700" y="877627"/>
            <a:ext cx="3846157" cy="4761017"/>
            <a:chOff x="0" y="0"/>
            <a:chExt cx="732845" cy="907162"/>
          </a:xfrm>
        </p:grpSpPr>
        <p:sp>
          <p:nvSpPr>
            <p:cNvPr id="4" name="Freeform 4"/>
            <p:cNvSpPr/>
            <p:nvPr/>
          </p:nvSpPr>
          <p:spPr>
            <a:xfrm>
              <a:off x="0" y="0"/>
              <a:ext cx="732845" cy="907161"/>
            </a:xfrm>
            <a:custGeom>
              <a:avLst/>
              <a:gdLst/>
              <a:ahLst/>
              <a:cxnLst/>
              <a:rect l="l" t="t" r="r" b="b"/>
              <a:pathLst>
                <a:path w="732845" h="907161">
                  <a:moveTo>
                    <a:pt x="0" y="0"/>
                  </a:moveTo>
                  <a:lnTo>
                    <a:pt x="732845" y="0"/>
                  </a:lnTo>
                  <a:lnTo>
                    <a:pt x="732845" y="907161"/>
                  </a:lnTo>
                  <a:lnTo>
                    <a:pt x="0" y="907161"/>
                  </a:lnTo>
                  <a:close/>
                </a:path>
              </a:pathLst>
            </a:custGeom>
            <a:blipFill>
              <a:blip r:embed="rId2"/>
              <a:stretch>
                <a:fillRect l="-10366" r="-135974"/>
              </a:stretch>
            </a:blipFill>
          </p:spPr>
        </p:sp>
      </p:grpSp>
      <p:grpSp>
        <p:nvGrpSpPr>
          <p:cNvPr id="5" name="Group 5"/>
          <p:cNvGrpSpPr/>
          <p:nvPr/>
        </p:nvGrpSpPr>
        <p:grpSpPr>
          <a:xfrm rot="0">
            <a:off x="1053908" y="5940791"/>
            <a:ext cx="3820949" cy="4761017"/>
            <a:chOff x="0" y="0"/>
            <a:chExt cx="728041" cy="907162"/>
          </a:xfrm>
        </p:grpSpPr>
        <p:sp>
          <p:nvSpPr>
            <p:cNvPr id="6" name="Freeform 6"/>
            <p:cNvSpPr/>
            <p:nvPr/>
          </p:nvSpPr>
          <p:spPr>
            <a:xfrm>
              <a:off x="0" y="0"/>
              <a:ext cx="728041" cy="907161"/>
            </a:xfrm>
            <a:custGeom>
              <a:avLst/>
              <a:gdLst/>
              <a:ahLst/>
              <a:cxnLst/>
              <a:rect l="l" t="t" r="r" b="b"/>
              <a:pathLst>
                <a:path w="728041" h="907161">
                  <a:moveTo>
                    <a:pt x="0" y="0"/>
                  </a:moveTo>
                  <a:lnTo>
                    <a:pt x="728041" y="0"/>
                  </a:lnTo>
                  <a:lnTo>
                    <a:pt x="728041" y="907161"/>
                  </a:lnTo>
                  <a:lnTo>
                    <a:pt x="0" y="907161"/>
                  </a:lnTo>
                  <a:close/>
                </a:path>
              </a:pathLst>
            </a:custGeom>
            <a:blipFill>
              <a:blip r:embed="rId3"/>
              <a:stretch>
                <a:fillRect t="-5111" b="-5111"/>
              </a:stretch>
            </a:blipFill>
          </p:spPr>
        </p:sp>
      </p:grpSp>
      <p:sp>
        <p:nvSpPr>
          <p:cNvPr id="7" name="Freeform 7"/>
          <p:cNvSpPr/>
          <p:nvPr/>
        </p:nvSpPr>
        <p:spPr>
          <a:xfrm>
            <a:off x="14854046" y="1721554"/>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2422496" y="8830571"/>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821431" y="4113144"/>
            <a:ext cx="7868642" cy="753587"/>
          </a:xfrm>
          <a:prstGeom prst="rect">
            <a:avLst/>
          </a:prstGeom>
        </p:spPr>
        <p:txBody>
          <a:bodyPr lIns="0" tIns="0" rIns="0" bIns="0" rtlCol="0" anchor="t">
            <a:spAutoFit/>
          </a:bodyPr>
          <a:lstStyle/>
          <a:p>
            <a:pPr algn="l">
              <a:lnSpc>
                <a:spcPts val="586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Style des scribes (lishu 隶书)</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0" name="TextBox 10"/>
          <p:cNvSpPr txBox="1"/>
          <p:nvPr/>
        </p:nvSpPr>
        <p:spPr>
          <a:xfrm>
            <a:off x="5821431" y="5751617"/>
            <a:ext cx="9032615"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 lishu, ou style des scribes, a émergé sous la dynastie Han (206 av. J.-C. - 220 ap. J.-C.) pour faciliter l'écriture rapide. Évoluant du zhuanshu, il se caractérise par des traits anguleux et rectilignes, simplifiant les caractères. Utilisé pour les documents officiels, il a servi de base au kaishu, marquant une transition cruciale vers une écriture plus fonctionnelle.</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TextBox 3"/>
          <p:cNvSpPr txBox="1"/>
          <p:nvPr/>
        </p:nvSpPr>
        <p:spPr>
          <a:xfrm>
            <a:off x="5821431" y="4113144"/>
            <a:ext cx="7868642" cy="753587"/>
          </a:xfrm>
          <a:prstGeom prst="rect">
            <a:avLst/>
          </a:prstGeom>
        </p:spPr>
        <p:txBody>
          <a:bodyPr lIns="0" tIns="0" rIns="0" bIns="0" rtlCol="0" anchor="t">
            <a:spAutoFit/>
          </a:bodyPr>
          <a:lstStyle/>
          <a:p>
            <a:pPr algn="l">
              <a:lnSpc>
                <a:spcPts val="586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Style régulier (kaishu 楷书)</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4" name="TextBox 4"/>
          <p:cNvSpPr txBox="1"/>
          <p:nvPr/>
        </p:nvSpPr>
        <p:spPr>
          <a:xfrm>
            <a:off x="5821431" y="5751617"/>
            <a:ext cx="9032615"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 kaishu (楷书) est la forme standardisée de l'écriture chinoise, développée sous la dynastie Han et perfectionnée sous la dynastie Tang. Il se caractérise par des traits clairs et équilibrés, servant de modèle pour l'apprentissage de l'écriture. Utilisé dans les documents officiels, il combine lisibilité et esthétique, et demeure une importante forme d'art calligraphique.</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grpSp>
        <p:nvGrpSpPr>
          <p:cNvPr id="5" name="Group 5"/>
          <p:cNvGrpSpPr/>
          <p:nvPr/>
        </p:nvGrpSpPr>
        <p:grpSpPr>
          <a:xfrm rot="0">
            <a:off x="1028700" y="631050"/>
            <a:ext cx="3846157" cy="4761017"/>
            <a:chOff x="0" y="0"/>
            <a:chExt cx="732845" cy="907162"/>
          </a:xfrm>
        </p:grpSpPr>
        <p:sp>
          <p:nvSpPr>
            <p:cNvPr id="6" name="Freeform 6"/>
            <p:cNvSpPr/>
            <p:nvPr/>
          </p:nvSpPr>
          <p:spPr>
            <a:xfrm>
              <a:off x="0" y="0"/>
              <a:ext cx="732845" cy="907161"/>
            </a:xfrm>
            <a:custGeom>
              <a:avLst/>
              <a:gdLst/>
              <a:ahLst/>
              <a:cxnLst/>
              <a:rect l="l" t="t" r="r" b="b"/>
              <a:pathLst>
                <a:path w="732845" h="907161">
                  <a:moveTo>
                    <a:pt x="0" y="0"/>
                  </a:moveTo>
                  <a:lnTo>
                    <a:pt x="732845" y="0"/>
                  </a:lnTo>
                  <a:lnTo>
                    <a:pt x="732845" y="907161"/>
                  </a:lnTo>
                  <a:lnTo>
                    <a:pt x="0" y="907161"/>
                  </a:lnTo>
                  <a:close/>
                </a:path>
              </a:pathLst>
            </a:custGeom>
            <a:blipFill>
              <a:blip r:embed="rId2"/>
              <a:stretch>
                <a:fillRect t="-5202" r="-18251"/>
              </a:stretch>
            </a:blipFill>
          </p:spPr>
        </p:sp>
      </p:grpSp>
      <p:grpSp>
        <p:nvGrpSpPr>
          <p:cNvPr id="7" name="Group 7"/>
          <p:cNvGrpSpPr/>
          <p:nvPr/>
        </p:nvGrpSpPr>
        <p:grpSpPr>
          <a:xfrm rot="0">
            <a:off x="1053908" y="5694214"/>
            <a:ext cx="3820949" cy="4761017"/>
            <a:chOff x="0" y="0"/>
            <a:chExt cx="728041" cy="907162"/>
          </a:xfrm>
        </p:grpSpPr>
        <p:sp>
          <p:nvSpPr>
            <p:cNvPr id="8" name="Freeform 8"/>
            <p:cNvSpPr/>
            <p:nvPr/>
          </p:nvSpPr>
          <p:spPr>
            <a:xfrm>
              <a:off x="0" y="0"/>
              <a:ext cx="728041" cy="907161"/>
            </a:xfrm>
            <a:custGeom>
              <a:avLst/>
              <a:gdLst/>
              <a:ahLst/>
              <a:cxnLst/>
              <a:rect l="l" t="t" r="r" b="b"/>
              <a:pathLst>
                <a:path w="728041" h="907161">
                  <a:moveTo>
                    <a:pt x="0" y="0"/>
                  </a:moveTo>
                  <a:lnTo>
                    <a:pt x="728041" y="0"/>
                  </a:lnTo>
                  <a:lnTo>
                    <a:pt x="728041" y="907161"/>
                  </a:lnTo>
                  <a:lnTo>
                    <a:pt x="0" y="907161"/>
                  </a:lnTo>
                  <a:close/>
                </a:path>
              </a:pathLst>
            </a:custGeom>
            <a:blipFill>
              <a:blip r:embed="rId3"/>
              <a:stretch>
                <a:fillRect l="-42628" r="-78887"/>
              </a:stretch>
            </a:blipFill>
          </p:spPr>
        </p:sp>
      </p:grpSp>
      <p:sp>
        <p:nvSpPr>
          <p:cNvPr id="9" name="Freeform 9"/>
          <p:cNvSpPr/>
          <p:nvPr/>
        </p:nvSpPr>
        <p:spPr>
          <a:xfrm>
            <a:off x="14854046" y="1721554"/>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2422496" y="8830571"/>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028700" y="462818"/>
            <a:ext cx="3846157" cy="4761017"/>
            <a:chOff x="0" y="0"/>
            <a:chExt cx="732845" cy="907162"/>
          </a:xfrm>
        </p:grpSpPr>
        <p:sp>
          <p:nvSpPr>
            <p:cNvPr id="4" name="Freeform 4"/>
            <p:cNvSpPr/>
            <p:nvPr/>
          </p:nvSpPr>
          <p:spPr>
            <a:xfrm>
              <a:off x="0" y="0"/>
              <a:ext cx="732845" cy="907161"/>
            </a:xfrm>
            <a:custGeom>
              <a:avLst/>
              <a:gdLst/>
              <a:ahLst/>
              <a:cxnLst/>
              <a:rect l="l" t="t" r="r" b="b"/>
              <a:pathLst>
                <a:path w="732845" h="907161">
                  <a:moveTo>
                    <a:pt x="0" y="0"/>
                  </a:moveTo>
                  <a:lnTo>
                    <a:pt x="732845" y="0"/>
                  </a:lnTo>
                  <a:lnTo>
                    <a:pt x="732845" y="907161"/>
                  </a:lnTo>
                  <a:lnTo>
                    <a:pt x="0" y="907161"/>
                  </a:lnTo>
                  <a:close/>
                </a:path>
              </a:pathLst>
            </a:custGeom>
            <a:blipFill>
              <a:blip r:embed="rId2"/>
              <a:stretch>
                <a:fillRect r="-143314"/>
              </a:stretch>
            </a:blipFill>
          </p:spPr>
        </p:sp>
      </p:grpSp>
      <p:grpSp>
        <p:nvGrpSpPr>
          <p:cNvPr id="5" name="Group 5"/>
          <p:cNvGrpSpPr/>
          <p:nvPr/>
        </p:nvGrpSpPr>
        <p:grpSpPr>
          <a:xfrm rot="0">
            <a:off x="1053908" y="5525983"/>
            <a:ext cx="3820949" cy="4761017"/>
            <a:chOff x="0" y="0"/>
            <a:chExt cx="728041" cy="907162"/>
          </a:xfrm>
        </p:grpSpPr>
        <p:sp>
          <p:nvSpPr>
            <p:cNvPr id="6" name="Freeform 6"/>
            <p:cNvSpPr/>
            <p:nvPr/>
          </p:nvSpPr>
          <p:spPr>
            <a:xfrm>
              <a:off x="0" y="0"/>
              <a:ext cx="728041" cy="907161"/>
            </a:xfrm>
            <a:custGeom>
              <a:avLst/>
              <a:gdLst/>
              <a:ahLst/>
              <a:cxnLst/>
              <a:rect l="l" t="t" r="r" b="b"/>
              <a:pathLst>
                <a:path w="728041" h="907161">
                  <a:moveTo>
                    <a:pt x="0" y="0"/>
                  </a:moveTo>
                  <a:lnTo>
                    <a:pt x="728041" y="0"/>
                  </a:lnTo>
                  <a:lnTo>
                    <a:pt x="728041" y="907161"/>
                  </a:lnTo>
                  <a:lnTo>
                    <a:pt x="0" y="907161"/>
                  </a:lnTo>
                  <a:close/>
                </a:path>
              </a:pathLst>
            </a:custGeom>
            <a:blipFill>
              <a:blip r:embed="rId3"/>
              <a:stretch>
                <a:fillRect b="-29186"/>
              </a:stretch>
            </a:blipFill>
          </p:spPr>
        </p:sp>
      </p:grpSp>
      <p:sp>
        <p:nvSpPr>
          <p:cNvPr id="7" name="Freeform 7"/>
          <p:cNvSpPr/>
          <p:nvPr/>
        </p:nvSpPr>
        <p:spPr>
          <a:xfrm>
            <a:off x="14854046" y="1721554"/>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2422496" y="8830571"/>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821431" y="4113144"/>
            <a:ext cx="7868642" cy="753587"/>
          </a:xfrm>
          <a:prstGeom prst="rect">
            <a:avLst/>
          </a:prstGeom>
        </p:spPr>
        <p:txBody>
          <a:bodyPr lIns="0" tIns="0" rIns="0" bIns="0" rtlCol="0" anchor="t">
            <a:spAutoFit/>
          </a:bodyPr>
          <a:lstStyle/>
          <a:p>
            <a:pPr algn="l">
              <a:lnSpc>
                <a:spcPts val="586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Style courant (xingshu 行书) </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0" name="TextBox 10"/>
          <p:cNvSpPr txBox="1"/>
          <p:nvPr/>
        </p:nvSpPr>
        <p:spPr>
          <a:xfrm>
            <a:off x="5821431" y="5751617"/>
            <a:ext cx="9032615"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 xingshu (行书) est un style semi-cursif, avec des traits naturellement liés qui reflètent la personnalité du calligraphe. Utilisé pour l'écriture informelle, il permet une grande liberté d'expression tout en restant lisible. Il est considéré comme un équilibre parfait entre la lisibilité et l'expression artistique. Apparu durant la dynastie Han, il a atteint son apogée grâce à des calligraphes comme Wang Xizhi.</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003492" y="1028700"/>
            <a:ext cx="3846157" cy="4761017"/>
            <a:chOff x="0" y="0"/>
            <a:chExt cx="732845" cy="907162"/>
          </a:xfrm>
        </p:grpSpPr>
        <p:sp>
          <p:nvSpPr>
            <p:cNvPr id="4" name="Freeform 4"/>
            <p:cNvSpPr/>
            <p:nvPr/>
          </p:nvSpPr>
          <p:spPr>
            <a:xfrm>
              <a:off x="0" y="0"/>
              <a:ext cx="732845" cy="907161"/>
            </a:xfrm>
            <a:custGeom>
              <a:avLst/>
              <a:gdLst/>
              <a:ahLst/>
              <a:cxnLst/>
              <a:rect l="l" t="t" r="r" b="b"/>
              <a:pathLst>
                <a:path w="732845" h="907161">
                  <a:moveTo>
                    <a:pt x="0" y="0"/>
                  </a:moveTo>
                  <a:lnTo>
                    <a:pt x="732845" y="0"/>
                  </a:lnTo>
                  <a:lnTo>
                    <a:pt x="732845" y="907161"/>
                  </a:lnTo>
                  <a:lnTo>
                    <a:pt x="0" y="907161"/>
                  </a:lnTo>
                  <a:close/>
                </a:path>
              </a:pathLst>
            </a:custGeom>
            <a:blipFill>
              <a:blip r:embed="rId2"/>
              <a:stretch>
                <a:fillRect l="-15713"/>
              </a:stretch>
            </a:blipFill>
          </p:spPr>
        </p:sp>
      </p:grpSp>
      <p:grpSp>
        <p:nvGrpSpPr>
          <p:cNvPr id="5" name="Group 5"/>
          <p:cNvGrpSpPr/>
          <p:nvPr/>
        </p:nvGrpSpPr>
        <p:grpSpPr>
          <a:xfrm rot="0">
            <a:off x="1028700" y="6091864"/>
            <a:ext cx="3820949" cy="4761017"/>
            <a:chOff x="0" y="0"/>
            <a:chExt cx="728041" cy="907162"/>
          </a:xfrm>
        </p:grpSpPr>
        <p:sp>
          <p:nvSpPr>
            <p:cNvPr id="6" name="Freeform 6"/>
            <p:cNvSpPr/>
            <p:nvPr/>
          </p:nvSpPr>
          <p:spPr>
            <a:xfrm>
              <a:off x="0" y="0"/>
              <a:ext cx="728041" cy="907161"/>
            </a:xfrm>
            <a:custGeom>
              <a:avLst/>
              <a:gdLst/>
              <a:ahLst/>
              <a:cxnLst/>
              <a:rect l="l" t="t" r="r" b="b"/>
              <a:pathLst>
                <a:path w="728041" h="907161">
                  <a:moveTo>
                    <a:pt x="0" y="0"/>
                  </a:moveTo>
                  <a:lnTo>
                    <a:pt x="728041" y="0"/>
                  </a:lnTo>
                  <a:lnTo>
                    <a:pt x="728041" y="907161"/>
                  </a:lnTo>
                  <a:lnTo>
                    <a:pt x="0" y="907161"/>
                  </a:lnTo>
                  <a:close/>
                </a:path>
              </a:pathLst>
            </a:custGeom>
            <a:blipFill>
              <a:blip r:embed="rId3"/>
              <a:stretch>
                <a:fillRect l="-12301" r="-12301"/>
              </a:stretch>
            </a:blipFill>
          </p:spPr>
        </p:sp>
      </p:grpSp>
      <p:sp>
        <p:nvSpPr>
          <p:cNvPr id="7" name="Freeform 7"/>
          <p:cNvSpPr/>
          <p:nvPr/>
        </p:nvSpPr>
        <p:spPr>
          <a:xfrm>
            <a:off x="14854046" y="1721554"/>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2422496" y="8830571"/>
            <a:ext cx="4346684" cy="2363015"/>
          </a:xfrm>
          <a:custGeom>
            <a:avLst/>
            <a:gdLst/>
            <a:ahLst/>
            <a:cxnLst/>
            <a:rect l="l" t="t" r="r" b="b"/>
            <a:pathLst>
              <a:path w="4346684" h="2363015">
                <a:moveTo>
                  <a:pt x="0" y="0"/>
                </a:moveTo>
                <a:lnTo>
                  <a:pt x="4346683" y="0"/>
                </a:lnTo>
                <a:lnTo>
                  <a:pt x="4346683" y="2363015"/>
                </a:lnTo>
                <a:lnTo>
                  <a:pt x="0" y="23630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821431" y="4113144"/>
            <a:ext cx="7868642" cy="753587"/>
          </a:xfrm>
          <a:prstGeom prst="rect">
            <a:avLst/>
          </a:prstGeom>
        </p:spPr>
        <p:txBody>
          <a:bodyPr lIns="0" tIns="0" rIns="0" bIns="0" rtlCol="0" anchor="t">
            <a:spAutoFit/>
          </a:bodyPr>
          <a:lstStyle/>
          <a:p>
            <a:pPr algn="l">
              <a:lnSpc>
                <a:spcPts val="586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Le style cursif, ou caoshu (草书)</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0" name="TextBox 10"/>
          <p:cNvSpPr txBox="1"/>
          <p:nvPr/>
        </p:nvSpPr>
        <p:spPr>
          <a:xfrm>
            <a:off x="5821431" y="5751617"/>
            <a:ext cx="9032615"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 caoshu (草书), ou style cursif, est l'expression la plus libre de la calligraphie chinoise. Caractérisé par des traits fluides et liés, il privilégie l'émotion et l'expression personnelle au détriment de la lisibilité. Réservé aux calligraphes experts, il incarne la virtuosité et la créativité, atteignant son apogée sous la dynastie Tang, avec des calligraphes célèbres comme Zhang Xu et Huaisu.</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Freeform 3"/>
          <p:cNvSpPr/>
          <p:nvPr/>
        </p:nvSpPr>
        <p:spPr>
          <a:xfrm>
            <a:off x="1509239" y="-190722"/>
            <a:ext cx="14205597" cy="10661706"/>
          </a:xfrm>
          <a:custGeom>
            <a:avLst/>
            <a:gdLst/>
            <a:ahLst/>
            <a:cxnLst/>
            <a:rect l="l" t="t" r="r" b="b"/>
            <a:pathLst>
              <a:path w="14205597" h="10661706">
                <a:moveTo>
                  <a:pt x="0" y="0"/>
                </a:moveTo>
                <a:lnTo>
                  <a:pt x="14205597" y="0"/>
                </a:lnTo>
                <a:lnTo>
                  <a:pt x="14205597" y="10661706"/>
                </a:lnTo>
                <a:lnTo>
                  <a:pt x="0" y="10661706"/>
                </a:lnTo>
                <a:lnTo>
                  <a:pt x="0" y="0"/>
                </a:lnTo>
                <a:close/>
              </a:path>
            </a:pathLst>
          </a:custGeom>
          <a:blipFill>
            <a:blip r:embed="rId2"/>
            <a:stretch>
              <a:fillRect/>
            </a:stretch>
          </a:blipFill>
        </p:spPr>
      </p:sp>
      <p:sp>
        <p:nvSpPr>
          <p:cNvPr id="4" name="Freeform 4"/>
          <p:cNvSpPr/>
          <p:nvPr/>
        </p:nvSpPr>
        <p:spPr>
          <a:xfrm flipH="1">
            <a:off x="14848227" y="0"/>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180914" y="8197259"/>
            <a:ext cx="5147441" cy="2798336"/>
          </a:xfrm>
          <a:custGeom>
            <a:avLst/>
            <a:gdLst/>
            <a:ahLst/>
            <a:cxnLst/>
            <a:rect l="l" t="t" r="r" b="b"/>
            <a:pathLst>
              <a:path w="5147441" h="2798336">
                <a:moveTo>
                  <a:pt x="5147441" y="0"/>
                </a:moveTo>
                <a:lnTo>
                  <a:pt x="0" y="0"/>
                </a:lnTo>
                <a:lnTo>
                  <a:pt x="0" y="2798336"/>
                </a:lnTo>
                <a:lnTo>
                  <a:pt x="5147441" y="2798336"/>
                </a:lnTo>
                <a:lnTo>
                  <a:pt x="5147441"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3147737" y="1866275"/>
            <a:ext cx="4388188" cy="7949967"/>
            <a:chOff x="0" y="0"/>
            <a:chExt cx="1081916" cy="1960079"/>
          </a:xfrm>
        </p:grpSpPr>
        <p:sp>
          <p:nvSpPr>
            <p:cNvPr id="4" name="Freeform 4"/>
            <p:cNvSpPr/>
            <p:nvPr/>
          </p:nvSpPr>
          <p:spPr>
            <a:xfrm>
              <a:off x="0" y="0"/>
              <a:ext cx="1081916" cy="1960079"/>
            </a:xfrm>
            <a:custGeom>
              <a:avLst/>
              <a:gdLst/>
              <a:ahLst/>
              <a:cxnLst/>
              <a:rect l="l" t="t" r="r" b="b"/>
              <a:pathLst>
                <a:path w="1081916" h="1960079">
                  <a:moveTo>
                    <a:pt x="0" y="0"/>
                  </a:moveTo>
                  <a:lnTo>
                    <a:pt x="1081916" y="0"/>
                  </a:lnTo>
                  <a:lnTo>
                    <a:pt x="1081916" y="1960079"/>
                  </a:lnTo>
                  <a:lnTo>
                    <a:pt x="0" y="1960079"/>
                  </a:lnTo>
                  <a:close/>
                </a:path>
              </a:pathLst>
            </a:custGeom>
            <a:blipFill>
              <a:blip r:embed="rId2"/>
              <a:stretch>
                <a:fillRect l="-5903" r="-17743"/>
              </a:stretch>
            </a:blipFill>
          </p:spPr>
        </p:sp>
      </p:grpSp>
      <p:grpSp>
        <p:nvGrpSpPr>
          <p:cNvPr id="5" name="Group 5"/>
          <p:cNvGrpSpPr/>
          <p:nvPr/>
        </p:nvGrpSpPr>
        <p:grpSpPr>
          <a:xfrm rot="0">
            <a:off x="9144000" y="1866275"/>
            <a:ext cx="3514717" cy="7949967"/>
            <a:chOff x="0" y="0"/>
            <a:chExt cx="866560" cy="1960079"/>
          </a:xfrm>
        </p:grpSpPr>
        <p:sp>
          <p:nvSpPr>
            <p:cNvPr id="6" name="Freeform 6"/>
            <p:cNvSpPr/>
            <p:nvPr/>
          </p:nvSpPr>
          <p:spPr>
            <a:xfrm>
              <a:off x="0" y="0"/>
              <a:ext cx="866560" cy="1960079"/>
            </a:xfrm>
            <a:custGeom>
              <a:avLst/>
              <a:gdLst/>
              <a:ahLst/>
              <a:cxnLst/>
              <a:rect l="l" t="t" r="r" b="b"/>
              <a:pathLst>
                <a:path w="866560" h="1960079">
                  <a:moveTo>
                    <a:pt x="0" y="0"/>
                  </a:moveTo>
                  <a:lnTo>
                    <a:pt x="866560" y="0"/>
                  </a:lnTo>
                  <a:lnTo>
                    <a:pt x="866560" y="1960079"/>
                  </a:lnTo>
                  <a:lnTo>
                    <a:pt x="0" y="1960079"/>
                  </a:lnTo>
                  <a:close/>
                </a:path>
              </a:pathLst>
            </a:custGeom>
            <a:blipFill>
              <a:blip r:embed="rId3"/>
              <a:stretch>
                <a:fillRect l="-119778" r="-119778"/>
              </a:stretch>
            </a:blipFill>
          </p:spPr>
        </p:sp>
      </p:grpSp>
      <p:sp>
        <p:nvSpPr>
          <p:cNvPr id="7" name="Freeform 7"/>
          <p:cNvSpPr/>
          <p:nvPr/>
        </p:nvSpPr>
        <p:spPr>
          <a:xfrm>
            <a:off x="14066610" y="-668283"/>
            <a:ext cx="5291230" cy="2876505"/>
          </a:xfrm>
          <a:custGeom>
            <a:avLst/>
            <a:gdLst/>
            <a:ahLst/>
            <a:cxnLst/>
            <a:rect l="l" t="t" r="r" b="b"/>
            <a:pathLst>
              <a:path w="5291230" h="2876505">
                <a:moveTo>
                  <a:pt x="0" y="0"/>
                </a:moveTo>
                <a:lnTo>
                  <a:pt x="5291229" y="0"/>
                </a:lnTo>
                <a:lnTo>
                  <a:pt x="5291229" y="2876505"/>
                </a:lnTo>
                <a:lnTo>
                  <a:pt x="0" y="28765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2200101" y="8547252"/>
            <a:ext cx="5291230" cy="2876505"/>
          </a:xfrm>
          <a:custGeom>
            <a:avLst/>
            <a:gdLst/>
            <a:ahLst/>
            <a:cxnLst/>
            <a:rect l="l" t="t" r="r" b="b"/>
            <a:pathLst>
              <a:path w="5291230" h="2876505">
                <a:moveTo>
                  <a:pt x="0" y="0"/>
                </a:moveTo>
                <a:lnTo>
                  <a:pt x="5291230" y="0"/>
                </a:lnTo>
                <a:lnTo>
                  <a:pt x="5291230" y="2876505"/>
                </a:lnTo>
                <a:lnTo>
                  <a:pt x="0" y="28765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8303777" y="1028700"/>
            <a:ext cx="2597581" cy="1412140"/>
          </a:xfrm>
          <a:custGeom>
            <a:avLst/>
            <a:gdLst/>
            <a:ahLst/>
            <a:cxnLst/>
            <a:rect l="l" t="t" r="r" b="b"/>
            <a:pathLst>
              <a:path w="2597581" h="1412140">
                <a:moveTo>
                  <a:pt x="0" y="0"/>
                </a:moveTo>
                <a:lnTo>
                  <a:pt x="2597582" y="0"/>
                </a:lnTo>
                <a:lnTo>
                  <a:pt x="2597582" y="1412140"/>
                </a:lnTo>
                <a:lnTo>
                  <a:pt x="0" y="14121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819816" y="5336352"/>
            <a:ext cx="7321415" cy="1544267"/>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La calligraphie chinoise transcende l'écriture pour devenir un art visuel majeur. Elle exige une maîtrise technique rigoureuse et exprime l'individualité du calligraphe à travers des styles variés. Les grands calligraphes ont marqué l'histoire par leurs œuvres uniques.</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11" name="TextBox 11"/>
          <p:cNvSpPr txBox="1"/>
          <p:nvPr/>
        </p:nvSpPr>
        <p:spPr>
          <a:xfrm>
            <a:off x="545752" y="4253583"/>
            <a:ext cx="8112473" cy="626745"/>
          </a:xfrm>
          <a:prstGeom prst="rect">
            <a:avLst/>
          </a:prstGeom>
        </p:spPr>
        <p:txBody>
          <a:bodyPr lIns="0" tIns="0" rIns="0" bIns="0" rtlCol="0" anchor="t">
            <a:spAutoFit/>
          </a:bodyPr>
          <a:lstStyle/>
          <a:p>
            <a:pPr algn="l">
              <a:lnSpc>
                <a:spcPts val="4815"/>
              </a:lnSpc>
            </a:pPr>
            <a:r>
              <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rPr>
              <a:t>1-La calligraphie : un art à part entière</a:t>
            </a:r>
            <a:endPar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2" name="TextBox 12"/>
          <p:cNvSpPr txBox="1"/>
          <p:nvPr/>
        </p:nvSpPr>
        <p:spPr>
          <a:xfrm>
            <a:off x="445514" y="532079"/>
            <a:ext cx="8791295" cy="888468"/>
          </a:xfrm>
          <a:prstGeom prst="rect">
            <a:avLst/>
          </a:prstGeom>
        </p:spPr>
        <p:txBody>
          <a:bodyPr lIns="0" tIns="0" rIns="0" bIns="0" rtlCol="0" anchor="t">
            <a:spAutoFit/>
          </a:bodyPr>
          <a:lstStyle/>
          <a:p>
            <a:pPr algn="l">
              <a:lnSpc>
                <a:spcPts val="720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II- L’écriture etLes Arts</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TextBox 3"/>
          <p:cNvSpPr txBox="1"/>
          <p:nvPr/>
        </p:nvSpPr>
        <p:spPr>
          <a:xfrm>
            <a:off x="431572" y="3996907"/>
            <a:ext cx="9995255" cy="645795"/>
          </a:xfrm>
          <a:prstGeom prst="rect">
            <a:avLst/>
          </a:prstGeom>
        </p:spPr>
        <p:txBody>
          <a:bodyPr lIns="0" tIns="0" rIns="0" bIns="0" rtlCol="0" anchor="t">
            <a:spAutoFit/>
          </a:bodyPr>
          <a:lstStyle/>
          <a:p>
            <a:pPr algn="l">
              <a:lnSpc>
                <a:spcPts val="5040"/>
              </a:lnSpc>
            </a:pPr>
            <a:r>
              <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rPr>
              <a:t>2-L'écriture et la peinture : une union harmonieuse</a:t>
            </a:r>
            <a:endPar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4" name="Freeform 4"/>
          <p:cNvSpPr/>
          <p:nvPr/>
        </p:nvSpPr>
        <p:spPr>
          <a:xfrm flipH="1">
            <a:off x="-2430273" y="8108445"/>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rot="0">
            <a:off x="10268318" y="622752"/>
            <a:ext cx="7526261" cy="4349183"/>
            <a:chOff x="0" y="0"/>
            <a:chExt cx="1434049" cy="828691"/>
          </a:xfrm>
        </p:grpSpPr>
        <p:sp>
          <p:nvSpPr>
            <p:cNvPr id="6" name="Freeform 6"/>
            <p:cNvSpPr/>
            <p:nvPr/>
          </p:nvSpPr>
          <p:spPr>
            <a:xfrm>
              <a:off x="0" y="0"/>
              <a:ext cx="1434049" cy="828691"/>
            </a:xfrm>
            <a:custGeom>
              <a:avLst/>
              <a:gdLst/>
              <a:ahLst/>
              <a:cxnLst/>
              <a:rect l="l" t="t" r="r" b="b"/>
              <a:pathLst>
                <a:path w="1434049" h="828691">
                  <a:moveTo>
                    <a:pt x="0" y="0"/>
                  </a:moveTo>
                  <a:lnTo>
                    <a:pt x="1434049" y="0"/>
                  </a:lnTo>
                  <a:lnTo>
                    <a:pt x="1434049" y="828691"/>
                  </a:lnTo>
                  <a:lnTo>
                    <a:pt x="0" y="828691"/>
                  </a:lnTo>
                  <a:close/>
                </a:path>
              </a:pathLst>
            </a:custGeom>
            <a:blipFill>
              <a:blip r:embed="rId4"/>
              <a:stretch>
                <a:fillRect t="-6241" b="-6241"/>
              </a:stretch>
            </a:blipFill>
          </p:spPr>
        </p:sp>
      </p:grpSp>
      <p:grpSp>
        <p:nvGrpSpPr>
          <p:cNvPr id="7" name="Group 7"/>
          <p:cNvGrpSpPr/>
          <p:nvPr/>
        </p:nvGrpSpPr>
        <p:grpSpPr>
          <a:xfrm rot="0">
            <a:off x="10268318" y="5315064"/>
            <a:ext cx="7526261" cy="4349183"/>
            <a:chOff x="0" y="0"/>
            <a:chExt cx="1434049" cy="828691"/>
          </a:xfrm>
        </p:grpSpPr>
        <p:sp>
          <p:nvSpPr>
            <p:cNvPr id="8" name="Freeform 8"/>
            <p:cNvSpPr/>
            <p:nvPr/>
          </p:nvSpPr>
          <p:spPr>
            <a:xfrm>
              <a:off x="0" y="0"/>
              <a:ext cx="1434049" cy="828691"/>
            </a:xfrm>
            <a:custGeom>
              <a:avLst/>
              <a:gdLst/>
              <a:ahLst/>
              <a:cxnLst/>
              <a:rect l="l" t="t" r="r" b="b"/>
              <a:pathLst>
                <a:path w="1434049" h="828691">
                  <a:moveTo>
                    <a:pt x="0" y="0"/>
                  </a:moveTo>
                  <a:lnTo>
                    <a:pt x="1434049" y="0"/>
                  </a:lnTo>
                  <a:lnTo>
                    <a:pt x="1434049" y="828691"/>
                  </a:lnTo>
                  <a:lnTo>
                    <a:pt x="0" y="828691"/>
                  </a:lnTo>
                  <a:close/>
                </a:path>
              </a:pathLst>
            </a:custGeom>
            <a:blipFill>
              <a:blip r:embed="rId5"/>
              <a:stretch>
                <a:fillRect b="-246099"/>
              </a:stretch>
            </a:blipFill>
          </p:spPr>
        </p:sp>
      </p:grpSp>
      <p:sp>
        <p:nvSpPr>
          <p:cNvPr id="9" name="Freeform 9"/>
          <p:cNvSpPr/>
          <p:nvPr/>
        </p:nvSpPr>
        <p:spPr>
          <a:xfrm flipH="1">
            <a:off x="15538537" y="-1140520"/>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flipH="1">
            <a:off x="8253486" y="8482740"/>
            <a:ext cx="4346684" cy="2363015"/>
          </a:xfrm>
          <a:custGeom>
            <a:avLst/>
            <a:gdLst/>
            <a:ahLst/>
            <a:cxnLst/>
            <a:rect l="l" t="t" r="r" b="b"/>
            <a:pathLst>
              <a:path w="4346684" h="2363015">
                <a:moveTo>
                  <a:pt x="4346683" y="0"/>
                </a:moveTo>
                <a:lnTo>
                  <a:pt x="0" y="0"/>
                </a:lnTo>
                <a:lnTo>
                  <a:pt x="0" y="2363016"/>
                </a:lnTo>
                <a:lnTo>
                  <a:pt x="4346683" y="2363016"/>
                </a:lnTo>
                <a:lnTo>
                  <a:pt x="43466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1290452" y="5105400"/>
            <a:ext cx="7853548"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Calligraphie et peinture chinoise partagent des principes esthétiques, intégrant souvent des inscriptions calligraphiques dans les peintures. Les paysages (shan shui) illustrent parfaitement cette union, où calligraphie et peinture se complètent, enrichissant l'expérience esthétique.</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3147737" y="1866275"/>
            <a:ext cx="4388188" cy="7949967"/>
            <a:chOff x="0" y="0"/>
            <a:chExt cx="1081916" cy="1960079"/>
          </a:xfrm>
        </p:grpSpPr>
        <p:sp>
          <p:nvSpPr>
            <p:cNvPr id="4" name="Freeform 4"/>
            <p:cNvSpPr/>
            <p:nvPr/>
          </p:nvSpPr>
          <p:spPr>
            <a:xfrm>
              <a:off x="0" y="0"/>
              <a:ext cx="1081916" cy="1960079"/>
            </a:xfrm>
            <a:custGeom>
              <a:avLst/>
              <a:gdLst/>
              <a:ahLst/>
              <a:cxnLst/>
              <a:rect l="l" t="t" r="r" b="b"/>
              <a:pathLst>
                <a:path w="1081916" h="1960079">
                  <a:moveTo>
                    <a:pt x="0" y="0"/>
                  </a:moveTo>
                  <a:lnTo>
                    <a:pt x="1081916" y="0"/>
                  </a:lnTo>
                  <a:lnTo>
                    <a:pt x="1081916" y="1960079"/>
                  </a:lnTo>
                  <a:lnTo>
                    <a:pt x="0" y="1960079"/>
                  </a:lnTo>
                  <a:close/>
                </a:path>
              </a:pathLst>
            </a:custGeom>
            <a:blipFill>
              <a:blip r:embed="rId2"/>
              <a:stretch>
                <a:fillRect l="-43505" r="-43505"/>
              </a:stretch>
            </a:blipFill>
          </p:spPr>
        </p:sp>
      </p:grpSp>
      <p:grpSp>
        <p:nvGrpSpPr>
          <p:cNvPr id="5" name="Group 5"/>
          <p:cNvGrpSpPr/>
          <p:nvPr/>
        </p:nvGrpSpPr>
        <p:grpSpPr>
          <a:xfrm rot="0">
            <a:off x="9144000" y="1866275"/>
            <a:ext cx="3514717" cy="7949967"/>
            <a:chOff x="0" y="0"/>
            <a:chExt cx="866560" cy="1960079"/>
          </a:xfrm>
        </p:grpSpPr>
        <p:sp>
          <p:nvSpPr>
            <p:cNvPr id="6" name="Freeform 6"/>
            <p:cNvSpPr/>
            <p:nvPr/>
          </p:nvSpPr>
          <p:spPr>
            <a:xfrm>
              <a:off x="0" y="0"/>
              <a:ext cx="866560" cy="1960079"/>
            </a:xfrm>
            <a:custGeom>
              <a:avLst/>
              <a:gdLst/>
              <a:ahLst/>
              <a:cxnLst/>
              <a:rect l="l" t="t" r="r" b="b"/>
              <a:pathLst>
                <a:path w="866560" h="1960079">
                  <a:moveTo>
                    <a:pt x="0" y="0"/>
                  </a:moveTo>
                  <a:lnTo>
                    <a:pt x="866560" y="0"/>
                  </a:lnTo>
                  <a:lnTo>
                    <a:pt x="866560" y="1960079"/>
                  </a:lnTo>
                  <a:lnTo>
                    <a:pt x="0" y="1960079"/>
                  </a:lnTo>
                  <a:close/>
                </a:path>
              </a:pathLst>
            </a:custGeom>
            <a:blipFill>
              <a:blip r:embed="rId3"/>
              <a:stretch>
                <a:fillRect l="-7537" r="-7537"/>
              </a:stretch>
            </a:blipFill>
          </p:spPr>
        </p:sp>
      </p:grpSp>
      <p:sp>
        <p:nvSpPr>
          <p:cNvPr id="7" name="Freeform 7"/>
          <p:cNvSpPr/>
          <p:nvPr/>
        </p:nvSpPr>
        <p:spPr>
          <a:xfrm>
            <a:off x="14066610" y="-668283"/>
            <a:ext cx="5291230" cy="2876505"/>
          </a:xfrm>
          <a:custGeom>
            <a:avLst/>
            <a:gdLst/>
            <a:ahLst/>
            <a:cxnLst/>
            <a:rect l="l" t="t" r="r" b="b"/>
            <a:pathLst>
              <a:path w="5291230" h="2876505">
                <a:moveTo>
                  <a:pt x="0" y="0"/>
                </a:moveTo>
                <a:lnTo>
                  <a:pt x="5291229" y="0"/>
                </a:lnTo>
                <a:lnTo>
                  <a:pt x="5291229" y="2876505"/>
                </a:lnTo>
                <a:lnTo>
                  <a:pt x="0" y="28765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2200101" y="8547252"/>
            <a:ext cx="5291230" cy="2876505"/>
          </a:xfrm>
          <a:custGeom>
            <a:avLst/>
            <a:gdLst/>
            <a:ahLst/>
            <a:cxnLst/>
            <a:rect l="l" t="t" r="r" b="b"/>
            <a:pathLst>
              <a:path w="5291230" h="2876505">
                <a:moveTo>
                  <a:pt x="0" y="0"/>
                </a:moveTo>
                <a:lnTo>
                  <a:pt x="5291230" y="0"/>
                </a:lnTo>
                <a:lnTo>
                  <a:pt x="5291230" y="2876505"/>
                </a:lnTo>
                <a:lnTo>
                  <a:pt x="0" y="28765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5151561" y="1930041"/>
            <a:ext cx="2597581" cy="1412140"/>
          </a:xfrm>
          <a:custGeom>
            <a:avLst/>
            <a:gdLst/>
            <a:ahLst/>
            <a:cxnLst/>
            <a:rect l="l" t="t" r="r" b="b"/>
            <a:pathLst>
              <a:path w="2597581" h="1412140">
                <a:moveTo>
                  <a:pt x="0" y="0"/>
                </a:moveTo>
                <a:lnTo>
                  <a:pt x="2597581" y="0"/>
                </a:lnTo>
                <a:lnTo>
                  <a:pt x="2597581" y="1412140"/>
                </a:lnTo>
                <a:lnTo>
                  <a:pt x="0" y="14121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566538" y="3619905"/>
            <a:ext cx="6004837" cy="1283970"/>
          </a:xfrm>
          <a:prstGeom prst="rect">
            <a:avLst/>
          </a:prstGeom>
        </p:spPr>
        <p:txBody>
          <a:bodyPr lIns="0" tIns="0" rIns="0" bIns="0" rtlCol="0" anchor="t">
            <a:spAutoFit/>
          </a:bodyPr>
          <a:lstStyle/>
          <a:p>
            <a:pPr algn="l">
              <a:lnSpc>
                <a:spcPts val="5040"/>
              </a:lnSpc>
            </a:pPr>
            <a:r>
              <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rPr>
              <a:t>3- L'écriture et la sculpture : </a:t>
            </a:r>
            <a:endPar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endParaRPr>
          </a:p>
          <a:p>
            <a:pPr algn="ctr">
              <a:lnSpc>
                <a:spcPts val="5040"/>
              </a:lnSpc>
            </a:pPr>
            <a:r>
              <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rPr>
              <a:t>une dimension historique</a:t>
            </a:r>
            <a:endPar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11" name="TextBox 11"/>
          <p:cNvSpPr txBox="1"/>
          <p:nvPr/>
        </p:nvSpPr>
        <p:spPr>
          <a:xfrm>
            <a:off x="445514" y="5153533"/>
            <a:ext cx="7853548" cy="1544267"/>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Les inscriptions calligraphiques sur les sculptures, notamment bouddhistes et stèles, ajoutent une dimension historique et culturelle. Elles fournissent des informations sur l'origine et la signification des œuvres, renforçant leur expression spirituelle ou émotionnelle.</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13514961" y="162190"/>
            <a:ext cx="4281257" cy="4532367"/>
            <a:chOff x="0" y="0"/>
            <a:chExt cx="925399" cy="979677"/>
          </a:xfrm>
        </p:grpSpPr>
        <p:sp>
          <p:nvSpPr>
            <p:cNvPr id="4" name="Freeform 4"/>
            <p:cNvSpPr/>
            <p:nvPr/>
          </p:nvSpPr>
          <p:spPr>
            <a:xfrm>
              <a:off x="0" y="0"/>
              <a:ext cx="925399" cy="979677"/>
            </a:xfrm>
            <a:custGeom>
              <a:avLst/>
              <a:gdLst/>
              <a:ahLst/>
              <a:cxnLst/>
              <a:rect l="l" t="t" r="r" b="b"/>
              <a:pathLst>
                <a:path w="925399" h="979677">
                  <a:moveTo>
                    <a:pt x="0" y="0"/>
                  </a:moveTo>
                  <a:lnTo>
                    <a:pt x="925399" y="0"/>
                  </a:lnTo>
                  <a:lnTo>
                    <a:pt x="925399" y="979677"/>
                  </a:lnTo>
                  <a:lnTo>
                    <a:pt x="0" y="979677"/>
                  </a:lnTo>
                  <a:close/>
                </a:path>
              </a:pathLst>
            </a:custGeom>
            <a:blipFill>
              <a:blip r:embed="rId2"/>
              <a:stretch>
                <a:fillRect l="-1406" t="-18768" b="-25003"/>
              </a:stretch>
            </a:blipFill>
          </p:spPr>
        </p:sp>
      </p:grpSp>
      <p:sp>
        <p:nvSpPr>
          <p:cNvPr id="5" name="Freeform 5"/>
          <p:cNvSpPr/>
          <p:nvPr/>
        </p:nvSpPr>
        <p:spPr>
          <a:xfrm flipH="1">
            <a:off x="14183631" y="-1967849"/>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flipH="1">
            <a:off x="-447648" y="-527103"/>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rot="0">
            <a:off x="13550825" y="5325921"/>
            <a:ext cx="4281257" cy="4532367"/>
            <a:chOff x="0" y="0"/>
            <a:chExt cx="925399" cy="979677"/>
          </a:xfrm>
        </p:grpSpPr>
        <p:sp>
          <p:nvSpPr>
            <p:cNvPr id="10" name="Freeform 10"/>
            <p:cNvSpPr/>
            <p:nvPr/>
          </p:nvSpPr>
          <p:spPr>
            <a:xfrm>
              <a:off x="0" y="0"/>
              <a:ext cx="925399" cy="979677"/>
            </a:xfrm>
            <a:custGeom>
              <a:avLst/>
              <a:gdLst/>
              <a:ahLst/>
              <a:cxnLst/>
              <a:rect l="l" t="t" r="r" b="b"/>
              <a:pathLst>
                <a:path w="925399" h="979677">
                  <a:moveTo>
                    <a:pt x="0" y="0"/>
                  </a:moveTo>
                  <a:lnTo>
                    <a:pt x="925399" y="0"/>
                  </a:lnTo>
                  <a:lnTo>
                    <a:pt x="925399" y="979677"/>
                  </a:lnTo>
                  <a:lnTo>
                    <a:pt x="0" y="979677"/>
                  </a:lnTo>
                  <a:close/>
                </a:path>
              </a:pathLst>
            </a:custGeom>
            <a:blipFill>
              <a:blip r:embed="rId5"/>
              <a:stretch>
                <a:fillRect l="-2932" r="-2932"/>
              </a:stretch>
            </a:blipFill>
          </p:spPr>
        </p:sp>
      </p:grpSp>
      <p:sp>
        <p:nvSpPr>
          <p:cNvPr id="11" name="Freeform 11"/>
          <p:cNvSpPr/>
          <p:nvPr/>
        </p:nvSpPr>
        <p:spPr>
          <a:xfrm flipH="1">
            <a:off x="11170593" y="8517319"/>
            <a:ext cx="4346684" cy="2363015"/>
          </a:xfrm>
          <a:custGeom>
            <a:avLst/>
            <a:gdLst/>
            <a:ahLst/>
            <a:cxnLst/>
            <a:rect l="l" t="t" r="r" b="b"/>
            <a:pathLst>
              <a:path w="4346684" h="2363015">
                <a:moveTo>
                  <a:pt x="4346683" y="0"/>
                </a:moveTo>
                <a:lnTo>
                  <a:pt x="0" y="0"/>
                </a:lnTo>
                <a:lnTo>
                  <a:pt x="0" y="2363015"/>
                </a:lnTo>
                <a:lnTo>
                  <a:pt x="4346683" y="2363015"/>
                </a:lnTo>
                <a:lnTo>
                  <a:pt x="434668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4363967" y="4669518"/>
            <a:ext cx="7853548"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En Chine, la calligraphie s’invite souvent sur les édifices traditionnels. On la voit sur les poutres, les colonnes ou les plaques des temples, palais et maisons anciennes. Elles portent des vœux de chance, de longévité ou d’harmonie, tout en reflétant des idéaux confucéens, taoïstes ou bouddhistes.</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
        <p:nvSpPr>
          <p:cNvPr id="13" name="TextBox 13"/>
          <p:cNvSpPr txBox="1"/>
          <p:nvPr/>
        </p:nvSpPr>
        <p:spPr>
          <a:xfrm>
            <a:off x="2962720" y="3576904"/>
            <a:ext cx="10381215" cy="1236345"/>
          </a:xfrm>
          <a:prstGeom prst="rect">
            <a:avLst/>
          </a:prstGeom>
        </p:spPr>
        <p:txBody>
          <a:bodyPr lIns="0" tIns="0" rIns="0" bIns="0" rtlCol="0" anchor="t">
            <a:spAutoFit/>
          </a:bodyPr>
          <a:lstStyle/>
          <a:p>
            <a:pPr algn="l">
              <a:lnSpc>
                <a:spcPts val="4815"/>
              </a:lnSpc>
            </a:pPr>
            <a:r>
              <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rPr>
              <a:t>1- Calligraphie dans la décoration des bâtiments</a:t>
            </a:r>
            <a:endPar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endParaRPr>
          </a:p>
          <a:p>
            <a:pPr algn="l">
              <a:lnSpc>
                <a:spcPts val="4815"/>
              </a:lnSpc>
            </a:pPr>
          </a:p>
        </p:txBody>
      </p:sp>
      <p:sp>
        <p:nvSpPr>
          <p:cNvPr id="14" name="TextBox 14"/>
          <p:cNvSpPr txBox="1"/>
          <p:nvPr/>
        </p:nvSpPr>
        <p:spPr>
          <a:xfrm>
            <a:off x="13846941" y="4669518"/>
            <a:ext cx="3617298" cy="249360"/>
          </a:xfrm>
          <a:prstGeom prst="rect">
            <a:avLst/>
          </a:prstGeom>
        </p:spPr>
        <p:txBody>
          <a:bodyPr lIns="0" tIns="0" rIns="0" bIns="0" rtlCol="0" anchor="t">
            <a:spAutoFit/>
          </a:bodyPr>
          <a:lstStyle/>
          <a:p>
            <a:pPr algn="ctr">
              <a:lnSpc>
                <a:spcPts val="2005"/>
              </a:lnSpc>
              <a:spcBef>
                <a:spcPct val="0"/>
              </a:spcBef>
            </a:pPr>
            <a:r>
              <a:rPr lang="en-US" sz="1430">
                <a:solidFill>
                  <a:srgbClr val="000000"/>
                </a:solidFill>
                <a:latin typeface="Poppins" panose="00000500000000000000"/>
                <a:ea typeface="Poppins" panose="00000500000000000000"/>
                <a:cs typeface="Poppins" panose="00000500000000000000"/>
                <a:sym typeface="Poppins" panose="00000500000000000000"/>
              </a:rPr>
              <a:t>Les couplets calligraphiés (对联, duìlián)</a:t>
            </a:r>
            <a:endParaRPr lang="en-US" sz="1430">
              <a:solidFill>
                <a:srgbClr val="000000"/>
              </a:solidFill>
              <a:latin typeface="Poppins" panose="00000500000000000000"/>
              <a:ea typeface="Poppins" panose="00000500000000000000"/>
              <a:cs typeface="Poppins" panose="00000500000000000000"/>
              <a:sym typeface="Poppins" panose="00000500000000000000"/>
            </a:endParaRPr>
          </a:p>
        </p:txBody>
      </p:sp>
      <p:sp>
        <p:nvSpPr>
          <p:cNvPr id="15" name="TextBox 15"/>
          <p:cNvSpPr txBox="1"/>
          <p:nvPr/>
        </p:nvSpPr>
        <p:spPr>
          <a:xfrm>
            <a:off x="13514961" y="9829713"/>
            <a:ext cx="4352985" cy="249360"/>
          </a:xfrm>
          <a:prstGeom prst="rect">
            <a:avLst/>
          </a:prstGeom>
        </p:spPr>
        <p:txBody>
          <a:bodyPr lIns="0" tIns="0" rIns="0" bIns="0" rtlCol="0" anchor="t">
            <a:spAutoFit/>
          </a:bodyPr>
          <a:lstStyle/>
          <a:p>
            <a:pPr algn="ctr">
              <a:lnSpc>
                <a:spcPts val="2005"/>
              </a:lnSpc>
              <a:spcBef>
                <a:spcPct val="0"/>
              </a:spcBef>
            </a:pPr>
            <a:r>
              <a:rPr lang="en-US" sz="1430">
                <a:solidFill>
                  <a:srgbClr val="000000"/>
                </a:solidFill>
                <a:latin typeface="Poppins" panose="00000500000000000000"/>
                <a:ea typeface="Poppins" panose="00000500000000000000"/>
                <a:cs typeface="Poppins" panose="00000500000000000000"/>
                <a:sym typeface="Poppins" panose="00000500000000000000"/>
              </a:rPr>
              <a:t>Des stèles gravées dans les jardins ou les cours </a:t>
            </a:r>
            <a:endParaRPr lang="en-US" sz="1430">
              <a:solidFill>
                <a:srgbClr val="000000"/>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387757" y="3009693"/>
            <a:ext cx="2354461" cy="166810"/>
          </a:xfrm>
          <a:prstGeom prst="rect">
            <a:avLst/>
          </a:prstGeom>
        </p:spPr>
        <p:txBody>
          <a:bodyPr lIns="0" tIns="0" rIns="0" bIns="0" rtlCol="0" anchor="t">
            <a:spAutoFit/>
          </a:bodyPr>
          <a:lstStyle/>
          <a:p>
            <a:pPr algn="ctr">
              <a:lnSpc>
                <a:spcPts val="1305"/>
              </a:lnSpc>
              <a:spcBef>
                <a:spcPct val="0"/>
              </a:spcBef>
            </a:pPr>
            <a:r>
              <a:rPr lang="en-US" sz="930">
                <a:solidFill>
                  <a:srgbClr val="000000"/>
                </a:solidFill>
                <a:latin typeface="Poppins" panose="00000500000000000000"/>
                <a:ea typeface="Poppins" panose="00000500000000000000"/>
                <a:cs typeface="Poppins" panose="00000500000000000000"/>
                <a:sym typeface="Poppins" panose="00000500000000000000"/>
              </a:rPr>
              <a:t>Les couplets calligraphiés (对联, duìlián)</a:t>
            </a:r>
            <a:endParaRPr lang="en-US" sz="930">
              <a:solidFill>
                <a:srgbClr val="000000"/>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221094" y="532079"/>
            <a:ext cx="9361836" cy="888468"/>
          </a:xfrm>
          <a:prstGeom prst="rect">
            <a:avLst/>
          </a:prstGeom>
        </p:spPr>
        <p:txBody>
          <a:bodyPr lIns="0" tIns="0" rIns="0" bIns="0" rtlCol="0" anchor="t">
            <a:spAutoFit/>
          </a:bodyPr>
          <a:lstStyle/>
          <a:p>
            <a:pPr algn="l">
              <a:lnSpc>
                <a:spcPts val="7205"/>
              </a:lnSpc>
            </a:pPr>
            <a:r>
              <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rPr>
              <a:t>III- L’écriture et l’Architecture</a:t>
            </a:r>
            <a:endParaRPr lang="en-US" sz="51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pic>
        <p:nvPicPr>
          <p:cNvPr id="18" name="Image 17" descr="pu-ru_calligraphy-couplet-in-kaishu_AID276643"/>
          <p:cNvPicPr>
            <a:picLocks noChangeAspect="1"/>
          </p:cNvPicPr>
          <p:nvPr/>
        </p:nvPicPr>
        <p:blipFill>
          <a:blip r:embed="rId6"/>
          <a:stretch>
            <a:fillRect/>
          </a:stretch>
        </p:blipFill>
        <p:spPr>
          <a:xfrm>
            <a:off x="337820" y="3265170"/>
            <a:ext cx="2454275" cy="70859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1333" b="-11333"/>
            </a:stretch>
          </a:blipFill>
        </p:spPr>
      </p:sp>
      <p:grpSp>
        <p:nvGrpSpPr>
          <p:cNvPr id="3" name="Group 3"/>
          <p:cNvGrpSpPr/>
          <p:nvPr/>
        </p:nvGrpSpPr>
        <p:grpSpPr>
          <a:xfrm rot="0">
            <a:off x="0" y="-498031"/>
            <a:ext cx="3877899" cy="7591801"/>
            <a:chOff x="0" y="0"/>
            <a:chExt cx="1001210" cy="1960079"/>
          </a:xfrm>
        </p:grpSpPr>
        <p:sp>
          <p:nvSpPr>
            <p:cNvPr id="4" name="Freeform 4"/>
            <p:cNvSpPr/>
            <p:nvPr/>
          </p:nvSpPr>
          <p:spPr>
            <a:xfrm>
              <a:off x="0" y="0"/>
              <a:ext cx="1001210" cy="1960079"/>
            </a:xfrm>
            <a:custGeom>
              <a:avLst/>
              <a:gdLst/>
              <a:ahLst/>
              <a:cxnLst/>
              <a:rect l="l" t="t" r="r" b="b"/>
              <a:pathLst>
                <a:path w="1001210" h="1960079">
                  <a:moveTo>
                    <a:pt x="0" y="0"/>
                  </a:moveTo>
                  <a:lnTo>
                    <a:pt x="1001210" y="0"/>
                  </a:lnTo>
                  <a:lnTo>
                    <a:pt x="1001210" y="1960079"/>
                  </a:lnTo>
                  <a:lnTo>
                    <a:pt x="0" y="1960079"/>
                  </a:lnTo>
                  <a:close/>
                </a:path>
              </a:pathLst>
            </a:custGeom>
            <a:blipFill>
              <a:blip r:embed="rId2"/>
              <a:stretch>
                <a:fillRect l="-124018" r="-124018"/>
              </a:stretch>
            </a:blipFill>
          </p:spPr>
        </p:sp>
      </p:grpSp>
      <p:sp>
        <p:nvSpPr>
          <p:cNvPr id="5" name="Freeform 5"/>
          <p:cNvSpPr/>
          <p:nvPr/>
        </p:nvSpPr>
        <p:spPr>
          <a:xfrm flipH="1">
            <a:off x="14397455" y="390291"/>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0" y="7403992"/>
            <a:ext cx="3877899" cy="2665635"/>
          </a:xfrm>
          <a:custGeom>
            <a:avLst/>
            <a:gdLst/>
            <a:ahLst/>
            <a:cxnLst/>
            <a:rect l="l" t="t" r="r" b="b"/>
            <a:pathLst>
              <a:path w="3877899" h="2665635">
                <a:moveTo>
                  <a:pt x="0" y="0"/>
                </a:moveTo>
                <a:lnTo>
                  <a:pt x="3877899" y="0"/>
                </a:lnTo>
                <a:lnTo>
                  <a:pt x="3877899" y="2665636"/>
                </a:lnTo>
                <a:lnTo>
                  <a:pt x="0" y="2665636"/>
                </a:lnTo>
                <a:lnTo>
                  <a:pt x="0" y="0"/>
                </a:lnTo>
                <a:close/>
              </a:path>
            </a:pathLst>
          </a:custGeom>
          <a:blipFill>
            <a:blip r:embed="rId5"/>
            <a:stretch>
              <a:fillRect t="-8744"/>
            </a:stretch>
          </a:blipFill>
        </p:spPr>
      </p:sp>
      <p:sp>
        <p:nvSpPr>
          <p:cNvPr id="7" name="Freeform 7"/>
          <p:cNvSpPr/>
          <p:nvPr/>
        </p:nvSpPr>
        <p:spPr>
          <a:xfrm flipH="1">
            <a:off x="-1917367" y="8736810"/>
            <a:ext cx="4250439" cy="2310693"/>
          </a:xfrm>
          <a:custGeom>
            <a:avLst/>
            <a:gdLst/>
            <a:ahLst/>
            <a:cxnLst/>
            <a:rect l="l" t="t" r="r" b="b"/>
            <a:pathLst>
              <a:path w="4250439" h="2310693">
                <a:moveTo>
                  <a:pt x="4250439" y="0"/>
                </a:moveTo>
                <a:lnTo>
                  <a:pt x="0" y="0"/>
                </a:lnTo>
                <a:lnTo>
                  <a:pt x="0" y="2310693"/>
                </a:lnTo>
                <a:lnTo>
                  <a:pt x="4250439" y="2310693"/>
                </a:lnTo>
                <a:lnTo>
                  <a:pt x="4250439"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5049305" y="3355020"/>
            <a:ext cx="11449273" cy="1236345"/>
          </a:xfrm>
          <a:prstGeom prst="rect">
            <a:avLst/>
          </a:prstGeom>
        </p:spPr>
        <p:txBody>
          <a:bodyPr lIns="0" tIns="0" rIns="0" bIns="0" rtlCol="0" anchor="t">
            <a:spAutoFit/>
          </a:bodyPr>
          <a:lstStyle/>
          <a:p>
            <a:pPr algn="l">
              <a:lnSpc>
                <a:spcPts val="4815"/>
              </a:lnSpc>
            </a:pPr>
            <a:r>
              <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rPr>
              <a:t>2- Caractères comme source d’inspiration architecturale</a:t>
            </a:r>
            <a:endPar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endParaRPr>
          </a:p>
          <a:p>
            <a:pPr algn="l">
              <a:lnSpc>
                <a:spcPts val="4815"/>
              </a:lnSpc>
            </a:pPr>
          </a:p>
        </p:txBody>
      </p:sp>
      <p:sp>
        <p:nvSpPr>
          <p:cNvPr id="9" name="TextBox 9"/>
          <p:cNvSpPr txBox="1"/>
          <p:nvPr/>
        </p:nvSpPr>
        <p:spPr>
          <a:xfrm>
            <a:off x="5304715" y="4735380"/>
            <a:ext cx="10938453"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Certains caractères chinois influencent directement les formes des bâtiments. Le caractère 口 (kǒu, « ouverture ») évoque les cours carrées ou rectangulaires des siheyuan, ces demeures traditionnelles. De même, 中 (zhōng, « centre ») souligne l’importance de la symétrie et de l’alignement central, comme dans la Cité interdite, où tout converge vers l’empereur, incarnation de l’équilibre universel.</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090"/>
              </a:lnSpc>
            </a:pPr>
          </a:p>
        </p:txBody>
      </p:sp>
      <p:sp>
        <p:nvSpPr>
          <p:cNvPr id="10" name="Freeform 10"/>
          <p:cNvSpPr/>
          <p:nvPr/>
        </p:nvSpPr>
        <p:spPr>
          <a:xfrm rot="-10800000" flipH="1">
            <a:off x="1558589" y="-658969"/>
            <a:ext cx="4346684" cy="2363015"/>
          </a:xfrm>
          <a:custGeom>
            <a:avLst/>
            <a:gdLst/>
            <a:ahLst/>
            <a:cxnLst/>
            <a:rect l="l" t="t" r="r" b="b"/>
            <a:pathLst>
              <a:path w="4346684" h="2363015">
                <a:moveTo>
                  <a:pt x="4346683" y="0"/>
                </a:moveTo>
                <a:lnTo>
                  <a:pt x="0" y="0"/>
                </a:lnTo>
                <a:lnTo>
                  <a:pt x="0" y="2363015"/>
                </a:lnTo>
                <a:lnTo>
                  <a:pt x="4346683" y="2363015"/>
                </a:lnTo>
                <a:lnTo>
                  <a:pt x="4346683"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1777" b="-11777"/>
            </a:stretch>
          </a:blipFill>
        </p:spPr>
      </p:sp>
      <p:sp>
        <p:nvSpPr>
          <p:cNvPr id="3" name="Freeform 3"/>
          <p:cNvSpPr/>
          <p:nvPr/>
        </p:nvSpPr>
        <p:spPr>
          <a:xfrm flipH="1">
            <a:off x="15027459" y="-532285"/>
            <a:ext cx="5723690" cy="3111606"/>
          </a:xfrm>
          <a:custGeom>
            <a:avLst/>
            <a:gdLst/>
            <a:ahLst/>
            <a:cxnLst/>
            <a:rect l="l" t="t" r="r" b="b"/>
            <a:pathLst>
              <a:path w="5723690" h="3111606">
                <a:moveTo>
                  <a:pt x="5723690" y="0"/>
                </a:moveTo>
                <a:lnTo>
                  <a:pt x="0" y="0"/>
                </a:lnTo>
                <a:lnTo>
                  <a:pt x="0" y="3111606"/>
                </a:lnTo>
                <a:lnTo>
                  <a:pt x="5723690" y="3111606"/>
                </a:lnTo>
                <a:lnTo>
                  <a:pt x="57236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0" y="4953320"/>
            <a:ext cx="5147119" cy="5186014"/>
          </a:xfrm>
          <a:custGeom>
            <a:avLst/>
            <a:gdLst/>
            <a:ahLst/>
            <a:cxnLst/>
            <a:rect l="l" t="t" r="r" b="b"/>
            <a:pathLst>
              <a:path w="5147119" h="5186014">
                <a:moveTo>
                  <a:pt x="0" y="0"/>
                </a:moveTo>
                <a:lnTo>
                  <a:pt x="5147119" y="0"/>
                </a:lnTo>
                <a:lnTo>
                  <a:pt x="5147119" y="5186013"/>
                </a:lnTo>
                <a:lnTo>
                  <a:pt x="0" y="5186013"/>
                </a:lnTo>
                <a:lnTo>
                  <a:pt x="0" y="0"/>
                </a:lnTo>
                <a:close/>
              </a:path>
            </a:pathLst>
          </a:custGeom>
          <a:blipFill>
            <a:blip r:embed="rId4"/>
            <a:stretch>
              <a:fillRect/>
            </a:stretch>
          </a:blipFill>
        </p:spPr>
      </p:sp>
      <p:sp>
        <p:nvSpPr>
          <p:cNvPr id="5" name="Freeform 5"/>
          <p:cNvSpPr/>
          <p:nvPr/>
        </p:nvSpPr>
        <p:spPr>
          <a:xfrm flipH="1">
            <a:off x="-1460933" y="8594855"/>
            <a:ext cx="3939112" cy="2141444"/>
          </a:xfrm>
          <a:custGeom>
            <a:avLst/>
            <a:gdLst/>
            <a:ahLst/>
            <a:cxnLst/>
            <a:rect l="l" t="t" r="r" b="b"/>
            <a:pathLst>
              <a:path w="3939112" h="2141444">
                <a:moveTo>
                  <a:pt x="3939111" y="0"/>
                </a:moveTo>
                <a:lnTo>
                  <a:pt x="0" y="0"/>
                </a:lnTo>
                <a:lnTo>
                  <a:pt x="0" y="2141444"/>
                </a:lnTo>
                <a:lnTo>
                  <a:pt x="3939111" y="2141444"/>
                </a:lnTo>
                <a:lnTo>
                  <a:pt x="393911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320847" y="5105400"/>
            <a:ext cx="10938453" cy="1934828"/>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Le feng shui, qui oriente la construction pour capter les bonnes énergies, fait parfois appel à l’écriture. Les noms des lieux ou les inscriptions sont sélectionnés pour leur sonorité et leur sens, dans l’espoir d’attirer des vibrations positives. Un caractère comme 福 (fú, « bonheur ») peut ainsi se retrouver sculpté ou peint sur des éléments du bâtiment.</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a:p>
            <a:pPr algn="just">
              <a:lnSpc>
                <a:spcPts val="3090"/>
              </a:lnSpc>
            </a:pPr>
          </a:p>
        </p:txBody>
      </p:sp>
      <p:sp>
        <p:nvSpPr>
          <p:cNvPr id="7" name="TextBox 7"/>
          <p:cNvSpPr txBox="1"/>
          <p:nvPr/>
        </p:nvSpPr>
        <p:spPr>
          <a:xfrm>
            <a:off x="5919995" y="3907155"/>
            <a:ext cx="8561990" cy="1236345"/>
          </a:xfrm>
          <a:prstGeom prst="rect">
            <a:avLst/>
          </a:prstGeom>
        </p:spPr>
        <p:txBody>
          <a:bodyPr lIns="0" tIns="0" rIns="0" bIns="0" rtlCol="0" anchor="t">
            <a:spAutoFit/>
          </a:bodyPr>
          <a:lstStyle/>
          <a:p>
            <a:pPr algn="l">
              <a:lnSpc>
                <a:spcPts val="4815"/>
              </a:lnSpc>
            </a:pPr>
            <a:r>
              <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rPr>
              <a:t> 3- Feng Shui et choix des mots</a:t>
            </a:r>
            <a:endParaRPr lang="en-US" sz="4500">
              <a:solidFill>
                <a:srgbClr val="000000"/>
              </a:solidFill>
              <a:latin typeface="Amsterdam Four" panose="02000500000000000000"/>
              <a:ea typeface="Amsterdam Four" panose="02000500000000000000"/>
              <a:cs typeface="Amsterdam Four" panose="02000500000000000000"/>
              <a:sym typeface="Amsterdam Four" panose="02000500000000000000"/>
            </a:endParaRPr>
          </a:p>
          <a:p>
            <a:pPr algn="l">
              <a:lnSpc>
                <a:spcPts val="4815"/>
              </a:lnSpc>
            </a:pPr>
          </a:p>
        </p:txBody>
      </p:sp>
      <p:sp>
        <p:nvSpPr>
          <p:cNvPr id="8" name="Freeform 8"/>
          <p:cNvSpPr/>
          <p:nvPr/>
        </p:nvSpPr>
        <p:spPr>
          <a:xfrm>
            <a:off x="0" y="276970"/>
            <a:ext cx="5147119" cy="4284976"/>
          </a:xfrm>
          <a:custGeom>
            <a:avLst/>
            <a:gdLst/>
            <a:ahLst/>
            <a:cxnLst/>
            <a:rect l="l" t="t" r="r" b="b"/>
            <a:pathLst>
              <a:path w="5147119" h="4284976">
                <a:moveTo>
                  <a:pt x="0" y="0"/>
                </a:moveTo>
                <a:lnTo>
                  <a:pt x="5147119" y="0"/>
                </a:lnTo>
                <a:lnTo>
                  <a:pt x="5147119" y="4284976"/>
                </a:lnTo>
                <a:lnTo>
                  <a:pt x="0" y="4284976"/>
                </a:lnTo>
                <a:lnTo>
                  <a:pt x="0" y="0"/>
                </a:lnTo>
                <a:close/>
              </a:path>
            </a:pathLst>
          </a:custGeom>
          <a:blipFill>
            <a:blip r:embed="rId5"/>
            <a:stretch>
              <a:fillRect/>
            </a:stretch>
          </a:blipFill>
        </p:spPr>
      </p:sp>
      <p:sp>
        <p:nvSpPr>
          <p:cNvPr id="9" name="Freeform 9"/>
          <p:cNvSpPr/>
          <p:nvPr/>
        </p:nvSpPr>
        <p:spPr>
          <a:xfrm rot="-10800000" flipH="1">
            <a:off x="2823961" y="-532285"/>
            <a:ext cx="3804064" cy="2068028"/>
          </a:xfrm>
          <a:custGeom>
            <a:avLst/>
            <a:gdLst/>
            <a:ahLst/>
            <a:cxnLst/>
            <a:rect l="l" t="t" r="r" b="b"/>
            <a:pathLst>
              <a:path w="3804064" h="2068028">
                <a:moveTo>
                  <a:pt x="3804064" y="0"/>
                </a:moveTo>
                <a:lnTo>
                  <a:pt x="0" y="0"/>
                </a:lnTo>
                <a:lnTo>
                  <a:pt x="0" y="2068027"/>
                </a:lnTo>
                <a:lnTo>
                  <a:pt x="3804064" y="2068027"/>
                </a:lnTo>
                <a:lnTo>
                  <a:pt x="3804064"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grpSp>
        <p:nvGrpSpPr>
          <p:cNvPr id="3" name="Group 3"/>
          <p:cNvGrpSpPr/>
          <p:nvPr/>
        </p:nvGrpSpPr>
        <p:grpSpPr>
          <a:xfrm rot="0">
            <a:off x="0" y="5937817"/>
            <a:ext cx="18288000" cy="4349183"/>
            <a:chOff x="0" y="0"/>
            <a:chExt cx="3484585" cy="828691"/>
          </a:xfrm>
        </p:grpSpPr>
        <p:sp>
          <p:nvSpPr>
            <p:cNvPr id="4" name="Freeform 4"/>
            <p:cNvSpPr/>
            <p:nvPr/>
          </p:nvSpPr>
          <p:spPr>
            <a:xfrm>
              <a:off x="0" y="0"/>
              <a:ext cx="3484585" cy="828691"/>
            </a:xfrm>
            <a:custGeom>
              <a:avLst/>
              <a:gdLst/>
              <a:ahLst/>
              <a:cxnLst/>
              <a:rect l="l" t="t" r="r" b="b"/>
              <a:pathLst>
                <a:path w="3484585" h="828691">
                  <a:moveTo>
                    <a:pt x="0" y="0"/>
                  </a:moveTo>
                  <a:lnTo>
                    <a:pt x="3484585" y="0"/>
                  </a:lnTo>
                  <a:lnTo>
                    <a:pt x="3484585" y="828691"/>
                  </a:lnTo>
                  <a:lnTo>
                    <a:pt x="0" y="828691"/>
                  </a:lnTo>
                  <a:close/>
                </a:path>
              </a:pathLst>
            </a:custGeom>
            <a:blipFill>
              <a:blip r:embed="rId2"/>
              <a:stretch>
                <a:fillRect t="-66272" b="-70254"/>
              </a:stretch>
            </a:blipFill>
          </p:spPr>
        </p:sp>
      </p:grpSp>
      <p:sp>
        <p:nvSpPr>
          <p:cNvPr id="5" name="Freeform 5"/>
          <p:cNvSpPr/>
          <p:nvPr/>
        </p:nvSpPr>
        <p:spPr>
          <a:xfrm flipH="1">
            <a:off x="-1144642" y="5143500"/>
            <a:ext cx="4346684" cy="2363015"/>
          </a:xfrm>
          <a:custGeom>
            <a:avLst/>
            <a:gdLst/>
            <a:ahLst/>
            <a:cxnLst/>
            <a:rect l="l" t="t" r="r" b="b"/>
            <a:pathLst>
              <a:path w="4346684" h="2363015">
                <a:moveTo>
                  <a:pt x="4346684" y="0"/>
                </a:moveTo>
                <a:lnTo>
                  <a:pt x="0" y="0"/>
                </a:lnTo>
                <a:lnTo>
                  <a:pt x="0" y="2363015"/>
                </a:lnTo>
                <a:lnTo>
                  <a:pt x="4346684" y="2363015"/>
                </a:lnTo>
                <a:lnTo>
                  <a:pt x="4346684"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4856935" y="589994"/>
            <a:ext cx="4346684" cy="2363015"/>
          </a:xfrm>
          <a:custGeom>
            <a:avLst/>
            <a:gdLst/>
            <a:ahLst/>
            <a:cxnLst/>
            <a:rect l="l" t="t" r="r" b="b"/>
            <a:pathLst>
              <a:path w="4346684" h="2363015">
                <a:moveTo>
                  <a:pt x="0" y="0"/>
                </a:moveTo>
                <a:lnTo>
                  <a:pt x="4346684" y="0"/>
                </a:lnTo>
                <a:lnTo>
                  <a:pt x="4346684" y="2363015"/>
                </a:lnTo>
                <a:lnTo>
                  <a:pt x="0" y="23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431065" y="1714352"/>
            <a:ext cx="11425871" cy="1281023"/>
          </a:xfrm>
          <a:prstGeom prst="rect">
            <a:avLst/>
          </a:prstGeom>
        </p:spPr>
        <p:txBody>
          <a:bodyPr lIns="0" tIns="0" rIns="0" bIns="0" rtlCol="0" anchor="t">
            <a:spAutoFit/>
          </a:bodyPr>
          <a:lstStyle/>
          <a:p>
            <a:pPr algn="ctr">
              <a:lnSpc>
                <a:spcPts val="10220"/>
              </a:lnSpc>
            </a:pPr>
            <a:r>
              <a:rPr lang="en-US" sz="8045">
                <a:solidFill>
                  <a:srgbClr val="000000"/>
                </a:solidFill>
                <a:latin typeface="Amsterdam Four" panose="02000500000000000000"/>
                <a:ea typeface="Amsterdam Four" panose="02000500000000000000"/>
                <a:cs typeface="Amsterdam Four" panose="02000500000000000000"/>
                <a:sym typeface="Amsterdam Four" panose="02000500000000000000"/>
              </a:rPr>
              <a:t>Conclusion</a:t>
            </a:r>
            <a:endParaRPr lang="en-US" sz="8045">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
        <p:nvSpPr>
          <p:cNvPr id="8" name="TextBox 8"/>
          <p:cNvSpPr txBox="1"/>
          <p:nvPr/>
        </p:nvSpPr>
        <p:spPr>
          <a:xfrm>
            <a:off x="2362606" y="3628102"/>
            <a:ext cx="13562788" cy="1544267"/>
          </a:xfrm>
          <a:prstGeom prst="rect">
            <a:avLst/>
          </a:prstGeom>
        </p:spPr>
        <p:txBody>
          <a:bodyPr lIns="0" tIns="0" rIns="0" bIns="0" rtlCol="0" anchor="t">
            <a:spAutoFit/>
          </a:bodyPr>
          <a:lstStyle/>
          <a:p>
            <a:pPr algn="just">
              <a:lnSpc>
                <a:spcPts val="3090"/>
              </a:lnSpc>
            </a:pPr>
            <a:r>
              <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rPr>
              <a:t>L'écriture chinoise, plus qu'un moyen de communication, est l'âme de la culture chinoise. Elle a évolué des inscriptions divinatoires à la calligraphie, art suprême où l'émotion s'exprime par le trait. En peinture, elle s'unit pour enrichir les œuvres de poésie et de philosophie. En sculpture, elle grave l'histoire et la spiritualité dans la pierre. En architecture, elle décore, nomme et guide, témoignant d'un héritage millénaire toujours vivant.</a:t>
            </a:r>
            <a:endParaRPr lang="en-US" sz="2205">
              <a:solidFill>
                <a:srgbClr val="000000"/>
              </a:solidFill>
              <a:latin typeface="Cormorant Garamond" panose="00000500000000000000"/>
              <a:ea typeface="Cormorant Garamond" panose="00000500000000000000"/>
              <a:cs typeface="Cormorant Garamond" panose="00000500000000000000"/>
              <a:sym typeface="Cormorant Garamond" panose="0000050000000000000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00" b="-10000"/>
            </a:stretch>
          </a:blipFill>
        </p:spPr>
      </p:sp>
      <p:sp>
        <p:nvSpPr>
          <p:cNvPr id="3" name="Freeform 3"/>
          <p:cNvSpPr/>
          <p:nvPr/>
        </p:nvSpPr>
        <p:spPr>
          <a:xfrm flipH="1">
            <a:off x="-807962" y="4080966"/>
            <a:ext cx="8064856" cy="4384349"/>
          </a:xfrm>
          <a:custGeom>
            <a:avLst/>
            <a:gdLst/>
            <a:ahLst/>
            <a:cxnLst/>
            <a:rect l="l" t="t" r="r" b="b"/>
            <a:pathLst>
              <a:path w="8064856" h="4384349">
                <a:moveTo>
                  <a:pt x="8064856" y="0"/>
                </a:moveTo>
                <a:lnTo>
                  <a:pt x="0" y="0"/>
                </a:lnTo>
                <a:lnTo>
                  <a:pt x="0" y="4384349"/>
                </a:lnTo>
                <a:lnTo>
                  <a:pt x="8064856" y="4384349"/>
                </a:lnTo>
                <a:lnTo>
                  <a:pt x="806485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1974642" y="1028700"/>
            <a:ext cx="7678495" cy="4174309"/>
          </a:xfrm>
          <a:custGeom>
            <a:avLst/>
            <a:gdLst/>
            <a:ahLst/>
            <a:cxnLst/>
            <a:rect l="l" t="t" r="r" b="b"/>
            <a:pathLst>
              <a:path w="7678495" h="4174309">
                <a:moveTo>
                  <a:pt x="0" y="0"/>
                </a:moveTo>
                <a:lnTo>
                  <a:pt x="7678494" y="0"/>
                </a:lnTo>
                <a:lnTo>
                  <a:pt x="7678494" y="4174309"/>
                </a:lnTo>
                <a:lnTo>
                  <a:pt x="0" y="41743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449225" y="3856928"/>
            <a:ext cx="11389551" cy="2107059"/>
          </a:xfrm>
          <a:prstGeom prst="rect">
            <a:avLst/>
          </a:prstGeom>
        </p:spPr>
        <p:txBody>
          <a:bodyPr lIns="0" tIns="0" rIns="0" bIns="0" rtlCol="0" anchor="t">
            <a:spAutoFit/>
          </a:bodyPr>
          <a:lstStyle/>
          <a:p>
            <a:pPr algn="ctr">
              <a:lnSpc>
                <a:spcPts val="16875"/>
              </a:lnSpc>
            </a:pPr>
            <a:r>
              <a:rPr lang="en-US" sz="13290">
                <a:solidFill>
                  <a:srgbClr val="000000"/>
                </a:solidFill>
                <a:latin typeface="Amsterdam Four" panose="02000500000000000000"/>
                <a:ea typeface="Amsterdam Four" panose="02000500000000000000"/>
                <a:cs typeface="Amsterdam Four" panose="02000500000000000000"/>
                <a:sym typeface="Amsterdam Four" panose="02000500000000000000"/>
              </a:rPr>
              <a:t>感謝您的關注</a:t>
            </a:r>
            <a:endParaRPr lang="en-US" sz="13290">
              <a:solidFill>
                <a:srgbClr val="000000"/>
              </a:solidFill>
              <a:latin typeface="Amsterdam Four" panose="02000500000000000000"/>
              <a:ea typeface="Amsterdam Four" panose="02000500000000000000"/>
              <a:cs typeface="Amsterdam Four" panose="02000500000000000000"/>
              <a:sym typeface="Amsterdam Four" panose="02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8274</Words>
  <Application>WPS Presentation</Application>
  <PresentationFormat>On-screen Show (4:3)</PresentationFormat>
  <Paragraphs>111</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SimSun</vt:lpstr>
      <vt:lpstr>Wingdings</vt:lpstr>
      <vt:lpstr>Cormorant Garamond</vt:lpstr>
      <vt:lpstr>Amsterdam Four</vt:lpstr>
      <vt:lpstr>Cormorant Garamond Bold</vt:lpstr>
      <vt:lpstr>Poppins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Exposé Ecriture Chinoise</dc:title>
  <dc:creator/>
  <cp:lastModifiedBy>Henry Moustapha Ngom</cp:lastModifiedBy>
  <cp:revision>2</cp:revision>
  <dcterms:created xsi:type="dcterms:W3CDTF">2006-08-16T00:00:00Z</dcterms:created>
  <dcterms:modified xsi:type="dcterms:W3CDTF">2025-03-18T19:18:01Z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D7BAEA9E05BE4791BBD50151D25DB278_12</vt:lpwstr>
  </property>
  <property fmtid="{D5CDD505-2E9C-101B-9397-08002B2CF9AE}" pid="3" name="KSOProductBuildVer">
    <vt:lpwstr>3084-12.2.0.20348</vt:lpwstr>
  </property>
</Properties>
</file>