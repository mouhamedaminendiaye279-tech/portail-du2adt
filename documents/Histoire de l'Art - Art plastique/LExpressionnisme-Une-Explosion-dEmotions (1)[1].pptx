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12670"/>
            <a:ext cx="7468553" cy="1408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L'Expressionnisme : Une Explosion d'Émotions</a:t>
            </a:r>
            <a:endParaRPr lang="en-US" sz="4400" kern="0" spc="-89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4079677"/>
            <a:ext cx="7468553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L'expressionnisme est un mouvement artistique du début du XXe siècle. Il met l'accent sur l'émotion et la subjectivité. Cette présentation explore son contexte historique, ses artistes clés et ses thèmes.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740005" y="7630160"/>
            <a:ext cx="1890395" cy="5524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6561614" y="7453948"/>
            <a:ext cx="3244096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750"/>
              </a:lnSpc>
              <a:buNone/>
            </a:pPr>
            <a:r>
              <a:rPr lang="fr-FR" altLang="en-US" sz="2000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Présenté par : </a:t>
            </a:r>
            <a:r>
              <a:rPr lang="fr-FR" altLang="en-US" sz="2000" b="1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Baye Sow </a:t>
            </a:r>
            <a:r>
              <a:rPr lang="fr-FR" altLang="en-US" sz="2000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&amp; </a:t>
            </a:r>
            <a:r>
              <a:rPr lang="fr-FR" altLang="en-US" sz="2000" b="1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Sokhna Momy Syll </a:t>
            </a:r>
            <a:endParaRPr lang="fr-FR" altLang="en-US" sz="2000" b="1" kern="0" spc="-44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8312348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Aux Racines de l'Expressionnisme</a:t>
            </a:r>
            <a:endParaRPr lang="en-US" sz="44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3244096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Influences Philosophiques</a:t>
            </a:r>
            <a:endParaRPr lang="en-US" sz="22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3928586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Nietzsche et Freud ont influencé l'expressionnisme. Leurs idées sur la subjectivité ont été importantes.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78809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« Die Brücke »</a:t>
            </a:r>
            <a:endParaRPr lang="en-US" sz="22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57813" y="4379357"/>
            <a:ext cx="3928586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Fondé à Dresde en 1905, ce mouvement était un pilier de l'expressionnisme allemand.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78809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« Der Blaue Reiter »</a:t>
            </a:r>
            <a:endParaRPr lang="en-US" sz="22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7901" y="4379357"/>
            <a:ext cx="3928586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Kandinsky et Marc ont formé ce groupe. Ils ont exploré l'abstraction et la spiritualité.</a:t>
            </a:r>
            <a:endParaRPr lang="en-US" sz="1850" dirty="0"/>
          </a:p>
        </p:txBody>
      </p:sp>
      <p:sp>
        <p:nvSpPr>
          <p:cNvPr id="20" name="Rectangle 19"/>
          <p:cNvSpPr/>
          <p:nvPr/>
        </p:nvSpPr>
        <p:spPr>
          <a:xfrm>
            <a:off x="12740005" y="7630160"/>
            <a:ext cx="1890395" cy="5524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16537"/>
            <a:ext cx="7468553" cy="1408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Figures Centrales de l'Expressionnisme</a:t>
            </a:r>
            <a:endParaRPr lang="en-US" sz="4400" kern="0" spc="-89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3583543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4385310"/>
            <a:ext cx="2250162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Kirchner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324124" y="4880848"/>
            <a:ext cx="2250162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Il a marqué l'expressionnisme par son style unique et ses couleurs vives.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259" y="3583543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3259" y="4385310"/>
            <a:ext cx="2250162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Heckel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933259" y="4880848"/>
            <a:ext cx="2250162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Son utilisation de la couleur et de la forme est emblématique du mouvement.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2395" y="3583543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2395" y="4385429"/>
            <a:ext cx="2250281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Schmidt-Rottluff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1542395" y="4880967"/>
            <a:ext cx="2250281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Ses gravures sur bois sont un exemple puissant de l'expressionnisme.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740005" y="7630160"/>
            <a:ext cx="1890395" cy="5524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80793"/>
            <a:ext cx="7468553" cy="1408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Les Thèmes Obsédants de l'Expressionnisme</a:t>
            </a:r>
            <a:endParaRPr lang="en-US" sz="4400" kern="0" spc="-89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37724" y="361700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74" y="3674983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361700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Anxiété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615559" y="4112538"/>
            <a:ext cx="2836783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L'expressionnisme reflète les tensions sociales et personnelles de l'époque.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691658" y="361700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908" y="3674983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9493" y="361700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Ville Moderne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469493" y="4112538"/>
            <a:ext cx="283678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Il représente la vie urbaine chaotique et aliénante.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837724" y="5770126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5828109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577012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Guerre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615559" y="6265664"/>
            <a:ext cx="669071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L'impact de la Première Guerre mondiale est un thème central.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28869"/>
            <a:ext cx="5779175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Techniques Expressives</a:t>
            </a:r>
            <a:endParaRPr lang="en-US" sz="4400" kern="0" spc="-89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2491859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9913" y="273117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Distorsion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879913" y="3226713"/>
            <a:ext cx="591276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Les formes sont exagérées pour exprimer l'émotion.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24" y="3928110"/>
            <a:ext cx="1196816" cy="14362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79913" y="416742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Couleurs Vives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879913" y="4662964"/>
            <a:ext cx="591276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Les couleurs sont utilisées de manière non naturaliste.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5364361"/>
            <a:ext cx="1196816" cy="14362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79913" y="5603677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Simplification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879913" y="6099215"/>
            <a:ext cx="591276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Les formes sont réduites à leur essence.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740005" y="7630160"/>
            <a:ext cx="1890395" cy="5524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56122"/>
            <a:ext cx="7468553" cy="1408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L'Expressionnisme au-delà de la Peinture</a:t>
            </a:r>
            <a:endParaRPr lang="en-US" sz="4400" kern="0" spc="-89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24124" y="3123128"/>
            <a:ext cx="3614618" cy="2138482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059" y="337006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Littérature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71059" y="3865602"/>
            <a:ext cx="3120747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La poésie et le théâtre expressionnistes explorent des thèmes sombres et émotionnels.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8058" y="3123128"/>
            <a:ext cx="3614618" cy="2138482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993" y="337006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Cinéma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4993" y="3865602"/>
            <a:ext cx="3120747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« Le Cabinet du docteur Caligari » est un exemple emblématique du cinéma expressionniste.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324124" y="5500926"/>
            <a:ext cx="7468553" cy="1372433"/>
          </a:xfrm>
          <a:prstGeom prst="roundRect">
            <a:avLst>
              <a:gd name="adj" fmla="val 73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1059" y="5747861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Musique</a:t>
            </a:r>
            <a:endParaRPr lang="en-US" sz="2200" kern="0" spc="-44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71059" y="6243399"/>
            <a:ext cx="6974681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Schoenberg a exploré l'atonalité pour exprimer des émotions intenses.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740005" y="7630160"/>
            <a:ext cx="1890395" cy="5524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224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238" y="3321963"/>
            <a:ext cx="6746438" cy="6405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kern="0" spc="-81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Héritage de l'Expressionnisme</a:t>
            </a:r>
            <a:endParaRPr lang="en-US" sz="4000" kern="0" spc="-81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62238" y="5959554"/>
            <a:ext cx="13105924" cy="30480"/>
          </a:xfrm>
          <a:prstGeom prst="roundRect">
            <a:avLst>
              <a:gd name="adj" fmla="val 300120"/>
            </a:avLst>
          </a:prstGeom>
          <a:solidFill>
            <a:srgbClr val="D6BADD"/>
          </a:solidFill>
        </p:spPr>
      </p:sp>
      <p:sp>
        <p:nvSpPr>
          <p:cNvPr id="5" name="Shape 2"/>
          <p:cNvSpPr/>
          <p:nvPr/>
        </p:nvSpPr>
        <p:spPr>
          <a:xfrm>
            <a:off x="3968829" y="5306318"/>
            <a:ext cx="30480" cy="653296"/>
          </a:xfrm>
          <a:prstGeom prst="roundRect">
            <a:avLst>
              <a:gd name="adj" fmla="val 300120"/>
            </a:avLst>
          </a:prstGeom>
          <a:solidFill>
            <a:srgbClr val="D6BADD"/>
          </a:solidFill>
        </p:spPr>
      </p:sp>
      <p:sp>
        <p:nvSpPr>
          <p:cNvPr id="6" name="Shape 3"/>
          <p:cNvSpPr/>
          <p:nvPr/>
        </p:nvSpPr>
        <p:spPr>
          <a:xfrm>
            <a:off x="3739158" y="5714583"/>
            <a:ext cx="489942" cy="489942"/>
          </a:xfrm>
          <a:prstGeom prst="roundRect">
            <a:avLst>
              <a:gd name="adj" fmla="val 18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30360" y="5767328"/>
            <a:ext cx="307419" cy="3843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kern="0" spc="-48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1</a:t>
            </a:r>
            <a:endParaRPr lang="en-US" sz="2400" kern="0" spc="-48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703076" y="4289108"/>
            <a:ext cx="2562344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kern="0" spc="-40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Influence</a:t>
            </a:r>
            <a:endParaRPr lang="en-US" sz="2000" kern="0" spc="-40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0003" y="4739997"/>
            <a:ext cx="6008489" cy="3483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L'expressionnisme a influencé le surréalisme et l'art abstrait.</a:t>
            </a:r>
            <a:endParaRPr lang="en-US" sz="1700" kern="0" spc="-34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299722" y="5959495"/>
            <a:ext cx="30480" cy="653296"/>
          </a:xfrm>
          <a:prstGeom prst="roundRect">
            <a:avLst>
              <a:gd name="adj" fmla="val 300120"/>
            </a:avLst>
          </a:prstGeom>
          <a:solidFill>
            <a:srgbClr val="D6BADD"/>
          </a:solidFill>
        </p:spPr>
      </p:sp>
      <p:sp>
        <p:nvSpPr>
          <p:cNvPr id="11" name="Shape 8"/>
          <p:cNvSpPr/>
          <p:nvPr/>
        </p:nvSpPr>
        <p:spPr>
          <a:xfrm>
            <a:off x="7070050" y="5714583"/>
            <a:ext cx="489942" cy="489942"/>
          </a:xfrm>
          <a:prstGeom prst="roundRect">
            <a:avLst>
              <a:gd name="adj" fmla="val 18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61252" y="5767328"/>
            <a:ext cx="307419" cy="3843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kern="0" spc="-48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2</a:t>
            </a:r>
            <a:endParaRPr lang="en-US" sz="2400" kern="0" spc="-48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33968" y="6830735"/>
            <a:ext cx="2562344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kern="0" spc="-40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Importance</a:t>
            </a:r>
            <a:endParaRPr lang="en-US" sz="2000" kern="0" spc="-40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10896" y="7281624"/>
            <a:ext cx="6008489" cy="3483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Il reste un mouvement clé dans l'histoire de l'art moderne.</a:t>
            </a:r>
            <a:endParaRPr lang="en-US" sz="1700" kern="0" spc="-34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630733" y="5306318"/>
            <a:ext cx="30480" cy="653296"/>
          </a:xfrm>
          <a:prstGeom prst="roundRect">
            <a:avLst>
              <a:gd name="adj" fmla="val 300120"/>
            </a:avLst>
          </a:prstGeom>
          <a:solidFill>
            <a:srgbClr val="D6BADD"/>
          </a:solidFill>
        </p:spPr>
      </p:sp>
      <p:sp>
        <p:nvSpPr>
          <p:cNvPr id="16" name="Shape 13"/>
          <p:cNvSpPr/>
          <p:nvPr/>
        </p:nvSpPr>
        <p:spPr>
          <a:xfrm>
            <a:off x="10401062" y="5714583"/>
            <a:ext cx="489942" cy="489942"/>
          </a:xfrm>
          <a:prstGeom prst="roundRect">
            <a:avLst>
              <a:gd name="adj" fmla="val 18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92264" y="5767328"/>
            <a:ext cx="307419" cy="3843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kern="0" spc="-48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3</a:t>
            </a:r>
            <a:endParaRPr lang="en-US" sz="2400" kern="0" spc="-48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364861" y="4289108"/>
            <a:ext cx="2562344" cy="320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kern="0" spc="-40" dirty="0">
                <a:solidFill>
                  <a:srgbClr val="272525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Pertinence</a:t>
            </a:r>
            <a:endParaRPr lang="en-US" sz="2000" kern="0" spc="-40" dirty="0">
              <a:solidFill>
                <a:srgbClr val="272525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41788" y="4739997"/>
            <a:ext cx="6008608" cy="3483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Ses thèmes résonnent encore aujourd'hui.</a:t>
            </a:r>
            <a:endParaRPr lang="en-US" sz="1700" kern="0" spc="-34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740005" y="7630160"/>
            <a:ext cx="1890395" cy="5524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522101"/>
            <a:ext cx="7468553" cy="1408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Cambria" panose="02040503050406030204" charset="0"/>
                <a:ea typeface="Source Serif Pro Semi Bold" pitchFamily="34" charset="-122"/>
                <a:cs typeface="Cambria" panose="02040503050406030204" charset="0"/>
              </a:rPr>
              <a:t>Redécouvrir l'Expressionnisme</a:t>
            </a:r>
            <a:endParaRPr lang="en-US" sz="4400" kern="0" spc="-89" dirty="0">
              <a:solidFill>
                <a:srgbClr val="000000"/>
              </a:solidFill>
              <a:latin typeface="Cambria" panose="02040503050406030204" charset="0"/>
              <a:ea typeface="Source Serif Pro Semi Bold" pitchFamily="34" charset="-122"/>
              <a:cs typeface="Cambria" panose="02040503050406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4289108"/>
            <a:ext cx="746855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L'expressionnisme, avec son accent sur l'émotion brute, continue d'inspirer. Explorez ce mouvement pour découvrir sa résonance personnelle.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37724" y="5324356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Cambria" panose="02040503050406030204" charset="0"/>
                <a:ea typeface="Source Sans Pro" pitchFamily="34" charset="-122"/>
                <a:cs typeface="Cambria" panose="02040503050406030204" charset="0"/>
              </a:rPr>
              <a:t>Comment l'expressionnisme vous parle-t-il aujourd'hui ?</a:t>
            </a:r>
            <a:endParaRPr lang="en-US" sz="1850" kern="0" spc="-38" dirty="0">
              <a:solidFill>
                <a:srgbClr val="272525"/>
              </a:solidFill>
              <a:latin typeface="Cambria" panose="02040503050406030204" charset="0"/>
              <a:ea typeface="Source Sans Pro" pitchFamily="34" charset="-122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2155</Words>
  <Application>WPS Presentation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SimSun</vt:lpstr>
      <vt:lpstr>Wingdings</vt:lpstr>
      <vt:lpstr>Source Serif Pro Semi Bold</vt:lpstr>
      <vt:lpstr>AMGDT</vt:lpstr>
      <vt:lpstr>Source Serif Pro Semi Bold</vt:lpstr>
      <vt:lpstr>Source Serif Pro Semi Bold</vt:lpstr>
      <vt:lpstr>Source Sans Pro</vt:lpstr>
      <vt:lpstr>Source Sans Pro</vt:lpstr>
      <vt:lpstr>Source Sans Pro</vt:lpstr>
      <vt:lpstr>Source Sans Pro Bold</vt:lpstr>
      <vt:lpstr>Source Sans Pro Bold</vt:lpstr>
      <vt:lpstr>Source Sans Pro Bold</vt:lpstr>
      <vt:lpstr>Calibri</vt:lpstr>
      <vt:lpstr>Microsoft YaHei</vt:lpstr>
      <vt:lpstr>Arial Unicode MS</vt:lpstr>
      <vt:lpstr>MingLiU-ExtB</vt:lpstr>
      <vt:lpstr>Cambria</vt:lpstr>
      <vt:lpstr>Sitka Subheading Semibold</vt:lpstr>
      <vt:lpstr>Palatino Linotype</vt:lpstr>
      <vt:lpstr>ItalicT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Henry Moustapha Ngom</cp:lastModifiedBy>
  <cp:revision>2</cp:revision>
  <dcterms:created xsi:type="dcterms:W3CDTF">2025-03-25T08:50:00Z</dcterms:created>
  <dcterms:modified xsi:type="dcterms:W3CDTF">2025-03-25T08:58:12Z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2B2BC20E93FD4F02998DB10C6BAE5D7E_12</vt:lpwstr>
  </property>
  <property fmtid="{D5CDD505-2E9C-101B-9397-08002B2CF9AE}" pid="3" name="KSOProductBuildVer">
    <vt:lpwstr>3084-12.2.0.20348</vt:lpwstr>
  </property>
</Properties>
</file>