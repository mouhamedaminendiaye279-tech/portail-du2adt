
<file path=[Content_Types].xml><?xml version="1.0" encoding="utf-8"?>
<Types xmlns="http://schemas.openxmlformats.org/package/2006/content-types">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7" r:id="rId2"/>
    <p:sldId id="258" r:id="rId3"/>
    <p:sldId id="305" r:id="rId4"/>
    <p:sldId id="329" r:id="rId5"/>
    <p:sldId id="306" r:id="rId6"/>
    <p:sldId id="307" r:id="rId7"/>
    <p:sldId id="309" r:id="rId8"/>
    <p:sldId id="310" r:id="rId9"/>
    <p:sldId id="304" r:id="rId10"/>
    <p:sldId id="313" r:id="rId11"/>
    <p:sldId id="311" r:id="rId12"/>
    <p:sldId id="314" r:id="rId13"/>
    <p:sldId id="316" r:id="rId14"/>
    <p:sldId id="312" r:id="rId15"/>
    <p:sldId id="322" r:id="rId16"/>
    <p:sldId id="318" r:id="rId17"/>
    <p:sldId id="320" r:id="rId18"/>
    <p:sldId id="323" r:id="rId19"/>
    <p:sldId id="324" r:id="rId20"/>
    <p:sldId id="325" r:id="rId21"/>
    <p:sldId id="321" r:id="rId22"/>
    <p:sldId id="326" r:id="rId23"/>
    <p:sldId id="327" r:id="rId24"/>
    <p:sldId id="328" r:id="rId25"/>
    <p:sldId id="358" r:id="rId26"/>
    <p:sldId id="337" r:id="rId27"/>
    <p:sldId id="330" r:id="rId28"/>
    <p:sldId id="331" r:id="rId29"/>
    <p:sldId id="338" r:id="rId30"/>
    <p:sldId id="333" r:id="rId31"/>
    <p:sldId id="334" r:id="rId32"/>
    <p:sldId id="380" r:id="rId33"/>
    <p:sldId id="381" r:id="rId34"/>
    <p:sldId id="336" r:id="rId35"/>
    <p:sldId id="382" r:id="rId36"/>
    <p:sldId id="339" r:id="rId37"/>
    <p:sldId id="343" r:id="rId38"/>
    <p:sldId id="344" r:id="rId39"/>
    <p:sldId id="345" r:id="rId40"/>
    <p:sldId id="348" r:id="rId41"/>
    <p:sldId id="340" r:id="rId42"/>
    <p:sldId id="341" r:id="rId43"/>
    <p:sldId id="342" r:id="rId44"/>
    <p:sldId id="346" r:id="rId45"/>
    <p:sldId id="335" r:id="rId46"/>
    <p:sldId id="351" r:id="rId47"/>
    <p:sldId id="354" r:id="rId48"/>
    <p:sldId id="413" r:id="rId49"/>
    <p:sldId id="356" r:id="rId50"/>
    <p:sldId id="355" r:id="rId51"/>
    <p:sldId id="409" r:id="rId52"/>
    <p:sldId id="414" r:id="rId53"/>
    <p:sldId id="360" r:id="rId54"/>
    <p:sldId id="365" r:id="rId55"/>
    <p:sldId id="410" r:id="rId56"/>
    <p:sldId id="371" r:id="rId57"/>
    <p:sldId id="362" r:id="rId58"/>
    <p:sldId id="364" r:id="rId59"/>
    <p:sldId id="367" r:id="rId60"/>
    <p:sldId id="369" r:id="rId61"/>
    <p:sldId id="373" r:id="rId62"/>
    <p:sldId id="372" r:id="rId63"/>
    <p:sldId id="352" r:id="rId64"/>
    <p:sldId id="404" r:id="rId65"/>
    <p:sldId id="374" r:id="rId66"/>
    <p:sldId id="376" r:id="rId67"/>
    <p:sldId id="375" r:id="rId68"/>
    <p:sldId id="377" r:id="rId69"/>
    <p:sldId id="405" r:id="rId70"/>
    <p:sldId id="359" r:id="rId71"/>
    <p:sldId id="357" r:id="rId72"/>
    <p:sldId id="378" r:id="rId73"/>
    <p:sldId id="395" r:id="rId74"/>
    <p:sldId id="400" r:id="rId75"/>
    <p:sldId id="396" r:id="rId76"/>
    <p:sldId id="402" r:id="rId77"/>
    <p:sldId id="399" r:id="rId78"/>
    <p:sldId id="385" r:id="rId79"/>
    <p:sldId id="388" r:id="rId80"/>
    <p:sldId id="412" r:id="rId81"/>
    <p:sldId id="389" r:id="rId82"/>
    <p:sldId id="390" r:id="rId83"/>
    <p:sldId id="406" r:id="rId84"/>
    <p:sldId id="391" r:id="rId85"/>
    <p:sldId id="384" r:id="rId86"/>
    <p:sldId id="387" r:id="rId8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E2963C-00E2-45F4-B3F6-85A1782B601E}" type="datetimeFigureOut">
              <a:rPr lang="fr-FR" smtClean="0"/>
              <a:t>20/11/2025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F7BF09-1D7F-477D-A2AA-CE4BF0C9F69E}" type="slidenum">
              <a:rPr lang="fr-FR" smtClean="0"/>
              <a:t>‹N°›</a:t>
            </a:fld>
            <a:endParaRPr lang="fr-FR"/>
          </a:p>
        </p:txBody>
      </p:sp>
    </p:spTree>
    <p:extLst>
      <p:ext uri="{BB962C8B-B14F-4D97-AF65-F5344CB8AC3E}">
        <p14:creationId xmlns:p14="http://schemas.microsoft.com/office/powerpoint/2010/main" val="2110071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a:t>
            </a:fld>
            <a:endParaRPr lang="fr-FR"/>
          </a:p>
        </p:txBody>
      </p:sp>
    </p:spTree>
    <p:extLst>
      <p:ext uri="{BB962C8B-B14F-4D97-AF65-F5344CB8AC3E}">
        <p14:creationId xmlns:p14="http://schemas.microsoft.com/office/powerpoint/2010/main" val="3778936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3</a:t>
            </a:fld>
            <a:endParaRPr lang="fr-FR"/>
          </a:p>
        </p:txBody>
      </p:sp>
    </p:spTree>
    <p:extLst>
      <p:ext uri="{BB962C8B-B14F-4D97-AF65-F5344CB8AC3E}">
        <p14:creationId xmlns:p14="http://schemas.microsoft.com/office/powerpoint/2010/main" val="1629491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4</a:t>
            </a:fld>
            <a:endParaRPr lang="fr-FR"/>
          </a:p>
        </p:txBody>
      </p:sp>
    </p:spTree>
    <p:extLst>
      <p:ext uri="{BB962C8B-B14F-4D97-AF65-F5344CB8AC3E}">
        <p14:creationId xmlns:p14="http://schemas.microsoft.com/office/powerpoint/2010/main" val="1374095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5</a:t>
            </a:fld>
            <a:endParaRPr lang="fr-FR"/>
          </a:p>
        </p:txBody>
      </p:sp>
    </p:spTree>
    <p:extLst>
      <p:ext uri="{BB962C8B-B14F-4D97-AF65-F5344CB8AC3E}">
        <p14:creationId xmlns:p14="http://schemas.microsoft.com/office/powerpoint/2010/main" val="2664854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6</a:t>
            </a:fld>
            <a:endParaRPr lang="fr-FR"/>
          </a:p>
        </p:txBody>
      </p:sp>
    </p:spTree>
    <p:extLst>
      <p:ext uri="{BB962C8B-B14F-4D97-AF65-F5344CB8AC3E}">
        <p14:creationId xmlns:p14="http://schemas.microsoft.com/office/powerpoint/2010/main" val="734645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7</a:t>
            </a:fld>
            <a:endParaRPr lang="fr-FR"/>
          </a:p>
        </p:txBody>
      </p:sp>
    </p:spTree>
    <p:extLst>
      <p:ext uri="{BB962C8B-B14F-4D97-AF65-F5344CB8AC3E}">
        <p14:creationId xmlns:p14="http://schemas.microsoft.com/office/powerpoint/2010/main" val="210787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8</a:t>
            </a:fld>
            <a:endParaRPr lang="fr-FR"/>
          </a:p>
        </p:txBody>
      </p:sp>
    </p:spTree>
    <p:extLst>
      <p:ext uri="{BB962C8B-B14F-4D97-AF65-F5344CB8AC3E}">
        <p14:creationId xmlns:p14="http://schemas.microsoft.com/office/powerpoint/2010/main" val="3130778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9</a:t>
            </a:fld>
            <a:endParaRPr lang="fr-FR"/>
          </a:p>
        </p:txBody>
      </p:sp>
    </p:spTree>
    <p:extLst>
      <p:ext uri="{BB962C8B-B14F-4D97-AF65-F5344CB8AC3E}">
        <p14:creationId xmlns:p14="http://schemas.microsoft.com/office/powerpoint/2010/main" val="1399692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10</a:t>
            </a:fld>
            <a:endParaRPr lang="fr-FR"/>
          </a:p>
        </p:txBody>
      </p:sp>
    </p:spTree>
    <p:extLst>
      <p:ext uri="{BB962C8B-B14F-4D97-AF65-F5344CB8AC3E}">
        <p14:creationId xmlns:p14="http://schemas.microsoft.com/office/powerpoint/2010/main" val="876295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11</a:t>
            </a:fld>
            <a:endParaRPr lang="fr-FR"/>
          </a:p>
        </p:txBody>
      </p:sp>
    </p:spTree>
    <p:extLst>
      <p:ext uri="{BB962C8B-B14F-4D97-AF65-F5344CB8AC3E}">
        <p14:creationId xmlns:p14="http://schemas.microsoft.com/office/powerpoint/2010/main" val="3162822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12</a:t>
            </a:fld>
            <a:endParaRPr lang="fr-FR"/>
          </a:p>
        </p:txBody>
      </p:sp>
    </p:spTree>
    <p:extLst>
      <p:ext uri="{BB962C8B-B14F-4D97-AF65-F5344CB8AC3E}">
        <p14:creationId xmlns:p14="http://schemas.microsoft.com/office/powerpoint/2010/main" val="1263795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13</a:t>
            </a:fld>
            <a:endParaRPr lang="fr-FR"/>
          </a:p>
        </p:txBody>
      </p:sp>
    </p:spTree>
    <p:extLst>
      <p:ext uri="{BB962C8B-B14F-4D97-AF65-F5344CB8AC3E}">
        <p14:creationId xmlns:p14="http://schemas.microsoft.com/office/powerpoint/2010/main" val="1689326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14</a:t>
            </a:fld>
            <a:endParaRPr lang="fr-FR"/>
          </a:p>
        </p:txBody>
      </p:sp>
    </p:spTree>
    <p:extLst>
      <p:ext uri="{BB962C8B-B14F-4D97-AF65-F5344CB8AC3E}">
        <p14:creationId xmlns:p14="http://schemas.microsoft.com/office/powerpoint/2010/main" val="1867069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15</a:t>
            </a:fld>
            <a:endParaRPr lang="fr-FR"/>
          </a:p>
        </p:txBody>
      </p:sp>
    </p:spTree>
    <p:extLst>
      <p:ext uri="{BB962C8B-B14F-4D97-AF65-F5344CB8AC3E}">
        <p14:creationId xmlns:p14="http://schemas.microsoft.com/office/powerpoint/2010/main" val="4079863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16</a:t>
            </a:fld>
            <a:endParaRPr lang="fr-FR"/>
          </a:p>
        </p:txBody>
      </p:sp>
    </p:spTree>
    <p:extLst>
      <p:ext uri="{BB962C8B-B14F-4D97-AF65-F5344CB8AC3E}">
        <p14:creationId xmlns:p14="http://schemas.microsoft.com/office/powerpoint/2010/main" val="3988984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17</a:t>
            </a:fld>
            <a:endParaRPr lang="fr-FR"/>
          </a:p>
        </p:txBody>
      </p:sp>
    </p:spTree>
    <p:extLst>
      <p:ext uri="{BB962C8B-B14F-4D97-AF65-F5344CB8AC3E}">
        <p14:creationId xmlns:p14="http://schemas.microsoft.com/office/powerpoint/2010/main" val="2184366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18</a:t>
            </a:fld>
            <a:endParaRPr lang="fr-FR"/>
          </a:p>
        </p:txBody>
      </p:sp>
    </p:spTree>
    <p:extLst>
      <p:ext uri="{BB962C8B-B14F-4D97-AF65-F5344CB8AC3E}">
        <p14:creationId xmlns:p14="http://schemas.microsoft.com/office/powerpoint/2010/main" val="1467833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19</a:t>
            </a:fld>
            <a:endParaRPr lang="fr-FR"/>
          </a:p>
        </p:txBody>
      </p:sp>
    </p:spTree>
    <p:extLst>
      <p:ext uri="{BB962C8B-B14F-4D97-AF65-F5344CB8AC3E}">
        <p14:creationId xmlns:p14="http://schemas.microsoft.com/office/powerpoint/2010/main" val="13331693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20</a:t>
            </a:fld>
            <a:endParaRPr lang="fr-FR"/>
          </a:p>
        </p:txBody>
      </p:sp>
    </p:spTree>
    <p:extLst>
      <p:ext uri="{BB962C8B-B14F-4D97-AF65-F5344CB8AC3E}">
        <p14:creationId xmlns:p14="http://schemas.microsoft.com/office/powerpoint/2010/main" val="4035637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21</a:t>
            </a:fld>
            <a:endParaRPr lang="fr-FR"/>
          </a:p>
        </p:txBody>
      </p:sp>
    </p:spTree>
    <p:extLst>
      <p:ext uri="{BB962C8B-B14F-4D97-AF65-F5344CB8AC3E}">
        <p14:creationId xmlns:p14="http://schemas.microsoft.com/office/powerpoint/2010/main" val="1626042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22</a:t>
            </a:fld>
            <a:endParaRPr lang="fr-FR"/>
          </a:p>
        </p:txBody>
      </p:sp>
    </p:spTree>
    <p:extLst>
      <p:ext uri="{BB962C8B-B14F-4D97-AF65-F5344CB8AC3E}">
        <p14:creationId xmlns:p14="http://schemas.microsoft.com/office/powerpoint/2010/main" val="3988607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23</a:t>
            </a:fld>
            <a:endParaRPr lang="fr-FR"/>
          </a:p>
        </p:txBody>
      </p:sp>
    </p:spTree>
    <p:extLst>
      <p:ext uri="{BB962C8B-B14F-4D97-AF65-F5344CB8AC3E}">
        <p14:creationId xmlns:p14="http://schemas.microsoft.com/office/powerpoint/2010/main" val="10432186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24</a:t>
            </a:fld>
            <a:endParaRPr lang="fr-FR"/>
          </a:p>
        </p:txBody>
      </p:sp>
    </p:spTree>
    <p:extLst>
      <p:ext uri="{BB962C8B-B14F-4D97-AF65-F5344CB8AC3E}">
        <p14:creationId xmlns:p14="http://schemas.microsoft.com/office/powerpoint/2010/main" val="1621891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26</a:t>
            </a:fld>
            <a:endParaRPr lang="fr-FR"/>
          </a:p>
        </p:txBody>
      </p:sp>
    </p:spTree>
    <p:extLst>
      <p:ext uri="{BB962C8B-B14F-4D97-AF65-F5344CB8AC3E}">
        <p14:creationId xmlns:p14="http://schemas.microsoft.com/office/powerpoint/2010/main" val="28467583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33</a:t>
            </a:fld>
            <a:endParaRPr lang="fr-FR"/>
          </a:p>
        </p:txBody>
      </p:sp>
    </p:spTree>
    <p:extLst>
      <p:ext uri="{BB962C8B-B14F-4D97-AF65-F5344CB8AC3E}">
        <p14:creationId xmlns:p14="http://schemas.microsoft.com/office/powerpoint/2010/main" val="12114746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35</a:t>
            </a:fld>
            <a:endParaRPr lang="fr-FR"/>
          </a:p>
        </p:txBody>
      </p:sp>
    </p:spTree>
    <p:extLst>
      <p:ext uri="{BB962C8B-B14F-4D97-AF65-F5344CB8AC3E}">
        <p14:creationId xmlns:p14="http://schemas.microsoft.com/office/powerpoint/2010/main" val="82358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47</a:t>
            </a:fld>
            <a:endParaRPr lang="fr-FR"/>
          </a:p>
        </p:txBody>
      </p:sp>
    </p:spTree>
    <p:extLst>
      <p:ext uri="{BB962C8B-B14F-4D97-AF65-F5344CB8AC3E}">
        <p14:creationId xmlns:p14="http://schemas.microsoft.com/office/powerpoint/2010/main" val="4876566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71</a:t>
            </a:fld>
            <a:endParaRPr lang="fr-FR"/>
          </a:p>
        </p:txBody>
      </p:sp>
    </p:spTree>
    <p:extLst>
      <p:ext uri="{BB962C8B-B14F-4D97-AF65-F5344CB8AC3E}">
        <p14:creationId xmlns:p14="http://schemas.microsoft.com/office/powerpoint/2010/main" val="2549086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6F7BF09-1D7F-477D-A2AA-CE4BF0C9F69E}" type="slidenum">
              <a:rPr lang="fr-FR" smtClean="0"/>
              <a:t>85</a:t>
            </a:fld>
            <a:endParaRPr lang="fr-FR"/>
          </a:p>
        </p:txBody>
      </p:sp>
    </p:spTree>
    <p:extLst>
      <p:ext uri="{BB962C8B-B14F-4D97-AF65-F5344CB8AC3E}">
        <p14:creationId xmlns:p14="http://schemas.microsoft.com/office/powerpoint/2010/main" val="196968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7B238A5D-D2DE-4F88-96D7-500D72D57C96}" type="datetimeFigureOut">
              <a:rPr lang="fr-FR" smtClean="0"/>
              <a:t>20/11/2025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363533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B238A5D-D2DE-4F88-96D7-500D72D57C96}" type="datetimeFigureOut">
              <a:rPr lang="fr-FR" smtClean="0"/>
              <a:t>20/11/2025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4101338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7B238A5D-D2DE-4F88-96D7-500D72D57C96}" type="datetimeFigureOut">
              <a:rPr lang="fr-FR" smtClean="0"/>
              <a:t>20/11/2025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2882095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B238A5D-D2DE-4F88-96D7-500D72D57C96}" type="datetimeFigureOut">
              <a:rPr lang="fr-FR" smtClean="0"/>
              <a:t>20/11/2025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53924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B238A5D-D2DE-4F88-96D7-500D72D57C96}" type="datetimeFigureOut">
              <a:rPr lang="fr-FR" smtClean="0"/>
              <a:t>20/11/2025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212506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B238A5D-D2DE-4F88-96D7-500D72D57C96}" type="datetimeFigureOut">
              <a:rPr lang="fr-FR" smtClean="0"/>
              <a:t>20/11/2025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494376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B238A5D-D2DE-4F88-96D7-500D72D57C96}" type="datetimeFigureOut">
              <a:rPr lang="fr-FR" smtClean="0"/>
              <a:t>20/11/2025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318317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B238A5D-D2DE-4F88-96D7-500D72D57C96}" type="datetimeFigureOut">
              <a:rPr lang="fr-FR" smtClean="0"/>
              <a:t>20/11/2025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54767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B238A5D-D2DE-4F88-96D7-500D72D57C96}" type="datetimeFigureOut">
              <a:rPr lang="fr-FR" smtClean="0"/>
              <a:t>20/11/2025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367097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B238A5D-D2DE-4F88-96D7-500D72D57C96}" type="datetimeFigureOut">
              <a:rPr lang="fr-FR" smtClean="0"/>
              <a:t>20/11/2025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2341633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B238A5D-D2DE-4F88-96D7-500D72D57C96}" type="datetimeFigureOut">
              <a:rPr lang="fr-FR" smtClean="0"/>
              <a:t>20/11/2025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935797-84B8-4555-8761-77B0384A8368}" type="slidenum">
              <a:rPr lang="fr-FR" smtClean="0"/>
              <a:t>‹N°›</a:t>
            </a:fld>
            <a:endParaRPr lang="fr-FR"/>
          </a:p>
        </p:txBody>
      </p:sp>
    </p:spTree>
    <p:extLst>
      <p:ext uri="{BB962C8B-B14F-4D97-AF65-F5344CB8AC3E}">
        <p14:creationId xmlns:p14="http://schemas.microsoft.com/office/powerpoint/2010/main" val="325744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238A5D-D2DE-4F88-96D7-500D72D57C96}" type="datetimeFigureOut">
              <a:rPr lang="fr-FR" smtClean="0"/>
              <a:t>20/11/2025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935797-84B8-4555-8761-77B0384A8368}" type="slidenum">
              <a:rPr lang="fr-FR" smtClean="0"/>
              <a:t>‹N°›</a:t>
            </a:fld>
            <a:endParaRPr lang="fr-FR"/>
          </a:p>
        </p:txBody>
      </p:sp>
    </p:spTree>
    <p:extLst>
      <p:ext uri="{BB962C8B-B14F-4D97-AF65-F5344CB8AC3E}">
        <p14:creationId xmlns:p14="http://schemas.microsoft.com/office/powerpoint/2010/main" val="1407783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0.jpg"/><Relationship Id="rId5" Type="http://schemas.openxmlformats.org/officeDocument/2006/relationships/image" Target="../media/image3.jpeg"/><Relationship Id="rId4" Type="http://schemas.openxmlformats.org/officeDocument/2006/relationships/image" Target="../media/image9.jpeg"/></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12.jpg"/><Relationship Id="rId4" Type="http://schemas.openxmlformats.org/officeDocument/2006/relationships/image" Target="../media/image11.jpg"/></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gif"/><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hyperlink" Target="http://www.persee.fr/doc/spgeo_0046-2497_1980_num_9_4_3572" TargetMode="External"/><Relationship Id="rId2" Type="http://schemas.openxmlformats.org/officeDocument/2006/relationships/hyperlink" Target="https://books.openedition.org/pufr/1802?lang=f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539552" y="-15343"/>
            <a:ext cx="8352928" cy="1428119"/>
          </a:xfrm>
        </p:spPr>
        <p:txBody>
          <a:bodyPr>
            <a:normAutofit/>
          </a:bodyPr>
          <a:lstStyle/>
          <a:p>
            <a:endParaRPr lang="fr-FR" sz="2200" b="1" dirty="0"/>
          </a:p>
        </p:txBody>
      </p:sp>
      <p:sp>
        <p:nvSpPr>
          <p:cNvPr id="3" name="Sous-titre 2"/>
          <p:cNvSpPr>
            <a:spLocks noGrp="1"/>
          </p:cNvSpPr>
          <p:nvPr>
            <p:ph type="subTitle" idx="1"/>
          </p:nvPr>
        </p:nvSpPr>
        <p:spPr>
          <a:xfrm>
            <a:off x="179512" y="1582056"/>
            <a:ext cx="8784976" cy="5275943"/>
          </a:xfrm>
        </p:spPr>
        <p:txBody>
          <a:bodyPr>
            <a:normAutofit fontScale="47500" lnSpcReduction="20000"/>
          </a:bodyPr>
          <a:lstStyle/>
          <a:p>
            <a:pPr algn="l"/>
            <a:endParaRPr lang="fr-FR" sz="1800" dirty="0">
              <a:solidFill>
                <a:schemeClr val="tx1"/>
              </a:solidFill>
            </a:endParaRPr>
          </a:p>
          <a:p>
            <a:r>
              <a:rPr lang="fr-FR" sz="5900" b="1" dirty="0">
                <a:solidFill>
                  <a:srgbClr val="00B0F0"/>
                </a:solidFill>
              </a:rPr>
              <a:t>Chapitre 1. Repenser l’Espace Géographique : définitions, rappels contextuels et méthodologiques</a:t>
            </a:r>
            <a:endParaRPr lang="fr-FR" sz="5900" dirty="0">
              <a:solidFill>
                <a:srgbClr val="00B0F0"/>
              </a:solidFill>
            </a:endParaRPr>
          </a:p>
          <a:p>
            <a:endParaRPr lang="fr-FR" b="1" dirty="0">
              <a:solidFill>
                <a:srgbClr val="FF0000"/>
              </a:solidFill>
            </a:endParaRPr>
          </a:p>
          <a:p>
            <a:r>
              <a:rPr lang="fr-FR" sz="7600" b="1" dirty="0">
                <a:solidFill>
                  <a:srgbClr val="FF0000"/>
                </a:solidFill>
              </a:rPr>
              <a:t>EC Espaces et Territoires</a:t>
            </a:r>
            <a:endParaRPr lang="fr-FR" sz="7600" dirty="0">
              <a:solidFill>
                <a:srgbClr val="FF0000"/>
              </a:solidFill>
            </a:endParaRPr>
          </a:p>
          <a:p>
            <a:endParaRPr lang="fr-FR" sz="2400" b="1" dirty="0">
              <a:solidFill>
                <a:schemeClr val="tx1"/>
              </a:solidFill>
            </a:endParaRPr>
          </a:p>
          <a:p>
            <a:endParaRPr lang="fr-FR" sz="3400" dirty="0">
              <a:solidFill>
                <a:schemeClr val="tx1"/>
              </a:solidFill>
            </a:endParaRPr>
          </a:p>
          <a:p>
            <a:r>
              <a:rPr lang="fr-FR" sz="2400" b="1" dirty="0"/>
              <a:t>                                </a:t>
            </a:r>
            <a:endParaRPr lang="fr-FR" sz="2400" dirty="0"/>
          </a:p>
          <a:p>
            <a:endParaRPr lang="fr-FR" sz="2400" b="1" dirty="0">
              <a:solidFill>
                <a:schemeClr val="tx1"/>
              </a:solidFill>
            </a:endParaRPr>
          </a:p>
          <a:p>
            <a:endParaRPr lang="fr-FR" sz="2400" b="1" dirty="0">
              <a:solidFill>
                <a:schemeClr val="tx1"/>
              </a:solidFill>
            </a:endParaRPr>
          </a:p>
          <a:p>
            <a:r>
              <a:rPr lang="fr-FR" sz="3400" b="1" dirty="0">
                <a:solidFill>
                  <a:schemeClr val="tx1"/>
                </a:solidFill>
              </a:rPr>
              <a:t>Licence 1</a:t>
            </a:r>
          </a:p>
          <a:p>
            <a:r>
              <a:rPr lang="fr-FR" sz="3400" b="1" dirty="0">
                <a:solidFill>
                  <a:schemeClr val="tx1"/>
                </a:solidFill>
              </a:rPr>
              <a:t> </a:t>
            </a:r>
            <a:r>
              <a:rPr lang="fr-FR" sz="4400" b="1" dirty="0">
                <a:solidFill>
                  <a:schemeClr val="tx1"/>
                </a:solidFill>
              </a:rPr>
              <a:t>Département Urbanisme Architecture et Aménagement Durable des Territoires(DU2ADT)</a:t>
            </a:r>
            <a:endParaRPr lang="fr-FR" sz="4400" dirty="0">
              <a:solidFill>
                <a:schemeClr val="tx1"/>
              </a:solidFill>
            </a:endParaRPr>
          </a:p>
          <a:p>
            <a:pPr algn="l"/>
            <a:endParaRPr lang="fr-FR" sz="4400" dirty="0">
              <a:solidFill>
                <a:schemeClr val="tx1"/>
              </a:solidFill>
            </a:endParaRPr>
          </a:p>
          <a:p>
            <a:pPr algn="l"/>
            <a:endParaRPr lang="fr-FR" sz="3400" dirty="0">
              <a:solidFill>
                <a:schemeClr val="tx1"/>
              </a:solidFill>
            </a:endParaRPr>
          </a:p>
          <a:p>
            <a:pPr algn="l"/>
            <a:endParaRPr lang="fr-FR" sz="3400" dirty="0">
              <a:solidFill>
                <a:schemeClr val="tx1"/>
              </a:solidFill>
            </a:endParaRPr>
          </a:p>
          <a:p>
            <a:pPr algn="r"/>
            <a:r>
              <a:rPr lang="fr-FR" sz="3400" b="1" dirty="0">
                <a:solidFill>
                  <a:schemeClr val="tx1"/>
                </a:solidFill>
              </a:rPr>
              <a:t>Mai 2024</a:t>
            </a:r>
          </a:p>
          <a:p>
            <a:r>
              <a:rPr lang="fr-SN" sz="2400" dirty="0">
                <a:solidFill>
                  <a:schemeClr val="tx1"/>
                </a:solidFill>
              </a:rPr>
              <a:t> </a:t>
            </a:r>
            <a:br>
              <a:rPr lang="fr-FR" sz="1600" dirty="0"/>
            </a:br>
            <a:endParaRPr lang="fr-FR" sz="1800" dirty="0">
              <a:solidFill>
                <a:schemeClr val="tx1"/>
              </a:solidFill>
            </a:endParaRPr>
          </a:p>
          <a:p>
            <a:pPr algn="l"/>
            <a:endParaRPr lang="fr-FR" sz="1800" dirty="0">
              <a:solidFill>
                <a:schemeClr val="tx1"/>
              </a:solidFill>
            </a:endParaRPr>
          </a:p>
          <a:p>
            <a:endParaRPr lang="fr-FR" sz="2200" b="1" dirty="0">
              <a:solidFill>
                <a:schemeClr val="tx1"/>
              </a:solidFill>
            </a:endParaRPr>
          </a:p>
          <a:p>
            <a:endParaRPr lang="fr-FR" sz="2200" b="1" dirty="0">
              <a:solidFill>
                <a:schemeClr val="tx1"/>
              </a:solidFill>
            </a:endParaRPr>
          </a:p>
          <a:p>
            <a:endParaRPr lang="fr-FR" sz="2600" b="1" dirty="0">
              <a:solidFill>
                <a:schemeClr val="tx1"/>
              </a:solidFill>
            </a:endParaRPr>
          </a:p>
        </p:txBody>
      </p:sp>
      <p:pic>
        <p:nvPicPr>
          <p:cNvPr id="9" name="Image 8"/>
          <p:cNvPicPr/>
          <p:nvPr/>
        </p:nvPicPr>
        <p:blipFill>
          <a:blip r:embed="rId2" cstate="print">
            <a:extLst>
              <a:ext uri="{28A0092B-C50C-407E-A947-70E740481C1C}">
                <a14:useLocalDpi xmlns:a14="http://schemas.microsoft.com/office/drawing/2010/main" val="0"/>
              </a:ext>
            </a:extLst>
          </a:blip>
          <a:stretch>
            <a:fillRect/>
          </a:stretch>
        </p:blipFill>
        <p:spPr>
          <a:xfrm>
            <a:off x="3779913" y="-37871"/>
            <a:ext cx="936104" cy="946591"/>
          </a:xfrm>
          <a:prstGeom prst="rect">
            <a:avLst/>
          </a:prstGeom>
        </p:spPr>
      </p:pic>
    </p:spTree>
    <p:extLst>
      <p:ext uri="{BB962C8B-B14F-4D97-AF65-F5344CB8AC3E}">
        <p14:creationId xmlns:p14="http://schemas.microsoft.com/office/powerpoint/2010/main" val="1373529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lstStyle/>
          <a:p>
            <a:endParaRPr lang="fr-FR" b="1" dirty="0">
              <a:solidFill>
                <a:srgbClr val="00B0F0"/>
              </a:solidFill>
            </a:endParaRPr>
          </a:p>
        </p:txBody>
      </p:sp>
      <p:sp>
        <p:nvSpPr>
          <p:cNvPr id="3" name="Espace réservé du contenu 2"/>
          <p:cNvSpPr>
            <a:spLocks noGrp="1"/>
          </p:cNvSpPr>
          <p:nvPr>
            <p:ph idx="1"/>
          </p:nvPr>
        </p:nvSpPr>
        <p:spPr>
          <a:xfrm>
            <a:off x="251520" y="1340768"/>
            <a:ext cx="8640960" cy="5400600"/>
          </a:xfrm>
        </p:spPr>
        <p:txBody>
          <a:bodyPr>
            <a:normAutofit/>
          </a:bodyPr>
          <a:lstStyle/>
          <a:p>
            <a:endParaRPr lang="fr-FR" dirty="0"/>
          </a:p>
          <a:p>
            <a:endParaRPr lang="fr-FR" dirty="0"/>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3779913" y="-37871"/>
            <a:ext cx="1152128" cy="1162615"/>
          </a:xfrm>
          <a:prstGeom prst="rect">
            <a:avLst/>
          </a:prstGeom>
        </p:spPr>
      </p:pic>
      <p:sp>
        <p:nvSpPr>
          <p:cNvPr id="6" name="Rectangle 5"/>
          <p:cNvSpPr/>
          <p:nvPr/>
        </p:nvSpPr>
        <p:spPr>
          <a:xfrm>
            <a:off x="107504" y="1566952"/>
            <a:ext cx="9036496" cy="5262979"/>
          </a:xfrm>
          <a:prstGeom prst="rect">
            <a:avLst/>
          </a:prstGeom>
        </p:spPr>
        <p:txBody>
          <a:bodyPr wrap="square">
            <a:spAutoFit/>
          </a:bodyPr>
          <a:lstStyle/>
          <a:p>
            <a:r>
              <a:rPr lang="fr-SN" sz="2400" b="1" dirty="0">
                <a:solidFill>
                  <a:srgbClr val="FF0000"/>
                </a:solidFill>
              </a:rPr>
              <a:t>Objectifs spécifiques de ce chapitre</a:t>
            </a:r>
            <a:r>
              <a:rPr lang="fr-SN" sz="2400" b="1" dirty="0"/>
              <a:t> :</a:t>
            </a:r>
          </a:p>
          <a:p>
            <a:endParaRPr lang="fr-FR" sz="2400" dirty="0"/>
          </a:p>
          <a:p>
            <a:pPr lvl="0"/>
            <a:r>
              <a:rPr lang="fr-SN" sz="2400" b="1" dirty="0"/>
              <a:t>OS1 : </a:t>
            </a:r>
            <a:r>
              <a:rPr lang="fr-FR" sz="2400" dirty="0"/>
              <a:t>Saisir les différentes lectures pluridisciplinaires de l’Espace ainsi que les apports méthodologiques.</a:t>
            </a:r>
          </a:p>
          <a:p>
            <a:r>
              <a:rPr lang="fr-FR" sz="2400" dirty="0"/>
              <a:t> </a:t>
            </a:r>
          </a:p>
          <a:p>
            <a:pPr lvl="0"/>
            <a:r>
              <a:rPr lang="fr-SN" sz="2400" b="1" dirty="0"/>
              <a:t>OS2 : </a:t>
            </a:r>
            <a:r>
              <a:rPr lang="fr-SN" sz="2400" dirty="0"/>
              <a:t>Définir le concept d’espace géographique et identifier ses différentes composantes et dimensions ainsi que les enjeux </a:t>
            </a:r>
            <a:endParaRPr lang="fr-FR" sz="2400" dirty="0"/>
          </a:p>
          <a:p>
            <a:r>
              <a:rPr lang="fr-SN" sz="2400" b="1" dirty="0"/>
              <a:t> </a:t>
            </a:r>
            <a:endParaRPr lang="fr-FR" sz="2400" dirty="0"/>
          </a:p>
          <a:p>
            <a:r>
              <a:rPr lang="fr-SN" sz="2400" b="1" dirty="0"/>
              <a:t>OS3 :</a:t>
            </a:r>
            <a:r>
              <a:rPr lang="fr-SN" sz="2400" dirty="0"/>
              <a:t> </a:t>
            </a:r>
            <a:r>
              <a:rPr lang="en-US" sz="2400" dirty="0" err="1"/>
              <a:t>Décrire</a:t>
            </a:r>
            <a:r>
              <a:rPr lang="en-US" sz="2400" dirty="0"/>
              <a:t> la </a:t>
            </a:r>
            <a:r>
              <a:rPr lang="en-US" sz="2400" dirty="0" err="1"/>
              <a:t>génése</a:t>
            </a:r>
            <a:r>
              <a:rPr lang="en-US" sz="2400" dirty="0"/>
              <a:t>, les </a:t>
            </a:r>
            <a:r>
              <a:rPr lang="en-US" sz="2400" dirty="0" err="1"/>
              <a:t>processus</a:t>
            </a:r>
            <a:r>
              <a:rPr lang="en-US" sz="2400" dirty="0"/>
              <a:t>, usages et </a:t>
            </a:r>
            <a:r>
              <a:rPr lang="en-US" sz="2400" dirty="0" err="1"/>
              <a:t>régles</a:t>
            </a:r>
            <a:r>
              <a:rPr lang="en-US" sz="2400" dirty="0"/>
              <a:t> </a:t>
            </a:r>
            <a:r>
              <a:rPr lang="en-US" sz="2400" dirty="0" err="1"/>
              <a:t>rattachés</a:t>
            </a:r>
            <a:r>
              <a:rPr lang="en-US" sz="2400" dirty="0"/>
              <a:t> au concept de </a:t>
            </a:r>
            <a:r>
              <a:rPr lang="en-US" sz="2400" dirty="0" err="1"/>
              <a:t>l’Espace</a:t>
            </a:r>
            <a:br>
              <a:rPr lang="fr-FR" sz="2400" dirty="0"/>
            </a:br>
            <a:br>
              <a:rPr lang="fr-FR" sz="2400" dirty="0"/>
            </a:br>
            <a:endParaRPr lang="fr-FR" sz="2400" dirty="0"/>
          </a:p>
          <a:p>
            <a:endParaRPr lang="fr-SN" sz="2400" dirty="0"/>
          </a:p>
          <a:p>
            <a:endParaRPr lang="fr-FR" sz="2400" dirty="0"/>
          </a:p>
        </p:txBody>
      </p:sp>
      <p:sp>
        <p:nvSpPr>
          <p:cNvPr id="10" name="Espace réservé du pied de page 9"/>
          <p:cNvSpPr>
            <a:spLocks noGrp="1"/>
          </p:cNvSpPr>
          <p:nvPr>
            <p:ph type="ftr" sz="quarter" idx="11"/>
          </p:nvPr>
        </p:nvSpPr>
        <p:spPr>
          <a:xfrm>
            <a:off x="1763688" y="6356350"/>
            <a:ext cx="6408712" cy="385018"/>
          </a:xfrm>
        </p:spPr>
        <p:txBody>
          <a:bodyPr/>
          <a:lstStyle/>
          <a:p>
            <a:r>
              <a:rPr lang="fr-FR" sz="1600" dirty="0"/>
              <a:t>                                                       Espaces et Territoires</a:t>
            </a:r>
          </a:p>
        </p:txBody>
      </p:sp>
    </p:spTree>
    <p:extLst>
      <p:ext uri="{BB962C8B-B14F-4D97-AF65-F5344CB8AC3E}">
        <p14:creationId xmlns:p14="http://schemas.microsoft.com/office/powerpoint/2010/main" val="95238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lstStyle/>
          <a:p>
            <a:r>
              <a:rPr lang="fr-FR" b="1" dirty="0">
                <a:solidFill>
                  <a:srgbClr val="00B0F0"/>
                </a:solidFill>
              </a:rPr>
              <a:t>Sommaire du cours </a:t>
            </a:r>
          </a:p>
        </p:txBody>
      </p:sp>
      <p:sp>
        <p:nvSpPr>
          <p:cNvPr id="3" name="Espace réservé du contenu 2"/>
          <p:cNvSpPr>
            <a:spLocks noGrp="1"/>
          </p:cNvSpPr>
          <p:nvPr>
            <p:ph idx="1"/>
          </p:nvPr>
        </p:nvSpPr>
        <p:spPr>
          <a:xfrm>
            <a:off x="107504" y="890516"/>
            <a:ext cx="8784976" cy="5649900"/>
          </a:xfrm>
        </p:spPr>
        <p:txBody>
          <a:bodyPr>
            <a:normAutofit fontScale="70000" lnSpcReduction="20000"/>
          </a:bodyPr>
          <a:lstStyle/>
          <a:p>
            <a:pPr marL="0" indent="0">
              <a:buNone/>
            </a:pPr>
            <a:r>
              <a:rPr lang="fr-SN" dirty="0"/>
              <a:t> </a:t>
            </a:r>
            <a:endParaRPr lang="fr-FR" dirty="0"/>
          </a:p>
          <a:p>
            <a:pPr marL="0" lvl="0" indent="0">
              <a:buNone/>
            </a:pPr>
            <a:r>
              <a:rPr lang="fr-SN" b="1" dirty="0">
                <a:solidFill>
                  <a:srgbClr val="00B0F0"/>
                </a:solidFill>
              </a:rPr>
              <a:t>I. Concept d’espace : approches pluridisciplinaires et méthodologiques ; définitions et système spatial</a:t>
            </a:r>
            <a:endParaRPr lang="fr-FR" dirty="0">
              <a:solidFill>
                <a:srgbClr val="00B0F0"/>
              </a:solidFill>
            </a:endParaRPr>
          </a:p>
          <a:p>
            <a:pPr marL="0" indent="0">
              <a:buNone/>
            </a:pPr>
            <a:r>
              <a:rPr lang="fr-SN" b="1" dirty="0">
                <a:solidFill>
                  <a:srgbClr val="00B0F0"/>
                </a:solidFill>
              </a:rPr>
              <a:t> </a:t>
            </a:r>
            <a:endParaRPr lang="fr-FR" dirty="0">
              <a:solidFill>
                <a:srgbClr val="00B0F0"/>
              </a:solidFill>
            </a:endParaRPr>
          </a:p>
          <a:p>
            <a:pPr marL="0" lvl="0" indent="0">
              <a:buNone/>
            </a:pPr>
            <a:r>
              <a:rPr lang="fr-SN" b="1" dirty="0"/>
              <a:t>         1) Approches pluridisciplinaires et </a:t>
            </a:r>
            <a:r>
              <a:rPr lang="fr-SN" b="1" dirty="0" err="1"/>
              <a:t>Génése</a:t>
            </a:r>
            <a:r>
              <a:rPr lang="fr-SN" b="1" dirty="0"/>
              <a:t> du concept </a:t>
            </a:r>
            <a:endParaRPr lang="fr-FR" dirty="0"/>
          </a:p>
          <a:p>
            <a:pPr marL="0" lvl="0" indent="0">
              <a:buNone/>
            </a:pPr>
            <a:r>
              <a:rPr lang="fr-FR" b="1" dirty="0"/>
              <a:t>          2) </a:t>
            </a:r>
            <a:r>
              <a:rPr lang="fr-SN" b="1" dirty="0"/>
              <a:t>Quelques Définitions </a:t>
            </a:r>
            <a:endParaRPr lang="fr-FR" dirty="0"/>
          </a:p>
          <a:p>
            <a:pPr marL="0" indent="0">
              <a:buNone/>
            </a:pPr>
            <a:r>
              <a:rPr lang="fr-SN" b="1" dirty="0"/>
              <a:t>          3) Les éléments du </a:t>
            </a:r>
            <a:r>
              <a:rPr lang="fr-SN" b="1" dirty="0" err="1"/>
              <a:t>systéme</a:t>
            </a:r>
            <a:r>
              <a:rPr lang="fr-SN" b="1" dirty="0"/>
              <a:t> spatial</a:t>
            </a:r>
            <a:endParaRPr lang="fr-FR" dirty="0"/>
          </a:p>
          <a:p>
            <a:pPr marL="0" indent="0">
              <a:buNone/>
            </a:pPr>
            <a:r>
              <a:rPr lang="fr-SN" dirty="0"/>
              <a:t> </a:t>
            </a:r>
            <a:endParaRPr lang="fr-FR" dirty="0"/>
          </a:p>
          <a:p>
            <a:pPr marL="0" lvl="0" indent="0">
              <a:buNone/>
            </a:pPr>
            <a:r>
              <a:rPr lang="fr-SN" b="1" dirty="0">
                <a:solidFill>
                  <a:srgbClr val="00B0F0"/>
                </a:solidFill>
              </a:rPr>
              <a:t>II. Les composantes et enjeux de l’Espace Géographique</a:t>
            </a:r>
            <a:endParaRPr lang="fr-FR" dirty="0">
              <a:solidFill>
                <a:srgbClr val="00B0F0"/>
              </a:solidFill>
            </a:endParaRPr>
          </a:p>
          <a:p>
            <a:pPr marL="514350" lvl="0" indent="-514350">
              <a:buAutoNum type="arabicParenR"/>
            </a:pPr>
            <a:r>
              <a:rPr lang="fr-SN" b="1" dirty="0"/>
              <a:t>Dimensions et composantes de l’espace</a:t>
            </a:r>
            <a:endParaRPr lang="fr-FR" dirty="0"/>
          </a:p>
          <a:p>
            <a:pPr marL="514350" lvl="0" indent="-514350">
              <a:buAutoNum type="arabicParenR"/>
            </a:pPr>
            <a:r>
              <a:rPr lang="fr-SN" b="1" dirty="0"/>
              <a:t>Enjeux spatiaux</a:t>
            </a:r>
            <a:endParaRPr lang="fr-FR" dirty="0"/>
          </a:p>
          <a:p>
            <a:pPr marL="0" indent="0">
              <a:buNone/>
            </a:pPr>
            <a:endParaRPr lang="fr-SN" b="1" dirty="0"/>
          </a:p>
          <a:p>
            <a:pPr marL="0" indent="0">
              <a:buNone/>
            </a:pPr>
            <a:r>
              <a:rPr lang="fr-SN" b="1" dirty="0">
                <a:solidFill>
                  <a:srgbClr val="00B0F0"/>
                </a:solidFill>
              </a:rPr>
              <a:t>III. L’analyse spatiale : lois, échelles, organisation spatiale et quelques applications</a:t>
            </a:r>
            <a:endParaRPr lang="fr-FR" dirty="0">
              <a:solidFill>
                <a:srgbClr val="00B0F0"/>
              </a:solidFill>
            </a:endParaRPr>
          </a:p>
          <a:p>
            <a:pPr marL="0" indent="0">
              <a:buNone/>
            </a:pPr>
            <a:endParaRPr lang="fr-FR" b="1" dirty="0">
              <a:solidFill>
                <a:srgbClr val="FF0000"/>
              </a:solidFill>
            </a:endParaRPr>
          </a:p>
          <a:p>
            <a:pPr marL="0" indent="0">
              <a:buNone/>
            </a:pPr>
            <a:r>
              <a:rPr lang="fr-FR" b="1" dirty="0">
                <a:solidFill>
                  <a:srgbClr val="00B0F0"/>
                </a:solidFill>
              </a:rPr>
              <a:t>IV. La </a:t>
            </a:r>
            <a:r>
              <a:rPr lang="fr-SN" b="1" dirty="0">
                <a:solidFill>
                  <a:srgbClr val="00B0F0"/>
                </a:solidFill>
              </a:rPr>
              <a:t>production de l’Espace </a:t>
            </a:r>
            <a:r>
              <a:rPr lang="fr-SN" b="1">
                <a:solidFill>
                  <a:srgbClr val="00B0F0"/>
                </a:solidFill>
              </a:rPr>
              <a:t>: usages </a:t>
            </a:r>
            <a:r>
              <a:rPr lang="fr-SN" b="1" dirty="0">
                <a:solidFill>
                  <a:srgbClr val="00B0F0"/>
                </a:solidFill>
              </a:rPr>
              <a:t>et règles</a:t>
            </a:r>
            <a:endParaRPr lang="fr-FR" dirty="0">
              <a:solidFill>
                <a:srgbClr val="00B0F0"/>
              </a:solidFill>
            </a:endParaRPr>
          </a:p>
          <a:p>
            <a:pPr marL="0" indent="0">
              <a:buNone/>
            </a:pPr>
            <a:r>
              <a:rPr lang="fr-SN" dirty="0"/>
              <a:t> </a:t>
            </a:r>
            <a:endParaRPr lang="fr-FR" dirty="0"/>
          </a:p>
          <a:p>
            <a:pPr marL="0" indent="0">
              <a:buNone/>
            </a:pPr>
            <a:endParaRPr lang="fr-FR" dirty="0"/>
          </a:p>
          <a:p>
            <a:pPr marL="0" indent="0">
              <a:buNone/>
            </a:pPr>
            <a:endParaRPr lang="fr-FR" dirty="0"/>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7740352" y="5892"/>
            <a:ext cx="1152128" cy="1162615"/>
          </a:xfrm>
          <a:prstGeom prst="rect">
            <a:avLst/>
          </a:prstGeom>
        </p:spPr>
      </p:pic>
      <p:sp>
        <p:nvSpPr>
          <p:cNvPr id="6" name="Rectangle 5"/>
          <p:cNvSpPr/>
          <p:nvPr/>
        </p:nvSpPr>
        <p:spPr>
          <a:xfrm>
            <a:off x="107504" y="1566952"/>
            <a:ext cx="9036496" cy="1938992"/>
          </a:xfrm>
          <a:prstGeom prst="rect">
            <a:avLst/>
          </a:prstGeom>
        </p:spPr>
        <p:txBody>
          <a:bodyPr wrap="square">
            <a:spAutoFit/>
          </a:bodyPr>
          <a:lstStyle/>
          <a:p>
            <a:br>
              <a:rPr lang="fr-FR" sz="2400" dirty="0"/>
            </a:br>
            <a:br>
              <a:rPr lang="fr-FR" sz="2400" dirty="0"/>
            </a:br>
            <a:endParaRPr lang="fr-FR" sz="2400" dirty="0"/>
          </a:p>
          <a:p>
            <a:endParaRPr lang="fr-SN" sz="2400" dirty="0"/>
          </a:p>
          <a:p>
            <a:endParaRPr lang="fr-FR" sz="2400" dirty="0"/>
          </a:p>
        </p:txBody>
      </p:sp>
      <p:sp>
        <p:nvSpPr>
          <p:cNvPr id="10" name="Espace réservé du pied de page 9"/>
          <p:cNvSpPr>
            <a:spLocks noGrp="1"/>
          </p:cNvSpPr>
          <p:nvPr>
            <p:ph type="ftr" sz="quarter" idx="11"/>
          </p:nvPr>
        </p:nvSpPr>
        <p:spPr>
          <a:xfrm>
            <a:off x="1763688" y="6356350"/>
            <a:ext cx="6408712" cy="385018"/>
          </a:xfrm>
        </p:spPr>
        <p:txBody>
          <a:bodyPr/>
          <a:lstStyle/>
          <a:p>
            <a:r>
              <a:rPr lang="fr-FR" sz="1600" dirty="0"/>
              <a:t>                                            Espaces et Territoires</a:t>
            </a:r>
          </a:p>
        </p:txBody>
      </p:sp>
    </p:spTree>
    <p:extLst>
      <p:ext uri="{BB962C8B-B14F-4D97-AF65-F5344CB8AC3E}">
        <p14:creationId xmlns:p14="http://schemas.microsoft.com/office/powerpoint/2010/main" val="1774906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899592" y="2130425"/>
            <a:ext cx="7848872" cy="1370583"/>
          </a:xfrm>
        </p:spPr>
        <p:txBody>
          <a:bodyPr>
            <a:normAutofit fontScale="90000"/>
          </a:bodyPr>
          <a:lstStyle/>
          <a:p>
            <a:pPr lvl="0"/>
            <a:br>
              <a:rPr lang="fr-SN" sz="6000" b="1" dirty="0">
                <a:solidFill>
                  <a:srgbClr val="00B0F0"/>
                </a:solidFill>
              </a:rPr>
            </a:br>
            <a:br>
              <a:rPr lang="fr-SN" sz="6000" b="1" dirty="0">
                <a:solidFill>
                  <a:srgbClr val="00B0F0"/>
                </a:solidFill>
              </a:rPr>
            </a:br>
            <a:r>
              <a:rPr lang="fr-SN" sz="6000" b="1" dirty="0">
                <a:solidFill>
                  <a:srgbClr val="00B0F0"/>
                </a:solidFill>
              </a:rPr>
              <a:t>I. Concept d’espace</a:t>
            </a:r>
            <a:br>
              <a:rPr lang="fr-SN" sz="6000" b="1" dirty="0">
                <a:solidFill>
                  <a:srgbClr val="00B0F0"/>
                </a:solidFill>
              </a:rPr>
            </a:br>
            <a:r>
              <a:rPr lang="fr-SN" sz="6000" b="1" dirty="0">
                <a:solidFill>
                  <a:srgbClr val="00B0F0"/>
                </a:solidFill>
              </a:rPr>
              <a:t>Géographique </a:t>
            </a:r>
            <a:br>
              <a:rPr lang="fr-FR" dirty="0">
                <a:solidFill>
                  <a:srgbClr val="00B0F0"/>
                </a:solidFill>
              </a:rPr>
            </a:br>
            <a:endParaRPr lang="fr-FR" dirty="0"/>
          </a:p>
        </p:txBody>
      </p:sp>
      <p:sp>
        <p:nvSpPr>
          <p:cNvPr id="3" name="Espace réservé du contenu 2"/>
          <p:cNvSpPr>
            <a:spLocks noGrp="1"/>
          </p:cNvSpPr>
          <p:nvPr>
            <p:ph type="subTitle" idx="1"/>
          </p:nvPr>
        </p:nvSpPr>
        <p:spPr/>
        <p:txBody>
          <a:bodyPr>
            <a:noAutofit/>
          </a:bodyPr>
          <a:lstStyle/>
          <a:p>
            <a:endParaRPr lang="fr-FR" sz="2400" dirty="0"/>
          </a:p>
          <a:p>
            <a:endParaRPr lang="fr-FR" sz="2800" dirty="0"/>
          </a:p>
        </p:txBody>
      </p:sp>
      <p:pic>
        <p:nvPicPr>
          <p:cNvPr id="4" name="officeArt object" descr="logo_UAM.jpg"/>
          <p:cNvPicPr/>
          <p:nvPr/>
        </p:nvPicPr>
        <p:blipFill>
          <a:blip r:embed="rId3"/>
          <a:stretch>
            <a:fillRect/>
          </a:stretch>
        </p:blipFill>
        <p:spPr>
          <a:xfrm>
            <a:off x="8100392" y="44624"/>
            <a:ext cx="1043608" cy="872867"/>
          </a:xfrm>
          <a:prstGeom prst="rect">
            <a:avLst/>
          </a:prstGeom>
          <a:ln w="12700" cap="flat">
            <a:noFill/>
            <a:miter lim="400000"/>
          </a:ln>
          <a:effectLst/>
        </p:spPr>
      </p:pic>
      <p:sp>
        <p:nvSpPr>
          <p:cNvPr id="2" name="Espace réservé du pied de page 1"/>
          <p:cNvSpPr>
            <a:spLocks noGrp="1"/>
          </p:cNvSpPr>
          <p:nvPr>
            <p:ph type="ftr" sz="quarter" idx="11"/>
          </p:nvPr>
        </p:nvSpPr>
        <p:spPr>
          <a:xfrm>
            <a:off x="1115616" y="6356350"/>
            <a:ext cx="7560840" cy="365125"/>
          </a:xfrm>
        </p:spPr>
        <p:txBody>
          <a:bodyPr/>
          <a:lstStyle/>
          <a:p>
            <a:r>
              <a:rPr lang="fr-FR" sz="1600" dirty="0"/>
              <a:t>                                           Espaces et Territoires</a:t>
            </a:r>
          </a:p>
        </p:txBody>
      </p:sp>
    </p:spTree>
    <p:extLst>
      <p:ext uri="{BB962C8B-B14F-4D97-AF65-F5344CB8AC3E}">
        <p14:creationId xmlns:p14="http://schemas.microsoft.com/office/powerpoint/2010/main" val="2203396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br>
              <a:rPr lang="fr-SN" b="1" dirty="0">
                <a:solidFill>
                  <a:srgbClr val="00B0F0"/>
                </a:solidFill>
              </a:rPr>
            </a:br>
            <a:r>
              <a:rPr lang="fr-SN" b="1" dirty="0">
                <a:solidFill>
                  <a:srgbClr val="00B0F0"/>
                </a:solidFill>
              </a:rPr>
              <a:t>I. Concept d’espace</a:t>
            </a:r>
            <a:br>
              <a:rPr lang="fr-SN" b="1" dirty="0">
                <a:solidFill>
                  <a:srgbClr val="00B0F0"/>
                </a:solidFill>
              </a:rPr>
            </a:br>
            <a:endParaRPr lang="fr-FR" b="1" dirty="0">
              <a:solidFill>
                <a:srgbClr val="FF0000"/>
              </a:solidFill>
            </a:endParaRPr>
          </a:p>
        </p:txBody>
      </p:sp>
      <p:sp>
        <p:nvSpPr>
          <p:cNvPr id="3" name="Espace réservé du contenu 2"/>
          <p:cNvSpPr>
            <a:spLocks noGrp="1"/>
          </p:cNvSpPr>
          <p:nvPr>
            <p:ph sz="half" idx="1"/>
          </p:nvPr>
        </p:nvSpPr>
        <p:spPr>
          <a:xfrm>
            <a:off x="457200" y="1600200"/>
            <a:ext cx="4474840" cy="4637112"/>
          </a:xfrm>
        </p:spPr>
        <p:txBody>
          <a:bodyPr>
            <a:normAutofit fontScale="77500" lnSpcReduction="20000"/>
          </a:bodyPr>
          <a:lstStyle/>
          <a:p>
            <a:pPr>
              <a:buFont typeface="Wingdings" panose="05000000000000000000" pitchFamily="2" charset="2"/>
              <a:buChar char="Ø"/>
            </a:pPr>
            <a:r>
              <a:rPr lang="fr-SN" dirty="0"/>
              <a:t> </a:t>
            </a:r>
            <a:r>
              <a:rPr lang="fr-FR" dirty="0"/>
              <a:t> L’espace étudié dans ce cours est l’</a:t>
            </a:r>
            <a:r>
              <a:rPr lang="fr-FR" b="1" dirty="0">
                <a:solidFill>
                  <a:srgbClr val="FF0000"/>
                </a:solidFill>
              </a:rPr>
              <a:t>Espace géographique</a:t>
            </a:r>
            <a:r>
              <a:rPr lang="fr-FR" dirty="0"/>
              <a:t>. L’espace cosmique n’est pas pris en considération. </a:t>
            </a:r>
          </a:p>
          <a:p>
            <a:pPr>
              <a:buFont typeface="Wingdings" panose="05000000000000000000" pitchFamily="2" charset="2"/>
              <a:buChar char="Ø"/>
            </a:pPr>
            <a:endParaRPr lang="fr-FR" dirty="0"/>
          </a:p>
          <a:p>
            <a:pPr>
              <a:buFont typeface="Wingdings" panose="05000000000000000000" pitchFamily="2" charset="2"/>
              <a:buChar char="Ø"/>
            </a:pPr>
            <a:r>
              <a:rPr lang="fr-FR" dirty="0"/>
              <a:t>Pour le géographe, l’espace est, au sens le plus banal du terme, un </a:t>
            </a:r>
            <a:r>
              <a:rPr lang="fr-FR" b="1" dirty="0"/>
              <a:t>lieu</a:t>
            </a:r>
            <a:r>
              <a:rPr lang="fr-FR" dirty="0"/>
              <a:t> ou une </a:t>
            </a:r>
            <a:r>
              <a:rPr lang="fr-FR" b="1" dirty="0"/>
              <a:t>étendue délimitée</a:t>
            </a:r>
            <a:r>
              <a:rPr lang="fr-FR" dirty="0"/>
              <a:t>, donc </a:t>
            </a:r>
            <a:r>
              <a:rPr lang="fr-FR" b="1" dirty="0"/>
              <a:t>cartographiable</a:t>
            </a:r>
            <a:r>
              <a:rPr lang="fr-FR" dirty="0"/>
              <a:t>, de la </a:t>
            </a:r>
            <a:r>
              <a:rPr lang="fr-FR" b="1" dirty="0"/>
              <a:t>Terre</a:t>
            </a:r>
            <a:r>
              <a:rPr lang="fr-FR" dirty="0"/>
              <a:t> (espace terrestre )</a:t>
            </a:r>
          </a:p>
          <a:p>
            <a:pPr>
              <a:buFont typeface="Wingdings" panose="05000000000000000000" pitchFamily="2" charset="2"/>
              <a:buChar char="Ø"/>
            </a:pPr>
            <a:endParaRPr lang="fr-FR" dirty="0"/>
          </a:p>
          <a:p>
            <a:pPr>
              <a:buFont typeface="Wingdings" panose="05000000000000000000" pitchFamily="2" charset="2"/>
              <a:buChar char="Ø"/>
            </a:pPr>
            <a:r>
              <a:rPr lang="fr-FR" dirty="0"/>
              <a:t> ou de l’une de ses </a:t>
            </a:r>
            <a:r>
              <a:rPr lang="fr-FR" b="1" dirty="0"/>
              <a:t>parties </a:t>
            </a:r>
            <a:r>
              <a:rPr lang="fr-FR" dirty="0"/>
              <a:t>(espace urbain, espace rural, espace régional, espace maritime, etc.</a:t>
            </a:r>
          </a:p>
          <a:p>
            <a:pPr marL="0" indent="0">
              <a:buNone/>
            </a:pPr>
            <a:endParaRPr lang="fr-FR" dirty="0"/>
          </a:p>
        </p:txBody>
      </p:sp>
      <p:pic>
        <p:nvPicPr>
          <p:cNvPr id="7" name="Espace réservé du contenu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055940" y="1600200"/>
            <a:ext cx="4078646" cy="4475221"/>
          </a:xfrm>
        </p:spPr>
      </p:pic>
      <p:sp>
        <p:nvSpPr>
          <p:cNvPr id="10" name="Espace réservé du pied de page 9"/>
          <p:cNvSpPr>
            <a:spLocks noGrp="1"/>
          </p:cNvSpPr>
          <p:nvPr>
            <p:ph type="ftr" sz="quarter" idx="11"/>
          </p:nvPr>
        </p:nvSpPr>
        <p:spPr/>
        <p:txBody>
          <a:bodyPr/>
          <a:lstStyle/>
          <a:p>
            <a:r>
              <a:rPr lang="fr-FR" sz="1600" dirty="0"/>
              <a:t>                                                Espaces et Territoires</a:t>
            </a:r>
          </a:p>
        </p:txBody>
      </p:sp>
      <p:pic>
        <p:nvPicPr>
          <p:cNvPr id="5" name="Image 4"/>
          <p:cNvPicPr/>
          <p:nvPr/>
        </p:nvPicPr>
        <p:blipFill>
          <a:blip r:embed="rId4" cstate="print">
            <a:extLst>
              <a:ext uri="{28A0092B-C50C-407E-A947-70E740481C1C}">
                <a14:useLocalDpi xmlns:a14="http://schemas.microsoft.com/office/drawing/2010/main" val="0"/>
              </a:ext>
            </a:extLst>
          </a:blip>
          <a:stretch>
            <a:fillRect/>
          </a:stretch>
        </p:blipFill>
        <p:spPr>
          <a:xfrm>
            <a:off x="7740352" y="5892"/>
            <a:ext cx="1152128" cy="1162615"/>
          </a:xfrm>
          <a:prstGeom prst="rect">
            <a:avLst/>
          </a:prstGeom>
        </p:spPr>
      </p:pic>
      <p:sp>
        <p:nvSpPr>
          <p:cNvPr id="6" name="Rectangle 5"/>
          <p:cNvSpPr/>
          <p:nvPr/>
        </p:nvSpPr>
        <p:spPr>
          <a:xfrm>
            <a:off x="107504" y="1566952"/>
            <a:ext cx="9036496" cy="1938992"/>
          </a:xfrm>
          <a:prstGeom prst="rect">
            <a:avLst/>
          </a:prstGeom>
        </p:spPr>
        <p:txBody>
          <a:bodyPr wrap="square">
            <a:spAutoFit/>
          </a:bodyPr>
          <a:lstStyle/>
          <a:p>
            <a:br>
              <a:rPr lang="fr-FR" sz="2400" dirty="0"/>
            </a:br>
            <a:br>
              <a:rPr lang="fr-FR" sz="2400" dirty="0"/>
            </a:br>
            <a:endParaRPr lang="fr-FR" sz="2400" dirty="0"/>
          </a:p>
          <a:p>
            <a:endParaRPr lang="fr-SN" sz="2400" dirty="0"/>
          </a:p>
          <a:p>
            <a:endParaRPr lang="fr-FR" sz="2400" dirty="0"/>
          </a:p>
        </p:txBody>
      </p:sp>
    </p:spTree>
    <p:extLst>
      <p:ext uri="{BB962C8B-B14F-4D97-AF65-F5344CB8AC3E}">
        <p14:creationId xmlns:p14="http://schemas.microsoft.com/office/powerpoint/2010/main" val="1294931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52009"/>
            <a:ext cx="8424936" cy="1249369"/>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1) approches pluridisciplinaires </a:t>
            </a:r>
            <a:endParaRPr lang="fr-FR" b="1" dirty="0">
              <a:solidFill>
                <a:srgbClr val="FF0000"/>
              </a:solidFill>
            </a:endParaRPr>
          </a:p>
        </p:txBody>
      </p:sp>
      <p:sp>
        <p:nvSpPr>
          <p:cNvPr id="3" name="Espace réservé du contenu 2"/>
          <p:cNvSpPr>
            <a:spLocks noGrp="1"/>
          </p:cNvSpPr>
          <p:nvPr>
            <p:ph idx="1"/>
          </p:nvPr>
        </p:nvSpPr>
        <p:spPr>
          <a:xfrm>
            <a:off x="107504" y="1249369"/>
            <a:ext cx="8784976" cy="5649900"/>
          </a:xfrm>
        </p:spPr>
        <p:txBody>
          <a:bodyPr>
            <a:normAutofit/>
          </a:bodyPr>
          <a:lstStyle/>
          <a:p>
            <a:pPr marL="0" indent="0">
              <a:buNone/>
            </a:pPr>
            <a:r>
              <a:rPr lang="fr-SN" dirty="0"/>
              <a:t> </a:t>
            </a:r>
            <a:endParaRPr lang="fr-FR" dirty="0"/>
          </a:p>
          <a:p>
            <a:pPr>
              <a:buFont typeface="Wingdings" panose="05000000000000000000" pitchFamily="2" charset="2"/>
              <a:buChar char="Ø"/>
            </a:pPr>
            <a:r>
              <a:rPr lang="fr-SN" dirty="0"/>
              <a:t>Plusieurs </a:t>
            </a:r>
            <a:r>
              <a:rPr lang="fr-SN" b="1" dirty="0"/>
              <a:t>disciplines</a:t>
            </a:r>
            <a:r>
              <a:rPr lang="fr-SN" dirty="0"/>
              <a:t> se sont intéressées au concept d’</a:t>
            </a:r>
            <a:r>
              <a:rPr lang="fr-SN" b="1" dirty="0"/>
              <a:t>Espace</a:t>
            </a:r>
            <a:r>
              <a:rPr lang="fr-SN" dirty="0"/>
              <a:t> et ont proposé des définitions voire une généalogie du concept. </a:t>
            </a:r>
          </a:p>
          <a:p>
            <a:pPr marL="0" indent="0">
              <a:buNone/>
            </a:pPr>
            <a:endParaRPr lang="fr-SN" dirty="0"/>
          </a:p>
          <a:p>
            <a:pPr>
              <a:buFont typeface="Wingdings" panose="05000000000000000000" pitchFamily="2" charset="2"/>
              <a:buChar char="Ø"/>
            </a:pPr>
            <a:r>
              <a:rPr lang="fr-SN" b="1" dirty="0">
                <a:solidFill>
                  <a:srgbClr val="FF0000"/>
                </a:solidFill>
              </a:rPr>
              <a:t>Espace </a:t>
            </a:r>
            <a:r>
              <a:rPr lang="fr-SN" dirty="0"/>
              <a:t>: objet transversal de réflexion chez les </a:t>
            </a:r>
            <a:r>
              <a:rPr lang="fr-SN" b="1" dirty="0"/>
              <a:t>géographes</a:t>
            </a:r>
            <a:r>
              <a:rPr lang="fr-SN" dirty="0"/>
              <a:t>, </a:t>
            </a:r>
            <a:r>
              <a:rPr lang="fr-SN" b="1" dirty="0"/>
              <a:t>économistes, sociologues</a:t>
            </a:r>
            <a:r>
              <a:rPr lang="fr-SN" dirty="0"/>
              <a:t>, </a:t>
            </a:r>
            <a:r>
              <a:rPr lang="fr-SN" b="1" dirty="0"/>
              <a:t>urbanistes</a:t>
            </a:r>
            <a:r>
              <a:rPr lang="fr-SN" dirty="0"/>
              <a:t>, </a:t>
            </a:r>
            <a:r>
              <a:rPr lang="fr-SN" b="1" dirty="0"/>
              <a:t>aménageurs/aménagistes</a:t>
            </a:r>
            <a:r>
              <a:rPr lang="fr-SN" dirty="0"/>
              <a:t>, etc.</a:t>
            </a:r>
            <a:endParaRPr lang="fr-FR" dirty="0"/>
          </a:p>
          <a:p>
            <a:pPr lvl="0">
              <a:buFont typeface="Wingdings" panose="05000000000000000000" pitchFamily="2" charset="2"/>
              <a:buChar char="Ø"/>
            </a:pPr>
            <a:endParaRPr lang="fr-FR" dirty="0"/>
          </a:p>
          <a:p>
            <a:pPr marL="0" indent="0">
              <a:buNone/>
            </a:pPr>
            <a:endParaRPr lang="fr-FR" dirty="0"/>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7740352" y="5892"/>
            <a:ext cx="1152128" cy="1162615"/>
          </a:xfrm>
          <a:prstGeom prst="rect">
            <a:avLst/>
          </a:prstGeom>
        </p:spPr>
      </p:pic>
      <p:sp>
        <p:nvSpPr>
          <p:cNvPr id="6" name="Rectangle 5"/>
          <p:cNvSpPr/>
          <p:nvPr/>
        </p:nvSpPr>
        <p:spPr>
          <a:xfrm>
            <a:off x="107504" y="1566952"/>
            <a:ext cx="9036496" cy="1938992"/>
          </a:xfrm>
          <a:prstGeom prst="rect">
            <a:avLst/>
          </a:prstGeom>
        </p:spPr>
        <p:txBody>
          <a:bodyPr wrap="square">
            <a:spAutoFit/>
          </a:bodyPr>
          <a:lstStyle/>
          <a:p>
            <a:br>
              <a:rPr lang="fr-FR" sz="2400" dirty="0"/>
            </a:br>
            <a:br>
              <a:rPr lang="fr-FR" sz="2400" dirty="0"/>
            </a:br>
            <a:endParaRPr lang="fr-FR" sz="2400" dirty="0"/>
          </a:p>
          <a:p>
            <a:endParaRPr lang="fr-SN" sz="2400" dirty="0"/>
          </a:p>
          <a:p>
            <a:endParaRPr lang="fr-FR" sz="2400" dirty="0"/>
          </a:p>
        </p:txBody>
      </p:sp>
      <p:sp>
        <p:nvSpPr>
          <p:cNvPr id="10" name="Espace réservé du pied de page 9"/>
          <p:cNvSpPr>
            <a:spLocks noGrp="1"/>
          </p:cNvSpPr>
          <p:nvPr>
            <p:ph type="ftr" sz="quarter" idx="11"/>
          </p:nvPr>
        </p:nvSpPr>
        <p:spPr>
          <a:xfrm>
            <a:off x="1763688" y="6356350"/>
            <a:ext cx="6408712" cy="385018"/>
          </a:xfrm>
        </p:spPr>
        <p:txBody>
          <a:bodyPr/>
          <a:lstStyle/>
          <a:p>
            <a:r>
              <a:rPr lang="fr-FR" sz="1600" dirty="0"/>
              <a:t>                                 Espaces et Territoires</a:t>
            </a:r>
          </a:p>
        </p:txBody>
      </p:sp>
    </p:spTree>
    <p:extLst>
      <p:ext uri="{BB962C8B-B14F-4D97-AF65-F5344CB8AC3E}">
        <p14:creationId xmlns:p14="http://schemas.microsoft.com/office/powerpoint/2010/main" val="3205815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52009"/>
            <a:ext cx="8424936" cy="1249369"/>
          </a:xfrm>
        </p:spPr>
        <p:txBody>
          <a:bodyPr>
            <a:normAutofit fontScale="90000"/>
          </a:bodyPr>
          <a:lstStyle/>
          <a:p>
            <a:br>
              <a:rPr lang="fr-SN" b="1" dirty="0">
                <a:solidFill>
                  <a:srgbClr val="00B0F0"/>
                </a:solidFill>
              </a:rPr>
            </a:br>
            <a:r>
              <a:rPr lang="fr-SN" b="1" dirty="0">
                <a:solidFill>
                  <a:srgbClr val="00B0F0"/>
                </a:solidFill>
              </a:rPr>
              <a:t>I. Concept d’espace</a:t>
            </a:r>
            <a:br>
              <a:rPr lang="fr-SN" b="1" dirty="0">
                <a:solidFill>
                  <a:srgbClr val="00B0F0"/>
                </a:solidFill>
              </a:rPr>
            </a:br>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  </a:t>
            </a:r>
            <a:endParaRPr lang="fr-FR" b="1" dirty="0">
              <a:solidFill>
                <a:srgbClr val="FF0000"/>
              </a:solidFill>
            </a:endParaRPr>
          </a:p>
        </p:txBody>
      </p:sp>
      <p:sp>
        <p:nvSpPr>
          <p:cNvPr id="3" name="Espace réservé du contenu 2"/>
          <p:cNvSpPr>
            <a:spLocks noGrp="1"/>
          </p:cNvSpPr>
          <p:nvPr>
            <p:ph idx="1"/>
          </p:nvPr>
        </p:nvSpPr>
        <p:spPr>
          <a:xfrm>
            <a:off x="107504" y="1249369"/>
            <a:ext cx="8784976" cy="5649900"/>
          </a:xfrm>
        </p:spPr>
        <p:txBody>
          <a:bodyPr>
            <a:normAutofit lnSpcReduction="10000"/>
          </a:bodyPr>
          <a:lstStyle/>
          <a:p>
            <a:pPr marL="0" indent="0">
              <a:buNone/>
            </a:pPr>
            <a:r>
              <a:rPr lang="fr-SN" dirty="0"/>
              <a:t> </a:t>
            </a:r>
            <a:endParaRPr lang="fr-FR" dirty="0"/>
          </a:p>
          <a:p>
            <a:pPr lvl="0">
              <a:buFont typeface="Wingdings" panose="05000000000000000000" pitchFamily="2" charset="2"/>
              <a:buChar char="Ø"/>
            </a:pPr>
            <a:r>
              <a:rPr lang="fr-SN" dirty="0"/>
              <a:t>Les </a:t>
            </a:r>
            <a:r>
              <a:rPr lang="fr-SN" b="1" dirty="0"/>
              <a:t>géographes</a:t>
            </a:r>
            <a:r>
              <a:rPr lang="fr-SN" dirty="0"/>
              <a:t> ont un rôle initiateur dans les réflexions sur l’espace dés le </a:t>
            </a:r>
            <a:r>
              <a:rPr lang="fr-SN" b="1" dirty="0"/>
              <a:t>XVIIe siècle </a:t>
            </a:r>
            <a:r>
              <a:rPr lang="fr-SN" dirty="0"/>
              <a:t>et jusqu’au milieu du XIXe siècle .</a:t>
            </a:r>
          </a:p>
          <a:p>
            <a:pPr lvl="0">
              <a:buFont typeface="Wingdings" panose="05000000000000000000" pitchFamily="2" charset="2"/>
              <a:buChar char="Ø"/>
            </a:pPr>
            <a:endParaRPr lang="fr-SN" dirty="0"/>
          </a:p>
          <a:p>
            <a:pPr lvl="0">
              <a:buFont typeface="Wingdings" panose="05000000000000000000" pitchFamily="2" charset="2"/>
              <a:buChar char="Ø"/>
            </a:pPr>
            <a:r>
              <a:rPr lang="fr-SN" dirty="0"/>
              <a:t>Pour plusieurs  raisons: </a:t>
            </a:r>
          </a:p>
          <a:p>
            <a:pPr lvl="2"/>
            <a:r>
              <a:rPr lang="fr-SN" dirty="0"/>
              <a:t> Explication de l’inégale distribution des faits humains et économiques</a:t>
            </a:r>
          </a:p>
          <a:p>
            <a:pPr lvl="2"/>
            <a:r>
              <a:rPr lang="fr-SN" dirty="0"/>
              <a:t>Curiosité de l’espace et désir de cartographier le monde</a:t>
            </a:r>
          </a:p>
          <a:p>
            <a:pPr marL="914400" lvl="2" indent="0">
              <a:buNone/>
            </a:pPr>
            <a:r>
              <a:rPr lang="fr-SN" dirty="0">
                <a:solidFill>
                  <a:srgbClr val="FFFF00"/>
                </a:solidFill>
              </a:rPr>
              <a:t> </a:t>
            </a:r>
            <a:endParaRPr lang="fr-FR" dirty="0">
              <a:solidFill>
                <a:srgbClr val="FFFF00"/>
              </a:solidFill>
            </a:endParaRPr>
          </a:p>
          <a:p>
            <a:pPr>
              <a:buFont typeface="Wingdings" panose="05000000000000000000" pitchFamily="2" charset="2"/>
              <a:buChar char="Ø"/>
            </a:pPr>
            <a:r>
              <a:rPr lang="fr-SN" dirty="0"/>
              <a:t>Orientée vers une dimension économique de l’espace</a:t>
            </a:r>
            <a:endParaRPr lang="fr-FR" dirty="0"/>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7740352" y="5892"/>
            <a:ext cx="1152128" cy="1162615"/>
          </a:xfrm>
          <a:prstGeom prst="rect">
            <a:avLst/>
          </a:prstGeom>
        </p:spPr>
      </p:pic>
      <p:sp>
        <p:nvSpPr>
          <p:cNvPr id="6" name="Rectangle 5"/>
          <p:cNvSpPr/>
          <p:nvPr/>
        </p:nvSpPr>
        <p:spPr>
          <a:xfrm>
            <a:off x="107504" y="1566952"/>
            <a:ext cx="9036496" cy="1938992"/>
          </a:xfrm>
          <a:prstGeom prst="rect">
            <a:avLst/>
          </a:prstGeom>
        </p:spPr>
        <p:txBody>
          <a:bodyPr wrap="square">
            <a:spAutoFit/>
          </a:bodyPr>
          <a:lstStyle/>
          <a:p>
            <a:br>
              <a:rPr lang="fr-FR" sz="2400" dirty="0"/>
            </a:br>
            <a:br>
              <a:rPr lang="fr-FR" sz="2400" dirty="0"/>
            </a:br>
            <a:endParaRPr lang="fr-FR" sz="2400" dirty="0"/>
          </a:p>
          <a:p>
            <a:endParaRPr lang="fr-SN" sz="2400" dirty="0"/>
          </a:p>
          <a:p>
            <a:endParaRPr lang="fr-FR" sz="2400" dirty="0"/>
          </a:p>
        </p:txBody>
      </p:sp>
      <p:sp>
        <p:nvSpPr>
          <p:cNvPr id="10" name="Espace réservé du pied de page 9"/>
          <p:cNvSpPr>
            <a:spLocks noGrp="1"/>
          </p:cNvSpPr>
          <p:nvPr>
            <p:ph type="ftr" sz="quarter" idx="11"/>
          </p:nvPr>
        </p:nvSpPr>
        <p:spPr>
          <a:xfrm>
            <a:off x="1763688" y="6356350"/>
            <a:ext cx="6408712" cy="385018"/>
          </a:xfrm>
        </p:spPr>
        <p:txBody>
          <a:bodyPr/>
          <a:lstStyle/>
          <a:p>
            <a:r>
              <a:rPr lang="fr-FR" sz="1600" dirty="0"/>
              <a:t>                                                  Espaces et Territoires</a:t>
            </a:r>
          </a:p>
        </p:txBody>
      </p:sp>
    </p:spTree>
    <p:extLst>
      <p:ext uri="{BB962C8B-B14F-4D97-AF65-F5344CB8AC3E}">
        <p14:creationId xmlns:p14="http://schemas.microsoft.com/office/powerpoint/2010/main" val="1884832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107" y="-80862"/>
            <a:ext cx="8424936" cy="1249369"/>
          </a:xfrm>
        </p:spPr>
        <p:txBody>
          <a:bodyPr>
            <a:normAutofit fontScale="90000"/>
          </a:bodyPr>
          <a:lstStyle/>
          <a:p>
            <a:br>
              <a:rPr lang="fr-SN" b="1" dirty="0">
                <a:solidFill>
                  <a:srgbClr val="00B0F0"/>
                </a:solidFill>
              </a:rPr>
            </a:br>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  </a:t>
            </a:r>
            <a:endParaRPr lang="fr-FR" b="1" dirty="0">
              <a:solidFill>
                <a:srgbClr val="FF0000"/>
              </a:solidFill>
            </a:endParaRPr>
          </a:p>
        </p:txBody>
      </p:sp>
      <p:sp>
        <p:nvSpPr>
          <p:cNvPr id="3" name="Espace réservé du contenu 2"/>
          <p:cNvSpPr>
            <a:spLocks noGrp="1"/>
          </p:cNvSpPr>
          <p:nvPr>
            <p:ph idx="1"/>
          </p:nvPr>
        </p:nvSpPr>
        <p:spPr>
          <a:xfrm>
            <a:off x="107504" y="1249369"/>
            <a:ext cx="8784976" cy="5649900"/>
          </a:xfrm>
        </p:spPr>
        <p:txBody>
          <a:bodyPr>
            <a:normAutofit/>
          </a:bodyPr>
          <a:lstStyle/>
          <a:p>
            <a:pPr marL="0" indent="0">
              <a:buNone/>
            </a:pPr>
            <a:r>
              <a:rPr lang="fr-SN" dirty="0"/>
              <a:t> </a:t>
            </a:r>
            <a:endParaRPr lang="fr-FR" dirty="0"/>
          </a:p>
          <a:p>
            <a:pPr>
              <a:buFont typeface="Wingdings" panose="05000000000000000000" pitchFamily="2" charset="2"/>
              <a:buChar char="Ø"/>
            </a:pPr>
            <a:r>
              <a:rPr lang="fr-FR" dirty="0"/>
              <a:t>Vers les années 1890, la géographie humaine qui se construit avec </a:t>
            </a:r>
            <a:r>
              <a:rPr lang="fr-FR" b="1" dirty="0"/>
              <a:t>Ratzel</a:t>
            </a:r>
            <a:r>
              <a:rPr lang="fr-FR" dirty="0"/>
              <a:t> (Allemagne) et </a:t>
            </a:r>
            <a:r>
              <a:rPr lang="fr-FR" b="1" dirty="0"/>
              <a:t>Vidal de la Blache </a:t>
            </a:r>
            <a:r>
              <a:rPr lang="fr-FR" dirty="0"/>
              <a:t>(France) aborde l’Espace.</a:t>
            </a:r>
          </a:p>
          <a:p>
            <a:pPr marL="0" indent="0">
              <a:buNone/>
            </a:pPr>
            <a:endParaRPr lang="fr-FR" dirty="0"/>
          </a:p>
          <a:p>
            <a:pPr>
              <a:buFont typeface="Wingdings" panose="05000000000000000000" pitchFamily="2" charset="2"/>
              <a:buChar char="Ø"/>
            </a:pPr>
            <a:r>
              <a:rPr lang="fr-FR" dirty="0"/>
              <a:t>Dès 1913, le père de la géographie française </a:t>
            </a:r>
            <a:r>
              <a:rPr lang="fr-FR" b="1" dirty="0"/>
              <a:t>Vidal de la Blache</a:t>
            </a:r>
            <a:r>
              <a:rPr lang="fr-FR" dirty="0"/>
              <a:t> a qualifié la géographie de </a:t>
            </a:r>
            <a:r>
              <a:rPr lang="fr-FR" b="1" dirty="0"/>
              <a:t>science des lieux</a:t>
            </a:r>
            <a:r>
              <a:rPr lang="fr-FR" dirty="0"/>
              <a:t>.  « L’organisation régionale » de l’espace est son </a:t>
            </a:r>
            <a:r>
              <a:rPr lang="fr-FR" dirty="0" err="1"/>
              <a:t>théme</a:t>
            </a:r>
            <a:r>
              <a:rPr lang="fr-FR" dirty="0"/>
              <a:t> central de recherche.</a:t>
            </a:r>
          </a:p>
          <a:p>
            <a:pPr>
              <a:buFont typeface="Wingdings" panose="05000000000000000000" pitchFamily="2" charset="2"/>
              <a:buChar char="Ø"/>
            </a:pPr>
            <a:endParaRPr lang="fr-FR" dirty="0"/>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7740352" y="5892"/>
            <a:ext cx="1152128" cy="1162615"/>
          </a:xfrm>
          <a:prstGeom prst="rect">
            <a:avLst/>
          </a:prstGeom>
        </p:spPr>
      </p:pic>
      <p:sp>
        <p:nvSpPr>
          <p:cNvPr id="6" name="Rectangle 5"/>
          <p:cNvSpPr/>
          <p:nvPr/>
        </p:nvSpPr>
        <p:spPr>
          <a:xfrm>
            <a:off x="107504" y="1566952"/>
            <a:ext cx="9036496" cy="1938992"/>
          </a:xfrm>
          <a:prstGeom prst="rect">
            <a:avLst/>
          </a:prstGeom>
        </p:spPr>
        <p:txBody>
          <a:bodyPr wrap="square">
            <a:spAutoFit/>
          </a:bodyPr>
          <a:lstStyle/>
          <a:p>
            <a:br>
              <a:rPr lang="fr-FR" sz="2400" dirty="0"/>
            </a:br>
            <a:br>
              <a:rPr lang="fr-FR" sz="2400" dirty="0"/>
            </a:br>
            <a:endParaRPr lang="fr-FR" sz="2400" dirty="0"/>
          </a:p>
          <a:p>
            <a:endParaRPr lang="fr-SN" sz="2400" dirty="0"/>
          </a:p>
          <a:p>
            <a:endParaRPr lang="fr-FR" sz="2400" dirty="0"/>
          </a:p>
        </p:txBody>
      </p:sp>
      <p:sp>
        <p:nvSpPr>
          <p:cNvPr id="10" name="Espace réservé du pied de page 9"/>
          <p:cNvSpPr>
            <a:spLocks noGrp="1"/>
          </p:cNvSpPr>
          <p:nvPr>
            <p:ph type="ftr" sz="quarter" idx="11"/>
          </p:nvPr>
        </p:nvSpPr>
        <p:spPr>
          <a:xfrm>
            <a:off x="1763688" y="6356350"/>
            <a:ext cx="6408712" cy="385018"/>
          </a:xfrm>
        </p:spPr>
        <p:txBody>
          <a:bodyPr/>
          <a:lstStyle/>
          <a:p>
            <a:r>
              <a:rPr lang="fr-FR" sz="1600" dirty="0"/>
              <a:t>              Espaces et Territoires</a:t>
            </a:r>
          </a:p>
        </p:txBody>
      </p:sp>
    </p:spTree>
    <p:extLst>
      <p:ext uri="{BB962C8B-B14F-4D97-AF65-F5344CB8AC3E}">
        <p14:creationId xmlns:p14="http://schemas.microsoft.com/office/powerpoint/2010/main" val="1284720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a:t>
            </a:r>
            <a:endParaRPr lang="fr-FR" b="1" dirty="0">
              <a:solidFill>
                <a:srgbClr val="00B0F0"/>
              </a:solidFill>
            </a:endParaRPr>
          </a:p>
        </p:txBody>
      </p:sp>
      <p:sp>
        <p:nvSpPr>
          <p:cNvPr id="3" name="Espace réservé du contenu 2"/>
          <p:cNvSpPr>
            <a:spLocks noGrp="1"/>
          </p:cNvSpPr>
          <p:nvPr>
            <p:ph idx="1"/>
          </p:nvPr>
        </p:nvSpPr>
        <p:spPr>
          <a:xfrm>
            <a:off x="179512" y="1196752"/>
            <a:ext cx="8640960" cy="5400600"/>
          </a:xfrm>
        </p:spPr>
        <p:txBody>
          <a:bodyPr>
            <a:normAutofit fontScale="92500"/>
          </a:bodyPr>
          <a:lstStyle/>
          <a:p>
            <a:pPr marL="0" indent="0">
              <a:buNone/>
            </a:pPr>
            <a:endParaRPr lang="fr-FR" dirty="0"/>
          </a:p>
          <a:p>
            <a:pPr>
              <a:buFont typeface="Wingdings" panose="05000000000000000000" pitchFamily="2" charset="2"/>
              <a:buChar char="Ø"/>
            </a:pPr>
            <a:r>
              <a:rPr lang="fr-FR" dirty="0"/>
              <a:t>En 1933 les </a:t>
            </a:r>
            <a:r>
              <a:rPr lang="fr-FR" b="1" dirty="0"/>
              <a:t>économistes</a:t>
            </a:r>
            <a:r>
              <a:rPr lang="fr-FR" dirty="0"/>
              <a:t> allemands </a:t>
            </a:r>
            <a:r>
              <a:rPr lang="fr-FR" b="1" dirty="0" err="1"/>
              <a:t>Thunen</a:t>
            </a:r>
            <a:r>
              <a:rPr lang="fr-FR" b="1" dirty="0"/>
              <a:t>, </a:t>
            </a:r>
            <a:r>
              <a:rPr lang="fr-FR" b="1" dirty="0" err="1"/>
              <a:t>Löch</a:t>
            </a:r>
            <a:r>
              <a:rPr lang="fr-FR" b="1" dirty="0"/>
              <a:t> et </a:t>
            </a:r>
            <a:r>
              <a:rPr lang="fr-FR" b="1" dirty="0" err="1"/>
              <a:t>Christaller</a:t>
            </a:r>
            <a:r>
              <a:rPr lang="fr-FR" dirty="0"/>
              <a:t> lancent les études d’analyse spatiale à travers « la théorie des places centrales ». </a:t>
            </a:r>
          </a:p>
          <a:p>
            <a:pPr>
              <a:buFont typeface="Wingdings" panose="05000000000000000000" pitchFamily="2" charset="2"/>
              <a:buChar char="Ø"/>
            </a:pPr>
            <a:r>
              <a:rPr lang="fr-FR" dirty="0"/>
              <a:t>La </a:t>
            </a:r>
            <a:r>
              <a:rPr lang="fr-FR" b="1" dirty="0"/>
              <a:t>localisation</a:t>
            </a:r>
            <a:r>
              <a:rPr lang="fr-FR" dirty="0"/>
              <a:t> des commerces et services en Allemagne du Sud selon des critères de taille et de distance. </a:t>
            </a:r>
          </a:p>
          <a:p>
            <a:pPr>
              <a:buFont typeface="Wingdings" panose="05000000000000000000" pitchFamily="2" charset="2"/>
              <a:buChar char="Ø"/>
            </a:pPr>
            <a:r>
              <a:rPr lang="fr-FR" dirty="0"/>
              <a:t>Cette théorie définit les lois en matière </a:t>
            </a:r>
            <a:r>
              <a:rPr lang="fr-FR" b="1" dirty="0"/>
              <a:t>d’influence et de poids des villes </a:t>
            </a:r>
            <a:r>
              <a:rPr lang="fr-FR" dirty="0"/>
              <a:t>selon les biens qu’elle offre et la distance qui les sépare avec les lieux qu’elles influencent.</a:t>
            </a:r>
          </a:p>
          <a:p>
            <a:pPr>
              <a:buFont typeface="Wingdings" panose="05000000000000000000" pitchFamily="2" charset="2"/>
              <a:buChar char="Ø"/>
            </a:pPr>
            <a:endParaRPr lang="fr-FR" dirty="0"/>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a:t>                                                 </a:t>
            </a:r>
            <a:r>
              <a:rPr lang="fr-FR" sz="2400" dirty="0"/>
              <a:t>Espaces et Territoires</a:t>
            </a:r>
          </a:p>
        </p:txBody>
      </p:sp>
    </p:spTree>
    <p:extLst>
      <p:ext uri="{BB962C8B-B14F-4D97-AF65-F5344CB8AC3E}">
        <p14:creationId xmlns:p14="http://schemas.microsoft.com/office/powerpoint/2010/main" val="726723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a:t>
            </a:r>
            <a:endParaRPr lang="fr-FR" b="1" dirty="0">
              <a:solidFill>
                <a:srgbClr val="00B0F0"/>
              </a:solidFill>
            </a:endParaRPr>
          </a:p>
        </p:txBody>
      </p:sp>
      <p:sp>
        <p:nvSpPr>
          <p:cNvPr id="3" name="Espace réservé du contenu 2"/>
          <p:cNvSpPr>
            <a:spLocks noGrp="1"/>
          </p:cNvSpPr>
          <p:nvPr>
            <p:ph idx="1"/>
          </p:nvPr>
        </p:nvSpPr>
        <p:spPr>
          <a:xfrm>
            <a:off x="179512" y="1196752"/>
            <a:ext cx="8640960" cy="5400600"/>
          </a:xfrm>
        </p:spPr>
        <p:txBody>
          <a:bodyPr>
            <a:normAutofit lnSpcReduction="10000"/>
          </a:bodyPr>
          <a:lstStyle/>
          <a:p>
            <a:pPr marL="0" indent="0">
              <a:buNone/>
            </a:pPr>
            <a:endParaRPr lang="fr-FR" dirty="0"/>
          </a:p>
          <a:p>
            <a:pPr>
              <a:buFont typeface="Wingdings" panose="05000000000000000000" pitchFamily="2" charset="2"/>
              <a:buChar char="Ø"/>
            </a:pPr>
            <a:r>
              <a:rPr lang="fr-SN" dirty="0"/>
              <a:t>Dans les années 1960, les </a:t>
            </a:r>
            <a:r>
              <a:rPr lang="fr-SN" b="1" dirty="0"/>
              <a:t>sociologues </a:t>
            </a:r>
            <a:r>
              <a:rPr lang="fr-FR" dirty="0"/>
              <a:t>s’interrogent sur le rôle de l’espace dans le fonctionnement des sociétés humaines. </a:t>
            </a:r>
          </a:p>
          <a:p>
            <a:pPr>
              <a:buFont typeface="Wingdings" panose="05000000000000000000" pitchFamily="2" charset="2"/>
              <a:buChar char="Ø"/>
            </a:pPr>
            <a:endParaRPr lang="fr-FR" b="1" dirty="0"/>
          </a:p>
          <a:p>
            <a:pPr>
              <a:buFont typeface="Wingdings" panose="05000000000000000000" pitchFamily="2" charset="2"/>
              <a:buChar char="Ø"/>
            </a:pPr>
            <a:r>
              <a:rPr lang="fr-FR" b="1" dirty="0"/>
              <a:t>Sociologie urbaine </a:t>
            </a:r>
            <a:r>
              <a:rPr lang="fr-FR" dirty="0"/>
              <a:t>(Jean Remy, 1966; (</a:t>
            </a:r>
            <a:r>
              <a:rPr lang="fr-FR" dirty="0" err="1"/>
              <a:t>Grafemeyer</a:t>
            </a:r>
            <a:r>
              <a:rPr lang="fr-FR" dirty="0"/>
              <a:t> et Joseph, 1979; etc.).</a:t>
            </a:r>
          </a:p>
          <a:p>
            <a:pPr>
              <a:buFont typeface="Wingdings" panose="05000000000000000000" pitchFamily="2" charset="2"/>
              <a:buChar char="Ø"/>
            </a:pPr>
            <a:endParaRPr lang="fr-FR" dirty="0"/>
          </a:p>
          <a:p>
            <a:pPr>
              <a:buFont typeface="Wingdings" panose="05000000000000000000" pitchFamily="2" charset="2"/>
              <a:buChar char="Ø"/>
            </a:pPr>
            <a:r>
              <a:rPr lang="fr-SN" dirty="0" err="1"/>
              <a:t>Phénoménes</a:t>
            </a:r>
            <a:r>
              <a:rPr lang="fr-SN" dirty="0"/>
              <a:t> de classes sociales; division du travail; dichotomie Villes/campagnes</a:t>
            </a:r>
            <a:endParaRPr lang="fr-FR" dirty="0"/>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2351663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a:t>
            </a:r>
            <a:endParaRPr lang="fr-FR" b="1" dirty="0">
              <a:solidFill>
                <a:srgbClr val="00B0F0"/>
              </a:solidFill>
            </a:endParaRPr>
          </a:p>
        </p:txBody>
      </p:sp>
      <p:sp>
        <p:nvSpPr>
          <p:cNvPr id="3" name="Espace réservé du contenu 2"/>
          <p:cNvSpPr>
            <a:spLocks noGrp="1"/>
          </p:cNvSpPr>
          <p:nvPr>
            <p:ph idx="1"/>
          </p:nvPr>
        </p:nvSpPr>
        <p:spPr>
          <a:xfrm>
            <a:off x="251520" y="1340768"/>
            <a:ext cx="8640960" cy="5400600"/>
          </a:xfrm>
        </p:spPr>
        <p:txBody>
          <a:bodyPr>
            <a:normAutofit/>
          </a:bodyPr>
          <a:lstStyle/>
          <a:p>
            <a:endParaRPr lang="fr-FR" dirty="0"/>
          </a:p>
          <a:p>
            <a:pPr>
              <a:buFont typeface="Wingdings" panose="05000000000000000000" pitchFamily="2" charset="2"/>
              <a:buChar char="Ø"/>
            </a:pPr>
            <a:r>
              <a:rPr lang="fr-FR" dirty="0"/>
              <a:t>En 1970 l’espace en tant que lieu est perçu comme systèmes de </a:t>
            </a:r>
            <a:r>
              <a:rPr lang="fr-FR" b="1" dirty="0"/>
              <a:t>représentations et de valeurs</a:t>
            </a:r>
            <a:r>
              <a:rPr lang="fr-FR" dirty="0"/>
              <a:t>. </a:t>
            </a:r>
          </a:p>
          <a:p>
            <a:pPr>
              <a:buFont typeface="Wingdings" panose="05000000000000000000" pitchFamily="2" charset="2"/>
              <a:buChar char="Ø"/>
            </a:pPr>
            <a:r>
              <a:rPr lang="fr-FR" dirty="0"/>
              <a:t>Jean </a:t>
            </a:r>
            <a:r>
              <a:rPr lang="fr-FR" dirty="0" err="1"/>
              <a:t>Tricart</a:t>
            </a:r>
            <a:r>
              <a:rPr lang="fr-FR" dirty="0"/>
              <a:t>, géomorphologue français, qualifie l’espace « d’épiderme de la terre ». C’est une définition influencée par la géomorphologie qui étudie les formes de relief terrestre. L’espace est alors l’enveloppe de la terre, l’écorce terrestre des géomorphologues.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1416420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a:t>
            </a:r>
            <a:endParaRPr lang="fr-FR" b="1" dirty="0">
              <a:solidFill>
                <a:srgbClr val="00B0F0"/>
              </a:solidFill>
            </a:endParaRPr>
          </a:p>
        </p:txBody>
      </p:sp>
      <p:sp>
        <p:nvSpPr>
          <p:cNvPr id="3" name="Espace réservé du contenu 2"/>
          <p:cNvSpPr>
            <a:spLocks noGrp="1"/>
          </p:cNvSpPr>
          <p:nvPr>
            <p:ph idx="1"/>
          </p:nvPr>
        </p:nvSpPr>
        <p:spPr>
          <a:xfrm>
            <a:off x="251520" y="1340768"/>
            <a:ext cx="8640960" cy="5400600"/>
          </a:xfrm>
        </p:spPr>
        <p:txBody>
          <a:bodyPr>
            <a:normAutofit fontScale="85000" lnSpcReduction="10000"/>
          </a:bodyPr>
          <a:lstStyle/>
          <a:p>
            <a:pPr>
              <a:buFont typeface="Wingdings" panose="05000000000000000000" pitchFamily="2" charset="2"/>
              <a:buChar char="Ø"/>
            </a:pPr>
            <a:r>
              <a:rPr lang="fr-FR" dirty="0"/>
              <a:t>Rôle des </a:t>
            </a:r>
            <a:r>
              <a:rPr lang="fr-FR" b="1" dirty="0"/>
              <a:t>urbanistes et aménageurs : </a:t>
            </a:r>
            <a:r>
              <a:rPr lang="fr-FR" dirty="0"/>
              <a:t>les réflexions sur l’aménagement du territoire et l’organisation des espaces urbains sont inséparables des géostratégies politiques :</a:t>
            </a:r>
          </a:p>
          <a:p>
            <a:pPr lvl="1">
              <a:buFont typeface="Arial" panose="020B0604020202020204" pitchFamily="34" charset="0"/>
              <a:buChar char="•"/>
            </a:pPr>
            <a:r>
              <a:rPr lang="fr-FR" dirty="0"/>
              <a:t> Comment organiser la défense du territoire? disposer de places fortes? développer ses ports? Comment stimuler l’économie nationale ?</a:t>
            </a:r>
          </a:p>
          <a:p>
            <a:pPr marL="457200" lvl="1" indent="0">
              <a:buNone/>
            </a:pPr>
            <a:endParaRPr lang="fr-FR" dirty="0"/>
          </a:p>
          <a:p>
            <a:pPr>
              <a:buFont typeface="Wingdings" panose="05000000000000000000" pitchFamily="2" charset="2"/>
              <a:buChar char="Ø"/>
            </a:pPr>
            <a:r>
              <a:rPr lang="fr-FR" dirty="0"/>
              <a:t> L’idée d’une </a:t>
            </a:r>
            <a:r>
              <a:rPr lang="fr-FR" b="1" dirty="0"/>
              <a:t>intervention structurante sur l’espace </a:t>
            </a:r>
            <a:r>
              <a:rPr lang="fr-FR" dirty="0"/>
              <a:t>est très présente chez </a:t>
            </a:r>
            <a:r>
              <a:rPr lang="fr-FR" b="1" dirty="0"/>
              <a:t>Vauban</a:t>
            </a:r>
            <a:r>
              <a:rPr lang="fr-FR" dirty="0"/>
              <a:t> (</a:t>
            </a:r>
            <a:r>
              <a:rPr lang="fr-FR" dirty="0" err="1"/>
              <a:t>Phlipponneau</a:t>
            </a:r>
            <a:r>
              <a:rPr lang="fr-FR" dirty="0"/>
              <a:t>, 1959). </a:t>
            </a:r>
          </a:p>
          <a:p>
            <a:pPr marL="0" indent="0">
              <a:buNone/>
            </a:pPr>
            <a:endParaRPr lang="fr-FR" dirty="0"/>
          </a:p>
          <a:p>
            <a:pPr>
              <a:buFont typeface="Wingdings" panose="05000000000000000000" pitchFamily="2" charset="2"/>
              <a:buChar char="Ø"/>
            </a:pPr>
            <a:r>
              <a:rPr lang="fr-FR" dirty="0"/>
              <a:t>deuxième moitié du XVIIIe siècle et au XIXe : les </a:t>
            </a:r>
            <a:r>
              <a:rPr lang="fr-FR" b="1" dirty="0"/>
              <a:t>moyens de transport nouveaux </a:t>
            </a:r>
            <a:r>
              <a:rPr lang="fr-FR" dirty="0"/>
              <a:t>facilite la vie de relation . Aménager, c’est dessiner des voies, organiser des réseaux. </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758869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FF0000"/>
                </a:solidFill>
              </a:rPr>
              <a:t>1) approches pluridisciplinaires </a:t>
            </a:r>
            <a:br>
              <a:rPr lang="fr-SN" b="1" dirty="0">
                <a:solidFill>
                  <a:srgbClr val="FF0000"/>
                </a:solidFill>
              </a:rPr>
            </a:br>
            <a:r>
              <a:rPr lang="fr-SN" b="1" dirty="0" err="1">
                <a:solidFill>
                  <a:srgbClr val="FF0000"/>
                </a:solidFill>
              </a:rPr>
              <a:t>Génése</a:t>
            </a:r>
            <a:r>
              <a:rPr lang="fr-SN" b="1" dirty="0">
                <a:solidFill>
                  <a:srgbClr val="FF0000"/>
                </a:solidFill>
              </a:rPr>
              <a:t> des réflexions</a:t>
            </a:r>
            <a:endParaRPr lang="fr-FR" b="1" dirty="0">
              <a:solidFill>
                <a:srgbClr val="00B0F0"/>
              </a:solidFill>
            </a:endParaRPr>
          </a:p>
        </p:txBody>
      </p:sp>
      <p:sp>
        <p:nvSpPr>
          <p:cNvPr id="3" name="Espace réservé du contenu 2"/>
          <p:cNvSpPr>
            <a:spLocks noGrp="1"/>
          </p:cNvSpPr>
          <p:nvPr>
            <p:ph idx="1"/>
          </p:nvPr>
        </p:nvSpPr>
        <p:spPr>
          <a:xfrm>
            <a:off x="251520" y="1340768"/>
            <a:ext cx="8640960" cy="5400600"/>
          </a:xfrm>
        </p:spPr>
        <p:txBody>
          <a:bodyPr>
            <a:normAutofit fontScale="92500" lnSpcReduction="10000"/>
          </a:bodyPr>
          <a:lstStyle/>
          <a:p>
            <a:pPr>
              <a:buFont typeface="Wingdings" panose="05000000000000000000" pitchFamily="2" charset="2"/>
              <a:buChar char="Ø"/>
            </a:pPr>
            <a:r>
              <a:rPr lang="fr-FR" dirty="0"/>
              <a:t>En 2000 avec les géographes Jacques Levy et Michel </a:t>
            </a:r>
            <a:r>
              <a:rPr lang="fr-FR" dirty="0" err="1"/>
              <a:t>Lussault</a:t>
            </a:r>
            <a:r>
              <a:rPr lang="fr-FR" dirty="0"/>
              <a:t> : </a:t>
            </a:r>
            <a:r>
              <a:rPr lang="fr-FR" b="1" dirty="0"/>
              <a:t>production spatiale </a:t>
            </a:r>
            <a:r>
              <a:rPr lang="fr-FR" dirty="0"/>
              <a:t>en insistant sur les </a:t>
            </a:r>
            <a:r>
              <a:rPr lang="fr-FR" b="1" dirty="0"/>
              <a:t>échelles</a:t>
            </a:r>
            <a:r>
              <a:rPr lang="fr-FR" dirty="0"/>
              <a:t>. </a:t>
            </a:r>
          </a:p>
          <a:p>
            <a:pPr>
              <a:buFont typeface="Wingdings" panose="05000000000000000000" pitchFamily="2" charset="2"/>
              <a:buChar char="Ø"/>
            </a:pPr>
            <a:r>
              <a:rPr lang="fr-FR" dirty="0"/>
              <a:t>La </a:t>
            </a:r>
            <a:r>
              <a:rPr lang="fr-FR" b="1" dirty="0"/>
              <a:t>mondialisation</a:t>
            </a:r>
            <a:r>
              <a:rPr lang="fr-FR" dirty="0"/>
              <a:t> s’accélère: révolution des transports rapides de personnes, de marchandises et des télécommunications. </a:t>
            </a:r>
          </a:p>
          <a:p>
            <a:pPr>
              <a:buFont typeface="Wingdings" panose="05000000000000000000" pitchFamily="2" charset="2"/>
              <a:buChar char="Ø"/>
            </a:pPr>
            <a:r>
              <a:rPr lang="fr-FR" dirty="0"/>
              <a:t>La distance pèse moins, apparition de points de regroupement et de condensation : </a:t>
            </a:r>
            <a:r>
              <a:rPr lang="fr-FR" b="1" dirty="0"/>
              <a:t>métropoles </a:t>
            </a:r>
            <a:r>
              <a:rPr lang="fr-FR" dirty="0"/>
              <a:t>d’une part, </a:t>
            </a:r>
            <a:r>
              <a:rPr lang="fr-FR" b="1" dirty="0"/>
              <a:t>clusters</a:t>
            </a:r>
            <a:r>
              <a:rPr lang="fr-FR" dirty="0"/>
              <a:t>, districts industriels, régions d’innovation d’autre </a:t>
            </a:r>
            <a:r>
              <a:rPr lang="fr-FR" dirty="0" err="1"/>
              <a:t>part,etc</a:t>
            </a:r>
            <a:r>
              <a:rPr lang="fr-FR" dirty="0"/>
              <a:t>.</a:t>
            </a:r>
          </a:p>
          <a:p>
            <a:pPr>
              <a:buFont typeface="Wingdings" panose="05000000000000000000" pitchFamily="2" charset="2"/>
              <a:buChar char="Ø"/>
            </a:pPr>
            <a:r>
              <a:rPr lang="fr-FR" dirty="0"/>
              <a:t> L’accent est mis sur l’économie de l’</a:t>
            </a:r>
            <a:r>
              <a:rPr lang="fr-FR" b="1" dirty="0"/>
              <a:t>information</a:t>
            </a:r>
            <a:r>
              <a:rPr lang="fr-FR" dirty="0"/>
              <a:t>, de la </a:t>
            </a:r>
            <a:r>
              <a:rPr lang="fr-FR" b="1" dirty="0"/>
              <a:t>communication</a:t>
            </a:r>
            <a:r>
              <a:rPr lang="fr-FR" dirty="0"/>
              <a:t> et de la </a:t>
            </a:r>
            <a:r>
              <a:rPr lang="fr-FR" b="1" dirty="0"/>
              <a:t>connaissance</a:t>
            </a:r>
            <a:r>
              <a:rPr lang="fr-FR" dirty="0"/>
              <a:t>.</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1923685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2) Quelques définitions</a:t>
            </a:r>
            <a:endParaRPr lang="fr-FR" b="1" dirty="0">
              <a:solidFill>
                <a:srgbClr val="FF0000"/>
              </a:solidFill>
            </a:endParaRPr>
          </a:p>
        </p:txBody>
      </p:sp>
      <p:sp>
        <p:nvSpPr>
          <p:cNvPr id="3" name="Espace réservé du contenu 2"/>
          <p:cNvSpPr>
            <a:spLocks noGrp="1"/>
          </p:cNvSpPr>
          <p:nvPr>
            <p:ph idx="1"/>
          </p:nvPr>
        </p:nvSpPr>
        <p:spPr>
          <a:xfrm>
            <a:off x="251520" y="1340768"/>
            <a:ext cx="8640960" cy="5256584"/>
          </a:xfrm>
        </p:spPr>
        <p:txBody>
          <a:bodyPr>
            <a:normAutofit/>
          </a:bodyPr>
          <a:lstStyle/>
          <a:p>
            <a:pPr>
              <a:buFont typeface="Wingdings" panose="05000000000000000000" pitchFamily="2" charset="2"/>
              <a:buChar char="Ø"/>
            </a:pPr>
            <a:r>
              <a:rPr lang="fr-FR" sz="3000" dirty="0"/>
              <a:t>L’espace géographique est spécifique à la géographie. </a:t>
            </a:r>
          </a:p>
          <a:p>
            <a:pPr>
              <a:buFont typeface="Wingdings" panose="05000000000000000000" pitchFamily="2" charset="2"/>
              <a:buChar char="Ø"/>
            </a:pPr>
            <a:endParaRPr lang="fr-FR" sz="3000" dirty="0"/>
          </a:p>
          <a:p>
            <a:pPr>
              <a:buFont typeface="Wingdings" panose="05000000000000000000" pitchFamily="2" charset="2"/>
              <a:buChar char="Ø"/>
            </a:pPr>
            <a:r>
              <a:rPr lang="fr-FR" sz="3000" dirty="0"/>
              <a:t>Les géographes analysent l’espace terrestre depuis l’Antiquité, mais l’« Espace géographique » n’est devenu que récemment le </a:t>
            </a:r>
            <a:r>
              <a:rPr lang="fr-FR" sz="3000" b="1" dirty="0"/>
              <a:t>concept-clé</a:t>
            </a:r>
            <a:r>
              <a:rPr lang="fr-FR" sz="3000" dirty="0"/>
              <a:t> de la discipline.</a:t>
            </a:r>
          </a:p>
          <a:p>
            <a:pPr marL="0" indent="0">
              <a:buNone/>
            </a:pPr>
            <a:endParaRPr lang="fr-FR" sz="3000" dirty="0"/>
          </a:p>
          <a:p>
            <a:pPr>
              <a:buFont typeface="Wingdings" panose="05000000000000000000" pitchFamily="2" charset="2"/>
              <a:buChar char="Ø"/>
            </a:pPr>
            <a:r>
              <a:rPr lang="fr-SN" sz="3000" dirty="0"/>
              <a:t>En 1960, le concept « Espace » s’est imposé comme un </a:t>
            </a:r>
            <a:r>
              <a:rPr lang="fr-SN" sz="3000" b="1" dirty="0"/>
              <a:t>paradigme</a:t>
            </a:r>
            <a:r>
              <a:rPr lang="fr-SN" sz="3000" dirty="0"/>
              <a:t>.</a:t>
            </a:r>
            <a:endParaRPr lang="fr-FR" sz="3000" dirty="0"/>
          </a:p>
          <a:p>
            <a:pPr marL="0" indent="0">
              <a:buNone/>
            </a:pPr>
            <a:endParaRPr lang="fr-FR" dirty="0"/>
          </a:p>
          <a:p>
            <a:pPr marL="0" indent="0">
              <a:buNone/>
            </a:pPr>
            <a:endParaRPr lang="fr-FR" dirty="0"/>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1959868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2) Quelques définitions</a:t>
            </a:r>
            <a:endParaRPr lang="fr-FR" b="1" dirty="0">
              <a:solidFill>
                <a:srgbClr val="FF0000"/>
              </a:solidFill>
            </a:endParaRPr>
          </a:p>
        </p:txBody>
      </p:sp>
      <p:sp>
        <p:nvSpPr>
          <p:cNvPr id="3" name="Espace réservé du contenu 2"/>
          <p:cNvSpPr>
            <a:spLocks noGrp="1"/>
          </p:cNvSpPr>
          <p:nvPr>
            <p:ph idx="1"/>
          </p:nvPr>
        </p:nvSpPr>
        <p:spPr>
          <a:xfrm>
            <a:off x="251520" y="1340768"/>
            <a:ext cx="8640960" cy="5400600"/>
          </a:xfrm>
        </p:spPr>
        <p:txBody>
          <a:bodyPr>
            <a:normAutofit/>
          </a:bodyPr>
          <a:lstStyle/>
          <a:p>
            <a:pPr>
              <a:buFont typeface="Wingdings" panose="05000000000000000000" pitchFamily="2" charset="2"/>
              <a:buChar char="Ø"/>
            </a:pPr>
            <a:r>
              <a:rPr lang="fr-FR" dirty="0"/>
              <a:t>Espace géographique: une </a:t>
            </a:r>
            <a:r>
              <a:rPr lang="fr-FR" b="1" dirty="0"/>
              <a:t>étendue terrestre </a:t>
            </a:r>
            <a:r>
              <a:rPr lang="fr-FR" dirty="0"/>
              <a:t>où les sociétés assurent leur reproduction. </a:t>
            </a:r>
          </a:p>
          <a:p>
            <a:pPr marL="0" indent="0">
              <a:buNone/>
            </a:pPr>
            <a:endParaRPr lang="fr-FR" dirty="0"/>
          </a:p>
          <a:p>
            <a:pPr>
              <a:buFont typeface="Wingdings" panose="05000000000000000000" pitchFamily="2" charset="2"/>
              <a:buChar char="Ø"/>
            </a:pPr>
            <a:r>
              <a:rPr lang="fr-FR" dirty="0"/>
              <a:t>un </a:t>
            </a:r>
            <a:r>
              <a:rPr lang="fr-FR" b="1" dirty="0"/>
              <a:t>ensemble de lieux </a:t>
            </a:r>
            <a:r>
              <a:rPr lang="fr-FR" dirty="0"/>
              <a:t>et de </a:t>
            </a:r>
            <a:r>
              <a:rPr lang="fr-FR" b="1" dirty="0"/>
              <a:t>liens différenciés</a:t>
            </a:r>
            <a:r>
              <a:rPr lang="fr-FR" dirty="0"/>
              <a:t>, </a:t>
            </a:r>
            <a:r>
              <a:rPr lang="fr-FR" b="1" dirty="0"/>
              <a:t>localisés</a:t>
            </a:r>
            <a:r>
              <a:rPr lang="fr-FR" dirty="0"/>
              <a:t>, </a:t>
            </a:r>
            <a:r>
              <a:rPr lang="fr-FR" b="1" dirty="0"/>
              <a:t>nommés, spécifiés, connectés</a:t>
            </a:r>
            <a:r>
              <a:rPr lang="fr-FR" dirty="0"/>
              <a:t>. </a:t>
            </a:r>
          </a:p>
          <a:p>
            <a:pPr marL="0" indent="0">
              <a:buNone/>
            </a:pPr>
            <a:endParaRPr lang="fr-FR" dirty="0"/>
          </a:p>
          <a:p>
            <a:pPr>
              <a:buFont typeface="Wingdings" panose="05000000000000000000" pitchFamily="2" charset="2"/>
              <a:buChar char="Ø"/>
            </a:pPr>
            <a:r>
              <a:rPr lang="fr-FR" dirty="0"/>
              <a:t>L’espace géographique en tant que succession ou continuité de lieux fait superposer des </a:t>
            </a:r>
            <a:r>
              <a:rPr lang="fr-FR" b="1" dirty="0"/>
              <a:t>échelles</a:t>
            </a:r>
            <a:r>
              <a:rPr lang="fr-FR" dirty="0"/>
              <a:t>.</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1305056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2) Quelques définitions</a:t>
            </a:r>
            <a:endParaRPr lang="fr-FR" b="1" dirty="0">
              <a:solidFill>
                <a:srgbClr val="FF0000"/>
              </a:solidFill>
            </a:endParaRPr>
          </a:p>
        </p:txBody>
      </p:sp>
      <p:sp>
        <p:nvSpPr>
          <p:cNvPr id="3" name="Espace réservé du contenu 2"/>
          <p:cNvSpPr>
            <a:spLocks noGrp="1"/>
          </p:cNvSpPr>
          <p:nvPr>
            <p:ph idx="1"/>
          </p:nvPr>
        </p:nvSpPr>
        <p:spPr>
          <a:xfrm>
            <a:off x="251520" y="1340768"/>
            <a:ext cx="8640960" cy="5400600"/>
          </a:xfrm>
        </p:spPr>
        <p:txBody>
          <a:bodyPr>
            <a:normAutofit/>
          </a:bodyPr>
          <a:lstStyle/>
          <a:p>
            <a:pPr>
              <a:buFont typeface="Wingdings" panose="05000000000000000000" pitchFamily="2" charset="2"/>
              <a:buChar char="q"/>
            </a:pPr>
            <a:r>
              <a:rPr lang="fr-FR" b="1" dirty="0">
                <a:solidFill>
                  <a:srgbClr val="00B0F0"/>
                </a:solidFill>
              </a:rPr>
              <a:t>Espace</a:t>
            </a:r>
            <a:r>
              <a:rPr lang="fr-FR" dirty="0"/>
              <a:t> au</a:t>
            </a:r>
            <a:r>
              <a:rPr lang="fr-FR" b="1" dirty="0"/>
              <a:t> singulier : </a:t>
            </a:r>
            <a:r>
              <a:rPr lang="fr-FR" dirty="0"/>
              <a:t>une portion de l’espace terrestre </a:t>
            </a:r>
            <a:r>
              <a:rPr lang="fr-FR" b="1" dirty="0">
                <a:solidFill>
                  <a:srgbClr val="00B0F0"/>
                </a:solidFill>
              </a:rPr>
              <a:t>localisée</a:t>
            </a:r>
            <a:r>
              <a:rPr lang="fr-FR" dirty="0"/>
              <a:t>, définie par sa nature et ses propriétés physiques, économiques et sociales</a:t>
            </a:r>
          </a:p>
          <a:p>
            <a:pPr>
              <a:buFont typeface="Wingdings" panose="05000000000000000000" pitchFamily="2" charset="2"/>
              <a:buChar char="q"/>
            </a:pPr>
            <a:endParaRPr lang="fr-FR" dirty="0"/>
          </a:p>
          <a:p>
            <a:pPr>
              <a:buFont typeface="Wingdings" panose="05000000000000000000" pitchFamily="2" charset="2"/>
              <a:buChar char="q"/>
            </a:pPr>
            <a:r>
              <a:rPr lang="fr-FR" dirty="0"/>
              <a:t> </a:t>
            </a:r>
            <a:r>
              <a:rPr lang="fr-FR" b="1" dirty="0">
                <a:solidFill>
                  <a:srgbClr val="00B0F0"/>
                </a:solidFill>
              </a:rPr>
              <a:t>Espaces</a:t>
            </a:r>
            <a:r>
              <a:rPr lang="fr-FR" dirty="0"/>
              <a:t> au </a:t>
            </a:r>
            <a:r>
              <a:rPr lang="fr-FR" b="1" dirty="0"/>
              <a:t>pluriel</a:t>
            </a:r>
            <a:r>
              <a:rPr lang="fr-FR" dirty="0"/>
              <a:t> présentent des similitudes ( homogénéités) ou construits par les sociétés : espaces montagnards; espaces ruraux; espaces urbains; espaces industriels; espaces littoraux; espaces lacustres…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1480928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2) Quelques définitions</a:t>
            </a:r>
            <a:endParaRPr lang="fr-FR" b="1" dirty="0">
              <a:solidFill>
                <a:srgbClr val="FF0000"/>
              </a:solidFill>
            </a:endParaRPr>
          </a:p>
        </p:txBody>
      </p:sp>
      <p:sp>
        <p:nvSpPr>
          <p:cNvPr id="3" name="Espace réservé du contenu 2"/>
          <p:cNvSpPr>
            <a:spLocks noGrp="1"/>
          </p:cNvSpPr>
          <p:nvPr>
            <p:ph idx="1"/>
          </p:nvPr>
        </p:nvSpPr>
        <p:spPr>
          <a:xfrm>
            <a:off x="251520" y="1340768"/>
            <a:ext cx="8640960" cy="5400600"/>
          </a:xfrm>
        </p:spPr>
        <p:txBody>
          <a:bodyPr>
            <a:normAutofit/>
          </a:bodyPr>
          <a:lstStyle/>
          <a:p>
            <a:endParaRPr lang="fr-FR" dirty="0"/>
          </a:p>
          <a:p>
            <a:pPr>
              <a:buFont typeface="Wingdings" panose="05000000000000000000" pitchFamily="2" charset="2"/>
              <a:buChar char="Ø"/>
            </a:pPr>
            <a:r>
              <a:rPr lang="fr-FR" dirty="0"/>
              <a:t>L’espace géographique c’est aussi une </a:t>
            </a:r>
            <a:r>
              <a:rPr lang="fr-FR" b="1" dirty="0"/>
              <a:t>construction sociale : </a:t>
            </a:r>
          </a:p>
          <a:p>
            <a:pPr>
              <a:buFont typeface="Wingdings" panose="05000000000000000000" pitchFamily="2" charset="2"/>
              <a:buChar char="Ø"/>
            </a:pPr>
            <a:endParaRPr lang="fr-FR" b="1" dirty="0"/>
          </a:p>
          <a:p>
            <a:pPr lvl="2"/>
            <a:r>
              <a:rPr lang="fr-FR" dirty="0"/>
              <a:t> c’est donc un espace organisé par les hommes et les sociétés. Les groupes y cohabitent et interagissent avec leur environnement.</a:t>
            </a:r>
          </a:p>
          <a:p>
            <a:pPr lvl="2"/>
            <a:r>
              <a:rPr lang="fr-SN" b="1" dirty="0"/>
              <a:t>Exemples?</a:t>
            </a:r>
            <a:endParaRPr lang="fr-FR" b="1" dirty="0"/>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166051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229600" cy="864096"/>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idx="1"/>
          </p:nvPr>
        </p:nvSpPr>
        <p:spPr>
          <a:xfrm>
            <a:off x="251520" y="1340768"/>
            <a:ext cx="8640960" cy="5400600"/>
          </a:xfrm>
        </p:spPr>
        <p:txBody>
          <a:bodyPr>
            <a:normAutofit fontScale="92500" lnSpcReduction="10000"/>
          </a:bodyPr>
          <a:lstStyle/>
          <a:p>
            <a:pPr>
              <a:buFont typeface="Wingdings" panose="05000000000000000000" pitchFamily="2" charset="2"/>
              <a:buChar char="Ø"/>
            </a:pPr>
            <a:r>
              <a:rPr lang="fr-FR" dirty="0"/>
              <a:t>La notion de </a:t>
            </a:r>
            <a:r>
              <a:rPr lang="fr-FR" b="1" i="1" dirty="0"/>
              <a:t>système spatial</a:t>
            </a:r>
            <a:r>
              <a:rPr lang="fr-FR" b="1" dirty="0"/>
              <a:t> </a:t>
            </a:r>
            <a:r>
              <a:rPr lang="fr-FR" dirty="0"/>
              <a:t>est mobilisée par de nombreux chercheurs avec différentes significations.</a:t>
            </a:r>
          </a:p>
          <a:p>
            <a:pPr marL="0" indent="0">
              <a:buNone/>
            </a:pPr>
            <a:endParaRPr lang="fr-FR" dirty="0"/>
          </a:p>
          <a:p>
            <a:pPr>
              <a:buFont typeface="Wingdings" panose="05000000000000000000" pitchFamily="2" charset="2"/>
              <a:buChar char="Ø"/>
            </a:pPr>
            <a:r>
              <a:rPr lang="fr-FR" dirty="0"/>
              <a:t>Un </a:t>
            </a:r>
            <a:r>
              <a:rPr lang="fr-FR" b="1" dirty="0"/>
              <a:t>système spatial</a:t>
            </a:r>
            <a:r>
              <a:rPr lang="fr-FR" dirty="0"/>
              <a:t> est un concept qui désigne l‘espace géographique constitué par plusieurs éléments interdépendants et dynamiques.  </a:t>
            </a:r>
          </a:p>
          <a:p>
            <a:pPr>
              <a:buFont typeface="Wingdings" panose="05000000000000000000" pitchFamily="2" charset="2"/>
              <a:buChar char="Ø"/>
            </a:pPr>
            <a:endParaRPr lang="fr-FR" dirty="0"/>
          </a:p>
          <a:p>
            <a:pPr>
              <a:buFont typeface="Wingdings" panose="05000000000000000000" pitchFamily="2" charset="2"/>
              <a:buChar char="Ø"/>
            </a:pPr>
            <a:r>
              <a:rPr lang="fr-FR" dirty="0"/>
              <a:t>Précisément, le système spatial désigne l'ensemble des </a:t>
            </a:r>
            <a:r>
              <a:rPr lang="fr-FR" b="1" dirty="0"/>
              <a:t>composants de l’espace </a:t>
            </a:r>
            <a:r>
              <a:rPr lang="fr-FR" dirty="0"/>
              <a:t>(habitat, réseaux, relief, ressources…) qui par leurs interactions et leurs positions constituent un espace fonctionnel.</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
        <p:nvSpPr>
          <p:cNvPr id="5" name="Espace réservé du pied de page 4"/>
          <p:cNvSpPr>
            <a:spLocks noGrp="1"/>
          </p:cNvSpPr>
          <p:nvPr>
            <p:ph type="ftr" sz="quarter" idx="11"/>
          </p:nvPr>
        </p:nvSpPr>
        <p:spPr>
          <a:xfrm>
            <a:off x="0" y="6309320"/>
            <a:ext cx="8892480" cy="365125"/>
          </a:xfrm>
        </p:spPr>
        <p:txBody>
          <a:bodyPr/>
          <a:lstStyle/>
          <a:p>
            <a:r>
              <a:rPr lang="fr-FR" sz="2400" dirty="0"/>
              <a:t>                                             Espaces et Territoires</a:t>
            </a:r>
          </a:p>
        </p:txBody>
      </p:sp>
    </p:spTree>
    <p:extLst>
      <p:ext uri="{BB962C8B-B14F-4D97-AF65-F5344CB8AC3E}">
        <p14:creationId xmlns:p14="http://schemas.microsoft.com/office/powerpoint/2010/main" val="4096021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sz="half" idx="1"/>
          </p:nvPr>
        </p:nvSpPr>
        <p:spPr/>
        <p:txBody>
          <a:bodyPr>
            <a:normAutofit/>
          </a:bodyPr>
          <a:lstStyle/>
          <a:p>
            <a:endParaRPr lang="fr-FR" dirty="0"/>
          </a:p>
          <a:p>
            <a:pPr>
              <a:buFont typeface="Wingdings" panose="05000000000000000000" pitchFamily="2" charset="2"/>
              <a:buChar char="q"/>
            </a:pPr>
            <a:r>
              <a:rPr lang="fr-SN" dirty="0"/>
              <a:t>le système spatial est découpé </a:t>
            </a:r>
            <a:r>
              <a:rPr lang="fr-FR" dirty="0"/>
              <a:t>en unités spatiales dynamiques et interconnectées.</a:t>
            </a:r>
          </a:p>
        </p:txBody>
      </p:sp>
      <p:sp>
        <p:nvSpPr>
          <p:cNvPr id="5" name="Espace réservé du pied de page 4"/>
          <p:cNvSpPr>
            <a:spLocks noGrp="1"/>
          </p:cNvSpPr>
          <p:nvPr>
            <p:ph type="ftr" sz="quarter" idx="11"/>
          </p:nvPr>
        </p:nvSpPr>
        <p:spPr/>
        <p:txBody>
          <a:bodyPr/>
          <a:lstStyle/>
          <a:p>
            <a:r>
              <a:rPr lang="fr-FR" sz="2400" dirty="0"/>
              <a:t>                                                 Espaces et Territoires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pic>
        <p:nvPicPr>
          <p:cNvPr id="1026" name="Picture 2" descr="La notion d&amp;amp;#39;aire urbaine : schéma et définitions – Langlois • Histoire et  géographie"/>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648200" y="1957043"/>
            <a:ext cx="4038600" cy="3812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631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30044"/>
            <a:ext cx="8229600" cy="1143000"/>
          </a:xfrm>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sz="half" idx="1"/>
          </p:nvPr>
        </p:nvSpPr>
        <p:spPr>
          <a:xfrm>
            <a:off x="-36512" y="1484784"/>
            <a:ext cx="5746542" cy="5040560"/>
          </a:xfrm>
        </p:spPr>
        <p:txBody>
          <a:bodyPr>
            <a:normAutofit fontScale="25000" lnSpcReduction="20000"/>
          </a:bodyPr>
          <a:lstStyle/>
          <a:p>
            <a:pPr>
              <a:buFont typeface="Wingdings" panose="05000000000000000000" pitchFamily="2" charset="2"/>
              <a:buChar char="Ø"/>
            </a:pPr>
            <a:r>
              <a:rPr lang="fr-FR" sz="8000" dirty="0"/>
              <a:t>Selon</a:t>
            </a:r>
            <a:r>
              <a:rPr lang="fr-FR" sz="8000" b="1" dirty="0"/>
              <a:t> Michel </a:t>
            </a:r>
            <a:r>
              <a:rPr lang="fr-FR" sz="8000" b="1" dirty="0" err="1"/>
              <a:t>Lussault</a:t>
            </a:r>
            <a:r>
              <a:rPr lang="fr-FR" sz="8000" b="1" dirty="0"/>
              <a:t>, on distingue 3 éléments </a:t>
            </a:r>
            <a:r>
              <a:rPr lang="fr-FR" sz="8000" dirty="0"/>
              <a:t>dans un </a:t>
            </a:r>
            <a:r>
              <a:rPr lang="fr-FR" sz="8000" dirty="0" err="1"/>
              <a:t>systéme</a:t>
            </a:r>
            <a:r>
              <a:rPr lang="fr-FR" sz="8000" dirty="0"/>
              <a:t> spatial:</a:t>
            </a:r>
          </a:p>
          <a:p>
            <a:pPr marL="0" indent="0">
              <a:buNone/>
            </a:pPr>
            <a:endParaRPr lang="fr-FR" sz="8000" dirty="0"/>
          </a:p>
          <a:p>
            <a:pPr lvl="0"/>
            <a:r>
              <a:rPr lang="fr-SN" sz="8000" dirty="0"/>
              <a:t> </a:t>
            </a:r>
            <a:r>
              <a:rPr lang="fr-FR" sz="8000" dirty="0"/>
              <a:t>Le </a:t>
            </a:r>
            <a:r>
              <a:rPr lang="fr-FR" sz="8000" b="1" dirty="0"/>
              <a:t>lieu </a:t>
            </a:r>
            <a:r>
              <a:rPr lang="fr-FR" sz="8000" dirty="0"/>
              <a:t>: une entité spatiale indivisible comme la plus petite unité spatiale matérialisé par des coordonnées géographiques : latitude, longitude et altitude. Les lieux sont contenus dans une surface dite aire.</a:t>
            </a:r>
          </a:p>
          <a:p>
            <a:pPr marL="0" lvl="0" indent="0">
              <a:buNone/>
            </a:pPr>
            <a:endParaRPr lang="fr-FR" sz="8000" dirty="0"/>
          </a:p>
          <a:p>
            <a:pPr lvl="0"/>
            <a:r>
              <a:rPr lang="fr-FR" sz="8000" b="1" dirty="0"/>
              <a:t>L’aire</a:t>
            </a:r>
            <a:r>
              <a:rPr lang="fr-FR" sz="8000" dirty="0"/>
              <a:t> : la figure typique de l’aire est le territoire:  assemblage délimité de plusieurs espaces avec des limites précises. L’aire est un espace structuré </a:t>
            </a:r>
          </a:p>
          <a:p>
            <a:pPr marL="0" lvl="0" indent="0">
              <a:buNone/>
            </a:pPr>
            <a:endParaRPr lang="fr-FR" sz="8000" dirty="0"/>
          </a:p>
          <a:p>
            <a:pPr lvl="0"/>
            <a:r>
              <a:rPr lang="fr-FR" sz="8000" dirty="0"/>
              <a:t>Le </a:t>
            </a:r>
            <a:r>
              <a:rPr lang="fr-FR" sz="8000" b="1" dirty="0"/>
              <a:t>réseau</a:t>
            </a:r>
            <a:r>
              <a:rPr lang="fr-FR" sz="8000" dirty="0"/>
              <a:t> : c’est le métrique ou le linéaire qui relie les lieux dans l’aire ou qui ceinture l’aire. Le réseau est physique ou virtuel. Un réseau réunit des lignes reliées et animées par des échanges reliant les points</a:t>
            </a:r>
            <a:r>
              <a:rPr lang="fr-FR" sz="8400" dirty="0"/>
              <a:t>.</a:t>
            </a:r>
          </a:p>
          <a:p>
            <a:endParaRPr lang="fr-FR" dirty="0"/>
          </a:p>
        </p:txBody>
      </p:sp>
      <p:pic>
        <p:nvPicPr>
          <p:cNvPr id="7" name="Espace réservé du contenu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19800" y="1365359"/>
            <a:ext cx="2057400" cy="2057400"/>
          </a:xfrm>
        </p:spPr>
      </p:pic>
      <p:sp>
        <p:nvSpPr>
          <p:cNvPr id="5" name="Espace réservé du pied de page 4"/>
          <p:cNvSpPr>
            <a:spLocks noGrp="1"/>
          </p:cNvSpPr>
          <p:nvPr>
            <p:ph type="ftr" sz="quarter" idx="11"/>
          </p:nvPr>
        </p:nvSpPr>
        <p:spPr/>
        <p:txBody>
          <a:bodyPr/>
          <a:lstStyle/>
          <a:p>
            <a:r>
              <a:rPr lang="fr-FR" sz="2400" dirty="0"/>
              <a:t>                                                  Espaces et Territoires</a:t>
            </a:r>
          </a:p>
        </p:txBody>
      </p:sp>
      <p:pic>
        <p:nvPicPr>
          <p:cNvPr id="4" name="officeArt object" descr="logo_UAM.jpg"/>
          <p:cNvPicPr/>
          <p:nvPr/>
        </p:nvPicPr>
        <p:blipFill>
          <a:blip r:embed="rId4"/>
          <a:stretch>
            <a:fillRect/>
          </a:stretch>
        </p:blipFill>
        <p:spPr>
          <a:xfrm>
            <a:off x="7956376" y="1"/>
            <a:ext cx="1080120" cy="980727"/>
          </a:xfrm>
          <a:prstGeom prst="rect">
            <a:avLst/>
          </a:prstGeom>
          <a:ln w="12700" cap="flat">
            <a:noFill/>
            <a:miter lim="400000"/>
          </a:ln>
          <a:effectLst/>
        </p:spPr>
      </p:pic>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0030" y="3422759"/>
            <a:ext cx="3374375" cy="2496681"/>
          </a:xfrm>
          <a:prstGeom prst="rect">
            <a:avLst/>
          </a:prstGeom>
        </p:spPr>
      </p:pic>
    </p:spTree>
    <p:extLst>
      <p:ext uri="{BB962C8B-B14F-4D97-AF65-F5344CB8AC3E}">
        <p14:creationId xmlns:p14="http://schemas.microsoft.com/office/powerpoint/2010/main" val="2635835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idx="1"/>
          </p:nvPr>
        </p:nvSpPr>
        <p:spPr/>
        <p:txBody>
          <a:bodyPr>
            <a:normAutofit fontScale="77500" lnSpcReduction="20000"/>
          </a:bodyPr>
          <a:lstStyle/>
          <a:p>
            <a:pPr>
              <a:buFont typeface="Wingdings" panose="05000000000000000000" pitchFamily="2" charset="2"/>
              <a:buChar char="§"/>
            </a:pPr>
            <a:r>
              <a:rPr lang="fr-FR" dirty="0"/>
              <a:t>Michel </a:t>
            </a:r>
            <a:r>
              <a:rPr lang="fr-FR" dirty="0" err="1"/>
              <a:t>Lussault</a:t>
            </a:r>
            <a:r>
              <a:rPr lang="fr-FR" dirty="0"/>
              <a:t>, Professeur de géographie à l’université de Lyon puis de Tours. </a:t>
            </a:r>
          </a:p>
          <a:p>
            <a:pPr marL="0" indent="0">
              <a:buNone/>
            </a:pPr>
            <a:endParaRPr lang="fr-FR" dirty="0"/>
          </a:p>
          <a:p>
            <a:pPr>
              <a:buFont typeface="Wingdings" panose="05000000000000000000" pitchFamily="2" charset="2"/>
              <a:buChar char="§"/>
            </a:pPr>
            <a:r>
              <a:rPr lang="fr-FR" dirty="0"/>
              <a:t>spécialiste de Géographie urbaine, travaille sur les acteurs, les représentations, les discours et la production de l'espace urbain. </a:t>
            </a:r>
          </a:p>
          <a:p>
            <a:pPr marL="0" indent="0">
              <a:buNone/>
            </a:pPr>
            <a:endParaRPr lang="fr-FR" dirty="0"/>
          </a:p>
          <a:p>
            <a:pPr>
              <a:buFont typeface="Wingdings" panose="05000000000000000000" pitchFamily="2" charset="2"/>
              <a:buChar char="§"/>
            </a:pPr>
            <a:r>
              <a:rPr lang="fr-FR" dirty="0"/>
              <a:t>Auteur du </a:t>
            </a:r>
            <a:r>
              <a:rPr lang="fr-FR" b="1" dirty="0"/>
              <a:t>Dictionnaire de géographie et de l'espace des sociétés</a:t>
            </a:r>
            <a:r>
              <a:rPr lang="fr-FR" dirty="0"/>
              <a:t>. Mais aussi de l’ouvrage «  </a:t>
            </a:r>
            <a:r>
              <a:rPr lang="fr-FR" b="1" dirty="0"/>
              <a:t>L’homme spatial </a:t>
            </a:r>
            <a:r>
              <a:rPr lang="fr-FR" dirty="0"/>
              <a:t>» dans lequel il pose les fondements d'une théorie de l'espace et de la spatialité et montre comment cette approche permet de repenser le phénomène urbain.</a:t>
            </a:r>
          </a:p>
          <a:p>
            <a:pPr>
              <a:buFont typeface="Wingdings" panose="05000000000000000000" pitchFamily="2" charset="2"/>
              <a:buChar char="§"/>
            </a:pPr>
            <a:endParaRPr lang="fr-FR" dirty="0"/>
          </a:p>
        </p:txBody>
      </p:sp>
      <p:sp>
        <p:nvSpPr>
          <p:cNvPr id="5" name="Espace réservé du pied de page 4"/>
          <p:cNvSpPr>
            <a:spLocks noGrp="1"/>
          </p:cNvSpPr>
          <p:nvPr>
            <p:ph type="ftr" sz="quarter" idx="11"/>
          </p:nvPr>
        </p:nvSpPr>
        <p:spPr/>
        <p:txBody>
          <a:bodyPr/>
          <a:lstStyle/>
          <a:p>
            <a:r>
              <a:rPr lang="fr-FR" sz="2400" dirty="0"/>
              <a:t>                                   Espaces et Territoires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892088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idx="1"/>
          </p:nvPr>
        </p:nvSpPr>
        <p:spPr/>
        <p:txBody>
          <a:bodyPr>
            <a:normAutofit fontScale="92500" lnSpcReduction="20000"/>
          </a:bodyPr>
          <a:lstStyle/>
          <a:p>
            <a:pPr>
              <a:buFont typeface="Wingdings" panose="05000000000000000000" pitchFamily="2" charset="2"/>
              <a:buChar char="Ø"/>
            </a:pPr>
            <a:r>
              <a:rPr lang="fr-FR" dirty="0"/>
              <a:t>Le système spatial renseigne donc sur :</a:t>
            </a:r>
          </a:p>
          <a:p>
            <a:pPr lvl="1">
              <a:buFont typeface="Arial" panose="020B0604020202020204" pitchFamily="34" charset="0"/>
              <a:buChar char="•"/>
            </a:pPr>
            <a:r>
              <a:rPr lang="fr-FR" dirty="0"/>
              <a:t>Ouverture/fermeture; </a:t>
            </a:r>
          </a:p>
          <a:p>
            <a:pPr lvl="1">
              <a:buFont typeface="Arial" panose="020B0604020202020204" pitchFamily="34" charset="0"/>
              <a:buChar char="•"/>
            </a:pPr>
            <a:r>
              <a:rPr lang="fr-FR" dirty="0"/>
              <a:t> </a:t>
            </a:r>
            <a:r>
              <a:rPr lang="fr-FR" dirty="0" err="1"/>
              <a:t>contiguité</a:t>
            </a:r>
            <a:r>
              <a:rPr lang="fr-FR" dirty="0"/>
              <a:t>/connectivité;</a:t>
            </a:r>
          </a:p>
          <a:p>
            <a:pPr lvl="1">
              <a:buFont typeface="Arial" panose="020B0604020202020204" pitchFamily="34" charset="0"/>
              <a:buChar char="•"/>
            </a:pPr>
            <a:r>
              <a:rPr lang="fr-FR" dirty="0"/>
              <a:t>fragmentation/homogénéité…des espaces</a:t>
            </a:r>
          </a:p>
          <a:p>
            <a:pPr marL="0" indent="0">
              <a:buNone/>
            </a:pPr>
            <a:endParaRPr lang="fr-FR" dirty="0"/>
          </a:p>
          <a:p>
            <a:pPr>
              <a:buFont typeface="Wingdings" panose="05000000000000000000" pitchFamily="2" charset="2"/>
              <a:buChar char="Ø"/>
            </a:pPr>
            <a:r>
              <a:rPr lang="fr-FR" dirty="0"/>
              <a:t>D’abord appliqué aux </a:t>
            </a:r>
            <a:r>
              <a:rPr lang="fr-FR" b="1" dirty="0"/>
              <a:t>productions agricoles </a:t>
            </a:r>
            <a:r>
              <a:rPr lang="fr-FR" dirty="0"/>
              <a:t>et basé sur les facteurs de production et les échanges, le système a évolué et va concerner les productions industrielles puis les </a:t>
            </a:r>
            <a:r>
              <a:rPr lang="fr-FR" b="1" dirty="0"/>
              <a:t>services. </a:t>
            </a:r>
            <a:r>
              <a:rPr lang="fr-FR" dirty="0"/>
              <a:t>Aujourd’hui le système spatial est fortement influencé par le </a:t>
            </a:r>
            <a:r>
              <a:rPr lang="fr-FR" b="1" dirty="0"/>
              <a:t>digital et le numérique.</a:t>
            </a:r>
          </a:p>
          <a:p>
            <a:pPr>
              <a:buFont typeface="Wingdings" panose="05000000000000000000" pitchFamily="2" charset="2"/>
              <a:buChar char="Ø"/>
            </a:pPr>
            <a:endParaRPr lang="fr-FR" dirty="0"/>
          </a:p>
          <a:p>
            <a:pPr>
              <a:buFont typeface="Wingdings" panose="05000000000000000000" pitchFamily="2" charset="2"/>
              <a:buChar char="§"/>
            </a:pPr>
            <a:endParaRPr lang="fr-FR" dirty="0"/>
          </a:p>
        </p:txBody>
      </p:sp>
      <p:sp>
        <p:nvSpPr>
          <p:cNvPr id="5" name="Espace réservé du pied de page 4"/>
          <p:cNvSpPr>
            <a:spLocks noGrp="1"/>
          </p:cNvSpPr>
          <p:nvPr>
            <p:ph type="ftr" sz="quarter" idx="11"/>
          </p:nvPr>
        </p:nvSpPr>
        <p:spPr/>
        <p:txBody>
          <a:bodyPr/>
          <a:lstStyle/>
          <a:p>
            <a:r>
              <a:rPr lang="fr-FR" sz="2400" dirty="0"/>
              <a:t>                                            Espaces et Territoires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1797888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idx="1"/>
          </p:nvPr>
        </p:nvSpPr>
        <p:spPr/>
        <p:txBody>
          <a:bodyPr>
            <a:normAutofit fontScale="92500" lnSpcReduction="10000"/>
          </a:bodyPr>
          <a:lstStyle/>
          <a:p>
            <a:pPr>
              <a:buFont typeface="Wingdings" panose="05000000000000000000" pitchFamily="2" charset="2"/>
              <a:buChar char="Ø"/>
            </a:pPr>
            <a:r>
              <a:rPr lang="fr-FR" dirty="0"/>
              <a:t>Les éléments du système spatial structurent l’espace quelle que soit la discipline : Aménagement du territoire, Urbanisme, architecture…</a:t>
            </a:r>
          </a:p>
          <a:p>
            <a:pPr>
              <a:buFont typeface="Wingdings" panose="05000000000000000000" pitchFamily="2" charset="2"/>
              <a:buChar char="Ø"/>
            </a:pPr>
            <a:r>
              <a:rPr lang="fr-FR" dirty="0"/>
              <a:t>La </a:t>
            </a:r>
            <a:r>
              <a:rPr lang="fr-FR" b="1" dirty="0"/>
              <a:t>cartographie</a:t>
            </a:r>
            <a:r>
              <a:rPr lang="fr-FR" dirty="0"/>
              <a:t> permet de représenter le système spatial et de localiser l’espace selon une conception géométrique comme l’ensemble des lieux définis par des coordonnées géographiques.</a:t>
            </a:r>
          </a:p>
          <a:p>
            <a:pPr>
              <a:buFont typeface="Wingdings" panose="05000000000000000000" pitchFamily="2" charset="2"/>
              <a:buChar char="Ø"/>
            </a:pPr>
            <a:r>
              <a:rPr lang="fr-FR" dirty="0"/>
              <a:t> La géométrie et la géographie sont associées pour représenter l’espace.</a:t>
            </a:r>
          </a:p>
          <a:p>
            <a:pPr>
              <a:buFont typeface="Wingdings" panose="05000000000000000000" pitchFamily="2" charset="2"/>
              <a:buChar char="Ø"/>
            </a:pPr>
            <a:endParaRPr lang="fr-FR" dirty="0"/>
          </a:p>
          <a:p>
            <a:pPr>
              <a:buFont typeface="Wingdings" panose="05000000000000000000" pitchFamily="2" charset="2"/>
              <a:buChar char="Ø"/>
            </a:pPr>
            <a:endParaRPr lang="fr-FR" dirty="0"/>
          </a:p>
          <a:p>
            <a:pPr>
              <a:buFont typeface="Wingdings" panose="05000000000000000000" pitchFamily="2" charset="2"/>
              <a:buChar char="§"/>
            </a:pPr>
            <a:endParaRPr lang="fr-FR" dirty="0"/>
          </a:p>
        </p:txBody>
      </p:sp>
      <p:sp>
        <p:nvSpPr>
          <p:cNvPr id="5" name="Espace réservé du pied de page 4"/>
          <p:cNvSpPr>
            <a:spLocks noGrp="1"/>
          </p:cNvSpPr>
          <p:nvPr>
            <p:ph type="ftr" sz="quarter" idx="11"/>
          </p:nvPr>
        </p:nvSpPr>
        <p:spPr/>
        <p:txBody>
          <a:bodyPr/>
          <a:lstStyle/>
          <a:p>
            <a:r>
              <a:rPr lang="fr-FR" sz="2400" dirty="0"/>
              <a:t>                                            Espaces et Territoires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522513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SN" b="1" dirty="0">
                <a:solidFill>
                  <a:srgbClr val="00B0F0"/>
                </a:solidFill>
              </a:rPr>
              <a:t>I. Concept d’espace</a:t>
            </a:r>
            <a:br>
              <a:rPr lang="fr-SN" b="1" dirty="0">
                <a:solidFill>
                  <a:srgbClr val="00B0F0"/>
                </a:solidFill>
              </a:rPr>
            </a:br>
            <a:r>
              <a:rPr lang="fr-SN" b="1" dirty="0">
                <a:solidFill>
                  <a:srgbClr val="FF0000"/>
                </a:solidFill>
              </a:rPr>
              <a:t>3) Eléments du système spatial</a:t>
            </a:r>
            <a:endParaRPr lang="fr-FR" b="1" dirty="0">
              <a:solidFill>
                <a:srgbClr val="FF0000"/>
              </a:solidFill>
            </a:endParaRP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dirty="0"/>
              <a:t> représentation de l’espace, dans lequel nous percevons et nous imaginons les </a:t>
            </a:r>
            <a:r>
              <a:rPr lang="fr-FR" b="1" dirty="0"/>
              <a:t>formes</a:t>
            </a:r>
            <a:r>
              <a:rPr lang="fr-FR" dirty="0"/>
              <a:t> et les </a:t>
            </a:r>
            <a:r>
              <a:rPr lang="fr-FR" b="1" dirty="0"/>
              <a:t>mouvements</a:t>
            </a:r>
            <a:r>
              <a:rPr lang="fr-FR" dirty="0"/>
              <a:t>, relève de la </a:t>
            </a:r>
            <a:r>
              <a:rPr lang="fr-FR" b="1" dirty="0"/>
              <a:t>géométrie euclidienne</a:t>
            </a:r>
            <a:r>
              <a:rPr lang="fr-FR" dirty="0"/>
              <a:t> (met l’accent sur les notions de </a:t>
            </a:r>
            <a:r>
              <a:rPr lang="fr-FR" b="1" dirty="0"/>
              <a:t>points, droite</a:t>
            </a:r>
            <a:r>
              <a:rPr lang="fr-FR" dirty="0"/>
              <a:t>, </a:t>
            </a:r>
            <a:r>
              <a:rPr lang="fr-FR" b="1" dirty="0"/>
              <a:t>segment</a:t>
            </a:r>
            <a:r>
              <a:rPr lang="fr-FR" dirty="0"/>
              <a:t>, longueur, aire, </a:t>
            </a:r>
            <a:r>
              <a:rPr lang="fr-FR" b="1" dirty="0"/>
              <a:t>plan</a:t>
            </a:r>
            <a:r>
              <a:rPr lang="fr-FR" dirty="0"/>
              <a:t>).</a:t>
            </a:r>
          </a:p>
          <a:p>
            <a:pPr marL="0" indent="0">
              <a:buNone/>
            </a:pPr>
            <a:endParaRPr lang="fr-FR" dirty="0"/>
          </a:p>
          <a:p>
            <a:pPr>
              <a:buFont typeface="Wingdings" panose="05000000000000000000" pitchFamily="2" charset="2"/>
              <a:buChar char="Ø"/>
            </a:pPr>
            <a:r>
              <a:rPr lang="fr-FR" dirty="0"/>
              <a:t>L’espace euclidien reste celui de notre perception ordinaire du monde géographique.</a:t>
            </a:r>
          </a:p>
          <a:p>
            <a:pPr>
              <a:buFont typeface="Wingdings" panose="05000000000000000000" pitchFamily="2" charset="2"/>
              <a:buChar char="Ø"/>
            </a:pPr>
            <a:endParaRPr lang="fr-FR" dirty="0"/>
          </a:p>
          <a:p>
            <a:pPr>
              <a:buFont typeface="Wingdings" panose="05000000000000000000" pitchFamily="2" charset="2"/>
              <a:buChar char="Ø"/>
            </a:pPr>
            <a:endParaRPr lang="fr-FR" dirty="0"/>
          </a:p>
          <a:p>
            <a:pPr>
              <a:buFont typeface="Wingdings" panose="05000000000000000000" pitchFamily="2" charset="2"/>
              <a:buChar char="§"/>
            </a:pPr>
            <a:endParaRPr lang="fr-FR" dirty="0"/>
          </a:p>
        </p:txBody>
      </p:sp>
      <p:sp>
        <p:nvSpPr>
          <p:cNvPr id="5" name="Espace réservé du pied de page 4"/>
          <p:cNvSpPr>
            <a:spLocks noGrp="1"/>
          </p:cNvSpPr>
          <p:nvPr>
            <p:ph type="ftr" sz="quarter" idx="11"/>
          </p:nvPr>
        </p:nvSpPr>
        <p:spPr/>
        <p:txBody>
          <a:bodyPr/>
          <a:lstStyle/>
          <a:p>
            <a:r>
              <a:rPr lang="fr-FR" sz="2400" dirty="0"/>
              <a:t>                                         Espaces et Territoires</a:t>
            </a:r>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268708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8229600" cy="836712"/>
          </a:xfrm>
        </p:spPr>
        <p:txBody>
          <a:bodyPr>
            <a:noAutofit/>
          </a:bodyPr>
          <a:lstStyle/>
          <a:p>
            <a:r>
              <a:rPr lang="fr-SN" sz="5400" b="1" dirty="0">
                <a:solidFill>
                  <a:srgbClr val="00B0F0"/>
                </a:solidFill>
              </a:rPr>
              <a:t>Synthèse partie I</a:t>
            </a:r>
            <a:endParaRPr lang="fr-FR" sz="5400" b="1" dirty="0">
              <a:solidFill>
                <a:srgbClr val="00B0F0"/>
              </a:solidFill>
            </a:endParaRPr>
          </a:p>
        </p:txBody>
      </p:sp>
      <p:sp>
        <p:nvSpPr>
          <p:cNvPr id="3" name="Espace réservé du contenu 2"/>
          <p:cNvSpPr>
            <a:spLocks noGrp="1"/>
          </p:cNvSpPr>
          <p:nvPr>
            <p:ph idx="1"/>
          </p:nvPr>
        </p:nvSpPr>
        <p:spPr>
          <a:xfrm>
            <a:off x="107504" y="1268760"/>
            <a:ext cx="9036496" cy="5472608"/>
          </a:xfrm>
        </p:spPr>
        <p:txBody>
          <a:bodyPr>
            <a:normAutofit fontScale="92500" lnSpcReduction="20000"/>
          </a:bodyPr>
          <a:lstStyle/>
          <a:p>
            <a:r>
              <a:rPr lang="fr-FR" dirty="0"/>
              <a:t>Le paysage est une apparence localisée de l’espace dans un temps donné.</a:t>
            </a:r>
          </a:p>
          <a:p>
            <a:pPr marL="0" indent="0">
              <a:buNone/>
            </a:pPr>
            <a:endParaRPr lang="fr-FR" dirty="0"/>
          </a:p>
          <a:p>
            <a:r>
              <a:rPr lang="fr-FR" dirty="0"/>
              <a:t>L’espace est étudié par diverses sciences selon les intérêts méthodologiques divers : la géométrie Euclidienne (mathématique), la cosmologie (astronomie), le positionnement discursif (philosophie) et les mobilités (géographie et démographie)</a:t>
            </a:r>
          </a:p>
          <a:p>
            <a:pPr marL="0" indent="0">
              <a:buNone/>
            </a:pPr>
            <a:endParaRPr lang="fr-FR" dirty="0"/>
          </a:p>
          <a:p>
            <a:r>
              <a:rPr lang="fr-FR" dirty="0"/>
              <a:t>L’espace est un concept de base, un paradigme fondateur de la dimension des rapports milieux physiques et humains : positionnement, déplacement, espacement, orientation, socialisation…</a:t>
            </a:r>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583239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85800" y="2130425"/>
            <a:ext cx="7990656" cy="1658615"/>
          </a:xfrm>
        </p:spPr>
        <p:txBody>
          <a:bodyPr>
            <a:normAutofit fontScale="90000"/>
          </a:bodyPr>
          <a:lstStyle/>
          <a:p>
            <a:br>
              <a:rPr lang="fr-SN" sz="6000" b="1" dirty="0">
                <a:solidFill>
                  <a:srgbClr val="00B0F0"/>
                </a:solidFill>
              </a:rPr>
            </a:br>
            <a:r>
              <a:rPr lang="fr-SN" sz="6000" b="1" dirty="0">
                <a:solidFill>
                  <a:srgbClr val="00B0F0"/>
                </a:solidFill>
              </a:rPr>
              <a:t>II. Les composantes et enjeux de l’Espace Géographique</a:t>
            </a:r>
            <a:br>
              <a:rPr lang="fr-FR" dirty="0">
                <a:solidFill>
                  <a:srgbClr val="00B0F0"/>
                </a:solidFill>
              </a:rPr>
            </a:br>
            <a:endParaRPr lang="fr-FR" dirty="0"/>
          </a:p>
        </p:txBody>
      </p:sp>
      <p:sp>
        <p:nvSpPr>
          <p:cNvPr id="3" name="Espace réservé du contenu 2"/>
          <p:cNvSpPr>
            <a:spLocks noGrp="1"/>
          </p:cNvSpPr>
          <p:nvPr>
            <p:ph type="subTitle" idx="1"/>
          </p:nvPr>
        </p:nvSpPr>
        <p:spPr/>
        <p:txBody>
          <a:bodyPr>
            <a:noAutofit/>
          </a:bodyPr>
          <a:lstStyle/>
          <a:p>
            <a:endParaRPr lang="fr-FR" sz="2400" dirty="0"/>
          </a:p>
          <a:p>
            <a:endParaRPr lang="fr-FR" sz="2800" dirty="0"/>
          </a:p>
        </p:txBody>
      </p:sp>
      <p:pic>
        <p:nvPicPr>
          <p:cNvPr id="4" name="officeArt object" descr="logo_UAM.jpg"/>
          <p:cNvPicPr/>
          <p:nvPr/>
        </p:nvPicPr>
        <p:blipFill>
          <a:blip r:embed="rId3"/>
          <a:stretch>
            <a:fillRect/>
          </a:stretch>
        </p:blipFill>
        <p:spPr>
          <a:xfrm>
            <a:off x="8100392" y="44624"/>
            <a:ext cx="1043608" cy="872867"/>
          </a:xfrm>
          <a:prstGeom prst="rect">
            <a:avLst/>
          </a:prstGeom>
          <a:ln w="12700" cap="flat">
            <a:noFill/>
            <a:miter lim="400000"/>
          </a:ln>
          <a:effectLst/>
        </p:spPr>
      </p:pic>
      <p:sp>
        <p:nvSpPr>
          <p:cNvPr id="2" name="Espace réservé du pied de page 1"/>
          <p:cNvSpPr>
            <a:spLocks noGrp="1"/>
          </p:cNvSpPr>
          <p:nvPr>
            <p:ph type="ftr" sz="quarter" idx="11"/>
          </p:nvPr>
        </p:nvSpPr>
        <p:spPr>
          <a:xfrm>
            <a:off x="467544" y="6165304"/>
            <a:ext cx="7704856" cy="365125"/>
          </a:xfrm>
        </p:spPr>
        <p:txBody>
          <a:bodyPr/>
          <a:lstStyle/>
          <a:p>
            <a:r>
              <a:rPr lang="fr-FR" sz="1800" dirty="0"/>
              <a:t>                                      Espaces et Territoires</a:t>
            </a:r>
          </a:p>
        </p:txBody>
      </p:sp>
    </p:spTree>
    <p:extLst>
      <p:ext uri="{BB962C8B-B14F-4D97-AF65-F5344CB8AC3E}">
        <p14:creationId xmlns:p14="http://schemas.microsoft.com/office/powerpoint/2010/main" val="2093322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1261188"/>
          </a:xfrm>
        </p:spPr>
        <p:txBody>
          <a:bodyPr>
            <a:normAutofit fontScale="90000"/>
          </a:bodyPr>
          <a:lstStyle/>
          <a:p>
            <a:br>
              <a:rPr lang="fr-SN" sz="3100" b="1" dirty="0">
                <a:solidFill>
                  <a:srgbClr val="00B0F0"/>
                </a:solidFill>
              </a:rPr>
            </a:br>
            <a:r>
              <a:rPr lang="fr-SN" sz="4000" b="1" dirty="0">
                <a:solidFill>
                  <a:srgbClr val="00B0F0"/>
                </a:solidFill>
              </a:rPr>
              <a:t>II. Les composantes et enjeux de l’Espace</a:t>
            </a:r>
            <a:br>
              <a:rPr lang="fr-SN" sz="4000" b="1" dirty="0">
                <a:solidFill>
                  <a:srgbClr val="00B0F0"/>
                </a:solidFill>
              </a:rPr>
            </a:br>
            <a:r>
              <a:rPr lang="fr-SN" sz="4000" b="1" dirty="0">
                <a:solidFill>
                  <a:srgbClr val="FF0000"/>
                </a:solidFill>
              </a:rPr>
              <a:t>1) Les composantes</a:t>
            </a:r>
            <a:br>
              <a:rPr lang="fr-FR" sz="4000" dirty="0">
                <a:solidFill>
                  <a:srgbClr val="00B0F0"/>
                </a:solidFill>
              </a:rPr>
            </a:br>
            <a:endParaRPr lang="fr-FR" sz="4000" dirty="0"/>
          </a:p>
        </p:txBody>
      </p:sp>
      <p:sp>
        <p:nvSpPr>
          <p:cNvPr id="3" name="Espace réservé du contenu 2"/>
          <p:cNvSpPr>
            <a:spLocks noGrp="1"/>
          </p:cNvSpPr>
          <p:nvPr>
            <p:ph idx="1"/>
          </p:nvPr>
        </p:nvSpPr>
        <p:spPr>
          <a:xfrm>
            <a:off x="0" y="1392963"/>
            <a:ext cx="9036496" cy="5465037"/>
          </a:xfrm>
        </p:spPr>
        <p:txBody>
          <a:bodyPr>
            <a:normAutofit/>
          </a:bodyPr>
          <a:lstStyle/>
          <a:p>
            <a:pPr>
              <a:buFont typeface="Wingdings" panose="05000000000000000000" pitchFamily="2" charset="2"/>
              <a:buChar char="Ø"/>
            </a:pPr>
            <a:r>
              <a:rPr lang="fr-FR" dirty="0"/>
              <a:t>L'</a:t>
            </a:r>
            <a:r>
              <a:rPr lang="fr-FR" b="1" dirty="0"/>
              <a:t>espace géographique</a:t>
            </a:r>
            <a:r>
              <a:rPr lang="fr-FR" dirty="0"/>
              <a:t> est composé de plusieurs catégories ou (composantes).</a:t>
            </a:r>
          </a:p>
          <a:p>
            <a:pPr marL="0" indent="0">
              <a:buNone/>
            </a:pPr>
            <a:endParaRPr lang="fr-FR" dirty="0"/>
          </a:p>
          <a:p>
            <a:pPr>
              <a:buFont typeface="Wingdings" panose="05000000000000000000" pitchFamily="2" charset="2"/>
              <a:buChar char="Ø"/>
            </a:pPr>
            <a:r>
              <a:rPr lang="fr-FR" dirty="0"/>
              <a:t>ces catégories sont  simplement des « </a:t>
            </a:r>
            <a:r>
              <a:rPr lang="fr-FR" b="1" dirty="0"/>
              <a:t>modalités différentes »</a:t>
            </a:r>
            <a:r>
              <a:rPr lang="fr-FR" dirty="0"/>
              <a:t> de  prise en compte de l’espace.</a:t>
            </a:r>
          </a:p>
          <a:p>
            <a:pPr>
              <a:buFont typeface="Wingdings" panose="05000000000000000000" pitchFamily="2" charset="2"/>
              <a:buChar char="Ø"/>
            </a:pPr>
            <a:endParaRPr lang="fr-FR" dirty="0"/>
          </a:p>
          <a:p>
            <a:pPr>
              <a:buFont typeface="Wingdings" panose="05000000000000000000" pitchFamily="2" charset="2"/>
              <a:buChar char="Ø"/>
            </a:pPr>
            <a:r>
              <a:rPr lang="fr-SN" dirty="0"/>
              <a:t>C’à d des manières de concevoir l’Espace géographique selon des modalités.</a:t>
            </a:r>
            <a:endParaRPr lang="fr-FR" dirty="0"/>
          </a:p>
          <a:p>
            <a:pPr>
              <a:buFont typeface="Wingdings" panose="05000000000000000000" pitchFamily="2" charset="2"/>
              <a:buChar char="Ø"/>
            </a:pPr>
            <a:endParaRPr lang="fr-FR"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1879562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1261188"/>
          </a:xfrm>
        </p:spPr>
        <p:txBody>
          <a:bodyPr>
            <a:normAutofit fontScale="90000"/>
          </a:bodyPr>
          <a:lstStyle/>
          <a:p>
            <a:br>
              <a:rPr lang="fr-SN" sz="3100" b="1" dirty="0">
                <a:solidFill>
                  <a:srgbClr val="00B0F0"/>
                </a:solidFill>
              </a:rPr>
            </a:br>
            <a:r>
              <a:rPr lang="fr-SN" sz="4000" b="1" dirty="0">
                <a:solidFill>
                  <a:srgbClr val="00B0F0"/>
                </a:solidFill>
              </a:rPr>
              <a:t>II. Les composantes et enjeux de l’Espace</a:t>
            </a:r>
            <a:br>
              <a:rPr lang="fr-SN" sz="4000" b="1" dirty="0">
                <a:solidFill>
                  <a:srgbClr val="00B0F0"/>
                </a:solidFill>
              </a:rPr>
            </a:br>
            <a:r>
              <a:rPr lang="fr-SN" sz="4000" b="1" dirty="0">
                <a:solidFill>
                  <a:srgbClr val="FF0000"/>
                </a:solidFill>
              </a:rPr>
              <a:t>1) Les composantes</a:t>
            </a: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fontScale="92500" lnSpcReduction="10000"/>
          </a:bodyPr>
          <a:lstStyle/>
          <a:p>
            <a:pPr marL="0" indent="0">
              <a:buNone/>
            </a:pPr>
            <a:endParaRPr lang="fr-FR" dirty="0"/>
          </a:p>
          <a:p>
            <a:pPr>
              <a:buFont typeface="Wingdings" panose="05000000000000000000" pitchFamily="2" charset="2"/>
              <a:buChar char="Ø"/>
            </a:pPr>
            <a:r>
              <a:rPr lang="fr-FR" dirty="0"/>
              <a:t> selon</a:t>
            </a:r>
            <a:r>
              <a:rPr lang="fr-FR" dirty="0">
                <a:solidFill>
                  <a:srgbClr val="353535"/>
                </a:solidFill>
                <a:latin typeface="Lucida Sans Unicode" panose="020B0602030504020204" pitchFamily="34" charset="0"/>
              </a:rPr>
              <a:t> </a:t>
            </a:r>
            <a:r>
              <a:rPr lang="fr-FR" b="1" dirty="0"/>
              <a:t>Di Méo</a:t>
            </a:r>
            <a:r>
              <a:rPr lang="fr-FR" dirty="0"/>
              <a:t>, on a plusieurs modalités : </a:t>
            </a:r>
          </a:p>
          <a:p>
            <a:pPr lvl="2"/>
            <a:r>
              <a:rPr lang="fr-FR" dirty="0"/>
              <a:t> modalité de </a:t>
            </a:r>
            <a:r>
              <a:rPr lang="fr-FR" b="1" dirty="0">
                <a:solidFill>
                  <a:srgbClr val="FF0000"/>
                </a:solidFill>
              </a:rPr>
              <a:t>l’action</a:t>
            </a:r>
            <a:r>
              <a:rPr lang="fr-FR" dirty="0">
                <a:solidFill>
                  <a:srgbClr val="FF0000"/>
                </a:solidFill>
              </a:rPr>
              <a:t> </a:t>
            </a:r>
            <a:r>
              <a:rPr lang="fr-FR" dirty="0"/>
              <a:t>pour l’</a:t>
            </a:r>
            <a:r>
              <a:rPr lang="fr-FR" b="1" dirty="0"/>
              <a:t>espace produit </a:t>
            </a:r>
            <a:r>
              <a:rPr lang="fr-FR" dirty="0"/>
              <a:t>par les sociétés</a:t>
            </a:r>
          </a:p>
          <a:p>
            <a:pPr lvl="2"/>
            <a:endParaRPr lang="fr-FR" dirty="0"/>
          </a:p>
          <a:p>
            <a:pPr lvl="2"/>
            <a:r>
              <a:rPr lang="fr-FR" dirty="0"/>
              <a:t> modalité de la </a:t>
            </a:r>
            <a:r>
              <a:rPr lang="fr-FR" b="1" dirty="0">
                <a:solidFill>
                  <a:srgbClr val="FF0000"/>
                </a:solidFill>
              </a:rPr>
              <a:t>connaissance </a:t>
            </a:r>
            <a:r>
              <a:rPr lang="fr-FR" dirty="0"/>
              <a:t>ou de la </a:t>
            </a:r>
            <a:r>
              <a:rPr lang="fr-FR" b="1" dirty="0">
                <a:solidFill>
                  <a:srgbClr val="FF0000"/>
                </a:solidFill>
              </a:rPr>
              <a:t>cognition</a:t>
            </a:r>
            <a:r>
              <a:rPr lang="fr-FR" dirty="0"/>
              <a:t> (faculté pour l’esprit humain d’enregistrer des informations) pour </a:t>
            </a:r>
            <a:r>
              <a:rPr lang="fr-FR" b="1" dirty="0"/>
              <a:t>l’espace perçu et représenté</a:t>
            </a:r>
            <a:r>
              <a:rPr lang="fr-FR" dirty="0"/>
              <a:t>,</a:t>
            </a:r>
          </a:p>
          <a:p>
            <a:pPr marL="914400" lvl="2" indent="0">
              <a:buNone/>
            </a:pPr>
            <a:endParaRPr lang="fr-FR" dirty="0"/>
          </a:p>
          <a:p>
            <a:pPr lvl="2"/>
            <a:r>
              <a:rPr lang="fr-FR" dirty="0"/>
              <a:t>modalité de </a:t>
            </a:r>
            <a:r>
              <a:rPr lang="fr-FR" b="1" dirty="0">
                <a:solidFill>
                  <a:srgbClr val="FF0000"/>
                </a:solidFill>
              </a:rPr>
              <a:t>l’existence humaine </a:t>
            </a:r>
            <a:r>
              <a:rPr lang="fr-FR" dirty="0"/>
              <a:t>pour </a:t>
            </a:r>
            <a:r>
              <a:rPr lang="fr-FR" b="1" dirty="0"/>
              <a:t>l’espace vécu</a:t>
            </a:r>
            <a:r>
              <a:rPr lang="fr-FR" dirty="0"/>
              <a:t> » (Di Méo, 1998</a:t>
            </a:r>
          </a:p>
          <a:p>
            <a:pPr lvl="2"/>
            <a:endParaRPr lang="fr-SN" dirty="0"/>
          </a:p>
          <a:p>
            <a:pPr>
              <a:buFont typeface="Wingdings" panose="05000000000000000000" pitchFamily="2" charset="2"/>
              <a:buChar char="Ø"/>
            </a:pPr>
            <a:r>
              <a:rPr lang="fr-FR" dirty="0"/>
              <a:t>Le </a:t>
            </a:r>
            <a:r>
              <a:rPr lang="fr-FR" b="1" dirty="0"/>
              <a:t>qualificatif</a:t>
            </a:r>
            <a:r>
              <a:rPr lang="fr-FR" dirty="0"/>
              <a:t> qui accompagne le  terme espace (dans chacune des modalités) est une </a:t>
            </a:r>
            <a:r>
              <a:rPr lang="fr-FR" b="1" dirty="0"/>
              <a:t>catégorie</a:t>
            </a:r>
            <a:r>
              <a:rPr lang="fr-FR" dirty="0"/>
              <a:t> qui concerne l’espace.</a:t>
            </a:r>
          </a:p>
          <a:p>
            <a:pPr marL="914400" lvl="2" indent="0">
              <a:buNone/>
            </a:pPr>
            <a:endParaRPr lang="fr-FR"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1241653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1261188"/>
          </a:xfrm>
        </p:spPr>
        <p:txBody>
          <a:bodyPr>
            <a:normAutofit fontScale="90000"/>
          </a:bodyPr>
          <a:lstStyle/>
          <a:p>
            <a:br>
              <a:rPr lang="fr-SN" sz="3100" b="1" dirty="0">
                <a:solidFill>
                  <a:srgbClr val="00B0F0"/>
                </a:solidFill>
              </a:rPr>
            </a:br>
            <a:r>
              <a:rPr lang="fr-SN" sz="4000" b="1" dirty="0">
                <a:solidFill>
                  <a:srgbClr val="00B0F0"/>
                </a:solidFill>
              </a:rPr>
              <a:t>II. Les composantes et enjeux de l’Espace</a:t>
            </a:r>
            <a:br>
              <a:rPr lang="fr-SN" sz="4000" b="1" dirty="0">
                <a:solidFill>
                  <a:srgbClr val="00B0F0"/>
                </a:solidFill>
              </a:rPr>
            </a:br>
            <a:r>
              <a:rPr lang="fr-SN" sz="4000" b="1" dirty="0">
                <a:solidFill>
                  <a:srgbClr val="FF0000"/>
                </a:solidFill>
              </a:rPr>
              <a:t>1) Les composantes</a:t>
            </a:r>
            <a:br>
              <a:rPr lang="fr-FR" sz="4000" dirty="0">
                <a:solidFill>
                  <a:srgbClr val="00B0F0"/>
                </a:solidFill>
              </a:rPr>
            </a:br>
            <a:endParaRPr lang="fr-FR" sz="4000" dirty="0"/>
          </a:p>
        </p:txBody>
      </p:sp>
      <p:sp>
        <p:nvSpPr>
          <p:cNvPr id="3" name="Espace réservé du contenu 2"/>
          <p:cNvSpPr>
            <a:spLocks noGrp="1"/>
          </p:cNvSpPr>
          <p:nvPr>
            <p:ph idx="1"/>
          </p:nvPr>
        </p:nvSpPr>
        <p:spPr>
          <a:xfrm>
            <a:off x="0" y="1392963"/>
            <a:ext cx="9036496" cy="5465037"/>
          </a:xfrm>
        </p:spPr>
        <p:txBody>
          <a:bodyPr>
            <a:normAutofit/>
          </a:bodyPr>
          <a:lstStyle/>
          <a:p>
            <a:pPr>
              <a:buFont typeface="Wingdings" panose="05000000000000000000" pitchFamily="2" charset="2"/>
              <a:buChar char="Ø"/>
            </a:pPr>
            <a:r>
              <a:rPr lang="fr-FR" dirty="0"/>
              <a:t>On distingue quatre (4) </a:t>
            </a:r>
            <a:r>
              <a:rPr lang="fr-FR" b="1" dirty="0"/>
              <a:t>catégories ou composantes</a:t>
            </a:r>
            <a:r>
              <a:rPr lang="fr-FR" dirty="0"/>
              <a:t> qui concerne l’espace  : </a:t>
            </a:r>
          </a:p>
          <a:p>
            <a:pPr marL="0" indent="0">
              <a:buNone/>
            </a:pPr>
            <a:endParaRPr lang="fr-FR" dirty="0"/>
          </a:p>
          <a:p>
            <a:pPr marL="1371600" lvl="2" indent="-457200">
              <a:buAutoNum type="arabicParenR"/>
            </a:pPr>
            <a:r>
              <a:rPr lang="fr-FR" dirty="0">
                <a:solidFill>
                  <a:srgbClr val="00B0F0"/>
                </a:solidFill>
              </a:rPr>
              <a:t>espace produit;</a:t>
            </a:r>
          </a:p>
          <a:p>
            <a:pPr marL="1371600" lvl="2" indent="-457200">
              <a:buAutoNum type="arabicParenR"/>
            </a:pPr>
            <a:endParaRPr lang="fr-FR" dirty="0">
              <a:solidFill>
                <a:srgbClr val="00B0F0"/>
              </a:solidFill>
            </a:endParaRPr>
          </a:p>
          <a:p>
            <a:pPr marL="1371600" lvl="2" indent="-457200">
              <a:buAutoNum type="arabicParenR"/>
            </a:pPr>
            <a:r>
              <a:rPr lang="fr-FR" dirty="0">
                <a:solidFill>
                  <a:srgbClr val="00B0F0"/>
                </a:solidFill>
              </a:rPr>
              <a:t>espace de vie ou espace vécu , </a:t>
            </a:r>
          </a:p>
          <a:p>
            <a:pPr marL="1371600" lvl="2" indent="-457200">
              <a:buAutoNum type="arabicParenR"/>
            </a:pPr>
            <a:endParaRPr lang="fr-FR" dirty="0">
              <a:solidFill>
                <a:srgbClr val="00B0F0"/>
              </a:solidFill>
            </a:endParaRPr>
          </a:p>
          <a:p>
            <a:pPr marL="1371600" lvl="2" indent="-457200">
              <a:buAutoNum type="arabicParenR"/>
            </a:pPr>
            <a:r>
              <a:rPr lang="fr-FR" dirty="0">
                <a:solidFill>
                  <a:srgbClr val="00B0F0"/>
                </a:solidFill>
              </a:rPr>
              <a:t>espace perçu, espace représenté;</a:t>
            </a:r>
          </a:p>
          <a:p>
            <a:pPr marL="1371600" lvl="2" indent="-457200">
              <a:buAutoNum type="arabicParenR"/>
            </a:pPr>
            <a:endParaRPr lang="fr-FR" dirty="0">
              <a:solidFill>
                <a:srgbClr val="00B0F0"/>
              </a:solidFill>
            </a:endParaRPr>
          </a:p>
          <a:p>
            <a:pPr marL="1371600" lvl="2" indent="-457200">
              <a:buAutoNum type="arabicParenR"/>
            </a:pPr>
            <a:r>
              <a:rPr lang="fr-FR" dirty="0">
                <a:solidFill>
                  <a:srgbClr val="00B0F0"/>
                </a:solidFill>
              </a:rPr>
              <a:t>espace social</a:t>
            </a:r>
            <a:r>
              <a:rPr lang="fr-FR" dirty="0"/>
              <a:t>. </a:t>
            </a:r>
          </a:p>
          <a:p>
            <a:pPr>
              <a:buFont typeface="Wingdings" panose="05000000000000000000" pitchFamily="2" charset="2"/>
              <a:buChar char="Ø"/>
            </a:pPr>
            <a:endParaRPr lang="fr-FR"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4023061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dirty="0"/>
              <a:t>Par </a:t>
            </a:r>
            <a:r>
              <a:rPr lang="fr-FR" b="1" dirty="0">
                <a:solidFill>
                  <a:srgbClr val="00B0F0"/>
                </a:solidFill>
              </a:rPr>
              <a:t>espace produit </a:t>
            </a:r>
            <a:r>
              <a:rPr lang="fr-FR" dirty="0"/>
              <a:t>(sous-entendu de </a:t>
            </a:r>
            <a:r>
              <a:rPr lang="fr-FR" b="1" dirty="0"/>
              <a:t>l’action sociale</a:t>
            </a:r>
            <a:r>
              <a:rPr lang="fr-FR" dirty="0"/>
              <a:t>), il faut comprendre:</a:t>
            </a:r>
          </a:p>
          <a:p>
            <a:pPr lvl="4">
              <a:buFont typeface="Arial" panose="020B0604020202020204" pitchFamily="34" charset="0"/>
              <a:buChar char="•"/>
            </a:pPr>
            <a:r>
              <a:rPr lang="fr-FR" sz="2400" dirty="0"/>
              <a:t> les paysages, </a:t>
            </a:r>
          </a:p>
          <a:p>
            <a:pPr lvl="4">
              <a:buFont typeface="Arial" panose="020B0604020202020204" pitchFamily="34" charset="0"/>
              <a:buChar char="•"/>
            </a:pPr>
            <a:r>
              <a:rPr lang="fr-FR" sz="2400" dirty="0"/>
              <a:t>les territoires (de la localité, de la région, de la nation, etc.), </a:t>
            </a:r>
          </a:p>
          <a:p>
            <a:pPr lvl="4">
              <a:buFont typeface="Arial" panose="020B0604020202020204" pitchFamily="34" charset="0"/>
              <a:buChar char="•"/>
            </a:pPr>
            <a:r>
              <a:rPr lang="fr-FR" sz="2400" dirty="0"/>
              <a:t>les voies de communication terrestres construites, ou les voies d’eau endiguées, canalisées. </a:t>
            </a:r>
          </a:p>
          <a:p>
            <a:pPr lvl="4">
              <a:buFont typeface="Arial" panose="020B0604020202020204" pitchFamily="34" charset="0"/>
              <a:buChar char="•"/>
            </a:pPr>
            <a:r>
              <a:rPr lang="fr-FR" sz="2400" dirty="0"/>
              <a:t>Ce sont également les champs, l’habitat, les immeubles, les usines, les ports ou aéroports, les lignes maritimes ou aériennes, la forêt, la montagne, </a:t>
            </a:r>
          </a:p>
          <a:p>
            <a:pPr lvl="4">
              <a:buFont typeface="Arial" panose="020B0604020202020204" pitchFamily="34" charset="0"/>
              <a:buChar char="•"/>
            </a:pPr>
            <a:r>
              <a:rPr lang="fr-FR" sz="2400" dirty="0"/>
              <a:t>tous les lieux réputés naturels, mais conservés et entretenus ou simplement mythiques.</a:t>
            </a:r>
          </a:p>
          <a:p>
            <a:pPr>
              <a:buFont typeface="Wingdings" panose="05000000000000000000" pitchFamily="2" charset="2"/>
              <a:buChar char="Ø"/>
            </a:pPr>
            <a:endParaRPr lang="fr-FR" sz="2400"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744118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lnSpcReduction="10000"/>
          </a:bodyPr>
          <a:lstStyle/>
          <a:p>
            <a:pPr>
              <a:buFont typeface="Wingdings" panose="05000000000000000000" pitchFamily="2" charset="2"/>
              <a:buChar char="Ø"/>
            </a:pPr>
            <a:r>
              <a:rPr lang="fr-FR" sz="2800" b="1" dirty="0"/>
              <a:t>L’espace produit</a:t>
            </a:r>
            <a:r>
              <a:rPr lang="fr-FR" sz="2800" dirty="0"/>
              <a:t>,</a:t>
            </a:r>
            <a:r>
              <a:rPr lang="fr-FR" sz="2800" b="1" dirty="0"/>
              <a:t> </a:t>
            </a:r>
            <a:r>
              <a:rPr lang="fr-FR" sz="2800" dirty="0"/>
              <a:t>c’est </a:t>
            </a:r>
            <a:r>
              <a:rPr lang="fr-FR" sz="2400" dirty="0"/>
              <a:t>:</a:t>
            </a:r>
          </a:p>
          <a:p>
            <a:pPr marL="0" indent="0">
              <a:buNone/>
            </a:pPr>
            <a:endParaRPr lang="fr-FR" sz="2400" dirty="0"/>
          </a:p>
          <a:p>
            <a:r>
              <a:rPr lang="fr-SN" sz="2400" dirty="0"/>
              <a:t> </a:t>
            </a:r>
            <a:r>
              <a:rPr lang="fr-FR" sz="2400" dirty="0"/>
              <a:t>tantôt des réalités très </a:t>
            </a:r>
            <a:r>
              <a:rPr lang="fr-FR" sz="2400" b="1" dirty="0">
                <a:solidFill>
                  <a:srgbClr val="FF0000"/>
                </a:solidFill>
              </a:rPr>
              <a:t>concrètes</a:t>
            </a:r>
            <a:r>
              <a:rPr lang="fr-FR" sz="2400" b="1" dirty="0"/>
              <a:t> et tangibles </a:t>
            </a:r>
            <a:r>
              <a:rPr lang="fr-FR" sz="2400" dirty="0"/>
              <a:t>(chemins, routes, habitations, etc.)</a:t>
            </a:r>
          </a:p>
          <a:p>
            <a:r>
              <a:rPr lang="fr-FR" sz="2400" dirty="0"/>
              <a:t>tantôt des </a:t>
            </a:r>
            <a:r>
              <a:rPr lang="fr-FR" sz="2400" b="1" dirty="0"/>
              <a:t>réalités ou des représentations immatérielles et </a:t>
            </a:r>
            <a:r>
              <a:rPr lang="fr-FR" sz="2400" b="1" dirty="0">
                <a:solidFill>
                  <a:srgbClr val="FF0000"/>
                </a:solidFill>
              </a:rPr>
              <a:t>abstraites</a:t>
            </a:r>
            <a:r>
              <a:rPr lang="fr-FR" sz="2400" dirty="0"/>
              <a:t> : le territoire; l’espace aérien, ou maritime</a:t>
            </a:r>
          </a:p>
          <a:p>
            <a:endParaRPr lang="fr-SN" sz="2400" dirty="0"/>
          </a:p>
          <a:p>
            <a:pPr>
              <a:buFont typeface="Wingdings" panose="05000000000000000000" pitchFamily="2" charset="2"/>
              <a:buChar char="Ø"/>
            </a:pPr>
            <a:r>
              <a:rPr lang="fr-FR" sz="2400" dirty="0"/>
              <a:t>L’espace produit reflète </a:t>
            </a:r>
            <a:r>
              <a:rPr lang="fr-FR" sz="2400" b="1" dirty="0"/>
              <a:t>la capacité à dominer son milieu géographique, </a:t>
            </a:r>
            <a:r>
              <a:rPr lang="fr-FR" sz="2400" dirty="0"/>
              <a:t>autrement appelée </a:t>
            </a:r>
            <a:r>
              <a:rPr lang="fr-FR" sz="2400" b="1" dirty="0"/>
              <a:t>possibilisme.</a:t>
            </a:r>
          </a:p>
          <a:p>
            <a:pPr marL="0" indent="0">
              <a:buNone/>
            </a:pPr>
            <a:endParaRPr lang="fr-FR" sz="2400" b="1" dirty="0"/>
          </a:p>
          <a:p>
            <a:pPr>
              <a:buFont typeface="Wingdings" panose="05000000000000000000" pitchFamily="2" charset="2"/>
              <a:buChar char="Ø"/>
            </a:pPr>
            <a:r>
              <a:rPr lang="fr-SN" sz="2400" dirty="0"/>
              <a:t>C’est le </a:t>
            </a:r>
            <a:r>
              <a:rPr lang="fr-SN" sz="2400" b="1" dirty="0"/>
              <a:t>résultat </a:t>
            </a:r>
            <a:r>
              <a:rPr lang="fr-FR" sz="2400" dirty="0"/>
              <a:t>d’un choix opéré (de manière consciente ou pas, organisée ou spontanée) par une société donnée, </a:t>
            </a:r>
            <a:r>
              <a:rPr lang="fr-FR" sz="2400" b="1" dirty="0"/>
              <a:t>entre plusieurs options d’aménagement de son environnement</a:t>
            </a:r>
            <a:r>
              <a:rPr lang="fr-FR" sz="2400" dirty="0"/>
              <a:t>, en considération de ses caractéristiques culturelles, économiques et techniques.</a:t>
            </a: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265922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sz="2800" b="1" dirty="0">
                <a:solidFill>
                  <a:srgbClr val="FF0000"/>
                </a:solidFill>
              </a:rPr>
              <a:t>Exemples :</a:t>
            </a:r>
            <a:r>
              <a:rPr lang="fr-FR" sz="2400" dirty="0">
                <a:solidFill>
                  <a:srgbClr val="FF0000"/>
                </a:solidFill>
              </a:rPr>
              <a:t> </a:t>
            </a:r>
          </a:p>
          <a:p>
            <a:pPr marL="0" indent="0">
              <a:buNone/>
            </a:pPr>
            <a:r>
              <a:rPr lang="fr-SN" sz="2400" b="1" dirty="0">
                <a:solidFill>
                  <a:srgbClr val="FF0000"/>
                </a:solidFill>
              </a:rPr>
              <a:t>  </a:t>
            </a:r>
          </a:p>
          <a:p>
            <a:r>
              <a:rPr lang="fr-SN" sz="2400" b="1" dirty="0">
                <a:solidFill>
                  <a:srgbClr val="FF0000"/>
                </a:solidFill>
              </a:rPr>
              <a:t> </a:t>
            </a:r>
            <a:r>
              <a:rPr lang="fr-FR" sz="2800" dirty="0"/>
              <a:t>irrigation de zones désertiques pour les transformer en zones agricoles, </a:t>
            </a:r>
          </a:p>
          <a:p>
            <a:r>
              <a:rPr lang="fr-FR" sz="2800" dirty="0"/>
              <a:t>Désenclavement routier,</a:t>
            </a:r>
          </a:p>
          <a:p>
            <a:r>
              <a:rPr lang="fr-FR" sz="2800" dirty="0"/>
              <a:t> implantations industrielles dans des milieux physiques contraignants tels que les montagnes</a:t>
            </a:r>
          </a:p>
          <a:p>
            <a:endParaRPr lang="fr-SN" sz="2800" b="1" dirty="0">
              <a:solidFill>
                <a:srgbClr val="FF0000"/>
              </a:solidFill>
            </a:endParaRPr>
          </a:p>
          <a:p>
            <a:r>
              <a:rPr lang="fr-SN" sz="2800" b="1" dirty="0">
                <a:solidFill>
                  <a:srgbClr val="FF0000"/>
                </a:solidFill>
              </a:rPr>
              <a:t>Exemples de villes au site contraignant</a:t>
            </a:r>
            <a:endParaRPr lang="fr-FR" sz="2800" b="1" dirty="0">
              <a:solidFill>
                <a:srgbClr val="FF0000"/>
              </a:solidFill>
            </a:endParaRPr>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044009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pic>
        <p:nvPicPr>
          <p:cNvPr id="11" name="Espace réservé du contenu 10"/>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0" y="1313982"/>
            <a:ext cx="4439449" cy="2864160"/>
          </a:xfrm>
        </p:spPr>
      </p:pic>
      <p:pic>
        <p:nvPicPr>
          <p:cNvPr id="12" name="Espace réservé du contenu 11"/>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2267744" y="4197253"/>
            <a:ext cx="4038600" cy="2605548"/>
          </a:xfrm>
        </p:spPr>
      </p:pic>
      <p:pic>
        <p:nvPicPr>
          <p:cNvPr id="4" name="officeArt object" descr="logo_UAM.jpg"/>
          <p:cNvPicPr/>
          <p:nvPr/>
        </p:nvPicPr>
        <p:blipFill>
          <a:blip r:embed="rId5"/>
          <a:stretch>
            <a:fillRect/>
          </a:stretch>
        </p:blipFill>
        <p:spPr>
          <a:xfrm>
            <a:off x="7956376" y="1"/>
            <a:ext cx="1080120" cy="980727"/>
          </a:xfrm>
          <a:prstGeom prst="rect">
            <a:avLst/>
          </a:prstGeom>
          <a:ln w="12700" cap="flat">
            <a:noFill/>
            <a:miter lim="400000"/>
          </a:ln>
          <a:effectLst/>
        </p:spPr>
      </p:pic>
      <p:pic>
        <p:nvPicPr>
          <p:cNvPr id="13" name="Imag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24486" y="1222164"/>
            <a:ext cx="4340002" cy="2800001"/>
          </a:xfrm>
          <a:prstGeom prst="rect">
            <a:avLst/>
          </a:prstGeom>
        </p:spPr>
      </p:pic>
    </p:spTree>
    <p:extLst>
      <p:ext uri="{BB962C8B-B14F-4D97-AF65-F5344CB8AC3E}">
        <p14:creationId xmlns:p14="http://schemas.microsoft.com/office/powerpoint/2010/main" val="2224916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sz="2400" dirty="0"/>
              <a:t>Dans la plupart du temps, les sociétés </a:t>
            </a:r>
            <a:r>
              <a:rPr lang="fr-FR" sz="2400" b="1" dirty="0"/>
              <a:t>s’inscrivent assez librement dans l’espace</a:t>
            </a:r>
            <a:r>
              <a:rPr lang="fr-FR" sz="2400" dirty="0"/>
              <a:t>. Elles le modèlent et se le représentent en fonctions de leurs croyances.</a:t>
            </a:r>
          </a:p>
          <a:p>
            <a:pPr marL="0" indent="0">
              <a:buNone/>
            </a:pPr>
            <a:endParaRPr lang="fr-FR" sz="2400" dirty="0"/>
          </a:p>
          <a:p>
            <a:pPr>
              <a:buFont typeface="Wingdings" panose="05000000000000000000" pitchFamily="2" charset="2"/>
              <a:buChar char="Ø"/>
            </a:pPr>
            <a:r>
              <a:rPr lang="fr-SN" sz="2400" dirty="0"/>
              <a:t>Et donc </a:t>
            </a:r>
            <a:r>
              <a:rPr lang="fr-SN" sz="2400" b="1" dirty="0"/>
              <a:t>produisent</a:t>
            </a:r>
            <a:r>
              <a:rPr lang="fr-SN" sz="2400" dirty="0"/>
              <a:t> l’Espace</a:t>
            </a:r>
          </a:p>
          <a:p>
            <a:pPr marL="0" indent="0">
              <a:buNone/>
            </a:pPr>
            <a:endParaRPr lang="fr-SN" sz="2400" dirty="0"/>
          </a:p>
          <a:p>
            <a:pPr>
              <a:buFont typeface="Wingdings" panose="05000000000000000000" pitchFamily="2" charset="2"/>
              <a:buChar char="Ø"/>
            </a:pPr>
            <a:r>
              <a:rPr lang="fr-FR" sz="2400" dirty="0"/>
              <a:t>Cependant, confrontées à des milieux géographiques (physiques) identiques, des sociétés différentes aménagent l’espace différemment. </a:t>
            </a:r>
            <a:r>
              <a:rPr lang="fr-FR" sz="2400" b="1" dirty="0"/>
              <a:t>Exemple</a:t>
            </a:r>
            <a:r>
              <a:rPr lang="fr-FR" sz="2400" dirty="0"/>
              <a:t> : le </a:t>
            </a:r>
            <a:r>
              <a:rPr lang="fr-FR" sz="2400" b="1" dirty="0"/>
              <a:t>désert du Sahara </a:t>
            </a:r>
            <a:r>
              <a:rPr lang="fr-FR" sz="2400" dirty="0"/>
              <a:t>n’est pas aménagé de la même manière (</a:t>
            </a:r>
            <a:r>
              <a:rPr lang="fr-FR" sz="2400" b="1" dirty="0">
                <a:solidFill>
                  <a:srgbClr val="FF0000"/>
                </a:solidFill>
              </a:rPr>
              <a:t>Oasis</a:t>
            </a:r>
            <a:r>
              <a:rPr lang="fr-FR" sz="2400" dirty="0"/>
              <a:t>) que le </a:t>
            </a:r>
            <a:r>
              <a:rPr lang="fr-FR" sz="2400" b="1" dirty="0"/>
              <a:t>désert d’Arabie </a:t>
            </a:r>
            <a:r>
              <a:rPr lang="fr-FR" sz="2400" dirty="0"/>
              <a:t>(reverdissement, terrasses…) ou encore le </a:t>
            </a:r>
            <a:r>
              <a:rPr lang="fr-FR" sz="2400" b="1" dirty="0"/>
              <a:t>désert californien</a:t>
            </a:r>
            <a:r>
              <a:rPr lang="fr-FR" sz="2400" dirty="0"/>
              <a:t>. </a:t>
            </a:r>
          </a:p>
          <a:p>
            <a:pPr>
              <a:buFont typeface="Wingdings" panose="05000000000000000000" pitchFamily="2" charset="2"/>
              <a:buChar char="Ø"/>
            </a:pP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138269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pic>
        <p:nvPicPr>
          <p:cNvPr id="4" name="officeArt object" descr="logo_UAM.jpg"/>
          <p:cNvPicPr/>
          <p:nvPr/>
        </p:nvPicPr>
        <p:blipFill>
          <a:blip r:embed="rId3"/>
          <a:stretch>
            <a:fillRect/>
          </a:stretch>
        </p:blipFill>
        <p:spPr>
          <a:xfrm>
            <a:off x="7956376" y="1"/>
            <a:ext cx="1080120" cy="980727"/>
          </a:xfrm>
          <a:prstGeom prst="rect">
            <a:avLst/>
          </a:prstGeom>
          <a:ln w="12700" cap="flat">
            <a:noFill/>
            <a:miter lim="400000"/>
          </a:ln>
          <a:effectLst/>
        </p:spPr>
      </p:pic>
      <p:pic>
        <p:nvPicPr>
          <p:cNvPr id="7" name="Espace réservé du contenu 6"/>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4588248" y="1676522"/>
            <a:ext cx="4448248" cy="4403603"/>
          </a:xfrm>
        </p:spPr>
      </p:pic>
      <p:pic>
        <p:nvPicPr>
          <p:cNvPr id="6" name="Espace réservé du contenu 5"/>
          <p:cNvPicPr>
            <a:picLocks noGrp="1" noChangeAspect="1"/>
          </p:cNvPicPr>
          <p:nvPr>
            <p:ph sz="half" idx="1"/>
          </p:nvPr>
        </p:nvPicPr>
        <p:blipFill>
          <a:blip r:embed="rId5" cstate="print">
            <a:extLst>
              <a:ext uri="{28A0092B-C50C-407E-A947-70E740481C1C}">
                <a14:useLocalDpi xmlns:a14="http://schemas.microsoft.com/office/drawing/2010/main" val="0"/>
              </a:ext>
            </a:extLst>
          </a:blip>
          <a:stretch>
            <a:fillRect/>
          </a:stretch>
        </p:blipFill>
        <p:spPr>
          <a:xfrm>
            <a:off x="97696" y="1646237"/>
            <a:ext cx="4474304" cy="4433888"/>
          </a:xfrm>
        </p:spPr>
      </p:pic>
    </p:spTree>
    <p:extLst>
      <p:ext uri="{BB962C8B-B14F-4D97-AF65-F5344CB8AC3E}">
        <p14:creationId xmlns:p14="http://schemas.microsoft.com/office/powerpoint/2010/main" val="1955305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A) Espace produit</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endParaRPr lang="fr-SN" sz="2400" dirty="0"/>
          </a:p>
          <a:p>
            <a:pPr>
              <a:buFont typeface="Wingdings" panose="05000000000000000000" pitchFamily="2" charset="2"/>
              <a:buChar char="Ø"/>
            </a:pPr>
            <a:r>
              <a:rPr lang="fr-SN" sz="2400" dirty="0"/>
              <a:t>L’espace produit est influencé par  la </a:t>
            </a:r>
            <a:r>
              <a:rPr lang="fr-FR" sz="2400" b="1" dirty="0">
                <a:solidFill>
                  <a:srgbClr val="00B0F0"/>
                </a:solidFill>
              </a:rPr>
              <a:t>mondialisation</a:t>
            </a:r>
            <a:r>
              <a:rPr lang="fr-FR" sz="2400" dirty="0"/>
              <a:t>.</a:t>
            </a:r>
            <a:endParaRPr lang="fr-SN" sz="2400" dirty="0"/>
          </a:p>
          <a:p>
            <a:pPr marL="0" indent="0">
              <a:buNone/>
            </a:pPr>
            <a:endParaRPr lang="fr-SN" sz="2400" b="1" dirty="0"/>
          </a:p>
          <a:p>
            <a:pPr marL="0" indent="0">
              <a:buNone/>
            </a:pPr>
            <a:r>
              <a:rPr lang="fr-SN" sz="2400" b="1" dirty="0"/>
              <a:t>Exemple : </a:t>
            </a:r>
            <a:r>
              <a:rPr lang="fr-SN" sz="2400" dirty="0"/>
              <a:t>l’Architecture ou la morphologie des espaces en milieu urbain</a:t>
            </a:r>
            <a:r>
              <a:rPr lang="fr-SN" sz="2400" b="1" dirty="0"/>
              <a:t> </a:t>
            </a:r>
            <a:r>
              <a:rPr lang="fr-FR" sz="2400" dirty="0"/>
              <a:t>tend à s’uniformiser au centre de la plupart des villes de la planète. </a:t>
            </a:r>
          </a:p>
          <a:p>
            <a:r>
              <a:rPr lang="fr-FR" sz="2400" dirty="0"/>
              <a:t>     cette reproduction identique des formes architecturales est </a:t>
            </a:r>
            <a:r>
              <a:rPr lang="fr-SN" sz="2400" dirty="0"/>
              <a:t>liée à</a:t>
            </a:r>
            <a:r>
              <a:rPr lang="fr-FR" sz="2400" dirty="0"/>
              <a:t> la </a:t>
            </a:r>
            <a:r>
              <a:rPr lang="fr-FR" sz="2400" b="1" dirty="0">
                <a:solidFill>
                  <a:srgbClr val="00B0F0"/>
                </a:solidFill>
              </a:rPr>
              <a:t>généralisation</a:t>
            </a:r>
            <a:r>
              <a:rPr lang="fr-FR" sz="2400" dirty="0"/>
              <a:t> des techniques et des matériaux de construction.</a:t>
            </a:r>
          </a:p>
          <a:p>
            <a:pPr marL="0" indent="0">
              <a:buNone/>
            </a:pPr>
            <a:endParaRPr lang="fr-SN" sz="2400" dirty="0"/>
          </a:p>
          <a:p>
            <a:pPr marL="0" indent="0">
              <a:buNone/>
            </a:pPr>
            <a:endParaRPr lang="fr-SN" sz="2400" b="1" dirty="0"/>
          </a:p>
          <a:p>
            <a:pPr>
              <a:buFont typeface="Wingdings" panose="05000000000000000000" pitchFamily="2" charset="2"/>
              <a:buChar char="Ø"/>
            </a:pPr>
            <a:r>
              <a:rPr lang="fr-FR" sz="2400" dirty="0"/>
              <a:t>l’espace produit par l’action sociale est influencé par des </a:t>
            </a:r>
            <a:r>
              <a:rPr lang="fr-FR" sz="2400" b="1" dirty="0">
                <a:solidFill>
                  <a:srgbClr val="00B0F0"/>
                </a:solidFill>
              </a:rPr>
              <a:t>facteurs  d’ordre socioculturel </a:t>
            </a:r>
            <a:r>
              <a:rPr lang="fr-FR" sz="2400" dirty="0"/>
              <a:t>mais aussi par </a:t>
            </a:r>
            <a:r>
              <a:rPr lang="fr-FR" sz="2400" b="1" dirty="0">
                <a:solidFill>
                  <a:srgbClr val="00B0F0"/>
                </a:solidFill>
              </a:rPr>
              <a:t>l’organisation économique des sociétés</a:t>
            </a:r>
            <a:r>
              <a:rPr lang="fr-FR" sz="2400" b="1" dirty="0"/>
              <a:t>. </a:t>
            </a:r>
            <a:endParaRPr lang="fr-FR" sz="2400" dirty="0"/>
          </a:p>
          <a:p>
            <a:pPr marL="0" indent="0">
              <a:buNone/>
            </a:pPr>
            <a:endParaRPr lang="fr-FR" sz="2400"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531337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B) Espace de vie, espace vécu </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v"/>
            </a:pPr>
            <a:r>
              <a:rPr lang="fr-FR" sz="2400" dirty="0"/>
              <a:t>L’espace de vie de chaque individu, c’est la </a:t>
            </a:r>
            <a:r>
              <a:rPr lang="fr-FR" sz="2400" b="1" dirty="0"/>
              <a:t>zone (aire, surface, étendue) </a:t>
            </a:r>
            <a:r>
              <a:rPr lang="fr-FR" sz="2400" dirty="0"/>
              <a:t>de ses pratiques spatiales. </a:t>
            </a:r>
          </a:p>
          <a:p>
            <a:pPr marL="0" indent="0">
              <a:buNone/>
            </a:pPr>
            <a:endParaRPr lang="fr-FR" sz="2400" dirty="0"/>
          </a:p>
          <a:p>
            <a:pPr>
              <a:buFont typeface="Wingdings" panose="05000000000000000000" pitchFamily="2" charset="2"/>
              <a:buChar char="v"/>
            </a:pPr>
            <a:r>
              <a:rPr lang="fr-FR" sz="2400" dirty="0"/>
              <a:t>L’espace de vie  correspond à l’espace </a:t>
            </a:r>
            <a:r>
              <a:rPr lang="fr-FR" sz="2400" b="1" dirty="0">
                <a:solidFill>
                  <a:srgbClr val="00B0F0"/>
                </a:solidFill>
              </a:rPr>
              <a:t>fréquenté</a:t>
            </a:r>
            <a:r>
              <a:rPr lang="fr-FR" sz="2400" b="1" dirty="0"/>
              <a:t> </a:t>
            </a:r>
            <a:r>
              <a:rPr lang="fr-FR" sz="2400" dirty="0"/>
              <a:t>et parcouru par chacun. </a:t>
            </a:r>
          </a:p>
          <a:p>
            <a:pPr>
              <a:buFont typeface="Wingdings" panose="05000000000000000000" pitchFamily="2" charset="2"/>
              <a:buChar char="v"/>
            </a:pPr>
            <a:endParaRPr lang="fr-FR" sz="2400" dirty="0"/>
          </a:p>
          <a:p>
            <a:pPr>
              <a:buFont typeface="Wingdings" panose="05000000000000000000" pitchFamily="2" charset="2"/>
              <a:buChar char="v"/>
            </a:pPr>
            <a:r>
              <a:rPr lang="fr-FR" sz="2400" dirty="0"/>
              <a:t>C’est l’</a:t>
            </a:r>
            <a:r>
              <a:rPr lang="fr-FR" sz="2400" b="1" dirty="0"/>
              <a:t>Espace d’usage </a:t>
            </a:r>
            <a:r>
              <a:rPr lang="fr-FR" sz="2400" dirty="0"/>
              <a:t>qui se compose de </a:t>
            </a:r>
            <a:r>
              <a:rPr lang="fr-FR" sz="2400" b="1" dirty="0">
                <a:solidFill>
                  <a:srgbClr val="00B0F0"/>
                </a:solidFill>
              </a:rPr>
              <a:t>lieux attractifs</a:t>
            </a:r>
            <a:r>
              <a:rPr lang="fr-FR" sz="2400" dirty="0"/>
              <a:t>, de </a:t>
            </a:r>
            <a:r>
              <a:rPr lang="fr-FR" sz="2400" b="1" dirty="0"/>
              <a:t>synapses</a:t>
            </a:r>
            <a:r>
              <a:rPr lang="fr-FR" sz="2400" dirty="0"/>
              <a:t> (zones de contact), de </a:t>
            </a:r>
            <a:r>
              <a:rPr lang="fr-FR" sz="2400" b="1" dirty="0"/>
              <a:t>nœuds</a:t>
            </a:r>
            <a:r>
              <a:rPr lang="fr-FR" sz="2400" dirty="0"/>
              <a:t> autour desquels se cristallise l’existence individuelle : </a:t>
            </a:r>
          </a:p>
          <a:p>
            <a:pPr marL="0" indent="0">
              <a:buNone/>
            </a:pPr>
            <a:r>
              <a:rPr lang="fr-FR" sz="2000" dirty="0"/>
              <a:t>                 </a:t>
            </a:r>
            <a:endParaRPr lang="fr-FR" sz="2400" dirty="0"/>
          </a:p>
          <a:p>
            <a:pPr lvl="2"/>
            <a:r>
              <a:rPr lang="fr-FR" dirty="0"/>
              <a:t>logis, </a:t>
            </a:r>
          </a:p>
          <a:p>
            <a:pPr lvl="2"/>
            <a:r>
              <a:rPr lang="fr-FR" dirty="0"/>
              <a:t>le cadre de travail</a:t>
            </a:r>
          </a:p>
          <a:p>
            <a:pPr lvl="2"/>
            <a:r>
              <a:rPr lang="fr-FR" dirty="0"/>
              <a:t>les espaces de loisir, de promenade de rencontre, etc.</a:t>
            </a:r>
            <a:endParaRPr lang="fr-FR"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06609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B) Espace de vie, espace vécu </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144000" cy="5661248"/>
          </a:xfrm>
        </p:spPr>
        <p:txBody>
          <a:bodyPr>
            <a:normAutofit/>
          </a:bodyPr>
          <a:lstStyle/>
          <a:p>
            <a:pPr>
              <a:buFont typeface="Wingdings" panose="05000000000000000000" pitchFamily="2" charset="2"/>
              <a:buChar char="Ø"/>
            </a:pPr>
            <a:r>
              <a:rPr lang="fr-FR" sz="2400" dirty="0"/>
              <a:t>Entre ces espaces se dessinent des </a:t>
            </a:r>
            <a:r>
              <a:rPr lang="fr-FR" sz="2400" b="1" dirty="0"/>
              <a:t>couloirs de circulation</a:t>
            </a:r>
            <a:r>
              <a:rPr lang="fr-FR" sz="2400" dirty="0"/>
              <a:t>, définis comme des </a:t>
            </a:r>
            <a:r>
              <a:rPr lang="fr-FR" sz="2400" b="1" dirty="0"/>
              <a:t>« non-lieux »</a:t>
            </a:r>
            <a:r>
              <a:rPr lang="fr-FR" sz="2400" dirty="0"/>
              <a:t> par Marc Augé </a:t>
            </a:r>
            <a:endParaRPr lang="fr-FR" sz="2400" b="1" dirty="0"/>
          </a:p>
          <a:p>
            <a:pPr marL="0" indent="0">
              <a:buNone/>
            </a:pPr>
            <a:r>
              <a:rPr lang="fr-FR" sz="2400" b="1" dirty="0">
                <a:solidFill>
                  <a:srgbClr val="FF0000"/>
                </a:solidFill>
              </a:rPr>
              <a:t>Exemple </a:t>
            </a:r>
            <a:r>
              <a:rPr lang="fr-FR" sz="2400" dirty="0"/>
              <a:t>: routes et autoroutes; gare, métro, tramway, BRT, TER…(des lieux dont personne ne s’identifie vraiment, et où les gens sont seulement de passage).</a:t>
            </a:r>
          </a:p>
          <a:p>
            <a:pPr>
              <a:buFont typeface="Wingdings" panose="05000000000000000000" pitchFamily="2" charset="2"/>
              <a:buChar char="Ø"/>
            </a:pPr>
            <a:endParaRPr lang="fr-SN" sz="2400" b="1" dirty="0"/>
          </a:p>
          <a:p>
            <a:pPr>
              <a:buFont typeface="Wingdings" panose="05000000000000000000" pitchFamily="2" charset="2"/>
              <a:buChar char="Ø"/>
            </a:pPr>
            <a:r>
              <a:rPr lang="fr-FR" sz="2400" dirty="0"/>
              <a:t>Selon Guy Di Méo, l’espace de vie :</a:t>
            </a:r>
          </a:p>
          <a:p>
            <a:pPr lvl="2"/>
            <a:r>
              <a:rPr lang="fr-FR" sz="2200" dirty="0"/>
              <a:t>rend compte d’une </a:t>
            </a:r>
            <a:r>
              <a:rPr lang="fr-FR" sz="2200" b="1" dirty="0"/>
              <a:t>expérience concrète des lieux</a:t>
            </a:r>
            <a:r>
              <a:rPr lang="fr-FR" sz="2200" dirty="0"/>
              <a:t>.</a:t>
            </a:r>
          </a:p>
          <a:p>
            <a:pPr lvl="2"/>
            <a:r>
              <a:rPr lang="fr-FR" sz="2200" dirty="0"/>
              <a:t>l’espace de vie constitue une représentation des hommes avec  une dimension imaginaire.</a:t>
            </a:r>
          </a:p>
          <a:p>
            <a:pPr lvl="2"/>
            <a:r>
              <a:rPr lang="fr-FR" sz="2200" b="1" dirty="0"/>
              <a:t>Déformé </a:t>
            </a:r>
            <a:r>
              <a:rPr lang="fr-FR" sz="2200" dirty="0"/>
              <a:t>ainsi par cet imaginaire</a:t>
            </a:r>
            <a:r>
              <a:rPr lang="fr-FR" sz="2200" b="1" dirty="0"/>
              <a:t>, l’espace de vie devient un espace vécu.</a:t>
            </a:r>
            <a:r>
              <a:rPr lang="fr-FR" sz="2200" dirty="0"/>
              <a:t> Ce dernier reconstruit l’espace concret des habitudes et le dépasse au gré des images, des idées, des souvenirs et rêves de chaque individu.</a:t>
            </a:r>
          </a:p>
          <a:p>
            <a:pPr>
              <a:buFont typeface="Wingdings" panose="05000000000000000000" pitchFamily="2" charset="2"/>
              <a:buChar char="Ø"/>
            </a:pP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2730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B) Espace de vie, espace vécu</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sz="2800" dirty="0"/>
              <a:t>L’espace vécu recoupe trois </a:t>
            </a:r>
            <a:r>
              <a:rPr lang="fr-FR" sz="2800" b="1" dirty="0">
                <a:solidFill>
                  <a:srgbClr val="00B0F0"/>
                </a:solidFill>
              </a:rPr>
              <a:t>dimensions </a:t>
            </a:r>
            <a:r>
              <a:rPr lang="fr-FR" sz="2800" dirty="0"/>
              <a:t>:</a:t>
            </a:r>
          </a:p>
          <a:p>
            <a:pPr marL="0" indent="0">
              <a:buNone/>
            </a:pPr>
            <a:endParaRPr lang="fr-FR" sz="2800" dirty="0"/>
          </a:p>
          <a:p>
            <a:pPr lvl="2"/>
            <a:r>
              <a:rPr lang="fr-FR" sz="2800" dirty="0"/>
              <a:t>L’ensemble des </a:t>
            </a:r>
            <a:r>
              <a:rPr lang="fr-FR" sz="2800" b="1" dirty="0">
                <a:solidFill>
                  <a:srgbClr val="FF0000"/>
                </a:solidFill>
              </a:rPr>
              <a:t>lieux fréquentés </a:t>
            </a:r>
            <a:r>
              <a:rPr lang="fr-FR" sz="2800" dirty="0"/>
              <a:t>par l’individu, c’est-à-dire l’espace de vie ;</a:t>
            </a:r>
          </a:p>
          <a:p>
            <a:pPr marL="914400" lvl="2" indent="0">
              <a:buNone/>
            </a:pPr>
            <a:endParaRPr lang="fr-FR" sz="2800" dirty="0"/>
          </a:p>
          <a:p>
            <a:pPr lvl="2"/>
            <a:r>
              <a:rPr lang="fr-FR" sz="2800" dirty="0"/>
              <a:t>Les </a:t>
            </a:r>
            <a:r>
              <a:rPr lang="fr-FR" sz="2800" b="1" dirty="0">
                <a:solidFill>
                  <a:srgbClr val="FF0000"/>
                </a:solidFill>
              </a:rPr>
              <a:t>interrelations sociales </a:t>
            </a:r>
            <a:r>
              <a:rPr lang="fr-FR" sz="2800" dirty="0"/>
              <a:t>qui s’y nouent, et qu’on peut qualifier d’espace social.</a:t>
            </a:r>
          </a:p>
          <a:p>
            <a:pPr marL="914400" lvl="2" indent="0">
              <a:buNone/>
            </a:pPr>
            <a:endParaRPr lang="fr-FR" sz="2800" dirty="0"/>
          </a:p>
          <a:p>
            <a:pPr lvl="2"/>
            <a:r>
              <a:rPr lang="fr-FR" sz="2800" dirty="0"/>
              <a:t>Les valeurs </a:t>
            </a:r>
            <a:r>
              <a:rPr lang="fr-FR" sz="2800" b="1" dirty="0">
                <a:solidFill>
                  <a:srgbClr val="FF0000"/>
                </a:solidFill>
              </a:rPr>
              <a:t>psychologiques ou sentimentales </a:t>
            </a:r>
            <a:r>
              <a:rPr lang="fr-FR" sz="2800" dirty="0"/>
              <a:t>qui y sont projetées et perçues</a:t>
            </a:r>
          </a:p>
          <a:p>
            <a:pPr>
              <a:buFont typeface="Wingdings" panose="05000000000000000000" pitchFamily="2" charset="2"/>
              <a:buChar char="Ø"/>
            </a:pPr>
            <a:endParaRPr lang="fr-FR" sz="2400" dirty="0"/>
          </a:p>
          <a:p>
            <a:pPr>
              <a:buFont typeface="Wingdings" panose="05000000000000000000" pitchFamily="2" charset="2"/>
              <a:buChar char="Ø"/>
            </a:pP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8449377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B) Espace de vie, espace vécu</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836712"/>
            <a:ext cx="9036496" cy="6021289"/>
          </a:xfrm>
        </p:spPr>
        <p:txBody>
          <a:bodyPr>
            <a:normAutofit lnSpcReduction="10000"/>
          </a:bodyPr>
          <a:lstStyle/>
          <a:p>
            <a:pPr>
              <a:buFont typeface="Wingdings" panose="05000000000000000000" pitchFamily="2" charset="2"/>
              <a:buChar char="Ø"/>
            </a:pPr>
            <a:r>
              <a:rPr lang="fr-SN" sz="2400" b="1" dirty="0"/>
              <a:t>L’</a:t>
            </a:r>
            <a:r>
              <a:rPr lang="fr-SN" sz="2400" dirty="0"/>
              <a:t>espace de vie tient aussi compte de </a:t>
            </a:r>
            <a:r>
              <a:rPr lang="fr-FR" sz="2400" dirty="0"/>
              <a:t>l’imaginaire spatial que nourrissent les </a:t>
            </a:r>
            <a:r>
              <a:rPr lang="fr-FR" sz="2400" b="1" dirty="0"/>
              <a:t>noms </a:t>
            </a:r>
            <a:r>
              <a:rPr lang="fr-FR" sz="2400" dirty="0"/>
              <a:t>de pays, de régions et de lieux sans rapport obligé avec leur pratique réelle. </a:t>
            </a:r>
          </a:p>
          <a:p>
            <a:pPr>
              <a:buFont typeface="Wingdings" panose="05000000000000000000" pitchFamily="2" charset="2"/>
              <a:buChar char="Ø"/>
            </a:pPr>
            <a:endParaRPr lang="fr-FR" sz="2400" dirty="0"/>
          </a:p>
          <a:p>
            <a:pPr marL="0" indent="0">
              <a:buNone/>
            </a:pPr>
            <a:r>
              <a:rPr lang="fr-FR" sz="2400" b="1" dirty="0">
                <a:solidFill>
                  <a:srgbClr val="FF0000"/>
                </a:solidFill>
              </a:rPr>
              <a:t>Exemple</a:t>
            </a:r>
            <a:r>
              <a:rPr lang="fr-FR" sz="2400" b="1" dirty="0"/>
              <a:t> </a:t>
            </a:r>
            <a:r>
              <a:rPr lang="fr-FR" sz="2400" dirty="0"/>
              <a:t>: l’évocation la ville de </a:t>
            </a:r>
            <a:r>
              <a:rPr lang="fr-FR" sz="2400" b="1" dirty="0"/>
              <a:t>Venise en Italie</a:t>
            </a:r>
            <a:r>
              <a:rPr lang="fr-FR" sz="2400" dirty="0"/>
              <a:t>, anime un imaginaire ou des sentiments positifs ou négatifs, même pour une personne qui n’a jamais visité cette ville qui est célèbre pour ses canaux bordés de luxueux palais construits depuis le Moyen Âge.</a:t>
            </a:r>
          </a:p>
          <a:p>
            <a:pPr marL="0" indent="0">
              <a:buNone/>
            </a:pPr>
            <a:endParaRPr lang="fr-FR" sz="2400" b="1" dirty="0"/>
          </a:p>
          <a:p>
            <a:pPr marL="0" indent="0">
              <a:buNone/>
            </a:pPr>
            <a:r>
              <a:rPr lang="fr-FR" sz="2400" b="1" dirty="0">
                <a:solidFill>
                  <a:srgbClr val="FF0000"/>
                </a:solidFill>
              </a:rPr>
              <a:t>Autre exemple </a:t>
            </a:r>
            <a:r>
              <a:rPr lang="fr-FR" sz="2400" b="1" dirty="0"/>
              <a:t>: </a:t>
            </a:r>
            <a:r>
              <a:rPr lang="fr-FR" sz="2400" dirty="0"/>
              <a:t>au Sénégal, les </a:t>
            </a:r>
            <a:r>
              <a:rPr lang="fr-FR" sz="2400" b="1" dirty="0"/>
              <a:t>villes religieuses, la Ville de Gorée, certains monuments …</a:t>
            </a:r>
          </a:p>
          <a:p>
            <a:pPr marL="0" indent="0">
              <a:buNone/>
            </a:pPr>
            <a:endParaRPr lang="fr-FR" sz="2400" dirty="0"/>
          </a:p>
          <a:p>
            <a:pPr>
              <a:buFont typeface="Wingdings" panose="05000000000000000000" pitchFamily="2" charset="2"/>
              <a:buChar char="Ø"/>
            </a:pPr>
            <a:r>
              <a:rPr lang="fr-FR" sz="2400" dirty="0"/>
              <a:t>Pour exprimer cet espace vécu, Guy Di Méo a proposé le concept « </a:t>
            </a:r>
            <a:r>
              <a:rPr lang="fr-FR" sz="2400" b="1" dirty="0" err="1">
                <a:solidFill>
                  <a:srgbClr val="FF0000"/>
                </a:solidFill>
              </a:rPr>
              <a:t>métastructure</a:t>
            </a:r>
            <a:r>
              <a:rPr lang="fr-FR" sz="2400" b="1" dirty="0">
                <a:solidFill>
                  <a:srgbClr val="FF0000"/>
                </a:solidFill>
              </a:rPr>
              <a:t> spatiale </a:t>
            </a:r>
            <a:r>
              <a:rPr lang="fr-FR" sz="2400" dirty="0"/>
              <a:t>» qui désigne l’ensemble des structures, aussi bien sociales que spatiales qui rattachent l’individu à son milieu territorial. </a:t>
            </a:r>
          </a:p>
          <a:p>
            <a:pPr>
              <a:buFont typeface="Wingdings" panose="05000000000000000000" pitchFamily="2" charset="2"/>
              <a:buChar char="Ø"/>
            </a:pP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58003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C) Espace perçu, espace représenté</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lnSpcReduction="10000"/>
          </a:bodyPr>
          <a:lstStyle/>
          <a:p>
            <a:pPr>
              <a:buFont typeface="Wingdings" panose="05000000000000000000" pitchFamily="2" charset="2"/>
              <a:buChar char="Ø"/>
            </a:pPr>
            <a:r>
              <a:rPr lang="fr-FR" sz="2400" dirty="0"/>
              <a:t>Les perceptions et les représentations humaines construisent l’espace géographique (</a:t>
            </a:r>
            <a:r>
              <a:rPr lang="fr-FR" sz="2400" b="1" dirty="0"/>
              <a:t>Emanuel Kant</a:t>
            </a:r>
            <a:r>
              <a:rPr lang="fr-FR" sz="2400" dirty="0"/>
              <a:t>).</a:t>
            </a:r>
          </a:p>
          <a:p>
            <a:pPr>
              <a:buFont typeface="Wingdings" panose="05000000000000000000" pitchFamily="2" charset="2"/>
              <a:buChar char="Ø"/>
            </a:pPr>
            <a:endParaRPr lang="fr-SN" sz="2400" b="1" dirty="0"/>
          </a:p>
          <a:p>
            <a:pPr>
              <a:buFont typeface="Wingdings" panose="05000000000000000000" pitchFamily="2" charset="2"/>
              <a:buChar char="Ø"/>
            </a:pPr>
            <a:r>
              <a:rPr lang="fr-FR" sz="2400" dirty="0"/>
              <a:t>Antoine Bailly définit la perception comme « </a:t>
            </a:r>
            <a:r>
              <a:rPr lang="fr-FR" sz="2400" b="1" i="1" dirty="0"/>
              <a:t>la fonction par laquelle l’esprit se représente les objets en leur présence.</a:t>
            </a:r>
            <a:r>
              <a:rPr lang="fr-FR" sz="2400" dirty="0"/>
              <a:t> » </a:t>
            </a:r>
          </a:p>
          <a:p>
            <a:pPr>
              <a:buFont typeface="Wingdings" panose="05000000000000000000" pitchFamily="2" charset="2"/>
              <a:buChar char="Ø"/>
            </a:pPr>
            <a:endParaRPr lang="fr-FR" sz="2400" dirty="0"/>
          </a:p>
          <a:p>
            <a:pPr>
              <a:buFont typeface="Wingdings" panose="05000000000000000000" pitchFamily="2" charset="2"/>
              <a:buChar char="Ø"/>
            </a:pPr>
            <a:r>
              <a:rPr lang="fr-FR" sz="2400" dirty="0"/>
              <a:t>Toute perception est donc chargée d’un </a:t>
            </a:r>
            <a:r>
              <a:rPr lang="fr-FR" sz="2400" b="1" dirty="0"/>
              <a:t>contenu social</a:t>
            </a:r>
            <a:r>
              <a:rPr lang="fr-FR" sz="2400" dirty="0"/>
              <a:t>. </a:t>
            </a:r>
          </a:p>
          <a:p>
            <a:pPr>
              <a:buFont typeface="Wingdings" panose="05000000000000000000" pitchFamily="2" charset="2"/>
              <a:buChar char="Ø"/>
            </a:pPr>
            <a:endParaRPr lang="fr-FR" sz="2400" b="1" dirty="0"/>
          </a:p>
          <a:p>
            <a:pPr>
              <a:buFont typeface="Wingdings" panose="05000000000000000000" pitchFamily="2" charset="2"/>
              <a:buChar char="Ø"/>
            </a:pPr>
            <a:r>
              <a:rPr lang="fr-SN" sz="2400" b="1" dirty="0"/>
              <a:t>Espace perçu ou représenté</a:t>
            </a:r>
            <a:r>
              <a:rPr lang="fr-SN" sz="2400" dirty="0"/>
              <a:t>, c’est donc </a:t>
            </a:r>
            <a:r>
              <a:rPr lang="fr-SN" sz="2400" b="1" dirty="0"/>
              <a:t>:</a:t>
            </a:r>
          </a:p>
          <a:p>
            <a:pPr>
              <a:buFont typeface="Wingdings" panose="05000000000000000000" pitchFamily="2" charset="2"/>
              <a:buChar char="Ø"/>
            </a:pPr>
            <a:endParaRPr lang="fr-SN" sz="2400" dirty="0"/>
          </a:p>
          <a:p>
            <a:pPr lvl="2"/>
            <a:r>
              <a:rPr lang="fr-SN" dirty="0"/>
              <a:t>  une </a:t>
            </a:r>
            <a:r>
              <a:rPr lang="fr-FR" dirty="0"/>
              <a:t>représentations du </a:t>
            </a:r>
            <a:r>
              <a:rPr lang="fr-FR" b="1" dirty="0"/>
              <a:t>réel</a:t>
            </a:r>
            <a:r>
              <a:rPr lang="fr-FR" dirty="0"/>
              <a:t>, plus ou moins </a:t>
            </a:r>
            <a:r>
              <a:rPr lang="fr-FR" b="1" dirty="0"/>
              <a:t>déformée</a:t>
            </a:r>
            <a:r>
              <a:rPr lang="fr-FR" dirty="0"/>
              <a:t> par les filtres individuels et sociaux.</a:t>
            </a:r>
            <a:r>
              <a:rPr lang="fr-SN" dirty="0"/>
              <a:t>     </a:t>
            </a:r>
          </a:p>
          <a:p>
            <a:pPr lvl="2"/>
            <a:r>
              <a:rPr lang="fr-FR" dirty="0"/>
              <a:t>l’existence </a:t>
            </a:r>
            <a:r>
              <a:rPr lang="fr-FR" b="1" dirty="0"/>
              <a:t>d’enjeux symboliques </a:t>
            </a:r>
            <a:r>
              <a:rPr lang="fr-FR" dirty="0"/>
              <a:t>dans la représentation des espaces</a:t>
            </a:r>
            <a:r>
              <a:rPr lang="fr-SN" dirty="0"/>
              <a:t>   </a:t>
            </a:r>
            <a:endParaRPr lang="fr-FR"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10413978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C) Espace perçu, espace représenté</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sz="2400" dirty="0"/>
              <a:t>Cette différenciation se construit sur des actions visant à associer des </a:t>
            </a:r>
            <a:r>
              <a:rPr lang="fr-FR" sz="2400" b="1" dirty="0"/>
              <a:t>configurations spatiales spécifiques </a:t>
            </a:r>
            <a:r>
              <a:rPr lang="fr-FR" sz="2400" dirty="0"/>
              <a:t>(le logement, la ville idéale, les espaces de sociabilité) à des </a:t>
            </a:r>
            <a:r>
              <a:rPr lang="fr-FR" sz="2400" b="1" dirty="0"/>
              <a:t>comportements sociaux précis</a:t>
            </a:r>
            <a:r>
              <a:rPr lang="fr-FR" sz="2400" dirty="0"/>
              <a:t>.</a:t>
            </a:r>
          </a:p>
          <a:p>
            <a:pPr marL="0" indent="0">
              <a:buNone/>
            </a:pPr>
            <a:endParaRPr lang="fr-SN" sz="2400" b="1" dirty="0"/>
          </a:p>
          <a:p>
            <a:pPr>
              <a:buFont typeface="Wingdings" panose="05000000000000000000" pitchFamily="2" charset="2"/>
              <a:buChar char="Ø"/>
            </a:pPr>
            <a:r>
              <a:rPr lang="fr-FR" sz="2400" dirty="0"/>
              <a:t>Un lieu peut être considéré comme « </a:t>
            </a:r>
            <a:r>
              <a:rPr lang="fr-FR" sz="2400" b="1" dirty="0"/>
              <a:t>symbolique</a:t>
            </a:r>
            <a:r>
              <a:rPr lang="fr-FR" sz="2400" dirty="0"/>
              <a:t> » dans la mesure où il signifie quelque chose pour un ensemble d´individus. Ce lieu contribue à donner son </a:t>
            </a:r>
            <a:r>
              <a:rPr lang="fr-FR" sz="2400" b="1" dirty="0"/>
              <a:t>identité </a:t>
            </a:r>
            <a:r>
              <a:rPr lang="fr-FR" sz="2400" dirty="0"/>
              <a:t>à ce groupe.</a:t>
            </a:r>
          </a:p>
          <a:p>
            <a:pPr marL="0" indent="0">
              <a:buNone/>
            </a:pPr>
            <a:endParaRPr lang="fr-FR" sz="2400" dirty="0"/>
          </a:p>
          <a:p>
            <a:pPr>
              <a:buFont typeface="Wingdings" panose="05000000000000000000" pitchFamily="2" charset="2"/>
              <a:buChar char="Ø"/>
            </a:pPr>
            <a:r>
              <a:rPr lang="fr-FR" sz="2400" dirty="0"/>
              <a:t>Par exemple, une usine peut être un symbole de progrès, de production et d´emploi, ou de chômage, d´exploitation et de pollution.</a:t>
            </a:r>
          </a:p>
          <a:p>
            <a:pPr>
              <a:buFont typeface="Wingdings" panose="05000000000000000000" pitchFamily="2" charset="2"/>
              <a:buChar char="Ø"/>
            </a:pPr>
            <a:r>
              <a:rPr lang="fr-FR" sz="2400" dirty="0"/>
              <a:t>la dimension symbolique de l´espace est à la fois un enjeu et un instrument de pouvoir</a:t>
            </a: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39898584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D) Espace social </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sz="2400" dirty="0"/>
              <a:t>Le concept d’espace social est utilisé par les géographes, les sociologues et les anthropologues et ne requiert toutefois pas la même signification selon ces différentes disciplines.</a:t>
            </a:r>
          </a:p>
          <a:p>
            <a:pPr>
              <a:buFont typeface="Wingdings" panose="05000000000000000000" pitchFamily="2" charset="2"/>
              <a:buChar char="Ø"/>
            </a:pPr>
            <a:endParaRPr lang="fr-SN" sz="2400" dirty="0"/>
          </a:p>
          <a:p>
            <a:pPr>
              <a:buFont typeface="Wingdings" panose="05000000000000000000" pitchFamily="2" charset="2"/>
              <a:buChar char="Ø"/>
            </a:pPr>
            <a:r>
              <a:rPr lang="fr-FR" sz="2400" b="1" dirty="0">
                <a:solidFill>
                  <a:srgbClr val="00B0F0"/>
                </a:solidFill>
              </a:rPr>
              <a:t>Géographes</a:t>
            </a:r>
            <a:r>
              <a:rPr lang="fr-FR" sz="2400" dirty="0"/>
              <a:t> :  l’espace social correspond à l’imbrication des lieux et des rapports sociaux, ce que Armand Frémont appelle « l’ensemble des interrelations sociales spatialisées. » </a:t>
            </a:r>
            <a:r>
              <a:rPr lang="fr-FR" sz="2400" b="1" dirty="0"/>
              <a:t>L’espace social revêt beaucoup plus une signification de « social et collectif »</a:t>
            </a:r>
            <a:r>
              <a:rPr lang="fr-FR" sz="2400" dirty="0"/>
              <a:t>. </a:t>
            </a:r>
          </a:p>
          <a:p>
            <a:pPr marL="0" indent="0">
              <a:buNone/>
            </a:pPr>
            <a:endParaRPr lang="fr-FR" sz="2400" dirty="0"/>
          </a:p>
          <a:p>
            <a:pPr>
              <a:buFont typeface="Wingdings" panose="05000000000000000000" pitchFamily="2" charset="2"/>
              <a:buChar char="Ø"/>
            </a:pPr>
            <a:r>
              <a:rPr lang="fr-SN" sz="2400" dirty="0"/>
              <a:t>Pour la plupart des </a:t>
            </a:r>
            <a:r>
              <a:rPr lang="fr-SN" sz="2400" b="1" dirty="0">
                <a:solidFill>
                  <a:srgbClr val="00B0F0"/>
                </a:solidFill>
              </a:rPr>
              <a:t>sociologues</a:t>
            </a:r>
            <a:r>
              <a:rPr lang="fr-SN" sz="2400" dirty="0"/>
              <a:t>, </a:t>
            </a:r>
            <a:r>
              <a:rPr lang="fr-FR" sz="2400" dirty="0"/>
              <a:t>les </a:t>
            </a:r>
            <a:r>
              <a:rPr lang="fr-FR" sz="2400" b="1" dirty="0"/>
              <a:t>comportements sociaux </a:t>
            </a:r>
            <a:r>
              <a:rPr lang="fr-FR" sz="2400" dirty="0"/>
              <a:t>ne dépendent pas des espaces dans lesquels ils se déroulent, mais des </a:t>
            </a:r>
            <a:r>
              <a:rPr lang="fr-FR" sz="2400" b="1" dirty="0"/>
              <a:t>formes d’organisation de la société </a:t>
            </a:r>
            <a:r>
              <a:rPr lang="fr-FR" sz="2400" dirty="0"/>
              <a:t>qui les engendrent (Emile Durkheim, Marcel Mauss, Claude Lévi-Strauss, André Leroi-Gourhan…)</a:t>
            </a:r>
          </a:p>
          <a:p>
            <a:pPr>
              <a:buFont typeface="Wingdings" panose="05000000000000000000" pitchFamily="2" charset="2"/>
              <a:buChar char="Ø"/>
            </a:pP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6106701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7572"/>
            <a:ext cx="8316416" cy="901148"/>
          </a:xfrm>
        </p:spPr>
        <p:txBody>
          <a:bodyPr>
            <a:normAutofit fontScale="90000"/>
          </a:bodyPr>
          <a:lstStyle/>
          <a:p>
            <a:br>
              <a:rPr lang="fr-SN" sz="4000" b="1" dirty="0">
                <a:solidFill>
                  <a:srgbClr val="00B0F0"/>
                </a:solidFill>
              </a:rPr>
            </a:br>
            <a:br>
              <a:rPr lang="fr-SN" sz="4000" b="1" dirty="0">
                <a:solidFill>
                  <a:srgbClr val="00B0F0"/>
                </a:solidFill>
              </a:rPr>
            </a:br>
            <a:r>
              <a:rPr lang="fr-SN" sz="4000" b="1" dirty="0">
                <a:solidFill>
                  <a:srgbClr val="00B0F0"/>
                </a:solidFill>
              </a:rPr>
              <a:t>D) Espace social</a:t>
            </a:r>
            <a:br>
              <a:rPr lang="fr-SN" sz="4000" b="1" dirty="0">
                <a:solidFill>
                  <a:srgbClr val="00B0F0"/>
                </a:solidFill>
              </a:rPr>
            </a:br>
            <a:br>
              <a:rPr lang="fr-FR" sz="4000" dirty="0">
                <a:solidFill>
                  <a:srgbClr val="00B0F0"/>
                </a:solidFill>
              </a:rPr>
            </a:br>
            <a:endParaRPr lang="fr-FR" sz="4000" dirty="0"/>
          </a:p>
        </p:txBody>
      </p:sp>
      <p:sp>
        <p:nvSpPr>
          <p:cNvPr id="3" name="Espace réservé du contenu 2"/>
          <p:cNvSpPr>
            <a:spLocks noGrp="1"/>
          </p:cNvSpPr>
          <p:nvPr>
            <p:ph idx="1"/>
          </p:nvPr>
        </p:nvSpPr>
        <p:spPr>
          <a:xfrm>
            <a:off x="0" y="1196753"/>
            <a:ext cx="9036496" cy="5661248"/>
          </a:xfrm>
        </p:spPr>
        <p:txBody>
          <a:bodyPr>
            <a:normAutofit/>
          </a:bodyPr>
          <a:lstStyle/>
          <a:p>
            <a:pPr>
              <a:buFont typeface="Wingdings" panose="05000000000000000000" pitchFamily="2" charset="2"/>
              <a:buChar char="Ø"/>
            </a:pPr>
            <a:r>
              <a:rPr lang="fr-FR" sz="2400" dirty="0"/>
              <a:t>Selon Anne Gilbert, « </a:t>
            </a:r>
            <a:r>
              <a:rPr lang="fr-FR" sz="2400" b="1" i="1" dirty="0"/>
              <a:t>derrière le concept d’espace social, se profilent les rapports sociaux, les pouvoirs qui les organisent.</a:t>
            </a:r>
            <a:r>
              <a:rPr lang="fr-FR" sz="2400" dirty="0"/>
              <a:t> » </a:t>
            </a:r>
          </a:p>
          <a:p>
            <a:pPr>
              <a:buFont typeface="Wingdings" panose="05000000000000000000" pitchFamily="2" charset="2"/>
              <a:buChar char="Ø"/>
            </a:pPr>
            <a:endParaRPr lang="fr-FR" sz="2400" dirty="0"/>
          </a:p>
          <a:p>
            <a:pPr marL="0" indent="0">
              <a:buNone/>
            </a:pPr>
            <a:endParaRPr lang="fr-FR" sz="2400" dirty="0"/>
          </a:p>
          <a:p>
            <a:pPr>
              <a:buFont typeface="Wingdings" panose="05000000000000000000" pitchFamily="2" charset="2"/>
              <a:buChar char="Ø"/>
            </a:pPr>
            <a:r>
              <a:rPr lang="fr-FR" sz="2400" dirty="0"/>
              <a:t>En conséquence, les relations entre l’Homme et l’espace géographique épousent un espace social vécu à sa manière par chaque individu.</a:t>
            </a:r>
          </a:p>
          <a:p>
            <a:pPr marL="0" indent="0">
              <a:buNone/>
            </a:pPr>
            <a:endParaRPr lang="fr-FR" sz="2400" dirty="0"/>
          </a:p>
          <a:p>
            <a:pPr>
              <a:buFont typeface="Wingdings" panose="05000000000000000000" pitchFamily="2" charset="2"/>
              <a:buChar char="Ø"/>
            </a:pPr>
            <a:endParaRPr lang="fr-SN" sz="2400" dirty="0"/>
          </a:p>
          <a:p>
            <a:pPr>
              <a:buFont typeface="Wingdings" panose="05000000000000000000" pitchFamily="2" charset="2"/>
              <a:buChar char="Ø"/>
            </a:pPr>
            <a:r>
              <a:rPr lang="fr-FR" sz="2400" dirty="0"/>
              <a:t>En définitive: l’espace est produit, vécu, perçu, représenté. On peut assister à une </a:t>
            </a:r>
            <a:r>
              <a:rPr lang="fr-FR" sz="2400" b="1" dirty="0">
                <a:solidFill>
                  <a:srgbClr val="00B0F0"/>
                </a:solidFill>
              </a:rPr>
              <a:t>juxtaposition d’espaces</a:t>
            </a:r>
            <a:r>
              <a:rPr lang="fr-FR" sz="2400" dirty="0"/>
              <a:t>, c’est ce que </a:t>
            </a:r>
            <a:r>
              <a:rPr lang="fr-FR" sz="2400" b="1" dirty="0" err="1"/>
              <a:t>Castells</a:t>
            </a:r>
            <a:r>
              <a:rPr lang="fr-FR" sz="2400" dirty="0"/>
              <a:t> appelle un flux d’espaces générant ainsi une multiplicité de territoires.</a:t>
            </a:r>
          </a:p>
          <a:p>
            <a:pPr>
              <a:buFont typeface="Wingdings" panose="05000000000000000000" pitchFamily="2" charset="2"/>
              <a:buChar char="Ø"/>
            </a:pPr>
            <a:endParaRPr lang="fr-FR" sz="2400" b="1" dirty="0"/>
          </a:p>
        </p:txBody>
      </p:sp>
      <p:pic>
        <p:nvPicPr>
          <p:cNvPr id="4" name="officeArt object" descr="logo_UAM.jpg"/>
          <p:cNvPicPr/>
          <p:nvPr/>
        </p:nvPicPr>
        <p:blipFill>
          <a:blip r:embed="rId2"/>
          <a:stretch>
            <a:fillRect/>
          </a:stretch>
        </p:blipFill>
        <p:spPr>
          <a:xfrm>
            <a:off x="7956376" y="1"/>
            <a:ext cx="1080120" cy="980727"/>
          </a:xfrm>
          <a:prstGeom prst="rect">
            <a:avLst/>
          </a:prstGeom>
          <a:ln w="12700" cap="flat">
            <a:noFill/>
            <a:miter lim="400000"/>
          </a:ln>
          <a:effectLst/>
        </p:spPr>
      </p:pic>
    </p:spTree>
    <p:extLst>
      <p:ext uri="{BB962C8B-B14F-4D97-AF65-F5344CB8AC3E}">
        <p14:creationId xmlns:p14="http://schemas.microsoft.com/office/powerpoint/2010/main" val="2053539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794" y="17044"/>
            <a:ext cx="8291264" cy="1373014"/>
          </a:xfrm>
        </p:spPr>
        <p:txBody>
          <a:bodyPr>
            <a:normAutofit/>
          </a:bodyPr>
          <a:lstStyle/>
          <a:p>
            <a:r>
              <a:rPr lang="fr-SN" sz="3600" b="1" dirty="0">
                <a:solidFill>
                  <a:srgbClr val="00B0F0"/>
                </a:solidFill>
              </a:rPr>
              <a:t>II. Les composantes et enjeux de l’Espace</a:t>
            </a:r>
            <a:br>
              <a:rPr lang="fr-SN" sz="3600" b="1" dirty="0">
                <a:solidFill>
                  <a:srgbClr val="00B0F0"/>
                </a:solidFill>
              </a:rPr>
            </a:br>
            <a:r>
              <a:rPr lang="fr-SN" sz="3600" b="1" dirty="0">
                <a:solidFill>
                  <a:srgbClr val="FF0000"/>
                </a:solidFill>
              </a:rPr>
              <a:t>2) Les enjeux spatiaux </a:t>
            </a:r>
            <a:endParaRPr lang="fr-FR" sz="3600" dirty="0"/>
          </a:p>
        </p:txBody>
      </p:sp>
      <p:sp>
        <p:nvSpPr>
          <p:cNvPr id="3" name="Espace réservé du contenu 2"/>
          <p:cNvSpPr>
            <a:spLocks noGrp="1"/>
          </p:cNvSpPr>
          <p:nvPr>
            <p:ph idx="1"/>
          </p:nvPr>
        </p:nvSpPr>
        <p:spPr>
          <a:xfrm>
            <a:off x="107504" y="1600200"/>
            <a:ext cx="9036496" cy="5257800"/>
          </a:xfrm>
        </p:spPr>
        <p:txBody>
          <a:bodyPr>
            <a:normAutofit/>
          </a:bodyPr>
          <a:lstStyle/>
          <a:p>
            <a:pPr>
              <a:buFont typeface="Wingdings" panose="05000000000000000000" pitchFamily="2" charset="2"/>
              <a:buChar char="Ø"/>
            </a:pPr>
            <a:r>
              <a:rPr lang="fr-FR" sz="2800" dirty="0"/>
              <a:t>Chaque individu déploie quotidiennement des stratégies géographiques : positionnement, déplacement, espacement, orientation, mémorisation …</a:t>
            </a:r>
          </a:p>
          <a:p>
            <a:pPr>
              <a:buFont typeface="Wingdings" panose="05000000000000000000" pitchFamily="2" charset="2"/>
              <a:buChar char="Ø"/>
            </a:pPr>
            <a:endParaRPr lang="fr-FR" sz="2800" dirty="0"/>
          </a:p>
          <a:p>
            <a:pPr>
              <a:buFont typeface="Wingdings" panose="05000000000000000000" pitchFamily="2" charset="2"/>
              <a:buChar char="Ø"/>
            </a:pPr>
            <a:r>
              <a:rPr lang="fr-FR" sz="2800" dirty="0"/>
              <a:t>un </a:t>
            </a:r>
            <a:r>
              <a:rPr lang="fr-FR" sz="2800" b="1" dirty="0"/>
              <a:t>enjeu </a:t>
            </a:r>
            <a:r>
              <a:rPr lang="fr-FR" sz="2800" dirty="0"/>
              <a:t>est un objet auquel des acteurs attribuent une </a:t>
            </a:r>
            <a:r>
              <a:rPr lang="fr-FR" sz="2800" b="1" dirty="0"/>
              <a:t>valeur</a:t>
            </a:r>
            <a:r>
              <a:rPr lang="fr-FR" sz="2800" dirty="0"/>
              <a:t>. Autrement dit, c’est ce qui est </a:t>
            </a:r>
            <a:r>
              <a:rPr lang="fr-FR" sz="2800" b="1" dirty="0"/>
              <a:t>« en jeu » </a:t>
            </a:r>
            <a:r>
              <a:rPr lang="fr-FR" sz="2800" dirty="0"/>
              <a:t>dans une situation géographique.</a:t>
            </a:r>
          </a:p>
          <a:p>
            <a:pPr>
              <a:buFont typeface="Wingdings" panose="05000000000000000000" pitchFamily="2" charset="2"/>
              <a:buChar char="Ø"/>
            </a:pPr>
            <a:endParaRPr lang="fr-FR" sz="2800" dirty="0"/>
          </a:p>
          <a:p>
            <a:pPr>
              <a:buFont typeface="Wingdings" panose="05000000000000000000" pitchFamily="2" charset="2"/>
              <a:buChar char="Ø"/>
            </a:pPr>
            <a:r>
              <a:rPr lang="fr-FR" sz="2800" dirty="0"/>
              <a:t>Un espace peut être source d’enjeux rattachés à </a:t>
            </a:r>
            <a:r>
              <a:rPr lang="fr-FR" sz="2800" b="1" dirty="0"/>
              <a:t>l’accès </a:t>
            </a:r>
            <a:r>
              <a:rPr lang="fr-FR" sz="2800" dirty="0"/>
              <a:t>ou </a:t>
            </a:r>
            <a:r>
              <a:rPr lang="fr-FR" sz="2800" b="1" dirty="0"/>
              <a:t>l’usage</a:t>
            </a:r>
            <a:r>
              <a:rPr lang="fr-FR" sz="2800" dirty="0"/>
              <a:t> de cet espace.</a:t>
            </a:r>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4830430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634" y="25678"/>
            <a:ext cx="8229600" cy="1301006"/>
          </a:xfrm>
        </p:spPr>
        <p:txBody>
          <a:bodyPr>
            <a:normAutofit/>
          </a:bodyPr>
          <a:lstStyle/>
          <a:p>
            <a:r>
              <a:rPr lang="fr-SN" sz="3600" b="1" dirty="0">
                <a:solidFill>
                  <a:srgbClr val="00B0F0"/>
                </a:solidFill>
              </a:rPr>
              <a:t>II. Les composantes et enjeux de l’Espace</a:t>
            </a:r>
            <a:br>
              <a:rPr lang="fr-SN" sz="3600" b="1" dirty="0">
                <a:solidFill>
                  <a:srgbClr val="00B0F0"/>
                </a:solidFill>
              </a:rPr>
            </a:br>
            <a:r>
              <a:rPr lang="fr-SN" sz="3600" b="1" dirty="0">
                <a:solidFill>
                  <a:srgbClr val="FF0000"/>
                </a:solidFill>
              </a:rPr>
              <a:t>2) Les enjeux spatiaux </a:t>
            </a:r>
            <a:endParaRPr lang="fr-FR" sz="3600" dirty="0"/>
          </a:p>
        </p:txBody>
      </p:sp>
      <p:sp>
        <p:nvSpPr>
          <p:cNvPr id="3" name="Espace réservé du contenu 2"/>
          <p:cNvSpPr>
            <a:spLocks noGrp="1"/>
          </p:cNvSpPr>
          <p:nvPr>
            <p:ph idx="1"/>
          </p:nvPr>
        </p:nvSpPr>
        <p:spPr>
          <a:xfrm>
            <a:off x="22634" y="1600200"/>
            <a:ext cx="9085870" cy="5257800"/>
          </a:xfrm>
        </p:spPr>
        <p:txBody>
          <a:bodyPr>
            <a:normAutofit lnSpcReduction="10000"/>
          </a:bodyPr>
          <a:lstStyle/>
          <a:p>
            <a:pPr>
              <a:buFont typeface="Wingdings" panose="05000000000000000000" pitchFamily="2" charset="2"/>
              <a:buChar char="Ø"/>
            </a:pPr>
            <a:r>
              <a:rPr lang="fr-FR" sz="3000" b="1" dirty="0"/>
              <a:t>Enjeux importants </a:t>
            </a:r>
            <a:r>
              <a:rPr lang="fr-FR" sz="3000" dirty="0"/>
              <a:t>en termes de :</a:t>
            </a:r>
          </a:p>
          <a:p>
            <a:pPr>
              <a:buFontTx/>
              <a:buChar char="-"/>
            </a:pPr>
            <a:r>
              <a:rPr lang="fr-FR" sz="3000" b="1" dirty="0">
                <a:solidFill>
                  <a:srgbClr val="00B0F0"/>
                </a:solidFill>
              </a:rPr>
              <a:t>Localisation</a:t>
            </a:r>
            <a:r>
              <a:rPr lang="fr-FR" sz="3000" dirty="0"/>
              <a:t>: quelle position? quelle situation? </a:t>
            </a:r>
            <a:r>
              <a:rPr lang="fr-FR" sz="3000" b="1" dirty="0"/>
              <a:t>Informations capitales </a:t>
            </a:r>
            <a:r>
              <a:rPr lang="fr-FR" sz="3000" dirty="0"/>
              <a:t>dans le domaine technologique</a:t>
            </a:r>
          </a:p>
          <a:p>
            <a:pPr>
              <a:buFontTx/>
              <a:buChar char="-"/>
            </a:pPr>
            <a:endParaRPr lang="fr-FR" sz="3000" dirty="0"/>
          </a:p>
          <a:p>
            <a:pPr>
              <a:buFontTx/>
              <a:buChar char="-"/>
            </a:pPr>
            <a:r>
              <a:rPr lang="fr-FR" sz="3000" b="1" dirty="0">
                <a:solidFill>
                  <a:srgbClr val="00B0F0"/>
                </a:solidFill>
              </a:rPr>
              <a:t>Distance</a:t>
            </a:r>
            <a:r>
              <a:rPr lang="fr-FR" sz="3000" dirty="0"/>
              <a:t> : positionnement et séparation des lieux les uns par rapport aux autres.</a:t>
            </a:r>
          </a:p>
          <a:p>
            <a:pPr>
              <a:buFontTx/>
              <a:buChar char="-"/>
            </a:pPr>
            <a:r>
              <a:rPr lang="fr-FR" sz="3000" b="1" dirty="0">
                <a:solidFill>
                  <a:srgbClr val="00B0F0"/>
                </a:solidFill>
              </a:rPr>
              <a:t>Délimitation</a:t>
            </a:r>
            <a:r>
              <a:rPr lang="fr-FR" sz="3000" dirty="0"/>
              <a:t> : portion donc étendue. C’est concret, mesurable, cartographiable.</a:t>
            </a:r>
          </a:p>
          <a:p>
            <a:pPr marL="0" indent="0">
              <a:buNone/>
            </a:pPr>
            <a:endParaRPr lang="fr-FR" sz="3000" dirty="0"/>
          </a:p>
          <a:p>
            <a:pPr marL="0" indent="0">
              <a:buNone/>
            </a:pPr>
            <a:r>
              <a:rPr lang="fr-FR" sz="3000" dirty="0"/>
              <a:t>- </a:t>
            </a:r>
            <a:r>
              <a:rPr lang="fr-FR" sz="3000" b="1" dirty="0">
                <a:solidFill>
                  <a:srgbClr val="00B0F0"/>
                </a:solidFill>
              </a:rPr>
              <a:t>Appropriation</a:t>
            </a:r>
            <a:r>
              <a:rPr lang="fr-FR" sz="3000" dirty="0"/>
              <a:t> : produit, vécu, perçu, représenté, instrumentalisé</a:t>
            </a:r>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5126504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83568" y="1916833"/>
            <a:ext cx="7992888" cy="1872208"/>
          </a:xfrm>
        </p:spPr>
        <p:txBody>
          <a:bodyPr>
            <a:normAutofit fontScale="90000"/>
          </a:bodyPr>
          <a:lstStyle/>
          <a:p>
            <a:br>
              <a:rPr lang="fr-SN" sz="6000" b="1" dirty="0">
                <a:solidFill>
                  <a:srgbClr val="00B0F0"/>
                </a:solidFill>
              </a:rPr>
            </a:br>
            <a:br>
              <a:rPr lang="fr-SN" sz="6000" b="1" dirty="0">
                <a:solidFill>
                  <a:srgbClr val="00B0F0"/>
                </a:solidFill>
              </a:rPr>
            </a:br>
            <a:r>
              <a:rPr lang="fr-SN" sz="6000" b="1" dirty="0">
                <a:solidFill>
                  <a:srgbClr val="00B0F0"/>
                </a:solidFill>
              </a:rPr>
              <a:t>III. </a:t>
            </a:r>
            <a:r>
              <a:rPr lang="fr-SN" sz="5400" b="1" dirty="0">
                <a:solidFill>
                  <a:srgbClr val="00B0F0"/>
                </a:solidFill>
              </a:rPr>
              <a:t>L’analyse spatiale : lois, échelles, organisation spatiale</a:t>
            </a:r>
            <a:br>
              <a:rPr lang="fr-FR" sz="5400" dirty="0">
                <a:solidFill>
                  <a:srgbClr val="00B0F0"/>
                </a:solidFill>
              </a:rPr>
            </a:br>
            <a:br>
              <a:rPr lang="fr-FR" dirty="0">
                <a:solidFill>
                  <a:srgbClr val="00B0F0"/>
                </a:solidFill>
              </a:rPr>
            </a:br>
            <a:endParaRPr lang="fr-FR" dirty="0"/>
          </a:p>
        </p:txBody>
      </p:sp>
      <p:sp>
        <p:nvSpPr>
          <p:cNvPr id="3" name="Espace réservé du contenu 2"/>
          <p:cNvSpPr>
            <a:spLocks noGrp="1"/>
          </p:cNvSpPr>
          <p:nvPr>
            <p:ph type="subTitle" idx="1"/>
          </p:nvPr>
        </p:nvSpPr>
        <p:spPr/>
        <p:txBody>
          <a:bodyPr>
            <a:noAutofit/>
          </a:bodyPr>
          <a:lstStyle/>
          <a:p>
            <a:endParaRPr lang="fr-FR" sz="2400" dirty="0"/>
          </a:p>
          <a:p>
            <a:endParaRPr lang="fr-FR" sz="2800" dirty="0"/>
          </a:p>
        </p:txBody>
      </p:sp>
      <p:pic>
        <p:nvPicPr>
          <p:cNvPr id="4" name="officeArt object" descr="logo_UAM.jpg"/>
          <p:cNvPicPr/>
          <p:nvPr/>
        </p:nvPicPr>
        <p:blipFill>
          <a:blip r:embed="rId3"/>
          <a:stretch>
            <a:fillRect/>
          </a:stretch>
        </p:blipFill>
        <p:spPr>
          <a:xfrm>
            <a:off x="8100392" y="44624"/>
            <a:ext cx="1043608" cy="872867"/>
          </a:xfrm>
          <a:prstGeom prst="rect">
            <a:avLst/>
          </a:prstGeom>
          <a:ln w="12700" cap="flat">
            <a:noFill/>
            <a:miter lim="400000"/>
          </a:ln>
          <a:effectLst/>
        </p:spPr>
      </p:pic>
      <p:sp>
        <p:nvSpPr>
          <p:cNvPr id="2" name="Espace réservé du pied de page 1"/>
          <p:cNvSpPr>
            <a:spLocks noGrp="1"/>
          </p:cNvSpPr>
          <p:nvPr>
            <p:ph type="ftr" sz="quarter" idx="11"/>
          </p:nvPr>
        </p:nvSpPr>
        <p:spPr>
          <a:xfrm>
            <a:off x="755576" y="6093296"/>
            <a:ext cx="7560840" cy="365125"/>
          </a:xfrm>
        </p:spPr>
        <p:txBody>
          <a:bodyPr/>
          <a:lstStyle/>
          <a:p>
            <a:r>
              <a:rPr lang="fr-FR" sz="1800" dirty="0"/>
              <a:t>                                              Espaces et Territoires</a:t>
            </a:r>
          </a:p>
        </p:txBody>
      </p:sp>
    </p:spTree>
    <p:extLst>
      <p:ext uri="{BB962C8B-B14F-4D97-AF65-F5344CB8AC3E}">
        <p14:creationId xmlns:p14="http://schemas.microsoft.com/office/powerpoint/2010/main" val="774255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44624"/>
            <a:ext cx="8229600" cy="1143000"/>
          </a:xfrm>
        </p:spPr>
        <p:txBody>
          <a:bodyPr/>
          <a:lstStyle/>
          <a:p>
            <a:r>
              <a:rPr lang="fr-SN" b="1" dirty="0">
                <a:solidFill>
                  <a:srgbClr val="00B0F0"/>
                </a:solidFill>
              </a:rPr>
              <a:t>III. L’analyse spatiale</a:t>
            </a:r>
            <a:endParaRPr lang="fr-FR" dirty="0"/>
          </a:p>
        </p:txBody>
      </p:sp>
      <p:sp>
        <p:nvSpPr>
          <p:cNvPr id="3" name="Espace réservé du contenu 2"/>
          <p:cNvSpPr>
            <a:spLocks noGrp="1"/>
          </p:cNvSpPr>
          <p:nvPr>
            <p:ph idx="1"/>
          </p:nvPr>
        </p:nvSpPr>
        <p:spPr>
          <a:xfrm>
            <a:off x="107504" y="1052107"/>
            <a:ext cx="8928992" cy="5445224"/>
          </a:xfrm>
        </p:spPr>
        <p:txBody>
          <a:bodyPr>
            <a:normAutofit fontScale="92500" lnSpcReduction="10000"/>
          </a:bodyPr>
          <a:lstStyle/>
          <a:p>
            <a:pPr>
              <a:buFont typeface="Wingdings" panose="05000000000000000000" pitchFamily="2" charset="2"/>
              <a:buChar char="Ø"/>
            </a:pPr>
            <a:endParaRPr lang="fr-FR" sz="2800" dirty="0"/>
          </a:p>
          <a:p>
            <a:pPr>
              <a:buFont typeface="Wingdings" panose="05000000000000000000" pitchFamily="2" charset="2"/>
              <a:buChar char="Ø"/>
            </a:pPr>
            <a:r>
              <a:rPr lang="fr-FR" sz="2800" dirty="0"/>
              <a:t>L’analyse spatiale une approche géographique qui étudie les localisations et les interactions dans l’espace.</a:t>
            </a:r>
          </a:p>
          <a:p>
            <a:pPr marL="0" indent="0">
              <a:buNone/>
            </a:pPr>
            <a:endParaRPr lang="fr-FR" sz="2800" dirty="0"/>
          </a:p>
          <a:p>
            <a:pPr>
              <a:buFont typeface="Wingdings" panose="05000000000000000000" pitchFamily="2" charset="2"/>
              <a:buChar char="Ø"/>
            </a:pPr>
            <a:r>
              <a:rPr lang="fr-FR" sz="2800" dirty="0"/>
              <a:t>L’analyse spatiale est une démarche qui recherche les </a:t>
            </a:r>
            <a:r>
              <a:rPr lang="fr-FR" sz="2800" b="1" dirty="0"/>
              <a:t>similarités entre les phénomènes </a:t>
            </a:r>
            <a:r>
              <a:rPr lang="fr-FR" sz="2800" dirty="0"/>
              <a:t>et tente d’établir des lois (des règles). L’analyse spatiale recherche ou applique des lois spatiales.</a:t>
            </a:r>
          </a:p>
          <a:p>
            <a:pPr>
              <a:buFont typeface="Wingdings" panose="05000000000000000000" pitchFamily="2" charset="2"/>
              <a:buChar char="Ø"/>
            </a:pPr>
            <a:endParaRPr lang="fr-FR" sz="2800" dirty="0"/>
          </a:p>
          <a:p>
            <a:pPr>
              <a:buFont typeface="Wingdings" panose="05000000000000000000" pitchFamily="2" charset="2"/>
              <a:buChar char="Ø"/>
            </a:pPr>
            <a:r>
              <a:rPr lang="fr-FR" sz="2800" dirty="0"/>
              <a:t>Elle met en évidence des </a:t>
            </a:r>
            <a:r>
              <a:rPr lang="fr-FR" sz="2800" b="1" dirty="0"/>
              <a:t>structures et des formes d’organisation spatiale </a:t>
            </a:r>
            <a:r>
              <a:rPr lang="fr-FR" sz="2800" dirty="0"/>
              <a:t>récurrentes :  exemple les modèles centre-périphérie, les trames urbaines, les divers types de réseaux ou de territoires, etc.</a:t>
            </a:r>
          </a:p>
          <a:p>
            <a:pPr>
              <a:buFont typeface="Wingdings" panose="05000000000000000000" pitchFamily="2" charset="2"/>
              <a:buChar char="Ø"/>
            </a:pPr>
            <a:endParaRPr lang="fr-FR" sz="2800" dirty="0"/>
          </a:p>
          <a:p>
            <a:pPr>
              <a:buFont typeface="Wingdings" panose="05000000000000000000" pitchFamily="2" charset="2"/>
              <a:buChar char="Ø"/>
            </a:pPr>
            <a:endParaRPr lang="fr-FR" sz="2800"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488742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44624"/>
            <a:ext cx="8229600" cy="1143000"/>
          </a:xfrm>
        </p:spPr>
        <p:txBody>
          <a:bodyPr/>
          <a:lstStyle/>
          <a:p>
            <a:r>
              <a:rPr lang="fr-SN" b="1" dirty="0">
                <a:solidFill>
                  <a:srgbClr val="00B0F0"/>
                </a:solidFill>
              </a:rPr>
              <a:t>III. L’analyse spatiale</a:t>
            </a:r>
            <a:endParaRPr lang="fr-FR" dirty="0"/>
          </a:p>
        </p:txBody>
      </p:sp>
      <p:sp>
        <p:nvSpPr>
          <p:cNvPr id="3" name="Espace réservé du contenu 2"/>
          <p:cNvSpPr>
            <a:spLocks noGrp="1"/>
          </p:cNvSpPr>
          <p:nvPr>
            <p:ph idx="1"/>
          </p:nvPr>
        </p:nvSpPr>
        <p:spPr>
          <a:xfrm>
            <a:off x="179512" y="1412776"/>
            <a:ext cx="8928992" cy="5445224"/>
          </a:xfrm>
        </p:spPr>
        <p:txBody>
          <a:bodyPr>
            <a:normAutofit/>
          </a:bodyPr>
          <a:lstStyle/>
          <a:p>
            <a:pPr marL="0" indent="0">
              <a:buNone/>
            </a:pPr>
            <a:endParaRPr lang="fr-FR" sz="2800" dirty="0"/>
          </a:p>
          <a:p>
            <a:pPr>
              <a:buFont typeface="Wingdings" panose="05000000000000000000" pitchFamily="2" charset="2"/>
              <a:buChar char="Ø"/>
            </a:pPr>
            <a:r>
              <a:rPr lang="fr-FR" sz="2800" b="1" dirty="0">
                <a:solidFill>
                  <a:srgbClr val="FF0000"/>
                </a:solidFill>
              </a:rPr>
              <a:t>Trois concepts</a:t>
            </a:r>
            <a:r>
              <a:rPr lang="fr-FR" sz="2800" dirty="0">
                <a:solidFill>
                  <a:srgbClr val="FF0000"/>
                </a:solidFill>
              </a:rPr>
              <a:t> </a:t>
            </a:r>
            <a:r>
              <a:rPr lang="fr-FR" sz="2800" dirty="0"/>
              <a:t>apparaissent centraux pour définir  et comprendre l’analyse spatiale :</a:t>
            </a:r>
          </a:p>
          <a:p>
            <a:pPr marL="0" indent="0">
              <a:buNone/>
            </a:pPr>
            <a:endParaRPr lang="fr-FR" sz="2800" dirty="0"/>
          </a:p>
          <a:p>
            <a:pPr marL="0" indent="0">
              <a:buNone/>
            </a:pPr>
            <a:r>
              <a:rPr lang="fr-SN" sz="2800" dirty="0"/>
              <a:t>               - le concept de </a:t>
            </a:r>
            <a:r>
              <a:rPr lang="fr-SN" sz="2800" b="1" dirty="0"/>
              <a:t>loi</a:t>
            </a:r>
          </a:p>
          <a:p>
            <a:pPr marL="0" indent="0">
              <a:buNone/>
            </a:pPr>
            <a:r>
              <a:rPr lang="fr-SN" sz="2800" dirty="0"/>
              <a:t>               - le concept d’</a:t>
            </a:r>
            <a:r>
              <a:rPr lang="fr-SN" sz="2800" b="1" dirty="0"/>
              <a:t>espace</a:t>
            </a:r>
          </a:p>
          <a:p>
            <a:pPr marL="0" indent="0">
              <a:buNone/>
            </a:pPr>
            <a:r>
              <a:rPr lang="fr-SN" sz="2800" dirty="0"/>
              <a:t>               - le concept de </a:t>
            </a:r>
            <a:r>
              <a:rPr lang="fr-SN" sz="2800" b="1" dirty="0"/>
              <a:t>modèle </a:t>
            </a:r>
            <a:r>
              <a:rPr lang="fr-SN" sz="2800" dirty="0"/>
              <a:t>(représentation simplifiée d’un comportement spatial)</a:t>
            </a:r>
            <a:endParaRPr lang="fr-FR" sz="2800" b="1" dirty="0"/>
          </a:p>
          <a:p>
            <a:pPr>
              <a:buFont typeface="Wingdings" panose="05000000000000000000" pitchFamily="2" charset="2"/>
              <a:buChar char="Ø"/>
            </a:pPr>
            <a:endParaRPr lang="fr-FR" sz="2800"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8769886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4000" b="1" dirty="0">
                <a:solidFill>
                  <a:srgbClr val="00B0F0"/>
                </a:solidFill>
              </a:rPr>
              <a:t>III. L’analyse spatiale</a:t>
            </a:r>
            <a:br>
              <a:rPr lang="fr-SN" sz="3600" b="1" dirty="0">
                <a:solidFill>
                  <a:srgbClr val="00B0F0"/>
                </a:solidFill>
              </a:rPr>
            </a:br>
            <a:endParaRPr lang="fr-FR" sz="3600" dirty="0">
              <a:solidFill>
                <a:srgbClr val="FF0000"/>
              </a:solidFill>
            </a:endParaRPr>
          </a:p>
        </p:txBody>
      </p:sp>
      <p:sp>
        <p:nvSpPr>
          <p:cNvPr id="3" name="Espace réservé du contenu 2"/>
          <p:cNvSpPr>
            <a:spLocks noGrp="1"/>
          </p:cNvSpPr>
          <p:nvPr>
            <p:ph idx="1"/>
          </p:nvPr>
        </p:nvSpPr>
        <p:spPr>
          <a:xfrm>
            <a:off x="0" y="836711"/>
            <a:ext cx="9180512" cy="6768753"/>
          </a:xfrm>
        </p:spPr>
        <p:txBody>
          <a:bodyPr>
            <a:normAutofit/>
          </a:bodyPr>
          <a:lstStyle/>
          <a:p>
            <a:pPr>
              <a:buFont typeface="Wingdings" panose="05000000000000000000" pitchFamily="2" charset="2"/>
              <a:buChar char="Ø"/>
            </a:pPr>
            <a:r>
              <a:rPr lang="fr-FR" sz="2400" dirty="0"/>
              <a:t>Les apports méthodologiques, théoriques et techniques ont permis un </a:t>
            </a:r>
            <a:r>
              <a:rPr lang="fr-FR" sz="2400" b="1" dirty="0"/>
              <a:t>renouveau continuel </a:t>
            </a:r>
            <a:r>
              <a:rPr lang="fr-FR" sz="2400" dirty="0"/>
              <a:t>de l’analyse spatiale.</a:t>
            </a:r>
          </a:p>
          <a:p>
            <a:pPr marL="0" indent="0">
              <a:buNone/>
            </a:pPr>
            <a:endParaRPr lang="fr-FR" sz="2400" dirty="0"/>
          </a:p>
          <a:p>
            <a:pPr>
              <a:buFont typeface="Wingdings" panose="05000000000000000000" pitchFamily="2" charset="2"/>
              <a:buChar char="Ø"/>
            </a:pPr>
            <a:r>
              <a:rPr lang="fr-FR" sz="2400" dirty="0"/>
              <a:t>la puissance et la souplesse des outils informatiques pour </a:t>
            </a:r>
            <a:r>
              <a:rPr lang="fr-FR" sz="2400" b="1" dirty="0"/>
              <a:t>analyser et représenter </a:t>
            </a:r>
            <a:r>
              <a:rPr lang="fr-FR" sz="2400" dirty="0"/>
              <a:t>l’espace géographique  et des outils d’aide à la décision spatialisée : 3D, SIG, Modélisation…</a:t>
            </a:r>
          </a:p>
          <a:p>
            <a:pPr marL="0" indent="0">
              <a:buNone/>
            </a:pPr>
            <a:endParaRPr lang="fr-FR" sz="2400" dirty="0"/>
          </a:p>
          <a:p>
            <a:pPr>
              <a:buFont typeface="Wingdings" panose="05000000000000000000" pitchFamily="2" charset="2"/>
              <a:buChar char="Ø"/>
            </a:pPr>
            <a:r>
              <a:rPr lang="fr-FR" sz="2400" b="1" dirty="0"/>
              <a:t>SIG</a:t>
            </a:r>
            <a:r>
              <a:rPr lang="fr-FR" sz="2400" dirty="0"/>
              <a:t>/bases de données: outils informatiques d’analyse et de gestion de l’espace géographique à partir des informations transmises par satellites.</a:t>
            </a:r>
          </a:p>
          <a:p>
            <a:pPr marL="0" indent="0">
              <a:buNone/>
            </a:pPr>
            <a:r>
              <a:rPr lang="fr-FR" sz="2400" dirty="0"/>
              <a:t>             </a:t>
            </a:r>
            <a:endParaRPr lang="fr-SN" sz="3300" dirty="0"/>
          </a:p>
          <a:p>
            <a:pPr marL="0" indent="0">
              <a:buNone/>
            </a:pPr>
            <a:endParaRPr lang="fr-FR" sz="3300" dirty="0"/>
          </a:p>
          <a:p>
            <a:pPr>
              <a:buFont typeface="Wingdings" panose="05000000000000000000" pitchFamily="2" charset="2"/>
              <a:buChar char="Ø"/>
            </a:pP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49280"/>
            <a:ext cx="9144000" cy="1534839"/>
          </a:xfrm>
          <a:prstGeom prst="rect">
            <a:avLst/>
          </a:prstGeom>
        </p:spPr>
      </p:pic>
    </p:spTree>
    <p:extLst>
      <p:ext uri="{BB962C8B-B14F-4D97-AF65-F5344CB8AC3E}">
        <p14:creationId xmlns:p14="http://schemas.microsoft.com/office/powerpoint/2010/main" val="4197987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4000" b="1" dirty="0">
                <a:solidFill>
                  <a:srgbClr val="00B0F0"/>
                </a:solidFill>
              </a:rPr>
              <a:t>III. L’analyse spatiale</a:t>
            </a:r>
            <a:br>
              <a:rPr lang="fr-SN" sz="3600" b="1" dirty="0">
                <a:solidFill>
                  <a:srgbClr val="00B0F0"/>
                </a:solidFill>
              </a:rPr>
            </a:br>
            <a:endParaRPr lang="fr-FR" sz="3600" dirty="0">
              <a:solidFill>
                <a:srgbClr val="FF0000"/>
              </a:solidFill>
            </a:endParaRPr>
          </a:p>
        </p:txBody>
      </p:sp>
      <p:sp>
        <p:nvSpPr>
          <p:cNvPr id="3" name="Espace réservé du contenu 2"/>
          <p:cNvSpPr>
            <a:spLocks noGrp="1"/>
          </p:cNvSpPr>
          <p:nvPr>
            <p:ph idx="1"/>
          </p:nvPr>
        </p:nvSpPr>
        <p:spPr>
          <a:xfrm>
            <a:off x="-23320" y="188640"/>
            <a:ext cx="9180512" cy="7216039"/>
          </a:xfrm>
        </p:spPr>
        <p:txBody>
          <a:bodyPr>
            <a:normAutofit/>
          </a:bodyPr>
          <a:lstStyle/>
          <a:p>
            <a:pPr marL="0" indent="0">
              <a:buNone/>
            </a:pPr>
            <a:endParaRPr lang="fr-FR" sz="2400" dirty="0"/>
          </a:p>
          <a:p>
            <a:pPr>
              <a:buFont typeface="Wingdings" panose="05000000000000000000" pitchFamily="2" charset="2"/>
              <a:buChar char="Ø"/>
            </a:pPr>
            <a:endParaRPr lang="fr-FR" sz="2400" dirty="0"/>
          </a:p>
          <a:p>
            <a:pPr>
              <a:buFont typeface="Wingdings" panose="05000000000000000000" pitchFamily="2" charset="2"/>
              <a:buChar char="Ø"/>
            </a:pPr>
            <a:r>
              <a:rPr lang="fr-FR" sz="2400" dirty="0"/>
              <a:t>SIG: </a:t>
            </a:r>
            <a:r>
              <a:rPr lang="fr-FR" sz="2400" b="1" dirty="0"/>
              <a:t>base de données</a:t>
            </a:r>
            <a:r>
              <a:rPr lang="fr-FR" sz="2400" dirty="0"/>
              <a:t> associée à un </a:t>
            </a:r>
            <a:r>
              <a:rPr lang="fr-FR" sz="2400" b="1" dirty="0"/>
              <a:t>logiciel de cartographie assistée par ordinateur</a:t>
            </a:r>
            <a:r>
              <a:rPr lang="fr-FR" sz="2400" dirty="0"/>
              <a:t> pour faciliter les opérations de superposition, de comparaison et de simulation de données sur un espace.</a:t>
            </a:r>
          </a:p>
          <a:p>
            <a:pPr>
              <a:buFont typeface="Wingdings" panose="05000000000000000000" pitchFamily="2" charset="2"/>
              <a:buChar char="Ø"/>
            </a:pPr>
            <a:endParaRPr lang="fr-FR" sz="2400" dirty="0"/>
          </a:p>
          <a:p>
            <a:pPr>
              <a:buFont typeface="Wingdings" panose="05000000000000000000" pitchFamily="2" charset="2"/>
              <a:buChar char="Ø"/>
            </a:pPr>
            <a:r>
              <a:rPr lang="fr-FR" sz="2400" b="1" dirty="0"/>
              <a:t>informations transmises</a:t>
            </a:r>
            <a:r>
              <a:rPr lang="fr-FR" sz="2400" dirty="0"/>
              <a:t>: </a:t>
            </a:r>
            <a:r>
              <a:rPr lang="fr-FR" sz="2400" b="1" dirty="0">
                <a:solidFill>
                  <a:srgbClr val="FF0000"/>
                </a:solidFill>
              </a:rPr>
              <a:t>Exemple</a:t>
            </a:r>
            <a:r>
              <a:rPr lang="fr-FR" sz="2400" dirty="0"/>
              <a:t> données graphiques, comme une ligne pour une route; ou non graphiques, comme la population ou la nature d’un bâtiment par exemple) </a:t>
            </a:r>
            <a:r>
              <a:rPr lang="fr-FR" sz="2400" b="1" dirty="0"/>
              <a:t>forment des couches superposables géo-référencées.</a:t>
            </a:r>
          </a:p>
          <a:p>
            <a:pPr>
              <a:buFont typeface="Wingdings" panose="05000000000000000000" pitchFamily="2" charset="2"/>
              <a:buChar char="Ø"/>
            </a:pPr>
            <a:endParaRPr lang="fr-FR" sz="2400" b="1" dirty="0"/>
          </a:p>
          <a:p>
            <a:pPr>
              <a:buFont typeface="Wingdings" panose="05000000000000000000" pitchFamily="2" charset="2"/>
              <a:buChar char="Ø"/>
            </a:pPr>
            <a:r>
              <a:rPr lang="fr-FR" sz="2400" b="1" dirty="0"/>
              <a:t>outils dynamiques de croisement d’informations</a:t>
            </a:r>
            <a:r>
              <a:rPr lang="fr-FR" sz="2400" dirty="0"/>
              <a:t> : par simple requête, le </a:t>
            </a:r>
            <a:r>
              <a:rPr lang="fr-FR" sz="2400" b="1" dirty="0"/>
              <a:t>SIG</a:t>
            </a:r>
            <a:r>
              <a:rPr lang="fr-FR" sz="2400" dirty="0"/>
              <a:t> pourra  ainsi mettre en relation telle ou telle donnée de même origine ou diverse.</a:t>
            </a:r>
          </a:p>
          <a:p>
            <a:pPr marL="0" indent="0">
              <a:buNone/>
            </a:pPr>
            <a:endParaRPr lang="fr-FR" sz="2400" dirty="0"/>
          </a:p>
          <a:p>
            <a:pPr marL="0" indent="0">
              <a:buNone/>
            </a:pPr>
            <a:endParaRPr lang="fr-FR" sz="3300" dirty="0"/>
          </a:p>
          <a:p>
            <a:pPr>
              <a:buFont typeface="Wingdings" panose="05000000000000000000" pitchFamily="2" charset="2"/>
              <a:buChar char="Ø"/>
            </a:pP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1556077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4000" b="1" dirty="0">
                <a:solidFill>
                  <a:srgbClr val="00B0F0"/>
                </a:solidFill>
              </a:rPr>
              <a:t>III. L’analyse spatiale</a:t>
            </a:r>
            <a:br>
              <a:rPr lang="fr-SN" sz="3600" b="1" dirty="0">
                <a:solidFill>
                  <a:srgbClr val="00B0F0"/>
                </a:solidFill>
              </a:rPr>
            </a:br>
            <a:endParaRPr lang="fr-FR" sz="3600" dirty="0">
              <a:solidFill>
                <a:srgbClr val="FF0000"/>
              </a:solidFill>
            </a:endParaRPr>
          </a:p>
        </p:txBody>
      </p:sp>
      <p:sp>
        <p:nvSpPr>
          <p:cNvPr id="3" name="Espace réservé du contenu 2"/>
          <p:cNvSpPr>
            <a:spLocks noGrp="1"/>
          </p:cNvSpPr>
          <p:nvPr>
            <p:ph idx="1"/>
          </p:nvPr>
        </p:nvSpPr>
        <p:spPr>
          <a:xfrm>
            <a:off x="-23320" y="188640"/>
            <a:ext cx="9180512" cy="7216039"/>
          </a:xfrm>
        </p:spPr>
        <p:txBody>
          <a:bodyPr>
            <a:normAutofit/>
          </a:bodyPr>
          <a:lstStyle/>
          <a:p>
            <a:pPr marL="0" indent="0">
              <a:buNone/>
            </a:pPr>
            <a:endParaRPr lang="fr-FR" sz="2400" dirty="0"/>
          </a:p>
          <a:p>
            <a:pPr>
              <a:buFont typeface="Wingdings" panose="05000000000000000000" pitchFamily="2" charset="2"/>
              <a:buChar char="Ø"/>
            </a:pPr>
            <a:endParaRPr lang="fr-FR" sz="2400" dirty="0"/>
          </a:p>
          <a:p>
            <a:pPr>
              <a:buFont typeface="Wingdings" panose="05000000000000000000" pitchFamily="2" charset="2"/>
              <a:buChar char="Ø"/>
            </a:pPr>
            <a:r>
              <a:rPr lang="fr-FR" sz="2400" dirty="0"/>
              <a:t>informations géographiques :  </a:t>
            </a:r>
            <a:r>
              <a:rPr lang="fr-FR" sz="2400" b="1" dirty="0"/>
              <a:t>gestion</a:t>
            </a:r>
            <a:r>
              <a:rPr lang="fr-FR" sz="2400" dirty="0"/>
              <a:t> et </a:t>
            </a:r>
            <a:r>
              <a:rPr lang="fr-FR" sz="2400" b="1" dirty="0"/>
              <a:t>suivi du trafic</a:t>
            </a:r>
            <a:r>
              <a:rPr lang="fr-FR" sz="2400" dirty="0"/>
              <a:t>, </a:t>
            </a:r>
            <a:r>
              <a:rPr lang="fr-FR" sz="2400" b="1" dirty="0"/>
              <a:t>localisation GPS</a:t>
            </a:r>
            <a:r>
              <a:rPr lang="fr-FR" sz="2400" dirty="0"/>
              <a:t>, </a:t>
            </a:r>
            <a:r>
              <a:rPr lang="fr-FR" sz="2400" b="1" dirty="0"/>
              <a:t>géomarketing</a:t>
            </a:r>
            <a:r>
              <a:rPr lang="fr-FR" sz="2400" dirty="0"/>
              <a:t>, </a:t>
            </a:r>
            <a:r>
              <a:rPr lang="fr-FR" sz="2400" b="1" dirty="0"/>
              <a:t>tourisme</a:t>
            </a:r>
            <a:endParaRPr lang="fr-FR" sz="2400" dirty="0"/>
          </a:p>
          <a:p>
            <a:pPr>
              <a:buFont typeface="Wingdings" panose="05000000000000000000" pitchFamily="2" charset="2"/>
              <a:buChar char="Ø"/>
            </a:pPr>
            <a:endParaRPr lang="fr-FR" sz="2400" b="1" dirty="0"/>
          </a:p>
          <a:p>
            <a:pPr>
              <a:buFont typeface="Wingdings" panose="05000000000000000000" pitchFamily="2" charset="2"/>
              <a:buChar char="Ø"/>
            </a:pPr>
            <a:r>
              <a:rPr lang="fr-FR" sz="2400" dirty="0"/>
              <a:t>Bien plus, l’utilisation des SIG se fait également à des fins de </a:t>
            </a:r>
            <a:r>
              <a:rPr lang="fr-FR" sz="2400" b="1" dirty="0"/>
              <a:t>gestion</a:t>
            </a:r>
            <a:r>
              <a:rPr lang="fr-FR" sz="2400" dirty="0"/>
              <a:t> et d’</a:t>
            </a:r>
            <a:r>
              <a:rPr lang="fr-FR" sz="2400" b="1" dirty="0"/>
              <a:t>aménagement du territoire</a:t>
            </a:r>
            <a:r>
              <a:rPr lang="fr-FR" sz="2400" dirty="0"/>
              <a:t>, à l’échelle des collectivités ou de régions du monde,</a:t>
            </a:r>
          </a:p>
          <a:p>
            <a:pPr>
              <a:buFont typeface="Wingdings" panose="05000000000000000000" pitchFamily="2" charset="2"/>
              <a:buChar char="Ø"/>
            </a:pPr>
            <a:endParaRPr lang="fr-FR" sz="2400" dirty="0"/>
          </a:p>
          <a:p>
            <a:pPr>
              <a:buFont typeface="Wingdings" panose="05000000000000000000" pitchFamily="2" charset="2"/>
              <a:buChar char="Ø"/>
            </a:pPr>
            <a:r>
              <a:rPr lang="fr-FR" sz="2400" dirty="0"/>
              <a:t>SIG :  </a:t>
            </a:r>
            <a:r>
              <a:rPr lang="fr-FR" sz="2400" b="1" dirty="0"/>
              <a:t>outil d’évaluation et de diagnostic du territoire</a:t>
            </a:r>
            <a:r>
              <a:rPr lang="fr-FR" sz="2400" dirty="0"/>
              <a:t> : prévision de zones à risques; simulation de catastrophe; gestion des terrains constructibles et de l’étalement urbain; anticipation des évolutions des territoires…</a:t>
            </a:r>
          </a:p>
          <a:p>
            <a:pPr marL="0" indent="0">
              <a:buNone/>
            </a:pPr>
            <a:endParaRPr lang="fr-FR" sz="2400" dirty="0"/>
          </a:p>
          <a:p>
            <a:pPr>
              <a:buFont typeface="Wingdings" panose="05000000000000000000" pitchFamily="2" charset="2"/>
              <a:buChar char="Ø"/>
            </a:pPr>
            <a:r>
              <a:rPr lang="fr-FR" sz="2400" dirty="0"/>
              <a:t>Ces apports obéissent à divers paramètres :  lois, échelles; distance… </a:t>
            </a:r>
          </a:p>
          <a:p>
            <a:pPr marL="0" indent="0">
              <a:buNone/>
            </a:pPr>
            <a:endParaRPr lang="fr-FR" sz="3300" dirty="0"/>
          </a:p>
          <a:p>
            <a:pPr>
              <a:buFont typeface="Wingdings" panose="05000000000000000000" pitchFamily="2" charset="2"/>
              <a:buChar char="Ø"/>
            </a:pP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19713573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1) Les lois</a:t>
            </a:r>
            <a:endParaRPr lang="fr-FR" sz="3600" dirty="0">
              <a:solidFill>
                <a:srgbClr val="FF0000"/>
              </a:solidFill>
            </a:endParaRPr>
          </a:p>
        </p:txBody>
      </p:sp>
      <p:sp>
        <p:nvSpPr>
          <p:cNvPr id="3" name="Espace réservé du contenu 2"/>
          <p:cNvSpPr>
            <a:spLocks noGrp="1"/>
          </p:cNvSpPr>
          <p:nvPr>
            <p:ph idx="1"/>
          </p:nvPr>
        </p:nvSpPr>
        <p:spPr>
          <a:xfrm>
            <a:off x="107504" y="1176472"/>
            <a:ext cx="9036496" cy="5681528"/>
          </a:xfrm>
        </p:spPr>
        <p:txBody>
          <a:bodyPr>
            <a:normAutofit fontScale="92500" lnSpcReduction="20000"/>
          </a:bodyPr>
          <a:lstStyle/>
          <a:p>
            <a:pPr marL="0" indent="0">
              <a:buNone/>
            </a:pPr>
            <a:endParaRPr lang="fr-FR" sz="2800" dirty="0"/>
          </a:p>
          <a:p>
            <a:pPr>
              <a:buFont typeface="Wingdings" panose="05000000000000000000" pitchFamily="2" charset="2"/>
              <a:buChar char="Ø"/>
            </a:pPr>
            <a:r>
              <a:rPr lang="fr-FR" sz="2800" dirty="0"/>
              <a:t>En géographie humaine, les lois sont plutôt considérées comme des </a:t>
            </a:r>
            <a:r>
              <a:rPr lang="fr-FR" sz="2800" b="1" dirty="0"/>
              <a:t>références nécessaires aux explications</a:t>
            </a:r>
            <a:r>
              <a:rPr lang="fr-FR" sz="2800" dirty="0"/>
              <a:t>, que l’objet étudié s’y conforme ou qu’il s’en écarte.</a:t>
            </a:r>
          </a:p>
          <a:p>
            <a:pPr marL="0" indent="0">
              <a:buNone/>
            </a:pPr>
            <a:r>
              <a:rPr lang="fr-FR" sz="2800" dirty="0"/>
              <a:t> </a:t>
            </a:r>
          </a:p>
          <a:p>
            <a:pPr>
              <a:buFont typeface="Wingdings" panose="05000000000000000000" pitchFamily="2" charset="2"/>
              <a:buChar char="Ø"/>
            </a:pPr>
            <a:r>
              <a:rPr lang="fr-FR" sz="2800" dirty="0"/>
              <a:t>le terme de loi peut être </a:t>
            </a:r>
            <a:r>
              <a:rPr lang="fr-FR" sz="2800" b="1" dirty="0"/>
              <a:t>remplacé </a:t>
            </a:r>
            <a:r>
              <a:rPr lang="fr-FR" sz="2800" dirty="0"/>
              <a:t>par le terme de </a:t>
            </a:r>
            <a:r>
              <a:rPr lang="fr-FR" sz="2800" b="1" dirty="0"/>
              <a:t>règle</a:t>
            </a:r>
            <a:r>
              <a:rPr lang="fr-FR" sz="2800" dirty="0"/>
              <a:t>, </a:t>
            </a:r>
          </a:p>
          <a:p>
            <a:pPr marL="0" indent="0">
              <a:buNone/>
            </a:pPr>
            <a:r>
              <a:rPr lang="fr-FR" sz="2800" dirty="0"/>
              <a:t> </a:t>
            </a:r>
          </a:p>
          <a:p>
            <a:pPr marL="0" indent="0">
              <a:buNone/>
            </a:pPr>
            <a:r>
              <a:rPr lang="fr-SN" sz="2800" b="1" dirty="0">
                <a:solidFill>
                  <a:srgbClr val="FF0000"/>
                </a:solidFill>
              </a:rPr>
              <a:t>Exemples de lois qui structurent l’espace</a:t>
            </a:r>
            <a:r>
              <a:rPr lang="fr-SN" sz="2800" dirty="0"/>
              <a:t>:</a:t>
            </a:r>
          </a:p>
          <a:p>
            <a:pPr marL="0" indent="0">
              <a:buNone/>
            </a:pPr>
            <a:endParaRPr lang="fr-FR" sz="2800" dirty="0"/>
          </a:p>
          <a:p>
            <a:pPr>
              <a:buFont typeface="Wingdings" panose="05000000000000000000" pitchFamily="2" charset="2"/>
              <a:buChar char="Ø"/>
            </a:pPr>
            <a:r>
              <a:rPr lang="fr-SN" sz="2800" dirty="0"/>
              <a:t>Lois Centre/Périphérie</a:t>
            </a:r>
          </a:p>
          <a:p>
            <a:pPr>
              <a:buFont typeface="Wingdings" panose="05000000000000000000" pitchFamily="2" charset="2"/>
              <a:buChar char="Ø"/>
            </a:pPr>
            <a:r>
              <a:rPr lang="fr-FR" sz="2800" dirty="0"/>
              <a:t>Lois de la polarisation, </a:t>
            </a:r>
          </a:p>
          <a:p>
            <a:pPr>
              <a:buFont typeface="Wingdings" panose="05000000000000000000" pitchFamily="2" charset="2"/>
              <a:buChar char="Ø"/>
            </a:pPr>
            <a:r>
              <a:rPr lang="fr-FR" sz="2800" dirty="0"/>
              <a:t>Lois des hiérarchies, </a:t>
            </a:r>
          </a:p>
          <a:p>
            <a:pPr>
              <a:buFont typeface="Wingdings" panose="05000000000000000000" pitchFamily="2" charset="2"/>
              <a:buChar char="Ø"/>
            </a:pPr>
            <a:r>
              <a:rPr lang="fr-FR" sz="2800" dirty="0"/>
              <a:t>Lois des interactions, </a:t>
            </a:r>
          </a:p>
          <a:p>
            <a:pPr>
              <a:buFont typeface="Wingdings" panose="05000000000000000000" pitchFamily="2" charset="2"/>
              <a:buChar char="Ø"/>
            </a:pPr>
            <a:r>
              <a:rPr lang="fr-FR" sz="2800" dirty="0"/>
              <a:t>Lois des réseaux et des flux</a:t>
            </a:r>
          </a:p>
          <a:p>
            <a:pPr>
              <a:buFont typeface="Wingdings" panose="05000000000000000000" pitchFamily="2" charset="2"/>
              <a:buChar char="Ø"/>
            </a:pPr>
            <a:endParaRPr lang="fr-FR" sz="2800"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14637852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1) Les lois</a:t>
            </a:r>
            <a:endParaRPr lang="fr-FR" sz="3600" dirty="0">
              <a:solidFill>
                <a:srgbClr val="FF0000"/>
              </a:solidFill>
            </a:endParaRPr>
          </a:p>
        </p:txBody>
      </p:sp>
      <p:sp>
        <p:nvSpPr>
          <p:cNvPr id="3" name="Espace réservé du contenu 2"/>
          <p:cNvSpPr>
            <a:spLocks noGrp="1"/>
          </p:cNvSpPr>
          <p:nvPr>
            <p:ph idx="1"/>
          </p:nvPr>
        </p:nvSpPr>
        <p:spPr>
          <a:xfrm>
            <a:off x="107504" y="1412776"/>
            <a:ext cx="9001000" cy="5328592"/>
          </a:xfrm>
        </p:spPr>
        <p:txBody>
          <a:bodyPr>
            <a:normAutofit fontScale="92500" lnSpcReduction="20000"/>
          </a:bodyPr>
          <a:lstStyle/>
          <a:p>
            <a:pPr marL="0" indent="0">
              <a:buNone/>
            </a:pPr>
            <a:r>
              <a:rPr lang="fr-SN" b="1" dirty="0">
                <a:solidFill>
                  <a:srgbClr val="00B0F0"/>
                </a:solidFill>
              </a:rPr>
              <a:t>Loi centre/Périphérie</a:t>
            </a:r>
          </a:p>
          <a:p>
            <a:pPr>
              <a:buFont typeface="Wingdings" panose="05000000000000000000" pitchFamily="2" charset="2"/>
              <a:buChar char="Ø"/>
            </a:pPr>
            <a:r>
              <a:rPr lang="fr-FR" sz="3000" dirty="0"/>
              <a:t>La métaphore géométrique du centre et de la périphérie est souvent utilisée pour décrire </a:t>
            </a:r>
            <a:r>
              <a:rPr lang="fr-FR" sz="3000" b="1" dirty="0"/>
              <a:t>l’opposition</a:t>
            </a:r>
            <a:r>
              <a:rPr lang="fr-FR" sz="3000" dirty="0"/>
              <a:t> entre les deux types fondamentaux de </a:t>
            </a:r>
            <a:r>
              <a:rPr lang="fr-FR" sz="3000" b="1" dirty="0"/>
              <a:t>lieux</a:t>
            </a:r>
            <a:r>
              <a:rPr lang="fr-FR" sz="3000" dirty="0"/>
              <a:t> dans un </a:t>
            </a:r>
            <a:r>
              <a:rPr lang="fr-FR" sz="3000" b="1" dirty="0" err="1"/>
              <a:t>systéme</a:t>
            </a:r>
            <a:r>
              <a:rPr lang="fr-FR" sz="3000" b="1" dirty="0"/>
              <a:t> spatial</a:t>
            </a:r>
            <a:r>
              <a:rPr lang="fr-FR" sz="3000" dirty="0"/>
              <a:t>: celui qui le commande et en bénéficie, le centre, et ceux qui le subissent, en position périphérique. </a:t>
            </a:r>
          </a:p>
          <a:p>
            <a:pPr>
              <a:buFont typeface="Wingdings" panose="05000000000000000000" pitchFamily="2" charset="2"/>
              <a:buChar char="Ø"/>
            </a:pPr>
            <a:endParaRPr lang="fr-FR" sz="3000" dirty="0"/>
          </a:p>
          <a:p>
            <a:pPr>
              <a:buFont typeface="Wingdings" panose="05000000000000000000" pitchFamily="2" charset="2"/>
              <a:buChar char="Ø"/>
            </a:pPr>
            <a:r>
              <a:rPr lang="fr-SN" sz="3000" dirty="0"/>
              <a:t>Cette loi signifie: </a:t>
            </a:r>
            <a:r>
              <a:rPr lang="fr-SN" sz="3000" b="1" dirty="0">
                <a:solidFill>
                  <a:srgbClr val="00B0F0"/>
                </a:solidFill>
              </a:rPr>
              <a:t>organisation hiérarchique </a:t>
            </a:r>
            <a:r>
              <a:rPr lang="fr-SN" sz="3000" dirty="0"/>
              <a:t>du territoire selon une </a:t>
            </a:r>
            <a:r>
              <a:rPr lang="fr-SN" sz="3000" b="1" dirty="0">
                <a:solidFill>
                  <a:srgbClr val="00B0F0"/>
                </a:solidFill>
              </a:rPr>
              <a:t>dualité</a:t>
            </a:r>
            <a:r>
              <a:rPr lang="fr-SN" sz="3000" dirty="0"/>
              <a:t> entre un </a:t>
            </a:r>
            <a:r>
              <a:rPr lang="fr-SN" sz="3000" b="1" dirty="0"/>
              <a:t>centre dominant </a:t>
            </a:r>
            <a:r>
              <a:rPr lang="fr-SN" sz="3000" dirty="0"/>
              <a:t>et des </a:t>
            </a:r>
            <a:r>
              <a:rPr lang="fr-SN" sz="3000" b="1" dirty="0"/>
              <a:t>périphéries dominées </a:t>
            </a:r>
          </a:p>
          <a:p>
            <a:pPr>
              <a:buFont typeface="Wingdings" panose="05000000000000000000" pitchFamily="2" charset="2"/>
              <a:buChar char="Ø"/>
            </a:pPr>
            <a:endParaRPr lang="fr-SN" sz="3000" b="1" dirty="0"/>
          </a:p>
          <a:p>
            <a:pPr>
              <a:buFont typeface="Wingdings" panose="05000000000000000000" pitchFamily="2" charset="2"/>
              <a:buChar char="Ø"/>
            </a:pPr>
            <a:r>
              <a:rPr lang="fr-SN" sz="3000" b="1" dirty="0"/>
              <a:t>Exprime </a:t>
            </a:r>
            <a:r>
              <a:rPr lang="fr-SN" sz="3000" dirty="0"/>
              <a:t>un rapport d’inégalité, de domination et de dépendance</a:t>
            </a:r>
            <a:endParaRPr lang="fr-FR" sz="3000" b="1"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36288281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1) Les lois</a:t>
            </a:r>
            <a:endParaRPr lang="fr-FR" sz="3600" dirty="0">
              <a:solidFill>
                <a:srgbClr val="FF0000"/>
              </a:solidFill>
            </a:endParaRPr>
          </a:p>
        </p:txBody>
      </p:sp>
      <p:sp>
        <p:nvSpPr>
          <p:cNvPr id="3" name="Espace réservé du contenu 2"/>
          <p:cNvSpPr>
            <a:spLocks noGrp="1"/>
          </p:cNvSpPr>
          <p:nvPr>
            <p:ph idx="1"/>
          </p:nvPr>
        </p:nvSpPr>
        <p:spPr>
          <a:xfrm>
            <a:off x="107504" y="1412776"/>
            <a:ext cx="9001000" cy="5328592"/>
          </a:xfrm>
        </p:spPr>
        <p:txBody>
          <a:bodyPr>
            <a:normAutofit lnSpcReduction="10000"/>
          </a:bodyPr>
          <a:lstStyle/>
          <a:p>
            <a:pPr marL="0" indent="0">
              <a:buNone/>
            </a:pPr>
            <a:r>
              <a:rPr lang="fr-SN" b="1" dirty="0">
                <a:solidFill>
                  <a:srgbClr val="00B0F0"/>
                </a:solidFill>
              </a:rPr>
              <a:t>Loi centre/Périphérie</a:t>
            </a:r>
          </a:p>
          <a:p>
            <a:pPr>
              <a:buFont typeface="Wingdings" panose="05000000000000000000" pitchFamily="2" charset="2"/>
              <a:buChar char="Ø"/>
            </a:pPr>
            <a:r>
              <a:rPr lang="fr-FR" sz="2800" dirty="0"/>
              <a:t>Ce concept peut être employé à tous les niveaux de l’</a:t>
            </a:r>
            <a:r>
              <a:rPr lang="fr-FR" sz="2800" b="1" dirty="0"/>
              <a:t>échelle</a:t>
            </a:r>
            <a:r>
              <a:rPr lang="fr-FR" sz="2800" dirty="0"/>
              <a:t> géographique :</a:t>
            </a:r>
          </a:p>
          <a:p>
            <a:pPr>
              <a:buFontTx/>
              <a:buChar char="-"/>
            </a:pPr>
            <a:r>
              <a:rPr lang="fr-FR" sz="2800" dirty="0"/>
              <a:t>centre et périphérie d’un </a:t>
            </a:r>
            <a:r>
              <a:rPr lang="fr-FR" sz="2800" b="1" dirty="0"/>
              <a:t>village</a:t>
            </a:r>
            <a:r>
              <a:rPr lang="fr-FR" sz="2800" dirty="0"/>
              <a:t>, </a:t>
            </a:r>
          </a:p>
          <a:p>
            <a:pPr>
              <a:buFontTx/>
              <a:buChar char="-"/>
            </a:pPr>
            <a:r>
              <a:rPr lang="fr-FR" sz="2800" dirty="0"/>
              <a:t>d’une </a:t>
            </a:r>
            <a:r>
              <a:rPr lang="fr-FR" sz="2800" b="1" dirty="0"/>
              <a:t>ville</a:t>
            </a:r>
            <a:r>
              <a:rPr lang="fr-FR" sz="2800" dirty="0"/>
              <a:t>,</a:t>
            </a:r>
          </a:p>
          <a:p>
            <a:pPr>
              <a:buFontTx/>
              <a:buChar char="-"/>
            </a:pPr>
            <a:r>
              <a:rPr lang="fr-FR" sz="2800" dirty="0"/>
              <a:t> d’une </a:t>
            </a:r>
            <a:r>
              <a:rPr lang="fr-FR" sz="2800" b="1" dirty="0"/>
              <a:t>«région»</a:t>
            </a:r>
            <a:r>
              <a:rPr lang="fr-FR" sz="2800" dirty="0"/>
              <a:t>, etc.).</a:t>
            </a:r>
          </a:p>
          <a:p>
            <a:pPr>
              <a:buFontTx/>
              <a:buChar char="-"/>
            </a:pPr>
            <a:r>
              <a:rPr lang="fr-FR" sz="2800" dirty="0"/>
              <a:t> </a:t>
            </a:r>
          </a:p>
          <a:p>
            <a:pPr>
              <a:buFont typeface="Wingdings" panose="05000000000000000000" pitchFamily="2" charset="2"/>
              <a:buChar char="Ø"/>
            </a:pPr>
            <a:r>
              <a:rPr lang="fr-FR" sz="2800" dirty="0"/>
              <a:t>Mais particulièrement au niveau mondial :</a:t>
            </a:r>
          </a:p>
          <a:p>
            <a:pPr>
              <a:buFontTx/>
              <a:buChar char="-"/>
            </a:pPr>
            <a:r>
              <a:rPr lang="fr-FR" sz="2800" dirty="0"/>
              <a:t>comme équivalent des couples </a:t>
            </a:r>
            <a:r>
              <a:rPr lang="fr-FR" sz="2800" b="1" dirty="0"/>
              <a:t>monde développé / monde sous-développé</a:t>
            </a:r>
          </a:p>
          <a:p>
            <a:pPr>
              <a:buFontTx/>
              <a:buChar char="-"/>
            </a:pPr>
            <a:r>
              <a:rPr lang="fr-FR" sz="2800" dirty="0"/>
              <a:t> ou </a:t>
            </a:r>
            <a:r>
              <a:rPr lang="fr-FR" sz="2800" b="1" dirty="0"/>
              <a:t>Nord / Sud</a:t>
            </a:r>
            <a:r>
              <a:rPr lang="fr-FR" sz="2800" dirty="0"/>
              <a:t>. </a:t>
            </a:r>
            <a:endParaRPr lang="fr-FR" sz="3000" b="1"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7138230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1) Les lois</a:t>
            </a:r>
            <a:endParaRPr lang="fr-FR" sz="3600" dirty="0">
              <a:solidFill>
                <a:srgbClr val="FF0000"/>
              </a:solidFill>
            </a:endParaRPr>
          </a:p>
        </p:txBody>
      </p:sp>
      <p:sp>
        <p:nvSpPr>
          <p:cNvPr id="3" name="Espace réservé du contenu 2"/>
          <p:cNvSpPr>
            <a:spLocks noGrp="1"/>
          </p:cNvSpPr>
          <p:nvPr>
            <p:ph idx="1"/>
          </p:nvPr>
        </p:nvSpPr>
        <p:spPr>
          <a:xfrm>
            <a:off x="457200" y="1600200"/>
            <a:ext cx="8579296" cy="4997152"/>
          </a:xfrm>
        </p:spPr>
        <p:txBody>
          <a:bodyPr/>
          <a:lstStyle/>
          <a:p>
            <a:pPr marL="0" indent="0">
              <a:buNone/>
            </a:pPr>
            <a:r>
              <a:rPr lang="fr-SN" b="1" dirty="0">
                <a:solidFill>
                  <a:srgbClr val="00B0F0"/>
                </a:solidFill>
              </a:rPr>
              <a:t>Loi des hiérarchies</a:t>
            </a:r>
          </a:p>
          <a:p>
            <a:pPr marL="0" lvl="0" indent="0">
              <a:buNone/>
            </a:pPr>
            <a:r>
              <a:rPr lang="fr-FR" dirty="0"/>
              <a:t>L’espace est aussi </a:t>
            </a:r>
            <a:r>
              <a:rPr lang="fr-FR" b="1" dirty="0"/>
              <a:t>séparation</a:t>
            </a:r>
            <a:r>
              <a:rPr lang="fr-FR" dirty="0"/>
              <a:t>, la place est spécifique cela traduit une </a:t>
            </a:r>
            <a:r>
              <a:rPr lang="fr-FR" b="1" dirty="0"/>
              <a:t>position par rapport aux lieux</a:t>
            </a:r>
            <a:r>
              <a:rPr lang="fr-FR" dirty="0"/>
              <a:t> et aussi un </a:t>
            </a:r>
            <a:r>
              <a:rPr lang="fr-FR" b="1" dirty="0"/>
              <a:t>positionnement </a:t>
            </a:r>
            <a:r>
              <a:rPr lang="fr-FR" dirty="0"/>
              <a:t>qui exprime la singularité de l’espace, sa dénomination, sa particularité. Les espaces sont aussi des hiérarchies.</a:t>
            </a:r>
          </a:p>
          <a:p>
            <a:pPr marL="0" indent="0">
              <a:buNone/>
            </a:pPr>
            <a:r>
              <a:rPr lang="fr-SN" dirty="0"/>
              <a:t> </a:t>
            </a: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31603561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1) Les lois</a:t>
            </a:r>
            <a:endParaRPr lang="fr-FR" sz="3600" dirty="0">
              <a:solidFill>
                <a:srgbClr val="FF0000"/>
              </a:solidFill>
            </a:endParaRPr>
          </a:p>
        </p:txBody>
      </p:sp>
      <p:sp>
        <p:nvSpPr>
          <p:cNvPr id="3" name="Espace réservé du contenu 2"/>
          <p:cNvSpPr>
            <a:spLocks noGrp="1"/>
          </p:cNvSpPr>
          <p:nvPr>
            <p:ph idx="1"/>
          </p:nvPr>
        </p:nvSpPr>
        <p:spPr>
          <a:xfrm>
            <a:off x="457200" y="1600200"/>
            <a:ext cx="8579296" cy="4997152"/>
          </a:xfrm>
        </p:spPr>
        <p:txBody>
          <a:bodyPr/>
          <a:lstStyle/>
          <a:p>
            <a:pPr marL="0" indent="0">
              <a:buNone/>
            </a:pPr>
            <a:r>
              <a:rPr lang="fr-SN" b="1" dirty="0">
                <a:solidFill>
                  <a:srgbClr val="FF0000"/>
                </a:solidFill>
              </a:rPr>
              <a:t>TPE pour le prochain cours:</a:t>
            </a:r>
          </a:p>
          <a:p>
            <a:pPr marL="0" indent="0">
              <a:buNone/>
            </a:pPr>
            <a:r>
              <a:rPr lang="fr-SN" b="1" dirty="0">
                <a:solidFill>
                  <a:srgbClr val="00B0F0"/>
                </a:solidFill>
              </a:rPr>
              <a:t>Loi de la polarisation</a:t>
            </a:r>
          </a:p>
          <a:p>
            <a:pPr marL="0" indent="0">
              <a:buNone/>
            </a:pPr>
            <a:r>
              <a:rPr lang="fr-SN" b="1" dirty="0">
                <a:solidFill>
                  <a:srgbClr val="00B0F0"/>
                </a:solidFill>
              </a:rPr>
              <a:t>Loi des interactions</a:t>
            </a:r>
          </a:p>
          <a:p>
            <a:pPr marL="0" indent="0">
              <a:buNone/>
            </a:pPr>
            <a:r>
              <a:rPr lang="fr-SN" b="1" dirty="0">
                <a:solidFill>
                  <a:srgbClr val="00B0F0"/>
                </a:solidFill>
              </a:rPr>
              <a:t>Loi des réseaux et des flux</a:t>
            </a: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8324157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2) Echelles</a:t>
            </a:r>
            <a:endParaRPr lang="fr-FR" sz="3600" dirty="0">
              <a:solidFill>
                <a:srgbClr val="FF0000"/>
              </a:solidFill>
            </a:endParaRPr>
          </a:p>
        </p:txBody>
      </p:sp>
      <p:sp>
        <p:nvSpPr>
          <p:cNvPr id="3" name="Espace réservé du contenu 2"/>
          <p:cNvSpPr>
            <a:spLocks noGrp="1"/>
          </p:cNvSpPr>
          <p:nvPr>
            <p:ph idx="1"/>
          </p:nvPr>
        </p:nvSpPr>
        <p:spPr>
          <a:xfrm>
            <a:off x="457200" y="1600200"/>
            <a:ext cx="8579296" cy="4997152"/>
          </a:xfrm>
        </p:spPr>
        <p:txBody>
          <a:bodyPr>
            <a:normAutofit fontScale="85000" lnSpcReduction="10000"/>
          </a:bodyPr>
          <a:lstStyle/>
          <a:p>
            <a:pPr lvl="0">
              <a:buFont typeface="Wingdings" panose="05000000000000000000" pitchFamily="2" charset="2"/>
              <a:buChar char="Ø"/>
            </a:pPr>
            <a:r>
              <a:rPr lang="fr-FR" dirty="0"/>
              <a:t>L’espace pose la question de l’</a:t>
            </a:r>
            <a:r>
              <a:rPr lang="fr-FR" b="1" dirty="0"/>
              <a:t>échelle </a:t>
            </a:r>
          </a:p>
          <a:p>
            <a:pPr marL="0" lvl="0" indent="0">
              <a:buNone/>
            </a:pPr>
            <a:endParaRPr lang="fr-FR" dirty="0"/>
          </a:p>
          <a:p>
            <a:pPr lvl="0">
              <a:buFont typeface="Wingdings" panose="05000000000000000000" pitchFamily="2" charset="2"/>
              <a:buChar char="Ø"/>
            </a:pPr>
            <a:r>
              <a:rPr lang="fr-FR" dirty="0" err="1"/>
              <a:t>Hérin</a:t>
            </a:r>
            <a:r>
              <a:rPr lang="fr-FR" dirty="0"/>
              <a:t> (1984) décrit nos rapports à l’espace selon </a:t>
            </a:r>
            <a:r>
              <a:rPr lang="fr-FR" b="1" dirty="0">
                <a:solidFill>
                  <a:srgbClr val="FF0000"/>
                </a:solidFill>
              </a:rPr>
              <a:t>cinq</a:t>
            </a:r>
            <a:r>
              <a:rPr lang="fr-FR" b="1" dirty="0"/>
              <a:t> niveaux (échelles)</a:t>
            </a:r>
            <a:r>
              <a:rPr lang="fr-FR" dirty="0"/>
              <a:t>  : </a:t>
            </a:r>
          </a:p>
          <a:p>
            <a:pPr marL="0" lvl="0" indent="0">
              <a:buNone/>
            </a:pPr>
            <a:endParaRPr lang="fr-FR" dirty="0"/>
          </a:p>
          <a:p>
            <a:pPr lvl="0"/>
            <a:r>
              <a:rPr lang="fr-FR" b="1" dirty="0"/>
              <a:t>Locale </a:t>
            </a:r>
            <a:r>
              <a:rPr lang="fr-FR" dirty="0"/>
              <a:t>: quotidien; proximité; travail; résidence</a:t>
            </a:r>
          </a:p>
          <a:p>
            <a:pPr lvl="0"/>
            <a:r>
              <a:rPr lang="fr-FR" b="1" dirty="0" err="1"/>
              <a:t>Sous-régionale</a:t>
            </a:r>
            <a:r>
              <a:rPr lang="fr-FR" dirty="0"/>
              <a:t> : pratiques familiales; influence économique régulière</a:t>
            </a:r>
          </a:p>
          <a:p>
            <a:pPr lvl="0"/>
            <a:r>
              <a:rPr lang="fr-FR" b="1" dirty="0"/>
              <a:t>Régionale</a:t>
            </a:r>
            <a:r>
              <a:rPr lang="fr-FR" dirty="0"/>
              <a:t>: histoire et rayonnement économique</a:t>
            </a:r>
          </a:p>
          <a:p>
            <a:pPr lvl="0"/>
            <a:r>
              <a:rPr lang="fr-FR" b="1" dirty="0"/>
              <a:t>Nationale</a:t>
            </a:r>
            <a:r>
              <a:rPr lang="fr-FR" dirty="0"/>
              <a:t> : décisions politiques</a:t>
            </a:r>
          </a:p>
          <a:p>
            <a:pPr lvl="0"/>
            <a:r>
              <a:rPr lang="fr-FR" b="1" dirty="0"/>
              <a:t>Internationale</a:t>
            </a:r>
            <a:r>
              <a:rPr lang="fr-FR" dirty="0"/>
              <a:t> : orientations, régulations, flux, modèles</a:t>
            </a:r>
          </a:p>
          <a:p>
            <a:pPr marL="0" indent="0">
              <a:buNone/>
            </a:pP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10792841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3) Distance</a:t>
            </a:r>
            <a:endParaRPr lang="fr-FR" sz="3600" dirty="0">
              <a:solidFill>
                <a:srgbClr val="FF0000"/>
              </a:solidFill>
            </a:endParaRPr>
          </a:p>
        </p:txBody>
      </p:sp>
      <p:sp>
        <p:nvSpPr>
          <p:cNvPr id="3" name="Espace réservé du contenu 2"/>
          <p:cNvSpPr>
            <a:spLocks noGrp="1"/>
          </p:cNvSpPr>
          <p:nvPr>
            <p:ph sz="half" idx="1"/>
          </p:nvPr>
        </p:nvSpPr>
        <p:spPr>
          <a:xfrm>
            <a:off x="0" y="1600200"/>
            <a:ext cx="5580112" cy="5257800"/>
          </a:xfrm>
        </p:spPr>
        <p:txBody>
          <a:bodyPr>
            <a:normAutofit fontScale="77500" lnSpcReduction="20000"/>
          </a:bodyPr>
          <a:lstStyle/>
          <a:p>
            <a:pPr>
              <a:buFont typeface="Wingdings" panose="05000000000000000000" pitchFamily="2" charset="2"/>
              <a:buChar char="Ø"/>
            </a:pPr>
            <a:r>
              <a:rPr lang="fr-FR" sz="3000" b="1" dirty="0">
                <a:solidFill>
                  <a:srgbClr val="FF0000"/>
                </a:solidFill>
              </a:rPr>
              <a:t>Intervalle</a:t>
            </a:r>
            <a:r>
              <a:rPr lang="fr-FR" sz="3000" dirty="0">
                <a:solidFill>
                  <a:srgbClr val="FF0000"/>
                </a:solidFill>
              </a:rPr>
              <a:t> </a:t>
            </a:r>
            <a:r>
              <a:rPr lang="fr-FR" sz="3000" dirty="0"/>
              <a:t>à franchir pour se rendre d’un </a:t>
            </a:r>
            <a:r>
              <a:rPr lang="fr-FR" sz="3000" b="1" dirty="0"/>
              <a:t>«lieu»</a:t>
            </a:r>
            <a:r>
              <a:rPr lang="fr-FR" sz="3000" dirty="0"/>
              <a:t> à un autre, la distance a la signification d’une </a:t>
            </a:r>
            <a:r>
              <a:rPr lang="fr-FR" sz="3000" b="1" dirty="0"/>
              <a:t>séparation.</a:t>
            </a:r>
          </a:p>
          <a:p>
            <a:pPr>
              <a:buFont typeface="Wingdings" panose="05000000000000000000" pitchFamily="2" charset="2"/>
              <a:buChar char="Ø"/>
            </a:pPr>
            <a:r>
              <a:rPr lang="fr-FR" sz="3000" dirty="0"/>
              <a:t>son parcours nécessite un effort, une dépense d’énergie. </a:t>
            </a:r>
          </a:p>
          <a:p>
            <a:pPr>
              <a:buFont typeface="Wingdings" panose="05000000000000000000" pitchFamily="2" charset="2"/>
              <a:buChar char="Ø"/>
            </a:pPr>
            <a:endParaRPr lang="fr-FR" sz="3000" dirty="0"/>
          </a:p>
          <a:p>
            <a:pPr>
              <a:buFont typeface="Wingdings" panose="05000000000000000000" pitchFamily="2" charset="2"/>
              <a:buChar char="Ø"/>
            </a:pPr>
            <a:r>
              <a:rPr lang="fr-FR" sz="3000" dirty="0"/>
              <a:t>La distance est mesurée par rapport à un </a:t>
            </a:r>
            <a:r>
              <a:rPr lang="fr-FR" sz="3000" b="1" dirty="0">
                <a:solidFill>
                  <a:srgbClr val="FF0000"/>
                </a:solidFill>
              </a:rPr>
              <a:t>repère </a:t>
            </a:r>
            <a:r>
              <a:rPr lang="fr-FR" sz="3000" dirty="0"/>
              <a:t>(distance à un centre, distance à une voie de circulation) ou caractérise des couples de lieux (espacement). </a:t>
            </a:r>
          </a:p>
          <a:p>
            <a:pPr>
              <a:buFont typeface="Wingdings" panose="05000000000000000000" pitchFamily="2" charset="2"/>
              <a:buChar char="Ø"/>
            </a:pPr>
            <a:endParaRPr lang="fr-FR" sz="3000" dirty="0"/>
          </a:p>
          <a:p>
            <a:pPr>
              <a:buFont typeface="Wingdings" panose="05000000000000000000" pitchFamily="2" charset="2"/>
              <a:buChar char="Ø"/>
            </a:pPr>
            <a:r>
              <a:rPr lang="fr-FR" sz="3000" dirty="0"/>
              <a:t>C’est une des propriétés fondamentales de l’espace géographique : la distance permet de définir les </a:t>
            </a:r>
            <a:r>
              <a:rPr lang="fr-FR" sz="3000" b="1" dirty="0">
                <a:solidFill>
                  <a:srgbClr val="FF0000"/>
                </a:solidFill>
              </a:rPr>
              <a:t>situations </a:t>
            </a:r>
            <a:r>
              <a:rPr lang="fr-FR" sz="3000" dirty="0"/>
              <a:t>des objets les uns par rapport aux autres (position relative</a:t>
            </a:r>
            <a:r>
              <a:rPr lang="fr-FR" sz="2800" dirty="0"/>
              <a:t>).</a:t>
            </a:r>
          </a:p>
          <a:p>
            <a:pPr>
              <a:buFont typeface="Wingdings" panose="05000000000000000000" pitchFamily="2" charset="2"/>
              <a:buChar char="Ø"/>
            </a:pPr>
            <a:endParaRPr lang="fr-FR" dirty="0"/>
          </a:p>
        </p:txBody>
      </p:sp>
      <p:pic>
        <p:nvPicPr>
          <p:cNvPr id="6" name="Espace réservé du contenu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24128" y="1690193"/>
            <a:ext cx="3240360" cy="4624667"/>
          </a:xfrm>
        </p:spPr>
      </p:pic>
      <p:pic>
        <p:nvPicPr>
          <p:cNvPr id="4" name="officeArt object" descr="logo_UAM.jpg"/>
          <p:cNvPicPr/>
          <p:nvPr/>
        </p:nvPicPr>
        <p:blipFill>
          <a:blip r:embed="rId3"/>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8097127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33472"/>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3) Distance</a:t>
            </a:r>
            <a:endParaRPr lang="fr-FR" sz="3600" dirty="0">
              <a:solidFill>
                <a:srgbClr val="FF0000"/>
              </a:solidFill>
            </a:endParaRPr>
          </a:p>
        </p:txBody>
      </p:sp>
      <p:sp>
        <p:nvSpPr>
          <p:cNvPr id="3" name="Espace réservé du contenu 2"/>
          <p:cNvSpPr>
            <a:spLocks noGrp="1"/>
          </p:cNvSpPr>
          <p:nvPr>
            <p:ph idx="1"/>
          </p:nvPr>
        </p:nvSpPr>
        <p:spPr>
          <a:xfrm>
            <a:off x="107504" y="1209944"/>
            <a:ext cx="9036496" cy="5459416"/>
          </a:xfrm>
        </p:spPr>
        <p:txBody>
          <a:bodyPr>
            <a:normAutofit fontScale="85000" lnSpcReduction="20000"/>
          </a:bodyPr>
          <a:lstStyle/>
          <a:p>
            <a:pPr>
              <a:buFont typeface="Wingdings" panose="05000000000000000000" pitchFamily="2" charset="2"/>
              <a:buChar char="Ø"/>
            </a:pPr>
            <a:r>
              <a:rPr lang="fr-FR" sz="3000" dirty="0"/>
              <a:t>Le plus souvent, la distance est évaluée en </a:t>
            </a:r>
            <a:r>
              <a:rPr lang="fr-FR" sz="3000" b="1" dirty="0"/>
              <a:t>unités de longueur</a:t>
            </a:r>
            <a:r>
              <a:rPr lang="fr-FR" sz="3000" dirty="0"/>
              <a:t>. </a:t>
            </a:r>
          </a:p>
          <a:p>
            <a:pPr marL="0" indent="0">
              <a:buNone/>
            </a:pPr>
            <a:endParaRPr lang="fr-FR" sz="3000" dirty="0"/>
          </a:p>
          <a:p>
            <a:pPr>
              <a:buFont typeface="Wingdings" panose="05000000000000000000" pitchFamily="2" charset="2"/>
              <a:buChar char="Ø"/>
            </a:pPr>
            <a:r>
              <a:rPr lang="fr-FR" sz="3000" dirty="0"/>
              <a:t>Mais les décisions des acteurs sont parfois plus affectées par des </a:t>
            </a:r>
            <a:r>
              <a:rPr lang="fr-FR" sz="3000" b="1" dirty="0"/>
              <a:t>considérations économiques </a:t>
            </a:r>
            <a:r>
              <a:rPr lang="fr-FR" sz="3000" dirty="0"/>
              <a:t>: </a:t>
            </a:r>
          </a:p>
          <a:p>
            <a:pPr marL="0" indent="0">
              <a:buNone/>
            </a:pPr>
            <a:endParaRPr lang="fr-FR" sz="3000" dirty="0"/>
          </a:p>
          <a:p>
            <a:pPr lvl="1"/>
            <a:r>
              <a:rPr lang="fr-FR" b="1" dirty="0"/>
              <a:t>la distance-coût </a:t>
            </a:r>
            <a:r>
              <a:rPr lang="fr-FR" dirty="0"/>
              <a:t>est mesurée par le prix du transport, </a:t>
            </a:r>
          </a:p>
          <a:p>
            <a:pPr lvl="1"/>
            <a:r>
              <a:rPr lang="fr-FR" b="1" dirty="0"/>
              <a:t>la distance-temps </a:t>
            </a:r>
            <a:r>
              <a:rPr lang="fr-FR" dirty="0"/>
              <a:t>est évaluée selon la durée nécessaire à </a:t>
            </a:r>
            <a:r>
              <a:rPr lang="fr-FR"/>
              <a:t>un parcours. </a:t>
            </a:r>
            <a:endParaRPr lang="fr-FR" dirty="0"/>
          </a:p>
          <a:p>
            <a:pPr marL="457200" lvl="1" indent="0">
              <a:buNone/>
            </a:pPr>
            <a:endParaRPr lang="fr-FR" sz="2600" dirty="0"/>
          </a:p>
          <a:p>
            <a:pPr>
              <a:buFont typeface="Wingdings" panose="05000000000000000000" pitchFamily="2" charset="2"/>
              <a:buChar char="Ø"/>
            </a:pPr>
            <a:r>
              <a:rPr lang="fr-FR" sz="3000" dirty="0"/>
              <a:t>Dans l’espace géographique, les distance-coût et distance-temps ne sont pas égales en général à la </a:t>
            </a:r>
            <a:r>
              <a:rPr lang="fr-FR" sz="3000" b="1" dirty="0"/>
              <a:t>distance physique</a:t>
            </a:r>
            <a:r>
              <a:rPr lang="fr-FR" sz="3000" dirty="0"/>
              <a:t> (kilométrique).</a:t>
            </a:r>
          </a:p>
          <a:p>
            <a:pPr>
              <a:buFont typeface="Wingdings" panose="05000000000000000000" pitchFamily="2" charset="2"/>
              <a:buChar char="Ø"/>
            </a:pPr>
            <a:endParaRPr lang="fr-FR" sz="3000" dirty="0"/>
          </a:p>
          <a:p>
            <a:pPr>
              <a:buFont typeface="Wingdings" panose="05000000000000000000" pitchFamily="2" charset="2"/>
              <a:buChar char="Ø"/>
            </a:pPr>
            <a:r>
              <a:rPr lang="fr-FR" sz="2800" b="1" dirty="0"/>
              <a:t>Aussi notions de Espace-coût/Espace-temps</a:t>
            </a:r>
            <a:endParaRPr lang="fr-FR" sz="2800" dirty="0"/>
          </a:p>
          <a:p>
            <a:pPr>
              <a:buFont typeface="Wingdings" panose="05000000000000000000" pitchFamily="2" charset="2"/>
              <a:buChar char="Ø"/>
            </a:pPr>
            <a:endParaRPr lang="fr-FR" sz="3000" dirty="0"/>
          </a:p>
          <a:p>
            <a:pPr>
              <a:buFont typeface="Wingdings" panose="05000000000000000000" pitchFamily="2" charset="2"/>
              <a:buChar char="Ø"/>
            </a:pP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2642262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5785"/>
            <a:ext cx="8229600" cy="1143000"/>
          </a:xfrm>
        </p:spPr>
        <p:txBody>
          <a:bodyPr>
            <a:noAutofit/>
          </a:bodyPr>
          <a:lstStyle/>
          <a:p>
            <a:br>
              <a:rPr lang="fr-SN" sz="3600" b="1" dirty="0">
                <a:solidFill>
                  <a:srgbClr val="00B0F0"/>
                </a:solidFill>
              </a:rPr>
            </a:br>
            <a:br>
              <a:rPr lang="fr-SN" sz="3600" b="1" dirty="0">
                <a:solidFill>
                  <a:srgbClr val="00B0F0"/>
                </a:solidFill>
              </a:rPr>
            </a:br>
            <a:r>
              <a:rPr lang="fr-SN" sz="3600" b="1" dirty="0">
                <a:solidFill>
                  <a:srgbClr val="00B0F0"/>
                </a:solidFill>
              </a:rPr>
              <a:t>III. L’analyse spatiale</a:t>
            </a:r>
            <a:br>
              <a:rPr lang="fr-SN" sz="3600" b="1" dirty="0">
                <a:solidFill>
                  <a:srgbClr val="00B0F0"/>
                </a:solidFill>
              </a:rPr>
            </a:br>
            <a:r>
              <a:rPr lang="fr-SN" sz="3600" b="1" dirty="0">
                <a:solidFill>
                  <a:srgbClr val="FF0000"/>
                </a:solidFill>
              </a:rPr>
              <a:t>4) Cadre conceptuel </a:t>
            </a:r>
            <a:br>
              <a:rPr lang="fr-SN" sz="2000" b="1" dirty="0">
                <a:solidFill>
                  <a:srgbClr val="FF0000"/>
                </a:solidFill>
              </a:rPr>
            </a:br>
            <a:r>
              <a:rPr lang="fr-FR" sz="2000" dirty="0"/>
              <a:t>Le cadre conceptuel de l’espace traduit </a:t>
            </a:r>
            <a:r>
              <a:rPr lang="fr-FR" sz="2000" b="1" dirty="0"/>
              <a:t>deux éléments fondamentaux</a:t>
            </a:r>
            <a:r>
              <a:rPr lang="fr-FR" sz="2000" dirty="0"/>
              <a:t> : physique et le fonctionnel.</a:t>
            </a:r>
            <a:br>
              <a:rPr lang="fr-FR" sz="2000" dirty="0"/>
            </a:br>
            <a:endParaRPr lang="fr-FR" sz="2000" dirty="0">
              <a:solidFill>
                <a:srgbClr val="FF0000"/>
              </a:solidFill>
            </a:endParaRPr>
          </a:p>
        </p:txBody>
      </p:sp>
      <p:sp>
        <p:nvSpPr>
          <p:cNvPr id="3" name="Espace réservé du contenu 2"/>
          <p:cNvSpPr>
            <a:spLocks noGrp="1"/>
          </p:cNvSpPr>
          <p:nvPr>
            <p:ph sz="half" idx="1"/>
          </p:nvPr>
        </p:nvSpPr>
        <p:spPr>
          <a:xfrm>
            <a:off x="323528" y="2276872"/>
            <a:ext cx="4104456" cy="4381947"/>
          </a:xfrm>
        </p:spPr>
        <p:txBody>
          <a:bodyPr/>
          <a:lstStyle/>
          <a:p>
            <a:pPr marL="0" indent="0">
              <a:buNone/>
            </a:pPr>
            <a:r>
              <a:rPr lang="fr-SN" b="1" dirty="0">
                <a:solidFill>
                  <a:srgbClr val="00B0F0"/>
                </a:solidFill>
              </a:rPr>
              <a:t>Physique </a:t>
            </a:r>
          </a:p>
          <a:p>
            <a:r>
              <a:rPr lang="fr-FR" dirty="0"/>
              <a:t>Positionnement</a:t>
            </a:r>
          </a:p>
          <a:p>
            <a:r>
              <a:rPr lang="fr-FR" dirty="0"/>
              <a:t>Espace absolu</a:t>
            </a:r>
          </a:p>
          <a:p>
            <a:r>
              <a:rPr lang="fr-FR" dirty="0"/>
              <a:t>Métrique</a:t>
            </a:r>
          </a:p>
          <a:p>
            <a:r>
              <a:rPr lang="fr-FR" dirty="0"/>
              <a:t>Matériel</a:t>
            </a:r>
          </a:p>
          <a:p>
            <a:r>
              <a:rPr lang="fr-FR" dirty="0"/>
              <a:t>Distance </a:t>
            </a:r>
          </a:p>
          <a:p>
            <a:r>
              <a:rPr lang="fr-FR" dirty="0"/>
              <a:t>Contenant</a:t>
            </a:r>
          </a:p>
          <a:p>
            <a:endParaRPr lang="fr-FR" dirty="0"/>
          </a:p>
        </p:txBody>
      </p:sp>
      <p:sp>
        <p:nvSpPr>
          <p:cNvPr id="8" name="Espace réservé du contenu 7"/>
          <p:cNvSpPr>
            <a:spLocks noGrp="1"/>
          </p:cNvSpPr>
          <p:nvPr>
            <p:ph sz="half" idx="2"/>
          </p:nvPr>
        </p:nvSpPr>
        <p:spPr>
          <a:xfrm>
            <a:off x="4788024" y="2204864"/>
            <a:ext cx="4038600" cy="4525963"/>
          </a:xfrm>
        </p:spPr>
        <p:txBody>
          <a:bodyPr/>
          <a:lstStyle/>
          <a:p>
            <a:pPr marL="0" indent="0">
              <a:buNone/>
            </a:pPr>
            <a:r>
              <a:rPr lang="fr-SN" b="1" dirty="0">
                <a:solidFill>
                  <a:srgbClr val="00B0F0"/>
                </a:solidFill>
              </a:rPr>
              <a:t>Fonctionnel</a:t>
            </a:r>
          </a:p>
          <a:p>
            <a:r>
              <a:rPr lang="fr-FR" dirty="0"/>
              <a:t>Relationnel</a:t>
            </a:r>
          </a:p>
          <a:p>
            <a:r>
              <a:rPr lang="fr-FR" dirty="0"/>
              <a:t>Espace relatif jeu des forces des relations</a:t>
            </a:r>
          </a:p>
          <a:p>
            <a:r>
              <a:rPr lang="fr-FR" dirty="0"/>
              <a:t>Substance</a:t>
            </a:r>
          </a:p>
          <a:p>
            <a:r>
              <a:rPr lang="fr-FR" dirty="0"/>
              <a:t>Liens</a:t>
            </a:r>
          </a:p>
          <a:p>
            <a:r>
              <a:rPr lang="fr-FR" dirty="0"/>
              <a:t>Contenu</a:t>
            </a:r>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
        <p:nvSpPr>
          <p:cNvPr id="9" name="Flèche droite 8"/>
          <p:cNvSpPr/>
          <p:nvPr/>
        </p:nvSpPr>
        <p:spPr>
          <a:xfrm>
            <a:off x="3203848" y="2924944"/>
            <a:ext cx="1584176"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droite 9"/>
          <p:cNvSpPr/>
          <p:nvPr/>
        </p:nvSpPr>
        <p:spPr>
          <a:xfrm>
            <a:off x="3023828" y="3429000"/>
            <a:ext cx="1584176"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040864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836" y="-81137"/>
            <a:ext cx="8229600" cy="1143000"/>
          </a:xfrm>
        </p:spPr>
        <p:txBody>
          <a:bodyPr>
            <a:noAutofit/>
          </a:bodyPr>
          <a:lstStyle/>
          <a:p>
            <a:r>
              <a:rPr lang="fr-SN" sz="3600" b="1" dirty="0">
                <a:solidFill>
                  <a:srgbClr val="00B0F0"/>
                </a:solidFill>
              </a:rPr>
              <a:t>III. L’analyse spatiale</a:t>
            </a:r>
            <a:br>
              <a:rPr lang="fr-SN" sz="3600" b="1" dirty="0">
                <a:solidFill>
                  <a:srgbClr val="00B0F0"/>
                </a:solidFill>
              </a:rPr>
            </a:br>
            <a:r>
              <a:rPr lang="fr-SN" sz="3600" b="1" dirty="0">
                <a:solidFill>
                  <a:srgbClr val="FF0000"/>
                </a:solidFill>
              </a:rPr>
              <a:t>4) Cadre conceptuel</a:t>
            </a:r>
            <a:endParaRPr lang="fr-FR" sz="3600" dirty="0">
              <a:solidFill>
                <a:srgbClr val="FF0000"/>
              </a:solidFill>
            </a:endParaRPr>
          </a:p>
        </p:txBody>
      </p:sp>
      <p:sp>
        <p:nvSpPr>
          <p:cNvPr id="3" name="Espace réservé du contenu 2"/>
          <p:cNvSpPr>
            <a:spLocks noGrp="1"/>
          </p:cNvSpPr>
          <p:nvPr>
            <p:ph idx="1"/>
          </p:nvPr>
        </p:nvSpPr>
        <p:spPr>
          <a:xfrm>
            <a:off x="107504" y="1484784"/>
            <a:ext cx="9036496" cy="5112568"/>
          </a:xfrm>
        </p:spPr>
        <p:txBody>
          <a:bodyPr>
            <a:normAutofit fontScale="77500" lnSpcReduction="20000"/>
          </a:bodyPr>
          <a:lstStyle/>
          <a:p>
            <a:r>
              <a:rPr lang="fr-FR" dirty="0"/>
              <a:t>Au plan </a:t>
            </a:r>
            <a:r>
              <a:rPr lang="fr-FR" b="1" dirty="0"/>
              <a:t>physique</a:t>
            </a:r>
            <a:r>
              <a:rPr lang="fr-FR" dirty="0"/>
              <a:t>, l’espace est le cadre de positionnement, de localisation. C’est un espace du concret de l’absolu représenté par des considérations métriques, matérielles. C’est le </a:t>
            </a:r>
            <a:r>
              <a:rPr lang="fr-FR" b="1" dirty="0"/>
              <a:t>contenant</a:t>
            </a:r>
            <a:r>
              <a:rPr lang="fr-FR" dirty="0"/>
              <a:t>.</a:t>
            </a:r>
          </a:p>
          <a:p>
            <a:pPr marL="0" indent="0">
              <a:buNone/>
            </a:pPr>
            <a:endParaRPr lang="fr-FR" dirty="0"/>
          </a:p>
          <a:p>
            <a:r>
              <a:rPr lang="fr-FR" dirty="0"/>
              <a:t>Au plan </a:t>
            </a:r>
            <a:r>
              <a:rPr lang="fr-FR" b="1" dirty="0"/>
              <a:t>fonctionnel</a:t>
            </a:r>
            <a:r>
              <a:rPr lang="fr-FR" dirty="0"/>
              <a:t>, l’espace est le moyen de relier les lieux grâce à des liens et ou de la substance. C’est l’espace du contenu et des perceptions. L’espace est un enjeu nouveau repensé autour de relations et de stratégies complexes. L’espace est un </a:t>
            </a:r>
            <a:r>
              <a:rPr lang="fr-FR" b="1" dirty="0"/>
              <a:t>support de l’action </a:t>
            </a:r>
            <a:r>
              <a:rPr lang="fr-FR" dirty="0"/>
              <a:t>mais aussi un instrument de l’activité. C’est donc un contenu.</a:t>
            </a:r>
          </a:p>
          <a:p>
            <a:pPr marL="0" indent="0">
              <a:buNone/>
            </a:pPr>
            <a:endParaRPr lang="fr-FR" dirty="0"/>
          </a:p>
          <a:p>
            <a:r>
              <a:rPr lang="fr-FR" dirty="0"/>
              <a:t>L’espace est divisé en </a:t>
            </a:r>
            <a:r>
              <a:rPr lang="fr-FR" b="1" dirty="0"/>
              <a:t>secteurs</a:t>
            </a:r>
            <a:r>
              <a:rPr lang="fr-FR" dirty="0"/>
              <a:t> (espace industriel, touristique, agricole), par des </a:t>
            </a:r>
            <a:r>
              <a:rPr lang="fr-FR" b="1" dirty="0"/>
              <a:t>limites</a:t>
            </a:r>
            <a:r>
              <a:rPr lang="fr-FR" dirty="0"/>
              <a:t> (urbain, rural, périurbain…) par une </a:t>
            </a:r>
            <a:r>
              <a:rPr lang="fr-FR" b="1" dirty="0"/>
              <a:t>échelle</a:t>
            </a:r>
            <a:r>
              <a:rPr lang="fr-FR" dirty="0"/>
              <a:t> (locale, nationale, globale...)</a:t>
            </a:r>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11123816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0"/>
            <a:ext cx="8229600" cy="778098"/>
          </a:xfrm>
        </p:spPr>
        <p:txBody>
          <a:bodyPr>
            <a:normAutofit fontScale="90000"/>
          </a:bodyPr>
          <a:lstStyle/>
          <a:p>
            <a:br>
              <a:rPr lang="fr-SN" b="1" dirty="0">
                <a:solidFill>
                  <a:srgbClr val="00B0F0"/>
                </a:solidFill>
              </a:rPr>
            </a:br>
            <a:r>
              <a:rPr lang="fr-SN" b="1" dirty="0">
                <a:solidFill>
                  <a:srgbClr val="00B0F0"/>
                </a:solidFill>
              </a:rPr>
              <a:t>III. L’analyse spatiale</a:t>
            </a:r>
            <a:br>
              <a:rPr lang="fr-SN" b="1" dirty="0">
                <a:solidFill>
                  <a:srgbClr val="00B0F0"/>
                </a:solidFill>
              </a:rPr>
            </a:br>
            <a:r>
              <a:rPr lang="fr-SN" b="1" dirty="0">
                <a:solidFill>
                  <a:srgbClr val="FF0000"/>
                </a:solidFill>
              </a:rPr>
              <a:t>5) Organisation spatiale</a:t>
            </a:r>
            <a:endParaRPr lang="fr-FR" dirty="0">
              <a:solidFill>
                <a:srgbClr val="FF0000"/>
              </a:solidFill>
            </a:endParaRPr>
          </a:p>
        </p:txBody>
      </p:sp>
      <p:sp>
        <p:nvSpPr>
          <p:cNvPr id="3" name="Espace réservé du contenu 2"/>
          <p:cNvSpPr>
            <a:spLocks noGrp="1"/>
          </p:cNvSpPr>
          <p:nvPr>
            <p:ph idx="1"/>
          </p:nvPr>
        </p:nvSpPr>
        <p:spPr>
          <a:xfrm>
            <a:off x="107504" y="1268760"/>
            <a:ext cx="8928992" cy="5256584"/>
          </a:xfrm>
        </p:spPr>
        <p:txBody>
          <a:bodyPr>
            <a:normAutofit fontScale="92500" lnSpcReduction="20000"/>
          </a:bodyPr>
          <a:lstStyle/>
          <a:p>
            <a:pPr>
              <a:buFont typeface="Wingdings" panose="05000000000000000000" pitchFamily="2" charset="2"/>
              <a:buChar char="Ø"/>
            </a:pPr>
            <a:r>
              <a:rPr lang="fr-FR" dirty="0"/>
              <a:t>Roger Brunet : </a:t>
            </a:r>
            <a:r>
              <a:rPr lang="fr-FR" b="1" dirty="0" err="1"/>
              <a:t>chorématique</a:t>
            </a:r>
            <a:r>
              <a:rPr lang="fr-FR" dirty="0"/>
              <a:t> et les lois d’organisation de l’espace </a:t>
            </a:r>
          </a:p>
          <a:p>
            <a:pPr>
              <a:buFont typeface="Wingdings" panose="05000000000000000000" pitchFamily="2" charset="2"/>
              <a:buChar char="Ø"/>
            </a:pPr>
            <a:endParaRPr lang="fr-FR" dirty="0"/>
          </a:p>
          <a:p>
            <a:pPr>
              <a:buFont typeface="Wingdings" panose="05000000000000000000" pitchFamily="2" charset="2"/>
              <a:buChar char="Ø"/>
            </a:pPr>
            <a:r>
              <a:rPr lang="fr-FR" dirty="0"/>
              <a:t>La </a:t>
            </a:r>
            <a:r>
              <a:rPr lang="fr-FR" b="1" dirty="0" err="1"/>
              <a:t>chorématique</a:t>
            </a:r>
            <a:r>
              <a:rPr lang="fr-FR" dirty="0"/>
              <a:t> encore appelée « grammaire de l’Espace » utilise et analyse les </a:t>
            </a:r>
            <a:r>
              <a:rPr lang="fr-FR" b="1" dirty="0" err="1"/>
              <a:t>chorèmes</a:t>
            </a:r>
            <a:r>
              <a:rPr lang="fr-FR" b="1" dirty="0"/>
              <a:t>, </a:t>
            </a:r>
            <a:r>
              <a:rPr lang="fr-FR" dirty="0"/>
              <a:t>c'est-à-dire des </a:t>
            </a:r>
            <a:r>
              <a:rPr lang="fr-FR" b="1" dirty="0"/>
              <a:t>représentations schématiques </a:t>
            </a:r>
            <a:r>
              <a:rPr lang="fr-FR" dirty="0"/>
              <a:t>destinées à créer des modèles graphiques représentant un espace ou un type d'espace et les phénomènes spatiaux qui le concernent.</a:t>
            </a:r>
          </a:p>
          <a:p>
            <a:pPr>
              <a:buFont typeface="Wingdings" panose="05000000000000000000" pitchFamily="2" charset="2"/>
              <a:buChar char="Ø"/>
            </a:pPr>
            <a:endParaRPr lang="fr-FR" dirty="0"/>
          </a:p>
          <a:p>
            <a:pPr>
              <a:buFont typeface="Wingdings" panose="05000000000000000000" pitchFamily="2" charset="2"/>
              <a:buChar char="Ø"/>
            </a:pPr>
            <a:r>
              <a:rPr lang="fr-FR" b="1" dirty="0" err="1"/>
              <a:t>Chorémes</a:t>
            </a:r>
            <a:r>
              <a:rPr lang="fr-FR" dirty="0"/>
              <a:t> : principes élémentaires d’organisation de l’espace : l'effet d'une frontière, l'organisation d'une région ou la zone d'influence d'une ville par exemple.</a:t>
            </a:r>
          </a:p>
          <a:p>
            <a:pPr>
              <a:buFont typeface="Wingdings" panose="05000000000000000000" pitchFamily="2" charset="2"/>
              <a:buChar char="Ø"/>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12058026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0"/>
            <a:ext cx="8229600" cy="778098"/>
          </a:xfrm>
        </p:spPr>
        <p:txBody>
          <a:bodyPr>
            <a:normAutofit fontScale="90000"/>
          </a:bodyPr>
          <a:lstStyle/>
          <a:p>
            <a:br>
              <a:rPr lang="fr-SN" b="1" dirty="0">
                <a:solidFill>
                  <a:srgbClr val="00B0F0"/>
                </a:solidFill>
              </a:rPr>
            </a:br>
            <a:r>
              <a:rPr lang="fr-SN" b="1" dirty="0">
                <a:solidFill>
                  <a:srgbClr val="00B0F0"/>
                </a:solidFill>
              </a:rPr>
              <a:t>III. L’analyse spatiale</a:t>
            </a:r>
            <a:br>
              <a:rPr lang="fr-SN" b="1" dirty="0">
                <a:solidFill>
                  <a:srgbClr val="00B0F0"/>
                </a:solidFill>
              </a:rPr>
            </a:br>
            <a:r>
              <a:rPr lang="fr-SN" b="1" dirty="0">
                <a:solidFill>
                  <a:srgbClr val="FF0000"/>
                </a:solidFill>
              </a:rPr>
              <a:t>5) Organisation spatiale</a:t>
            </a:r>
            <a:endParaRPr lang="fr-FR" dirty="0">
              <a:solidFill>
                <a:srgbClr val="FF0000"/>
              </a:solidFill>
            </a:endParaRPr>
          </a:p>
        </p:txBody>
      </p:sp>
      <p:sp>
        <p:nvSpPr>
          <p:cNvPr id="3" name="Espace réservé du contenu 2"/>
          <p:cNvSpPr>
            <a:spLocks noGrp="1"/>
          </p:cNvSpPr>
          <p:nvPr>
            <p:ph idx="1"/>
          </p:nvPr>
        </p:nvSpPr>
        <p:spPr>
          <a:xfrm>
            <a:off x="107504" y="1268760"/>
            <a:ext cx="8928992" cy="5256584"/>
          </a:xfrm>
        </p:spPr>
        <p:txBody>
          <a:bodyPr>
            <a:normAutofit/>
          </a:bodyPr>
          <a:lstStyle/>
          <a:p>
            <a:pPr>
              <a:buFont typeface="Wingdings" panose="05000000000000000000" pitchFamily="2" charset="2"/>
              <a:buChar char="Ø"/>
            </a:pPr>
            <a:endParaRPr lang="fr-FR" b="1" dirty="0"/>
          </a:p>
          <a:p>
            <a:pPr>
              <a:buFont typeface="Wingdings" panose="05000000000000000000" pitchFamily="2" charset="2"/>
              <a:buChar char="Ø"/>
            </a:pPr>
            <a:r>
              <a:rPr lang="fr-FR" b="1" dirty="0" err="1"/>
              <a:t>Chorémes</a:t>
            </a:r>
            <a:r>
              <a:rPr lang="fr-FR" dirty="0"/>
              <a:t> : des formes simples dont la combinaison permet de construire des </a:t>
            </a:r>
            <a:r>
              <a:rPr lang="fr-FR" dirty="0" err="1"/>
              <a:t>modéles</a:t>
            </a:r>
            <a:r>
              <a:rPr lang="fr-FR" dirty="0"/>
              <a:t> graphiques</a:t>
            </a:r>
          </a:p>
          <a:p>
            <a:pPr>
              <a:buFont typeface="Wingdings" panose="05000000000000000000" pitchFamily="2" charset="2"/>
              <a:buChar char="Ø"/>
            </a:pPr>
            <a:endParaRPr lang="fr-FR" dirty="0"/>
          </a:p>
          <a:p>
            <a:pPr>
              <a:buFontTx/>
              <a:buChar char="-"/>
            </a:pPr>
            <a:r>
              <a:rPr lang="fr-FR" dirty="0"/>
              <a:t>« </a:t>
            </a:r>
            <a:r>
              <a:rPr lang="fr-FR" dirty="0" err="1"/>
              <a:t>Chor</a:t>
            </a:r>
            <a:r>
              <a:rPr lang="fr-FR" dirty="0"/>
              <a:t> »     pays, espace, contrée </a:t>
            </a:r>
          </a:p>
          <a:p>
            <a:pPr>
              <a:buFontTx/>
              <a:buChar char="-"/>
            </a:pPr>
            <a:r>
              <a:rPr lang="fr-FR" dirty="0"/>
              <a:t>+ « -</a:t>
            </a:r>
            <a:r>
              <a:rPr lang="fr-FR" dirty="0" err="1"/>
              <a:t>ème</a:t>
            </a:r>
            <a:r>
              <a:rPr lang="fr-FR" dirty="0"/>
              <a:t> »      dimension systémique</a:t>
            </a:r>
          </a:p>
          <a:p>
            <a:pPr marL="0" indent="0">
              <a:buNone/>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
        <p:nvSpPr>
          <p:cNvPr id="5" name="Flèche droite 4"/>
          <p:cNvSpPr/>
          <p:nvPr/>
        </p:nvSpPr>
        <p:spPr>
          <a:xfrm>
            <a:off x="1979712" y="4365104"/>
            <a:ext cx="28803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droite 5"/>
          <p:cNvSpPr/>
          <p:nvPr/>
        </p:nvSpPr>
        <p:spPr>
          <a:xfrm>
            <a:off x="2411760" y="4941168"/>
            <a:ext cx="28803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0283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br>
              <a:rPr lang="fr-SN" b="1" dirty="0">
                <a:solidFill>
                  <a:srgbClr val="00B0F0"/>
                </a:solidFill>
              </a:rPr>
            </a:br>
            <a:r>
              <a:rPr lang="fr-SN" b="1" dirty="0">
                <a:solidFill>
                  <a:srgbClr val="00B0F0"/>
                </a:solidFill>
              </a:rPr>
              <a:t>III. L’analyse spatiale</a:t>
            </a:r>
            <a:br>
              <a:rPr lang="fr-SN" b="1" dirty="0">
                <a:solidFill>
                  <a:srgbClr val="00B0F0"/>
                </a:solidFill>
              </a:rPr>
            </a:br>
            <a:r>
              <a:rPr lang="fr-SN" b="1" dirty="0">
                <a:solidFill>
                  <a:srgbClr val="FF0000"/>
                </a:solidFill>
              </a:rPr>
              <a:t>5) Organisation spatiale</a:t>
            </a:r>
            <a:endParaRPr lang="fr-FR" dirty="0">
              <a:solidFill>
                <a:srgbClr val="FF0000"/>
              </a:solidFill>
            </a:endParaRPr>
          </a:p>
        </p:txBody>
      </p:sp>
      <p:sp>
        <p:nvSpPr>
          <p:cNvPr id="5" name="Espace réservé du contenu 4"/>
          <p:cNvSpPr>
            <a:spLocks noGrp="1"/>
          </p:cNvSpPr>
          <p:nvPr>
            <p:ph sz="half" idx="1"/>
          </p:nvPr>
        </p:nvSpPr>
        <p:spPr>
          <a:xfrm>
            <a:off x="457200" y="1844823"/>
            <a:ext cx="4474840" cy="5013177"/>
          </a:xfrm>
        </p:spPr>
        <p:txBody>
          <a:bodyPr>
            <a:normAutofit fontScale="92500" lnSpcReduction="10000"/>
          </a:bodyPr>
          <a:lstStyle/>
          <a:p>
            <a:pPr marL="0" indent="0">
              <a:buNone/>
            </a:pPr>
            <a:r>
              <a:rPr lang="fr-FR" sz="2400" dirty="0"/>
              <a:t>4 </a:t>
            </a:r>
            <a:r>
              <a:rPr lang="fr-FR" sz="2400" b="1" i="1" dirty="0"/>
              <a:t>éléments graphiques fondamentaux:</a:t>
            </a:r>
          </a:p>
          <a:p>
            <a:r>
              <a:rPr lang="fr-FR" sz="2400" b="1" i="1" dirty="0"/>
              <a:t> </a:t>
            </a:r>
            <a:r>
              <a:rPr lang="fr-FR" sz="2400" i="1" dirty="0"/>
              <a:t>le point, </a:t>
            </a:r>
          </a:p>
          <a:p>
            <a:r>
              <a:rPr lang="fr-FR" sz="2400" i="1" dirty="0"/>
              <a:t>la ligne,</a:t>
            </a:r>
          </a:p>
          <a:p>
            <a:r>
              <a:rPr lang="fr-FR" sz="2400" i="1" dirty="0"/>
              <a:t> la surface </a:t>
            </a:r>
          </a:p>
          <a:p>
            <a:r>
              <a:rPr lang="fr-FR" sz="2400" i="1" dirty="0"/>
              <a:t>et le réseau </a:t>
            </a:r>
            <a:r>
              <a:rPr lang="fr-FR" sz="2400" dirty="0"/>
              <a:t>permettent de figurer </a:t>
            </a:r>
            <a:r>
              <a:rPr lang="fr-FR" sz="2400" b="1" i="1" dirty="0"/>
              <a:t>les principes élémentaires d’organisation de l'espace </a:t>
            </a:r>
            <a:r>
              <a:rPr lang="fr-FR" sz="2400" dirty="0"/>
              <a:t>: </a:t>
            </a:r>
          </a:p>
          <a:p>
            <a:r>
              <a:rPr lang="fr-FR" sz="2400" i="1" dirty="0"/>
              <a:t>le maillage (répartition en réseau), </a:t>
            </a:r>
          </a:p>
          <a:p>
            <a:r>
              <a:rPr lang="fr-FR" sz="2400" i="1" dirty="0"/>
              <a:t>le quadrillage, </a:t>
            </a:r>
          </a:p>
          <a:p>
            <a:r>
              <a:rPr lang="fr-FR" sz="2400" i="1" dirty="0"/>
              <a:t>l'attraction, </a:t>
            </a:r>
          </a:p>
          <a:p>
            <a:r>
              <a:rPr lang="fr-FR" sz="2400" i="1" dirty="0"/>
              <a:t>La direction, l’orientation</a:t>
            </a:r>
          </a:p>
          <a:p>
            <a:r>
              <a:rPr lang="fr-FR" sz="2400" i="1" dirty="0"/>
              <a:t>la dynamique territoriale et la hiérarchie.</a:t>
            </a:r>
            <a:endParaRPr lang="fr-FR" sz="2400" dirty="0"/>
          </a:p>
        </p:txBody>
      </p:sp>
      <p:pic>
        <p:nvPicPr>
          <p:cNvPr id="7" name="Espace réservé du contenu 6"/>
          <p:cNvPicPr>
            <a:picLocks noGrp="1" noChangeAspect="1"/>
          </p:cNvPicPr>
          <p:nvPr>
            <p:ph sz="half" idx="2"/>
          </p:nvPr>
        </p:nvPicPr>
        <p:blipFill>
          <a:blip r:embed="rId2"/>
          <a:stretch>
            <a:fillRect/>
          </a:stretch>
        </p:blipFill>
        <p:spPr>
          <a:xfrm>
            <a:off x="5148064" y="1653799"/>
            <a:ext cx="3933910" cy="5141168"/>
          </a:xfrm>
          <a:prstGeom prst="rect">
            <a:avLst/>
          </a:prstGeom>
        </p:spPr>
      </p:pic>
      <p:pic>
        <p:nvPicPr>
          <p:cNvPr id="4" name="officeArt object" descr="logo_UAM.jpg"/>
          <p:cNvPicPr/>
          <p:nvPr/>
        </p:nvPicPr>
        <p:blipFill>
          <a:blip r:embed="rId3"/>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5613350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0"/>
            <a:ext cx="8229600" cy="778098"/>
          </a:xfrm>
        </p:spPr>
        <p:txBody>
          <a:bodyPr>
            <a:normAutofit fontScale="90000"/>
          </a:bodyPr>
          <a:lstStyle/>
          <a:p>
            <a:br>
              <a:rPr lang="fr-SN" b="1" dirty="0">
                <a:solidFill>
                  <a:srgbClr val="00B0F0"/>
                </a:solidFill>
              </a:rPr>
            </a:br>
            <a:r>
              <a:rPr lang="fr-SN" b="1" dirty="0">
                <a:solidFill>
                  <a:srgbClr val="00B0F0"/>
                </a:solidFill>
              </a:rPr>
              <a:t>III. L’analyse spatiale</a:t>
            </a:r>
            <a:br>
              <a:rPr lang="fr-SN" b="1" dirty="0">
                <a:solidFill>
                  <a:srgbClr val="00B0F0"/>
                </a:solidFill>
              </a:rPr>
            </a:br>
            <a:r>
              <a:rPr lang="fr-SN" b="1" dirty="0">
                <a:solidFill>
                  <a:srgbClr val="FF0000"/>
                </a:solidFill>
              </a:rPr>
              <a:t>5) Organisation spatiale</a:t>
            </a:r>
            <a:endParaRPr lang="fr-FR" dirty="0">
              <a:solidFill>
                <a:srgbClr val="FF0000"/>
              </a:solidFill>
            </a:endParaRPr>
          </a:p>
        </p:txBody>
      </p:sp>
      <p:sp>
        <p:nvSpPr>
          <p:cNvPr id="3" name="Espace réservé du contenu 2"/>
          <p:cNvSpPr>
            <a:spLocks noGrp="1"/>
          </p:cNvSpPr>
          <p:nvPr>
            <p:ph idx="1"/>
          </p:nvPr>
        </p:nvSpPr>
        <p:spPr>
          <a:xfrm>
            <a:off x="107504" y="1268760"/>
            <a:ext cx="9036496" cy="5589240"/>
          </a:xfrm>
        </p:spPr>
        <p:txBody>
          <a:bodyPr>
            <a:normAutofit fontScale="92500" lnSpcReduction="10000"/>
          </a:bodyPr>
          <a:lstStyle/>
          <a:p>
            <a:pPr>
              <a:buFont typeface="Wingdings" panose="05000000000000000000" pitchFamily="2" charset="2"/>
              <a:buChar char="Ø"/>
            </a:pPr>
            <a:r>
              <a:rPr lang="fr-FR" sz="3000" dirty="0"/>
              <a:t>R. Brunet propose </a:t>
            </a:r>
            <a:r>
              <a:rPr lang="fr-FR" sz="3000" b="1" dirty="0"/>
              <a:t>28 </a:t>
            </a:r>
            <a:r>
              <a:rPr lang="fr-FR" sz="3000" b="1" dirty="0" err="1"/>
              <a:t>chorèmes</a:t>
            </a:r>
            <a:r>
              <a:rPr lang="fr-FR" sz="3000" b="1" dirty="0"/>
              <a:t> de base </a:t>
            </a:r>
            <a:r>
              <a:rPr lang="fr-FR" sz="3000" dirty="0"/>
              <a:t>dont la combinaison :</a:t>
            </a:r>
          </a:p>
          <a:p>
            <a:pPr marL="0" indent="0">
              <a:buNone/>
            </a:pPr>
            <a:r>
              <a:rPr lang="fr-FR" dirty="0"/>
              <a:t>          </a:t>
            </a:r>
            <a:r>
              <a:rPr lang="fr-FR" sz="2600" dirty="0"/>
              <a:t>- rend compte de toutes les </a:t>
            </a:r>
            <a:r>
              <a:rPr lang="fr-FR" sz="2600" b="1" dirty="0"/>
              <a:t>formes d'organisation de l'espace</a:t>
            </a:r>
          </a:p>
          <a:p>
            <a:pPr marL="0" indent="0">
              <a:buNone/>
            </a:pPr>
            <a:r>
              <a:rPr lang="fr-FR" sz="2600" dirty="0"/>
              <a:t>         - et permet de visualiser les </a:t>
            </a:r>
            <a:r>
              <a:rPr lang="fr-FR" sz="2600" b="1" dirty="0"/>
              <a:t>structures</a:t>
            </a:r>
            <a:r>
              <a:rPr lang="fr-FR" sz="2600" dirty="0"/>
              <a:t> sous la forme de modèles graphiques.</a:t>
            </a:r>
          </a:p>
          <a:p>
            <a:pPr marL="0" indent="0">
              <a:buNone/>
            </a:pPr>
            <a:endParaRPr lang="fr-FR" dirty="0"/>
          </a:p>
          <a:p>
            <a:pPr>
              <a:buFont typeface="Wingdings" panose="05000000000000000000" pitchFamily="2" charset="2"/>
              <a:buChar char="Ø"/>
            </a:pPr>
            <a:r>
              <a:rPr lang="fr-FR" sz="3000" dirty="0"/>
              <a:t>L’espace articule des </a:t>
            </a:r>
            <a:r>
              <a:rPr lang="fr-FR" sz="3000" b="1" dirty="0">
                <a:solidFill>
                  <a:srgbClr val="FF0000"/>
                </a:solidFill>
              </a:rPr>
              <a:t>logiques plurielles</a:t>
            </a:r>
            <a:r>
              <a:rPr lang="fr-FR" sz="3000" dirty="0"/>
              <a:t> : global/local, centre/périphérie, urbain/rural, réel/virtuel…</a:t>
            </a:r>
          </a:p>
          <a:p>
            <a:pPr marL="0" indent="0">
              <a:buNone/>
            </a:pPr>
            <a:endParaRPr lang="fr-FR" sz="3000" dirty="0"/>
          </a:p>
          <a:p>
            <a:pPr>
              <a:buFont typeface="Wingdings" panose="05000000000000000000" pitchFamily="2" charset="2"/>
              <a:buChar char="Ø"/>
            </a:pPr>
            <a:r>
              <a:rPr lang="fr-FR" sz="3000" dirty="0"/>
              <a:t>Aménagement, Urbanisme : paradigme transformateur de l’espace basé sur les données physiques et les pratiques sociales et/ou sur leurs interactions</a:t>
            </a:r>
          </a:p>
          <a:p>
            <a:pPr>
              <a:buFont typeface="Wingdings" panose="05000000000000000000" pitchFamily="2" charset="2"/>
              <a:buChar char="Ø"/>
            </a:pPr>
            <a:endParaRPr lang="fr-SN" sz="3000"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4101515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0"/>
            <a:ext cx="8229600" cy="778098"/>
          </a:xfrm>
        </p:spPr>
        <p:txBody>
          <a:bodyPr>
            <a:normAutofit fontScale="90000"/>
          </a:bodyPr>
          <a:lstStyle/>
          <a:p>
            <a:br>
              <a:rPr lang="fr-SN" b="1" dirty="0">
                <a:solidFill>
                  <a:srgbClr val="00B0F0"/>
                </a:solidFill>
              </a:rPr>
            </a:br>
            <a:br>
              <a:rPr lang="fr-SN" b="1" dirty="0">
                <a:solidFill>
                  <a:srgbClr val="00B0F0"/>
                </a:solidFill>
              </a:rPr>
            </a:br>
            <a:br>
              <a:rPr lang="fr-SN" b="1" dirty="0">
                <a:solidFill>
                  <a:srgbClr val="00B0F0"/>
                </a:solidFill>
              </a:rPr>
            </a:br>
            <a:r>
              <a:rPr lang="fr-SN" b="1" dirty="0">
                <a:solidFill>
                  <a:srgbClr val="00B0F0"/>
                </a:solidFill>
              </a:rPr>
              <a:t>III. Application pratique de l’analyse spatiale:</a:t>
            </a:r>
            <a:r>
              <a:rPr lang="fr-SN" b="1" dirty="0">
                <a:solidFill>
                  <a:srgbClr val="FF0000"/>
                </a:solidFill>
              </a:rPr>
              <a:t> les Mobilités</a:t>
            </a:r>
            <a:br>
              <a:rPr lang="fr-FR" dirty="0">
                <a:solidFill>
                  <a:srgbClr val="FF0000"/>
                </a:solidFill>
              </a:rPr>
            </a:br>
            <a:br>
              <a:rPr lang="fr-SN" b="1" dirty="0">
                <a:solidFill>
                  <a:srgbClr val="00B0F0"/>
                </a:solidFill>
              </a:rPr>
            </a:br>
            <a:endParaRPr lang="fr-FR" dirty="0">
              <a:solidFill>
                <a:srgbClr val="FF0000"/>
              </a:solidFill>
            </a:endParaRPr>
          </a:p>
        </p:txBody>
      </p:sp>
      <p:sp>
        <p:nvSpPr>
          <p:cNvPr id="3" name="Espace réservé du contenu 2"/>
          <p:cNvSpPr>
            <a:spLocks noGrp="1"/>
          </p:cNvSpPr>
          <p:nvPr>
            <p:ph idx="1"/>
          </p:nvPr>
        </p:nvSpPr>
        <p:spPr>
          <a:xfrm>
            <a:off x="107504" y="1268760"/>
            <a:ext cx="9217024" cy="5760640"/>
          </a:xfrm>
        </p:spPr>
        <p:txBody>
          <a:bodyPr>
            <a:normAutofit/>
          </a:bodyPr>
          <a:lstStyle/>
          <a:p>
            <a:pPr marL="0" indent="0">
              <a:buNone/>
            </a:pPr>
            <a:endParaRPr lang="fr-FR" sz="2800" dirty="0"/>
          </a:p>
          <a:p>
            <a:pPr>
              <a:buFont typeface="Wingdings" panose="05000000000000000000" pitchFamily="2" charset="2"/>
              <a:buChar char="Ø"/>
            </a:pPr>
            <a:r>
              <a:rPr lang="fr-FR" sz="2800" dirty="0"/>
              <a:t>Les questions de </a:t>
            </a:r>
            <a:r>
              <a:rPr lang="fr-FR" sz="2800" b="1" dirty="0"/>
              <a:t>mobilité</a:t>
            </a:r>
            <a:r>
              <a:rPr lang="fr-FR" sz="2800" dirty="0"/>
              <a:t> et de distance sont au cœur de l’organisation spatiale et posent la problématique de l’</a:t>
            </a:r>
            <a:r>
              <a:rPr lang="fr-FR" sz="2800" b="1" dirty="0">
                <a:solidFill>
                  <a:srgbClr val="00B0F0"/>
                </a:solidFill>
              </a:rPr>
              <a:t>accessibilité</a:t>
            </a:r>
            <a:r>
              <a:rPr lang="fr-FR" sz="2800" dirty="0"/>
              <a:t>         </a:t>
            </a:r>
            <a:r>
              <a:rPr lang="fr-SN" sz="2800" dirty="0"/>
              <a:t>attractivité des territoires.</a:t>
            </a:r>
            <a:endParaRPr lang="fr-FR" sz="2800" dirty="0"/>
          </a:p>
          <a:p>
            <a:pPr marL="0" indent="0">
              <a:buNone/>
            </a:pPr>
            <a:endParaRPr lang="fr-FR" sz="2800" dirty="0"/>
          </a:p>
          <a:p>
            <a:pPr>
              <a:buFont typeface="Wingdings" panose="05000000000000000000" pitchFamily="2" charset="2"/>
              <a:buChar char="Ø"/>
            </a:pPr>
            <a:r>
              <a:rPr lang="fr-SN" sz="2800" dirty="0"/>
              <a:t>Approche </a:t>
            </a:r>
            <a:r>
              <a:rPr lang="fr-SN" sz="2800" b="1" dirty="0"/>
              <a:t>géographique ou spatiale </a:t>
            </a:r>
            <a:r>
              <a:rPr lang="fr-SN" sz="2800" dirty="0"/>
              <a:t>de la mobilité: la mobilité, c'est un déplacement qui est mesuré par trois éléments :</a:t>
            </a:r>
          </a:p>
          <a:p>
            <a:pPr lvl="2"/>
            <a:r>
              <a:rPr lang="fr-SN" sz="2000" dirty="0"/>
              <a:t>le </a:t>
            </a:r>
            <a:r>
              <a:rPr lang="fr-SN" sz="2000" b="1" dirty="0"/>
              <a:t>trajet</a:t>
            </a:r>
            <a:r>
              <a:rPr lang="fr-SN" sz="2000" dirty="0"/>
              <a:t> : origine et destination, </a:t>
            </a:r>
            <a:endParaRPr lang="fr-FR" sz="2000" dirty="0"/>
          </a:p>
          <a:p>
            <a:pPr lvl="2"/>
            <a:r>
              <a:rPr lang="fr-SN" sz="2000" dirty="0"/>
              <a:t>les </a:t>
            </a:r>
            <a:r>
              <a:rPr lang="fr-SN" sz="2000" b="1" dirty="0"/>
              <a:t>flux</a:t>
            </a:r>
            <a:r>
              <a:rPr lang="fr-SN" sz="2000" dirty="0"/>
              <a:t> qui constituent les mouvements et les volumes déplacés</a:t>
            </a:r>
            <a:endParaRPr lang="fr-FR" sz="2000" dirty="0"/>
          </a:p>
          <a:p>
            <a:pPr lvl="2"/>
            <a:r>
              <a:rPr lang="fr-SN" sz="2000" dirty="0"/>
              <a:t> et enfin le </a:t>
            </a:r>
            <a:r>
              <a:rPr lang="fr-SN" sz="2000" b="1" dirty="0"/>
              <a:t>trafic qui est la circulation </a:t>
            </a:r>
            <a:r>
              <a:rPr lang="fr-SN" sz="2000" dirty="0"/>
              <a:t>mise en rapport avec les infrastructures du transport.</a:t>
            </a:r>
            <a:endParaRPr lang="fr-FR" sz="2000" dirty="0"/>
          </a:p>
          <a:p>
            <a:endParaRPr lang="fr-FR" sz="2800" dirty="0"/>
          </a:p>
          <a:p>
            <a:pPr>
              <a:buFont typeface="Wingdings" panose="05000000000000000000" pitchFamily="2" charset="2"/>
              <a:buChar char="Ø"/>
            </a:pPr>
            <a:endParaRPr lang="fr-FR" sz="2800"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
        <p:nvSpPr>
          <p:cNvPr id="5" name="Flèche droite 4"/>
          <p:cNvSpPr/>
          <p:nvPr/>
        </p:nvSpPr>
        <p:spPr>
          <a:xfrm>
            <a:off x="2555776" y="2852936"/>
            <a:ext cx="504056" cy="72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183526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0"/>
            <a:ext cx="8229600" cy="778098"/>
          </a:xfrm>
        </p:spPr>
        <p:txBody>
          <a:bodyPr>
            <a:normAutofit fontScale="90000"/>
          </a:bodyPr>
          <a:lstStyle/>
          <a:p>
            <a:br>
              <a:rPr lang="fr-SN" b="1" dirty="0">
                <a:solidFill>
                  <a:srgbClr val="00B0F0"/>
                </a:solidFill>
              </a:rPr>
            </a:br>
            <a:r>
              <a:rPr lang="fr-SN" b="1" dirty="0">
                <a:solidFill>
                  <a:srgbClr val="00B0F0"/>
                </a:solidFill>
              </a:rPr>
              <a:t>III. L’analyse spatiale</a:t>
            </a:r>
            <a:br>
              <a:rPr lang="fr-SN" b="1" dirty="0">
                <a:solidFill>
                  <a:srgbClr val="00B0F0"/>
                </a:solidFill>
              </a:rPr>
            </a:br>
            <a:r>
              <a:rPr lang="fr-SN" b="1" dirty="0">
                <a:solidFill>
                  <a:srgbClr val="FF0000"/>
                </a:solidFill>
              </a:rPr>
              <a:t>6) Mobilités</a:t>
            </a:r>
            <a:endParaRPr lang="fr-FR" dirty="0">
              <a:solidFill>
                <a:srgbClr val="FF0000"/>
              </a:solidFill>
            </a:endParaRPr>
          </a:p>
        </p:txBody>
      </p:sp>
      <p:sp>
        <p:nvSpPr>
          <p:cNvPr id="3" name="Espace réservé du contenu 2"/>
          <p:cNvSpPr>
            <a:spLocks noGrp="1"/>
          </p:cNvSpPr>
          <p:nvPr>
            <p:ph idx="1"/>
          </p:nvPr>
        </p:nvSpPr>
        <p:spPr>
          <a:xfrm>
            <a:off x="107504" y="1268760"/>
            <a:ext cx="8928992" cy="5040560"/>
          </a:xfrm>
        </p:spPr>
        <p:txBody>
          <a:bodyPr>
            <a:normAutofit fontScale="92500" lnSpcReduction="10000"/>
          </a:bodyPr>
          <a:lstStyle/>
          <a:p>
            <a:pPr>
              <a:buFont typeface="Wingdings" panose="05000000000000000000" pitchFamily="2" charset="2"/>
              <a:buChar char="Ø"/>
            </a:pPr>
            <a:endParaRPr lang="fr-FR" sz="2800" dirty="0"/>
          </a:p>
          <a:p>
            <a:pPr>
              <a:buFont typeface="Wingdings" panose="05000000000000000000" pitchFamily="2" charset="2"/>
              <a:buChar char="Ø"/>
            </a:pPr>
            <a:r>
              <a:rPr lang="fr-FR" sz="2800" dirty="0"/>
              <a:t>La mobilité est un paramètre pour penser l’espace du fait de son inscription dans des </a:t>
            </a:r>
            <a:r>
              <a:rPr lang="fr-FR" sz="2800" b="1" dirty="0"/>
              <a:t>échelles des temps</a:t>
            </a:r>
            <a:r>
              <a:rPr lang="fr-FR" sz="2800" dirty="0"/>
              <a:t>, et des distances différenciés.</a:t>
            </a:r>
          </a:p>
          <a:p>
            <a:pPr>
              <a:buFont typeface="Wingdings" panose="05000000000000000000" pitchFamily="2" charset="2"/>
              <a:buChar char="Ø"/>
            </a:pPr>
            <a:r>
              <a:rPr lang="fr-SN" sz="2800" dirty="0"/>
              <a:t>La mobilité spatiale vise un </a:t>
            </a:r>
            <a:r>
              <a:rPr lang="fr-SN" sz="2800" b="1" dirty="0"/>
              <a:t>changement de position</a:t>
            </a:r>
            <a:r>
              <a:rPr lang="fr-SN" sz="2800" dirty="0"/>
              <a:t> dans l’espace géographique aux différentes :</a:t>
            </a:r>
          </a:p>
          <a:p>
            <a:pPr marL="0" indent="0">
              <a:buNone/>
            </a:pPr>
            <a:endParaRPr lang="fr-SN" sz="2800" dirty="0"/>
          </a:p>
          <a:p>
            <a:pPr lvl="1">
              <a:buFont typeface="Wingdings" panose="05000000000000000000" pitchFamily="2" charset="2"/>
              <a:buChar char="ü"/>
            </a:pPr>
            <a:r>
              <a:rPr lang="fr-SN" sz="2400" dirty="0"/>
              <a:t> </a:t>
            </a:r>
            <a:r>
              <a:rPr lang="fr-SN" sz="2400" b="1" dirty="0">
                <a:solidFill>
                  <a:srgbClr val="00B0F0"/>
                </a:solidFill>
              </a:rPr>
              <a:t>échelles d’espace</a:t>
            </a:r>
            <a:r>
              <a:rPr lang="fr-SN" sz="2400" dirty="0">
                <a:solidFill>
                  <a:srgbClr val="00B0F0"/>
                </a:solidFill>
              </a:rPr>
              <a:t> </a:t>
            </a:r>
            <a:r>
              <a:rPr lang="fr-SN" sz="2400" dirty="0"/>
              <a:t>(mouvements pendulaires quotidiens, migrations entre villes et campagnes, mouvements nationaux et transnationaux) </a:t>
            </a:r>
          </a:p>
          <a:p>
            <a:pPr lvl="1">
              <a:buFont typeface="Wingdings" panose="05000000000000000000" pitchFamily="2" charset="2"/>
              <a:buChar char="ü"/>
            </a:pPr>
            <a:r>
              <a:rPr lang="fr-SN" dirty="0"/>
              <a:t>et de </a:t>
            </a:r>
            <a:r>
              <a:rPr lang="fr-SN" b="1" dirty="0">
                <a:solidFill>
                  <a:srgbClr val="00B0F0"/>
                </a:solidFill>
              </a:rPr>
              <a:t>temps</a:t>
            </a:r>
            <a:r>
              <a:rPr lang="fr-SN" dirty="0"/>
              <a:t> (quotidien, hebdomadaire, saisonnier, pluriannuels, etc.) .</a:t>
            </a:r>
          </a:p>
          <a:p>
            <a:pPr lvl="1">
              <a:buFont typeface="Wingdings" panose="05000000000000000000" pitchFamily="2" charset="2"/>
              <a:buChar char="ü"/>
            </a:pPr>
            <a:r>
              <a:rPr lang="fr-SN" dirty="0"/>
              <a:t>pour des </a:t>
            </a:r>
            <a:r>
              <a:rPr lang="fr-SN" b="1" dirty="0">
                <a:solidFill>
                  <a:srgbClr val="00B0F0"/>
                </a:solidFill>
              </a:rPr>
              <a:t>motifs</a:t>
            </a:r>
            <a:r>
              <a:rPr lang="fr-SN" dirty="0"/>
              <a:t> variés (travail, loisirs, </a:t>
            </a:r>
            <a:r>
              <a:rPr lang="fr-SN" dirty="0" err="1"/>
              <a:t>etc</a:t>
            </a:r>
            <a:r>
              <a:rPr lang="fr-SN" dirty="0"/>
              <a:t>). </a:t>
            </a:r>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40923746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12" y="0"/>
            <a:ext cx="8229600" cy="778098"/>
          </a:xfrm>
        </p:spPr>
        <p:txBody>
          <a:bodyPr>
            <a:normAutofit fontScale="90000"/>
          </a:bodyPr>
          <a:lstStyle/>
          <a:p>
            <a:br>
              <a:rPr lang="fr-SN" b="1" dirty="0">
                <a:solidFill>
                  <a:srgbClr val="00B0F0"/>
                </a:solidFill>
              </a:rPr>
            </a:br>
            <a:r>
              <a:rPr lang="fr-SN" b="1" dirty="0">
                <a:solidFill>
                  <a:srgbClr val="00B0F0"/>
                </a:solidFill>
              </a:rPr>
              <a:t>III. L’analyse spatiale</a:t>
            </a:r>
            <a:br>
              <a:rPr lang="fr-SN" b="1" dirty="0">
                <a:solidFill>
                  <a:srgbClr val="00B0F0"/>
                </a:solidFill>
              </a:rPr>
            </a:br>
            <a:r>
              <a:rPr lang="fr-SN" b="1" dirty="0">
                <a:solidFill>
                  <a:srgbClr val="FF0000"/>
                </a:solidFill>
              </a:rPr>
              <a:t>6) Mobilités</a:t>
            </a:r>
            <a:endParaRPr lang="fr-FR" dirty="0">
              <a:solidFill>
                <a:srgbClr val="FF0000"/>
              </a:solidFill>
            </a:endParaRPr>
          </a:p>
        </p:txBody>
      </p:sp>
      <p:sp>
        <p:nvSpPr>
          <p:cNvPr id="3" name="Espace réservé du contenu 2"/>
          <p:cNvSpPr>
            <a:spLocks noGrp="1"/>
          </p:cNvSpPr>
          <p:nvPr>
            <p:ph idx="1"/>
          </p:nvPr>
        </p:nvSpPr>
        <p:spPr>
          <a:xfrm>
            <a:off x="107504" y="1268760"/>
            <a:ext cx="8928992" cy="5472608"/>
          </a:xfrm>
        </p:spPr>
        <p:txBody>
          <a:bodyPr>
            <a:normAutofit/>
          </a:bodyPr>
          <a:lstStyle/>
          <a:p>
            <a:pPr>
              <a:buFont typeface="Wingdings" panose="05000000000000000000" pitchFamily="2" charset="2"/>
              <a:buChar char="Ø"/>
            </a:pPr>
            <a:endParaRPr lang="fr-FR" sz="2800" dirty="0"/>
          </a:p>
          <a:p>
            <a:pPr>
              <a:buFont typeface="Wingdings" panose="05000000000000000000" pitchFamily="2" charset="2"/>
              <a:buChar char="Ø"/>
            </a:pPr>
            <a:r>
              <a:rPr lang="fr-FR" sz="2800" dirty="0"/>
              <a:t>En terme de mobilité, des réponses </a:t>
            </a:r>
            <a:r>
              <a:rPr lang="fr-FR" sz="2800" b="1" dirty="0"/>
              <a:t>spatialisées</a:t>
            </a:r>
            <a:r>
              <a:rPr lang="fr-FR" sz="2800" dirty="0"/>
              <a:t> comme les </a:t>
            </a:r>
            <a:r>
              <a:rPr lang="fr-FR" sz="2800" b="1" dirty="0"/>
              <a:t>pôles de compétitivité </a:t>
            </a:r>
            <a:r>
              <a:rPr lang="fr-FR" sz="2800" dirty="0"/>
              <a:t>sont des initiatives de politiques publiques pour réduire les distances et améliorer l’accessibilité. Exemple des </a:t>
            </a:r>
            <a:r>
              <a:rPr lang="fr-FR" sz="2800" b="1" dirty="0">
                <a:solidFill>
                  <a:srgbClr val="FF0000"/>
                </a:solidFill>
              </a:rPr>
              <a:t>ZES qui sont des espaces d’accueil </a:t>
            </a:r>
            <a:r>
              <a:rPr lang="fr-FR" sz="2800" dirty="0"/>
              <a:t>d’activités économiques (</a:t>
            </a:r>
            <a:r>
              <a:rPr lang="fr-FR" sz="2800" b="1" dirty="0">
                <a:solidFill>
                  <a:srgbClr val="FF0000"/>
                </a:solidFill>
              </a:rPr>
              <a:t>exemples???</a:t>
            </a:r>
            <a:r>
              <a:rPr lang="fr-FR" sz="2800" dirty="0"/>
              <a:t>) </a:t>
            </a:r>
          </a:p>
          <a:p>
            <a:pPr>
              <a:buFont typeface="Wingdings" panose="05000000000000000000" pitchFamily="2" charset="2"/>
              <a:buChar char="Ø"/>
            </a:pPr>
            <a:endParaRPr lang="fr-FR" sz="2800" dirty="0"/>
          </a:p>
          <a:p>
            <a:pPr>
              <a:buFont typeface="Wingdings" panose="05000000000000000000" pitchFamily="2" charset="2"/>
              <a:buChar char="Ø"/>
            </a:pPr>
            <a:r>
              <a:rPr lang="fr-FR" sz="2800" dirty="0"/>
              <a:t>Ceci est la base des exigences actuelles de choix urbanistiques ou d’aménagement du territoire, d’infrastructures et de gestion de la mobilité.</a:t>
            </a:r>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4267307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SN" b="1" dirty="0">
                <a:solidFill>
                  <a:srgbClr val="00B0F0"/>
                </a:solidFill>
              </a:rPr>
              <a:t>III. L’analyse spatiale</a:t>
            </a:r>
            <a:endParaRPr lang="fr-FR" dirty="0"/>
          </a:p>
        </p:txBody>
      </p:sp>
      <p:sp>
        <p:nvSpPr>
          <p:cNvPr id="3" name="Espace réservé du contenu 2"/>
          <p:cNvSpPr>
            <a:spLocks noGrp="1"/>
          </p:cNvSpPr>
          <p:nvPr>
            <p:ph idx="1"/>
          </p:nvPr>
        </p:nvSpPr>
        <p:spPr>
          <a:xfrm>
            <a:off x="457199" y="1600200"/>
            <a:ext cx="8691715" cy="5257800"/>
          </a:xfrm>
        </p:spPr>
        <p:txBody>
          <a:bodyPr>
            <a:normAutofit fontScale="85000" lnSpcReduction="20000"/>
          </a:bodyPr>
          <a:lstStyle/>
          <a:p>
            <a:pPr>
              <a:buFont typeface="Wingdings" panose="05000000000000000000" pitchFamily="2" charset="2"/>
              <a:buChar char="Ø"/>
            </a:pPr>
            <a:r>
              <a:rPr lang="fr-FR" dirty="0"/>
              <a:t>En Résumé, l’analyse spatiale met en évidence des </a:t>
            </a:r>
            <a:r>
              <a:rPr lang="fr-FR" b="1" dirty="0"/>
              <a:t>structures et des formes d’organisation spatiale </a:t>
            </a:r>
            <a:r>
              <a:rPr lang="fr-FR" dirty="0"/>
              <a:t>récurrentes. Par exemple les modèles centre-périphérie, les champs d’interaction; les trames urbaines hiérarchisées, les divers types de réseaux ou de territoires, etc.</a:t>
            </a:r>
          </a:p>
          <a:p>
            <a:pPr marL="0" indent="0">
              <a:buNone/>
            </a:pPr>
            <a:endParaRPr lang="fr-FR" dirty="0"/>
          </a:p>
          <a:p>
            <a:pPr>
              <a:buFont typeface="Wingdings" panose="05000000000000000000" pitchFamily="2" charset="2"/>
              <a:buChar char="Ø"/>
            </a:pPr>
            <a:r>
              <a:rPr lang="fr-FR" dirty="0"/>
              <a:t>Elle analyse des </a:t>
            </a:r>
            <a:r>
              <a:rPr lang="fr-FR" b="1" dirty="0"/>
              <a:t>processus</a:t>
            </a:r>
            <a:r>
              <a:rPr lang="fr-FR" dirty="0"/>
              <a:t> qui sont à l’origine de ces structures, à travers des concepts comme ceux de </a:t>
            </a:r>
            <a:r>
              <a:rPr lang="fr-FR" b="1" dirty="0"/>
              <a:t>distance, d’interactions, de polarisation, de centralité, de stratégie ou choix spatial</a:t>
            </a:r>
            <a:r>
              <a:rPr lang="fr-FR" dirty="0"/>
              <a:t>…</a:t>
            </a:r>
          </a:p>
          <a:p>
            <a:pPr>
              <a:buFont typeface="Wingdings" panose="05000000000000000000" pitchFamily="2" charset="2"/>
              <a:buChar char="Ø"/>
            </a:pPr>
            <a:endParaRPr lang="fr-FR" dirty="0"/>
          </a:p>
          <a:p>
            <a:pPr>
              <a:buFont typeface="Wingdings" panose="05000000000000000000" pitchFamily="2" charset="2"/>
              <a:buChar char="Ø"/>
            </a:pPr>
            <a:r>
              <a:rPr lang="fr-FR" dirty="0"/>
              <a:t>Des lois de la spatialité relient ces formes et ces processus, et sont intégrées dans des théories et des modèles.</a:t>
            </a:r>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9544870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83568" y="1916833"/>
            <a:ext cx="7992888" cy="1872208"/>
          </a:xfrm>
        </p:spPr>
        <p:txBody>
          <a:bodyPr>
            <a:normAutofit fontScale="90000"/>
          </a:bodyPr>
          <a:lstStyle/>
          <a:p>
            <a:br>
              <a:rPr lang="fr-SN" sz="6000" b="1" dirty="0">
                <a:solidFill>
                  <a:srgbClr val="00B0F0"/>
                </a:solidFill>
              </a:rPr>
            </a:br>
            <a:br>
              <a:rPr lang="fr-SN" sz="6000" b="1" dirty="0">
                <a:solidFill>
                  <a:srgbClr val="00B0F0"/>
                </a:solidFill>
              </a:rPr>
            </a:br>
            <a:r>
              <a:rPr lang="fr-SN" sz="6000" b="1" dirty="0">
                <a:solidFill>
                  <a:srgbClr val="00B0F0"/>
                </a:solidFill>
              </a:rPr>
              <a:t>IV. </a:t>
            </a:r>
            <a:r>
              <a:rPr lang="fr-FR" sz="4800" b="1" dirty="0">
                <a:solidFill>
                  <a:srgbClr val="00B0F0"/>
                </a:solidFill>
              </a:rPr>
              <a:t>La </a:t>
            </a:r>
            <a:r>
              <a:rPr lang="fr-SN" sz="4800" b="1" dirty="0">
                <a:solidFill>
                  <a:srgbClr val="00B0F0"/>
                </a:solidFill>
              </a:rPr>
              <a:t>production de l’Espace : Usages et règles</a:t>
            </a:r>
            <a:br>
              <a:rPr lang="fr-FR" sz="5400" dirty="0">
                <a:solidFill>
                  <a:srgbClr val="00B0F0"/>
                </a:solidFill>
              </a:rPr>
            </a:br>
            <a:br>
              <a:rPr lang="fr-FR" dirty="0">
                <a:solidFill>
                  <a:srgbClr val="00B0F0"/>
                </a:solidFill>
              </a:rPr>
            </a:br>
            <a:endParaRPr lang="fr-FR" dirty="0"/>
          </a:p>
        </p:txBody>
      </p:sp>
      <p:sp>
        <p:nvSpPr>
          <p:cNvPr id="3" name="Espace réservé du contenu 2"/>
          <p:cNvSpPr>
            <a:spLocks noGrp="1"/>
          </p:cNvSpPr>
          <p:nvPr>
            <p:ph type="subTitle" idx="1"/>
          </p:nvPr>
        </p:nvSpPr>
        <p:spPr/>
        <p:txBody>
          <a:bodyPr>
            <a:noAutofit/>
          </a:bodyPr>
          <a:lstStyle/>
          <a:p>
            <a:endParaRPr lang="fr-FR" sz="2400" dirty="0"/>
          </a:p>
          <a:p>
            <a:endParaRPr lang="fr-FR" sz="2800" dirty="0"/>
          </a:p>
        </p:txBody>
      </p:sp>
      <p:pic>
        <p:nvPicPr>
          <p:cNvPr id="4" name="officeArt object" descr="logo_UAM.jpg"/>
          <p:cNvPicPr/>
          <p:nvPr/>
        </p:nvPicPr>
        <p:blipFill>
          <a:blip r:embed="rId3"/>
          <a:stretch>
            <a:fillRect/>
          </a:stretch>
        </p:blipFill>
        <p:spPr>
          <a:xfrm>
            <a:off x="8100392" y="44624"/>
            <a:ext cx="1043608" cy="872867"/>
          </a:xfrm>
          <a:prstGeom prst="rect">
            <a:avLst/>
          </a:prstGeom>
          <a:ln w="12700" cap="flat">
            <a:noFill/>
            <a:miter lim="400000"/>
          </a:ln>
          <a:effectLst/>
        </p:spPr>
      </p:pic>
      <p:sp>
        <p:nvSpPr>
          <p:cNvPr id="2" name="Espace réservé du pied de page 1"/>
          <p:cNvSpPr>
            <a:spLocks noGrp="1"/>
          </p:cNvSpPr>
          <p:nvPr>
            <p:ph type="ftr" sz="quarter" idx="11"/>
          </p:nvPr>
        </p:nvSpPr>
        <p:spPr>
          <a:xfrm>
            <a:off x="755576" y="6093296"/>
            <a:ext cx="7560840" cy="365125"/>
          </a:xfrm>
        </p:spPr>
        <p:txBody>
          <a:bodyPr/>
          <a:lstStyle/>
          <a:p>
            <a:r>
              <a:rPr lang="fr-FR" sz="1800" dirty="0"/>
              <a:t>                                             Espaces et Territoires</a:t>
            </a:r>
          </a:p>
        </p:txBody>
      </p:sp>
    </p:spTree>
    <p:extLst>
      <p:ext uri="{BB962C8B-B14F-4D97-AF65-F5344CB8AC3E}">
        <p14:creationId xmlns:p14="http://schemas.microsoft.com/office/powerpoint/2010/main" val="25807209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29483"/>
            <a:ext cx="8229600" cy="1143000"/>
          </a:xfrm>
        </p:spPr>
        <p:txBody>
          <a:bodyPr>
            <a:normAutofit fontScale="90000"/>
          </a:bodyPr>
          <a:lstStyle/>
          <a:p>
            <a:r>
              <a:rPr lang="fr-FR" b="1" dirty="0">
                <a:solidFill>
                  <a:srgbClr val="00B0F0"/>
                </a:solidFill>
              </a:rPr>
              <a:t>La </a:t>
            </a:r>
            <a:r>
              <a:rPr lang="fr-SN" b="1" dirty="0">
                <a:solidFill>
                  <a:srgbClr val="00B0F0"/>
                </a:solidFill>
              </a:rPr>
              <a:t>production de l’Espace </a:t>
            </a:r>
            <a:br>
              <a:rPr lang="fr-SN" b="1" dirty="0">
                <a:solidFill>
                  <a:srgbClr val="00B0F0"/>
                </a:solidFill>
              </a:rPr>
            </a:br>
            <a:r>
              <a:rPr lang="fr-SN" b="1" dirty="0">
                <a:solidFill>
                  <a:srgbClr val="FF0000"/>
                </a:solidFill>
              </a:rPr>
              <a:t>Usages et règles</a:t>
            </a:r>
            <a:endParaRPr lang="fr-FR" dirty="0">
              <a:solidFill>
                <a:srgbClr val="FF0000"/>
              </a:solidFill>
            </a:endParaRPr>
          </a:p>
        </p:txBody>
      </p:sp>
      <p:sp>
        <p:nvSpPr>
          <p:cNvPr id="3" name="Espace réservé du contenu 2"/>
          <p:cNvSpPr>
            <a:spLocks noGrp="1"/>
          </p:cNvSpPr>
          <p:nvPr>
            <p:ph idx="1"/>
          </p:nvPr>
        </p:nvSpPr>
        <p:spPr>
          <a:xfrm>
            <a:off x="179512" y="1484784"/>
            <a:ext cx="8964488" cy="5256584"/>
          </a:xfrm>
        </p:spPr>
        <p:txBody>
          <a:bodyPr>
            <a:normAutofit fontScale="85000" lnSpcReduction="20000"/>
          </a:bodyPr>
          <a:lstStyle/>
          <a:p>
            <a:r>
              <a:rPr lang="fr-FR" dirty="0"/>
              <a:t>La production de l’espace obéit à des lois centre/périphérie, flux/réseaux, hiérarchie/rang… </a:t>
            </a:r>
          </a:p>
          <a:p>
            <a:pPr marL="0" indent="0">
              <a:buNone/>
            </a:pPr>
            <a:endParaRPr lang="fr-FR" dirty="0"/>
          </a:p>
          <a:p>
            <a:r>
              <a:rPr lang="fr-FR" dirty="0"/>
              <a:t>Les processus sont complexes et sont bâtis à travers des </a:t>
            </a:r>
            <a:r>
              <a:rPr lang="fr-FR" b="1" dirty="0"/>
              <a:t>usages</a:t>
            </a:r>
            <a:r>
              <a:rPr lang="fr-FR" dirty="0"/>
              <a:t> organisés autour de </a:t>
            </a:r>
            <a:r>
              <a:rPr lang="fr-FR" b="1" dirty="0"/>
              <a:t>règles</a:t>
            </a:r>
            <a:r>
              <a:rPr lang="fr-FR" dirty="0"/>
              <a:t> et de normes.</a:t>
            </a:r>
          </a:p>
          <a:p>
            <a:r>
              <a:rPr lang="fr-SN" dirty="0"/>
              <a:t>Les </a:t>
            </a:r>
            <a:r>
              <a:rPr lang="fr-SN" b="1" dirty="0">
                <a:solidFill>
                  <a:srgbClr val="00B0F0"/>
                </a:solidFill>
              </a:rPr>
              <a:t>usages </a:t>
            </a:r>
            <a:r>
              <a:rPr lang="fr-SN"/>
              <a:t>de l’espace:</a:t>
            </a:r>
          </a:p>
          <a:p>
            <a:pPr marL="0" indent="0">
              <a:buNone/>
            </a:pPr>
            <a:endParaRPr lang="fr-SN" sz="2800" dirty="0"/>
          </a:p>
          <a:p>
            <a:pPr lvl="2">
              <a:buFont typeface="Wingdings" panose="05000000000000000000" pitchFamily="2" charset="2"/>
              <a:buChar char="ü"/>
            </a:pPr>
            <a:r>
              <a:rPr lang="fr-SN" sz="2800" dirty="0"/>
              <a:t>  </a:t>
            </a:r>
            <a:r>
              <a:rPr lang="fr-FR" sz="2800"/>
              <a:t>occupation, </a:t>
            </a:r>
          </a:p>
          <a:p>
            <a:pPr lvl="2">
              <a:buFont typeface="Wingdings" panose="05000000000000000000" pitchFamily="2" charset="2"/>
              <a:buChar char="ü"/>
            </a:pPr>
            <a:r>
              <a:rPr lang="fr-FR" sz="2800" dirty="0"/>
              <a:t>appropriation, </a:t>
            </a:r>
          </a:p>
          <a:p>
            <a:pPr lvl="2">
              <a:buFont typeface="Wingdings" panose="05000000000000000000" pitchFamily="2" charset="2"/>
              <a:buChar char="ü"/>
            </a:pPr>
            <a:r>
              <a:rPr lang="fr-FR" sz="2800" dirty="0"/>
              <a:t>exploitation, </a:t>
            </a:r>
          </a:p>
          <a:p>
            <a:pPr lvl="2">
              <a:buFont typeface="Wingdings" panose="05000000000000000000" pitchFamily="2" charset="2"/>
              <a:buChar char="ü"/>
            </a:pPr>
            <a:r>
              <a:rPr lang="fr-FR" sz="2800" dirty="0"/>
              <a:t>habitation,</a:t>
            </a:r>
          </a:p>
          <a:p>
            <a:pPr lvl="2">
              <a:buFont typeface="Wingdings" panose="05000000000000000000" pitchFamily="2" charset="2"/>
              <a:buChar char="ü"/>
            </a:pPr>
            <a:r>
              <a:rPr lang="fr-FR" sz="2800" dirty="0"/>
              <a:t>Échange</a:t>
            </a:r>
          </a:p>
          <a:p>
            <a:pPr lvl="2">
              <a:buFont typeface="Wingdings" panose="05000000000000000000" pitchFamily="2" charset="2"/>
              <a:buChar char="ü"/>
            </a:pPr>
            <a:r>
              <a:rPr lang="fr-FR" sz="2800" dirty="0"/>
              <a:t> gestion. </a:t>
            </a:r>
          </a:p>
          <a:p>
            <a:endParaRPr lang="fr-FR" sz="2800" dirty="0"/>
          </a:p>
          <a:p>
            <a:pPr marL="0" indent="0">
              <a:buNone/>
            </a:pPr>
            <a:endParaRPr lang="fr-FR" dirty="0"/>
          </a:p>
          <a:p>
            <a:pPr marL="0" indent="0">
              <a:buNone/>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30422423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27" y="0"/>
            <a:ext cx="8229600" cy="1143000"/>
          </a:xfrm>
        </p:spPr>
        <p:txBody>
          <a:bodyPr>
            <a:normAutofit fontScale="90000"/>
          </a:bodyPr>
          <a:lstStyle/>
          <a:p>
            <a:r>
              <a:rPr lang="fr-FR" b="1">
                <a:solidFill>
                  <a:srgbClr val="00B0F0"/>
                </a:solidFill>
              </a:rPr>
              <a:t>La </a:t>
            </a:r>
            <a:r>
              <a:rPr lang="fr-SN" b="1">
                <a:solidFill>
                  <a:srgbClr val="00B0F0"/>
                </a:solidFill>
              </a:rPr>
              <a:t>production de l’Espace </a:t>
            </a:r>
            <a:br>
              <a:rPr lang="fr-SN" b="1">
                <a:solidFill>
                  <a:srgbClr val="00B0F0"/>
                </a:solidFill>
              </a:rPr>
            </a:br>
            <a:r>
              <a:rPr lang="fr-SN" b="1">
                <a:solidFill>
                  <a:srgbClr val="FF0000"/>
                </a:solidFill>
              </a:rPr>
              <a:t>Usages et règles</a:t>
            </a:r>
            <a:endParaRPr lang="fr-FR" dirty="0"/>
          </a:p>
        </p:txBody>
      </p:sp>
      <p:sp>
        <p:nvSpPr>
          <p:cNvPr id="3" name="Espace réservé du contenu 2"/>
          <p:cNvSpPr>
            <a:spLocks noGrp="1"/>
          </p:cNvSpPr>
          <p:nvPr>
            <p:ph idx="1"/>
          </p:nvPr>
        </p:nvSpPr>
        <p:spPr>
          <a:xfrm>
            <a:off x="6504" y="1600200"/>
            <a:ext cx="8892480" cy="5257800"/>
          </a:xfrm>
        </p:spPr>
        <p:txBody>
          <a:bodyPr>
            <a:normAutofit fontScale="85000" lnSpcReduction="10000"/>
          </a:bodyPr>
          <a:lstStyle/>
          <a:p>
            <a:r>
              <a:rPr lang="fr-FR" dirty="0"/>
              <a:t>L’espace est un lieu de </a:t>
            </a:r>
            <a:r>
              <a:rPr lang="fr-FR" b="1" dirty="0">
                <a:solidFill>
                  <a:srgbClr val="00B0F0"/>
                </a:solidFill>
              </a:rPr>
              <a:t>réglementation</a:t>
            </a:r>
            <a:r>
              <a:rPr lang="fr-FR" dirty="0"/>
              <a:t> des pratiques.</a:t>
            </a:r>
          </a:p>
          <a:p>
            <a:pPr marL="0" indent="0">
              <a:buNone/>
            </a:pPr>
            <a:endParaRPr lang="fr-FR" dirty="0"/>
          </a:p>
          <a:p>
            <a:r>
              <a:rPr lang="fr-FR" dirty="0"/>
              <a:t>Existence de normes juridiques (textes légaux et réglementaires) qui encadrent l’utilisation de l’espace.</a:t>
            </a:r>
          </a:p>
          <a:p>
            <a:endParaRPr lang="fr-FR" dirty="0"/>
          </a:p>
          <a:p>
            <a:r>
              <a:rPr lang="fr-FR" dirty="0"/>
              <a:t>L’espace est régi, régulé, gouverné par des </a:t>
            </a:r>
            <a:r>
              <a:rPr lang="fr-FR" b="1" dirty="0"/>
              <a:t>normes</a:t>
            </a:r>
            <a:r>
              <a:rPr lang="fr-FR" dirty="0"/>
              <a:t> : Coefficient d’occupation du sol (COS); Coefficient d’utilisation du sol (CUS); etc.)</a:t>
            </a:r>
          </a:p>
          <a:p>
            <a:endParaRPr lang="fr-FR" dirty="0"/>
          </a:p>
          <a:p>
            <a:r>
              <a:rPr lang="fr-FR" dirty="0"/>
              <a:t>Le </a:t>
            </a:r>
            <a:r>
              <a:rPr lang="fr-FR" b="1" dirty="0"/>
              <a:t>coefficient d'occupation des sols</a:t>
            </a:r>
            <a:r>
              <a:rPr lang="fr-FR" dirty="0"/>
              <a:t> (COS) est une règle d'urbanisme cruciale qui exprime  un rapport permettant de mesurer la densité de l'occupation du sol d'une zone.</a:t>
            </a:r>
          </a:p>
          <a:p>
            <a:pPr marL="0" indent="0">
              <a:buNone/>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6199874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a:solidFill>
                  <a:srgbClr val="00B0F0"/>
                </a:solidFill>
              </a:rPr>
              <a:t>La </a:t>
            </a:r>
            <a:r>
              <a:rPr lang="fr-SN" b="1">
                <a:solidFill>
                  <a:srgbClr val="00B0F0"/>
                </a:solidFill>
              </a:rPr>
              <a:t>production de l’Espace </a:t>
            </a:r>
            <a:br>
              <a:rPr lang="fr-SN" b="1">
                <a:solidFill>
                  <a:srgbClr val="00B0F0"/>
                </a:solidFill>
              </a:rPr>
            </a:br>
            <a:r>
              <a:rPr lang="fr-SN" b="1">
                <a:solidFill>
                  <a:srgbClr val="FF0000"/>
                </a:solidFill>
              </a:rPr>
              <a:t>Usages et règles</a:t>
            </a:r>
            <a:endParaRPr lang="fr-FR" dirty="0"/>
          </a:p>
        </p:txBody>
      </p:sp>
      <p:sp>
        <p:nvSpPr>
          <p:cNvPr id="3" name="Espace réservé du contenu 2"/>
          <p:cNvSpPr>
            <a:spLocks noGrp="1"/>
          </p:cNvSpPr>
          <p:nvPr>
            <p:ph idx="1"/>
          </p:nvPr>
        </p:nvSpPr>
        <p:spPr/>
        <p:txBody>
          <a:bodyPr>
            <a:normAutofit fontScale="92500" lnSpcReduction="10000"/>
          </a:bodyPr>
          <a:lstStyle/>
          <a:p>
            <a:pPr>
              <a:buFont typeface="Wingdings" panose="05000000000000000000" pitchFamily="2" charset="2"/>
              <a:buChar char="Ø"/>
            </a:pPr>
            <a:r>
              <a:rPr lang="fr-FR" dirty="0"/>
              <a:t>L’espace, c’est aussi par des </a:t>
            </a:r>
            <a:r>
              <a:rPr lang="fr-FR" b="1" dirty="0"/>
              <a:t>règles,</a:t>
            </a:r>
            <a:r>
              <a:rPr lang="fr-FR" dirty="0"/>
              <a:t> </a:t>
            </a:r>
            <a:r>
              <a:rPr lang="fr-FR" b="1" dirty="0"/>
              <a:t>codes</a:t>
            </a:r>
            <a:r>
              <a:rPr lang="fr-FR" dirty="0"/>
              <a:t>, lois, règlements (Code de l’urbanisme, Code de l’environnement…) établis sur la base de </a:t>
            </a:r>
            <a:r>
              <a:rPr lang="fr-FR" b="1" dirty="0"/>
              <a:t>documents de planification</a:t>
            </a:r>
          </a:p>
          <a:p>
            <a:pPr>
              <a:buFont typeface="Wingdings" panose="05000000000000000000" pitchFamily="2" charset="2"/>
              <a:buChar char="Ø"/>
            </a:pPr>
            <a:endParaRPr lang="fr-FR" dirty="0"/>
          </a:p>
          <a:p>
            <a:pPr>
              <a:buFont typeface="Wingdings" panose="05000000000000000000" pitchFamily="2" charset="2"/>
              <a:buChar char="Ø"/>
            </a:pPr>
            <a:r>
              <a:rPr lang="fr-FR" b="1" dirty="0">
                <a:solidFill>
                  <a:srgbClr val="FF0000"/>
                </a:solidFill>
              </a:rPr>
              <a:t>Exemple</a:t>
            </a:r>
            <a:r>
              <a:rPr lang="fr-FR" dirty="0"/>
              <a:t>: L’urbanisme réglementaire permet d’</a:t>
            </a:r>
            <a:r>
              <a:rPr lang="fr-FR" b="1" dirty="0"/>
              <a:t>encadrer</a:t>
            </a:r>
            <a:r>
              <a:rPr lang="fr-FR" dirty="0"/>
              <a:t> et de </a:t>
            </a:r>
            <a:r>
              <a:rPr lang="fr-FR" b="1" dirty="0"/>
              <a:t>coordonner</a:t>
            </a:r>
            <a:r>
              <a:rPr lang="fr-FR" dirty="0"/>
              <a:t> le développement et l’aménagement des villes tout en définissant des </a:t>
            </a:r>
            <a:r>
              <a:rPr lang="fr-FR" b="1" dirty="0"/>
              <a:t>règles d’urbanisation </a:t>
            </a:r>
            <a:r>
              <a:rPr lang="fr-FR" dirty="0"/>
              <a:t>consignés dans des </a:t>
            </a:r>
            <a:r>
              <a:rPr lang="fr-FR" b="1" dirty="0"/>
              <a:t>documents de planification</a:t>
            </a:r>
          </a:p>
          <a:p>
            <a:pPr>
              <a:buFont typeface="Wingdings" panose="05000000000000000000" pitchFamily="2" charset="2"/>
              <a:buChar char="Ø"/>
            </a:pPr>
            <a:endParaRPr lang="fr-FR" dirty="0"/>
          </a:p>
          <a:p>
            <a:pPr marL="0" indent="0">
              <a:buNone/>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21727005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solidFill>
                  <a:srgbClr val="00B0F0"/>
                </a:solidFill>
              </a:rPr>
              <a:t>La </a:t>
            </a:r>
            <a:r>
              <a:rPr lang="fr-SN" b="1" dirty="0">
                <a:solidFill>
                  <a:srgbClr val="00B0F0"/>
                </a:solidFill>
              </a:rPr>
              <a:t>production de l’Espace </a:t>
            </a:r>
            <a:br>
              <a:rPr lang="fr-SN" b="1" dirty="0">
                <a:solidFill>
                  <a:srgbClr val="00B0F0"/>
                </a:solidFill>
              </a:rPr>
            </a:br>
            <a:r>
              <a:rPr lang="fr-SN" b="1" dirty="0">
                <a:solidFill>
                  <a:srgbClr val="FF0000"/>
                </a:solidFill>
              </a:rPr>
              <a:t>Usages et règles</a:t>
            </a:r>
            <a:endParaRPr lang="fr-FR"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SN" b="1" dirty="0">
                <a:solidFill>
                  <a:srgbClr val="00B0F0"/>
                </a:solidFill>
              </a:rPr>
              <a:t>Quelques documents de planification</a:t>
            </a:r>
            <a:endParaRPr lang="fr-FR" b="1" dirty="0">
              <a:solidFill>
                <a:srgbClr val="00B0F0"/>
              </a:solidFill>
            </a:endParaRPr>
          </a:p>
          <a:p>
            <a:pPr>
              <a:buFont typeface="Wingdings" panose="05000000000000000000" pitchFamily="2" charset="2"/>
              <a:buChar char="Ø"/>
            </a:pPr>
            <a:r>
              <a:rPr lang="fr-FR" dirty="0"/>
              <a:t>France : </a:t>
            </a:r>
            <a:r>
              <a:rPr lang="fr-FR" altLang="fr-FR" dirty="0"/>
              <a:t>Plan d'occupation des sols remplacé par le Plan local d'urbanisme (</a:t>
            </a:r>
            <a:r>
              <a:rPr lang="fr-FR" altLang="fr-FR" b="1" dirty="0">
                <a:solidFill>
                  <a:schemeClr val="hlink"/>
                </a:solidFill>
              </a:rPr>
              <a:t>PLU</a:t>
            </a:r>
            <a:r>
              <a:rPr lang="fr-FR" altLang="fr-FR" dirty="0"/>
              <a:t>); carte communale; etc.</a:t>
            </a:r>
          </a:p>
          <a:p>
            <a:pPr>
              <a:buFont typeface="Wingdings" panose="05000000000000000000" pitchFamily="2" charset="2"/>
              <a:buChar char="Ø"/>
            </a:pPr>
            <a:r>
              <a:rPr lang="fr-FR" altLang="fr-FR" dirty="0"/>
              <a:t> Québec: le schéma d'aménagement et le plan de </a:t>
            </a:r>
            <a:r>
              <a:rPr lang="fr-FR" altLang="fr-FR" b="1" dirty="0">
                <a:solidFill>
                  <a:schemeClr val="hlink"/>
                </a:solidFill>
              </a:rPr>
              <a:t>zonage </a:t>
            </a:r>
            <a:r>
              <a:rPr lang="fr-FR" altLang="fr-FR" dirty="0"/>
              <a:t>etc.</a:t>
            </a:r>
            <a:endParaRPr lang="fr-FR" altLang="fr-FR" b="1" dirty="0">
              <a:solidFill>
                <a:schemeClr val="hlink"/>
              </a:solidFill>
            </a:endParaRPr>
          </a:p>
          <a:p>
            <a:pPr>
              <a:buFont typeface="Wingdings" panose="05000000000000000000" pitchFamily="2" charset="2"/>
              <a:buChar char="Ø"/>
            </a:pPr>
            <a:r>
              <a:rPr lang="fr-FR" altLang="fr-FR" dirty="0"/>
              <a:t>Tunisie: Plan d’Aménagement Urbain </a:t>
            </a:r>
            <a:r>
              <a:rPr lang="fr-FR" altLang="fr-FR" b="1" dirty="0">
                <a:solidFill>
                  <a:schemeClr val="hlink"/>
                </a:solidFill>
              </a:rPr>
              <a:t>PAU </a:t>
            </a:r>
            <a:r>
              <a:rPr lang="fr-FR" altLang="fr-FR" dirty="0"/>
              <a:t>etc.</a:t>
            </a:r>
          </a:p>
          <a:p>
            <a:pPr marL="0" indent="0">
              <a:buNone/>
            </a:pPr>
            <a:endParaRPr lang="fr-FR" altLang="fr-FR" b="1" dirty="0">
              <a:solidFill>
                <a:schemeClr val="hlink"/>
              </a:solidFill>
            </a:endParaRPr>
          </a:p>
          <a:p>
            <a:pPr>
              <a:buFont typeface="Wingdings" panose="05000000000000000000" pitchFamily="2" charset="2"/>
              <a:buChar char="Ø"/>
            </a:pPr>
            <a:r>
              <a:rPr lang="fr-FR" altLang="fr-FR" dirty="0"/>
              <a:t>Sénégal: </a:t>
            </a:r>
            <a:r>
              <a:rPr lang="fr-FR" altLang="fr-FR" b="1" dirty="0">
                <a:solidFill>
                  <a:srgbClr val="FF0000"/>
                </a:solidFill>
              </a:rPr>
              <a:t>????</a:t>
            </a:r>
          </a:p>
          <a:p>
            <a:pPr marL="0" indent="0">
              <a:buNone/>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30326788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solidFill>
                  <a:srgbClr val="00B0F0"/>
                </a:solidFill>
              </a:rPr>
              <a:t>La </a:t>
            </a:r>
            <a:r>
              <a:rPr lang="fr-SN" b="1" dirty="0">
                <a:solidFill>
                  <a:srgbClr val="00B0F0"/>
                </a:solidFill>
              </a:rPr>
              <a:t>production de l’Espace </a:t>
            </a:r>
            <a:br>
              <a:rPr lang="fr-SN" b="1" dirty="0">
                <a:solidFill>
                  <a:srgbClr val="00B0F0"/>
                </a:solidFill>
              </a:rPr>
            </a:br>
            <a:r>
              <a:rPr lang="fr-SN" b="1" dirty="0">
                <a:solidFill>
                  <a:srgbClr val="FF0000"/>
                </a:solidFill>
              </a:rPr>
              <a:t>Usages et règles</a:t>
            </a:r>
            <a:endParaRPr lang="fr-FR" dirty="0"/>
          </a:p>
        </p:txBody>
      </p:sp>
      <p:sp>
        <p:nvSpPr>
          <p:cNvPr id="3" name="Espace réservé du contenu 2"/>
          <p:cNvSpPr>
            <a:spLocks noGrp="1"/>
          </p:cNvSpPr>
          <p:nvPr>
            <p:ph idx="1"/>
          </p:nvPr>
        </p:nvSpPr>
        <p:spPr/>
        <p:txBody>
          <a:bodyPr>
            <a:normAutofit fontScale="77500" lnSpcReduction="20000"/>
          </a:bodyPr>
          <a:lstStyle/>
          <a:p>
            <a:pPr marL="0" indent="0">
              <a:buNone/>
            </a:pPr>
            <a:r>
              <a:rPr lang="fr-FR" dirty="0"/>
              <a:t>Au </a:t>
            </a:r>
            <a:r>
              <a:rPr lang="fr-FR" b="1" dirty="0" err="1"/>
              <a:t>Sénégal</a:t>
            </a:r>
            <a:r>
              <a:rPr lang="fr-FR" dirty="0" err="1"/>
              <a:t>,des</a:t>
            </a:r>
            <a:r>
              <a:rPr lang="fr-FR" dirty="0"/>
              <a:t> documents de planification tels que:</a:t>
            </a:r>
          </a:p>
          <a:p>
            <a:pPr marL="0" indent="0">
              <a:buNone/>
            </a:pPr>
            <a:endParaRPr lang="fr-FR" dirty="0"/>
          </a:p>
          <a:p>
            <a:pPr>
              <a:buFont typeface="Wingdings" panose="05000000000000000000" pitchFamily="2" charset="2"/>
              <a:buChar char="Ø"/>
            </a:pPr>
            <a:r>
              <a:rPr lang="fr-FR" b="1" dirty="0">
                <a:solidFill>
                  <a:srgbClr val="0070C0"/>
                </a:solidFill>
              </a:rPr>
              <a:t>SDAU</a:t>
            </a:r>
            <a:r>
              <a:rPr lang="fr-FR" dirty="0"/>
              <a:t>: Schéma Directeur d’Aménagement du Territoire</a:t>
            </a:r>
          </a:p>
          <a:p>
            <a:pPr>
              <a:buFont typeface="Wingdings" panose="05000000000000000000" pitchFamily="2" charset="2"/>
              <a:buChar char="Ø"/>
            </a:pPr>
            <a:r>
              <a:rPr lang="fr-FR" b="1" dirty="0">
                <a:solidFill>
                  <a:srgbClr val="0070C0"/>
                </a:solidFill>
              </a:rPr>
              <a:t>SNAT</a:t>
            </a:r>
            <a:r>
              <a:rPr lang="fr-FR" dirty="0"/>
              <a:t> : Schéma National d’Aménagement du Territoire</a:t>
            </a:r>
          </a:p>
          <a:p>
            <a:pPr>
              <a:buFont typeface="Wingdings" panose="05000000000000000000" pitchFamily="2" charset="2"/>
              <a:buChar char="Ø"/>
            </a:pPr>
            <a:endParaRPr lang="fr-FR" dirty="0"/>
          </a:p>
          <a:p>
            <a:pPr>
              <a:buFont typeface="Wingdings" panose="05000000000000000000" pitchFamily="2" charset="2"/>
              <a:buChar char="Ø"/>
            </a:pPr>
            <a:r>
              <a:rPr lang="fr-FR" b="1" dirty="0">
                <a:solidFill>
                  <a:srgbClr val="0070C0"/>
                </a:solidFill>
              </a:rPr>
              <a:t>PNADT</a:t>
            </a:r>
            <a:r>
              <a:rPr lang="fr-FR" dirty="0"/>
              <a:t> : Plan National d’Aménagement et de Développement Territorial </a:t>
            </a:r>
          </a:p>
          <a:p>
            <a:pPr marL="0" indent="0">
              <a:buNone/>
            </a:pPr>
            <a:endParaRPr lang="fr-FR" dirty="0"/>
          </a:p>
          <a:p>
            <a:pPr>
              <a:buFont typeface="Wingdings" panose="05000000000000000000" pitchFamily="2" charset="2"/>
              <a:buChar char="Ø"/>
            </a:pPr>
            <a:r>
              <a:rPr lang="fr-FR" b="1" dirty="0">
                <a:solidFill>
                  <a:srgbClr val="0070C0"/>
                </a:solidFill>
              </a:rPr>
              <a:t>PDU</a:t>
            </a:r>
            <a:r>
              <a:rPr lang="fr-FR" dirty="0"/>
              <a:t>: Plan Directeur d’Urbanisme</a:t>
            </a:r>
          </a:p>
          <a:p>
            <a:pPr marL="0" indent="0">
              <a:buNone/>
            </a:pPr>
            <a:endParaRPr lang="fr-FR" dirty="0"/>
          </a:p>
          <a:p>
            <a:pPr>
              <a:buFont typeface="Wingdings" panose="05000000000000000000" pitchFamily="2" charset="2"/>
              <a:buChar char="Ø"/>
            </a:pPr>
            <a:r>
              <a:rPr lang="fr-FR" b="1" dirty="0">
                <a:solidFill>
                  <a:srgbClr val="0070C0"/>
                </a:solidFill>
              </a:rPr>
              <a:t>PUD</a:t>
            </a:r>
            <a:r>
              <a:rPr lang="fr-FR" dirty="0"/>
              <a:t>: Plan d’Urbanisme de détails</a:t>
            </a:r>
          </a:p>
          <a:p>
            <a:pPr>
              <a:buFont typeface="Wingdings" panose="05000000000000000000" pitchFamily="2" charset="2"/>
              <a:buChar char="Ø"/>
            </a:pPr>
            <a:r>
              <a:rPr lang="fr-FR" dirty="0"/>
              <a:t>Etc….</a:t>
            </a:r>
          </a:p>
          <a:p>
            <a:pPr marL="0" indent="0">
              <a:buNone/>
            </a:pPr>
            <a:endParaRPr lang="fr-FR" dirty="0"/>
          </a:p>
          <a:p>
            <a:endParaRPr lang="fr-FR" dirty="0"/>
          </a:p>
        </p:txBody>
      </p:sp>
      <p:pic>
        <p:nvPicPr>
          <p:cNvPr id="4" name="officeArt object" descr="logo_UAM.jpg"/>
          <p:cNvPicPr/>
          <p:nvPr/>
        </p:nvPicPr>
        <p:blipFill>
          <a:blip r:embed="rId2"/>
          <a:stretch>
            <a:fillRect/>
          </a:stretch>
        </p:blipFill>
        <p:spPr>
          <a:xfrm>
            <a:off x="8068795" y="0"/>
            <a:ext cx="1080120" cy="980727"/>
          </a:xfrm>
          <a:prstGeom prst="rect">
            <a:avLst/>
          </a:prstGeom>
          <a:ln w="12700" cap="flat">
            <a:noFill/>
            <a:miter lim="400000"/>
          </a:ln>
          <a:effectLst/>
        </p:spPr>
      </p:pic>
    </p:spTree>
    <p:extLst>
      <p:ext uri="{BB962C8B-B14F-4D97-AF65-F5344CB8AC3E}">
        <p14:creationId xmlns:p14="http://schemas.microsoft.com/office/powerpoint/2010/main" val="39165761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83" y="13462"/>
            <a:ext cx="8363272" cy="779814"/>
          </a:xfrm>
        </p:spPr>
        <p:txBody>
          <a:bodyPr/>
          <a:lstStyle/>
          <a:p>
            <a:r>
              <a:rPr lang="fr-FR" b="1" dirty="0">
                <a:solidFill>
                  <a:srgbClr val="00B0F0"/>
                </a:solidFill>
                <a:latin typeface="Calibri" panose="020F0502020204030204" pitchFamily="34" charset="0"/>
                <a:cs typeface="Calibri" panose="020F0502020204030204" pitchFamily="34" charset="0"/>
              </a:rPr>
              <a:t>Conclusion chapitre 1</a:t>
            </a:r>
            <a:endParaRPr lang="fr-FR" dirty="0"/>
          </a:p>
        </p:txBody>
      </p:sp>
      <p:sp>
        <p:nvSpPr>
          <p:cNvPr id="3" name="Espace réservé du contenu 2"/>
          <p:cNvSpPr>
            <a:spLocks noGrp="1"/>
          </p:cNvSpPr>
          <p:nvPr>
            <p:ph idx="1"/>
          </p:nvPr>
        </p:nvSpPr>
        <p:spPr>
          <a:xfrm>
            <a:off x="107504" y="1268760"/>
            <a:ext cx="8928992" cy="5544616"/>
          </a:xfrm>
        </p:spPr>
        <p:txBody>
          <a:bodyPr>
            <a:normAutofit lnSpcReduction="10000"/>
          </a:bodyPr>
          <a:lstStyle/>
          <a:p>
            <a:pPr marL="82296" indent="0">
              <a:buNone/>
            </a:pPr>
            <a:r>
              <a:rPr lang="fr-FR" b="1" dirty="0">
                <a:latin typeface="Calibri" panose="020F0502020204030204" pitchFamily="34" charset="0"/>
                <a:cs typeface="Calibri" panose="020F0502020204030204" pitchFamily="34" charset="0"/>
              </a:rPr>
              <a:t>Quatre (4) grandes parties à retenir</a:t>
            </a:r>
            <a:r>
              <a:rPr lang="fr-FR" dirty="0">
                <a:latin typeface="Calibri" panose="020F0502020204030204" pitchFamily="34" charset="0"/>
                <a:cs typeface="Calibri" panose="020F0502020204030204" pitchFamily="34" charset="0"/>
              </a:rPr>
              <a:t>:</a:t>
            </a:r>
          </a:p>
          <a:p>
            <a:pPr marL="514350" indent="-514350">
              <a:buFont typeface="+mj-lt"/>
              <a:buAutoNum type="arabicParenR"/>
            </a:pPr>
            <a:r>
              <a:rPr lang="fr-FR" dirty="0">
                <a:latin typeface="Calibri" panose="020F0502020204030204" pitchFamily="34" charset="0"/>
                <a:cs typeface="Calibri" panose="020F0502020204030204" pitchFamily="34" charset="0"/>
              </a:rPr>
              <a:t>Concept d’Espace Géographique: définitions; approches pluridisciplinaires, </a:t>
            </a:r>
            <a:r>
              <a:rPr lang="fr-FR" dirty="0" err="1">
                <a:latin typeface="Calibri" panose="020F0502020204030204" pitchFamily="34" charset="0"/>
                <a:cs typeface="Calibri" panose="020F0502020204030204" pitchFamily="34" charset="0"/>
              </a:rPr>
              <a:t>systéme</a:t>
            </a:r>
            <a:r>
              <a:rPr lang="fr-FR" dirty="0">
                <a:latin typeface="Calibri" panose="020F0502020204030204" pitchFamily="34" charset="0"/>
                <a:cs typeface="Calibri" panose="020F0502020204030204" pitchFamily="34" charset="0"/>
              </a:rPr>
              <a:t> spatial</a:t>
            </a:r>
          </a:p>
          <a:p>
            <a:pPr marL="514350" indent="-514350">
              <a:buFont typeface="+mj-lt"/>
              <a:buAutoNum type="arabicParenR"/>
            </a:pPr>
            <a:endParaRPr lang="fr-FR" dirty="0">
              <a:latin typeface="Calibri" panose="020F0502020204030204" pitchFamily="34" charset="0"/>
              <a:cs typeface="Calibri" panose="020F0502020204030204" pitchFamily="34" charset="0"/>
            </a:endParaRPr>
          </a:p>
          <a:p>
            <a:pPr marL="514350" indent="-514350">
              <a:buFont typeface="+mj-lt"/>
              <a:buAutoNum type="arabicParenR"/>
            </a:pPr>
            <a:r>
              <a:rPr lang="fr-SN" dirty="0">
                <a:latin typeface="Calibri" panose="020F0502020204030204" pitchFamily="34" charset="0"/>
                <a:cs typeface="Calibri" panose="020F0502020204030204" pitchFamily="34" charset="0"/>
              </a:rPr>
              <a:t>Composantes et enjeux de l’espace géographique</a:t>
            </a:r>
          </a:p>
          <a:p>
            <a:pPr marL="514350" indent="-514350">
              <a:buFont typeface="+mj-lt"/>
              <a:buAutoNum type="arabicParenR"/>
            </a:pPr>
            <a:endParaRPr lang="fr-SN" dirty="0">
              <a:latin typeface="Calibri" panose="020F0502020204030204" pitchFamily="34" charset="0"/>
              <a:cs typeface="Calibri" panose="020F0502020204030204" pitchFamily="34" charset="0"/>
            </a:endParaRPr>
          </a:p>
          <a:p>
            <a:pPr marL="514350" indent="-514350">
              <a:buFont typeface="+mj-lt"/>
              <a:buAutoNum type="arabicParenR"/>
            </a:pPr>
            <a:r>
              <a:rPr lang="fr-SN" dirty="0">
                <a:latin typeface="Calibri" panose="020F0502020204030204" pitchFamily="34" charset="0"/>
                <a:cs typeface="Calibri" panose="020F0502020204030204" pitchFamily="34" charset="0"/>
              </a:rPr>
              <a:t>L’analyse spatiale: lois, échelles, distance et application dans les mobilités</a:t>
            </a:r>
          </a:p>
          <a:p>
            <a:pPr marL="514350" indent="-514350">
              <a:buFont typeface="+mj-lt"/>
              <a:buAutoNum type="arabicParenR"/>
            </a:pPr>
            <a:endParaRPr lang="fr-SN" dirty="0">
              <a:latin typeface="Calibri" panose="020F0502020204030204" pitchFamily="34" charset="0"/>
              <a:cs typeface="Calibri" panose="020F0502020204030204" pitchFamily="34" charset="0"/>
            </a:endParaRPr>
          </a:p>
          <a:p>
            <a:pPr marL="514350" indent="-514350">
              <a:buFont typeface="+mj-lt"/>
              <a:buAutoNum type="arabicParenR"/>
            </a:pPr>
            <a:r>
              <a:rPr lang="fr-SN" dirty="0">
                <a:latin typeface="Calibri" panose="020F0502020204030204" pitchFamily="34" charset="0"/>
                <a:cs typeface="Calibri" panose="020F0502020204030204" pitchFamily="34" charset="0"/>
              </a:rPr>
              <a:t>La production de l’espace : usages, règles, normes </a:t>
            </a:r>
          </a:p>
          <a:p>
            <a:pPr marL="514350" indent="-514350">
              <a:buFont typeface="+mj-lt"/>
              <a:buAutoNum type="arabicParenR"/>
            </a:pPr>
            <a:endParaRPr lang="fr-FR" dirty="0">
              <a:latin typeface="Calibri" panose="020F0502020204030204" pitchFamily="34" charset="0"/>
              <a:cs typeface="Calibri" panose="020F0502020204030204" pitchFamily="34" charset="0"/>
            </a:endParaRPr>
          </a:p>
          <a:p>
            <a:pPr marL="514350" indent="-514350">
              <a:buFont typeface="+mj-lt"/>
              <a:buAutoNum type="arabicParenR"/>
            </a:pPr>
            <a:endParaRPr lang="fr-FR" dirty="0">
              <a:latin typeface="Calibri" panose="020F0502020204030204" pitchFamily="34" charset="0"/>
              <a:cs typeface="Calibri" panose="020F0502020204030204" pitchFamily="34" charset="0"/>
            </a:endParaRPr>
          </a:p>
          <a:p>
            <a:pPr marL="0" indent="0">
              <a:buNone/>
            </a:pPr>
            <a:endParaRPr lang="fr-FR" dirty="0">
              <a:latin typeface="Calibri" panose="020F0502020204030204" pitchFamily="34" charset="0"/>
              <a:cs typeface="Calibri" panose="020F0502020204030204" pitchFamily="34" charset="0"/>
            </a:endParaRPr>
          </a:p>
          <a:p>
            <a:endParaRPr lang="fr-FR" dirty="0"/>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26857251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9483"/>
            <a:ext cx="8229600" cy="778098"/>
          </a:xfrm>
        </p:spPr>
        <p:txBody>
          <a:bodyPr/>
          <a:lstStyle/>
          <a:p>
            <a:r>
              <a:rPr lang="fr-SN" b="1">
                <a:solidFill>
                  <a:srgbClr val="00B0F0"/>
                </a:solidFill>
              </a:rPr>
              <a:t>Conclusion </a:t>
            </a:r>
            <a:r>
              <a:rPr lang="fr-FR" b="1">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a:xfrm>
            <a:off x="457200" y="1052736"/>
            <a:ext cx="8686800" cy="5805264"/>
          </a:xfrm>
        </p:spPr>
        <p:txBody>
          <a:bodyPr>
            <a:normAutofit fontScale="92500" lnSpcReduction="20000"/>
          </a:bodyPr>
          <a:lstStyle/>
          <a:p>
            <a:endParaRPr lang="fr-FR" dirty="0"/>
          </a:p>
          <a:p>
            <a:r>
              <a:rPr lang="fr-FR" dirty="0"/>
              <a:t>De l’espace cosmique à l’espace géographique</a:t>
            </a:r>
          </a:p>
          <a:p>
            <a:pPr marL="0" indent="0">
              <a:buNone/>
            </a:pPr>
            <a:endParaRPr lang="fr-FR" dirty="0"/>
          </a:p>
          <a:p>
            <a:r>
              <a:rPr lang="fr-SN" dirty="0"/>
              <a:t>On parle d’espace cosmique lorsqu’on </a:t>
            </a:r>
            <a:r>
              <a:rPr lang="fr-SN" dirty="0" err="1"/>
              <a:t>considére</a:t>
            </a:r>
            <a:r>
              <a:rPr lang="fr-SN" dirty="0"/>
              <a:t> l’espace comme étant un « Tout », l’Univers, le « </a:t>
            </a:r>
            <a:r>
              <a:rPr lang="fr-SN" b="1" dirty="0" err="1"/>
              <a:t>comos</a:t>
            </a:r>
            <a:r>
              <a:rPr lang="fr-SN" b="1" dirty="0"/>
              <a:t> </a:t>
            </a:r>
            <a:r>
              <a:rPr lang="fr-SN" dirty="0"/>
              <a:t>»</a:t>
            </a:r>
          </a:p>
          <a:p>
            <a:r>
              <a:rPr lang="fr-SN" dirty="0"/>
              <a:t>Dans ce cours, seul  l’</a:t>
            </a:r>
            <a:r>
              <a:rPr lang="fr-SN" b="1" dirty="0"/>
              <a:t>Espace géographique </a:t>
            </a:r>
            <a:r>
              <a:rPr lang="fr-SN" dirty="0"/>
              <a:t>est considéré</a:t>
            </a:r>
          </a:p>
          <a:p>
            <a:pPr marL="0" indent="0">
              <a:buNone/>
            </a:pPr>
            <a:endParaRPr lang="fr-FR" dirty="0"/>
          </a:p>
          <a:p>
            <a:r>
              <a:rPr lang="fr-FR" dirty="0"/>
              <a:t>L'approche géographique de l'espace est, de longue date, ouverte à des valeurs psychosociologiques intrinsèques, attentive à la manière dont l'espace est physiquement</a:t>
            </a:r>
            <a:r>
              <a:rPr lang="fr-FR" b="1" dirty="0"/>
              <a:t> occupé</a:t>
            </a:r>
            <a:r>
              <a:rPr lang="fr-FR" dirty="0"/>
              <a:t>, pratiquement </a:t>
            </a:r>
            <a:r>
              <a:rPr lang="fr-FR" b="1" dirty="0"/>
              <a:t>vécu</a:t>
            </a:r>
            <a:r>
              <a:rPr lang="fr-FR" dirty="0"/>
              <a:t>, cognitivement</a:t>
            </a:r>
            <a:r>
              <a:rPr lang="fr-FR" b="1" dirty="0"/>
              <a:t> représenté</a:t>
            </a:r>
            <a:r>
              <a:rPr lang="fr-FR" dirty="0"/>
              <a:t>, sensiblement</a:t>
            </a:r>
            <a:r>
              <a:rPr lang="fr-FR" b="1" dirty="0"/>
              <a:t> perçu</a:t>
            </a:r>
            <a:r>
              <a:rPr lang="fr-FR" dirty="0"/>
              <a:t>...</a:t>
            </a:r>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17258848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634" y="0"/>
            <a:ext cx="8229600" cy="634082"/>
          </a:xfrm>
        </p:spPr>
        <p:txBody>
          <a:bodyPr>
            <a:normAutofit fontScale="90000"/>
          </a:bodyPr>
          <a:lstStyle/>
          <a:p>
            <a:r>
              <a:rPr lang="fr-SN" b="1" dirty="0">
                <a:solidFill>
                  <a:srgbClr val="00B0F0"/>
                </a:solidFill>
              </a:rPr>
              <a:t>Conclusion </a:t>
            </a:r>
            <a:r>
              <a:rPr lang="fr-FR" b="1" dirty="0">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p:txBody>
          <a:bodyPr>
            <a:normAutofit lnSpcReduction="10000"/>
          </a:bodyPr>
          <a:lstStyle/>
          <a:p>
            <a:pPr>
              <a:buFont typeface="Wingdings" panose="05000000000000000000" pitchFamily="2" charset="2"/>
              <a:buChar char="Ø"/>
            </a:pPr>
            <a:r>
              <a:rPr lang="fr-FR" dirty="0"/>
              <a:t>Lieu: Un espace concret, différencié et souvent personnifié par un nom (Toponyme), il correspond à un élément de localisation essentiel d’une faible étendue (P. GEORGES, Dictionnaire de la Géographie, 2004).</a:t>
            </a:r>
          </a:p>
          <a:p>
            <a:pPr marL="0" indent="0">
              <a:buNone/>
            </a:pPr>
            <a:endParaRPr lang="fr-FR" dirty="0"/>
          </a:p>
          <a:p>
            <a:pPr>
              <a:buFont typeface="Wingdings" panose="05000000000000000000" pitchFamily="2" charset="2"/>
              <a:buChar char="Ø"/>
            </a:pPr>
            <a:r>
              <a:rPr lang="fr-FR" dirty="0"/>
              <a:t>Lieu</a:t>
            </a:r>
            <a:r>
              <a:rPr lang="fr-FR" b="1" dirty="0">
                <a:solidFill>
                  <a:srgbClr val="FF0000"/>
                </a:solidFill>
              </a:rPr>
              <a:t>x</a:t>
            </a:r>
            <a:r>
              <a:rPr lang="fr-FR" dirty="0"/>
              <a:t>: situés les uns par rapport aux autres et connectés les uns avec les autres et qui structurent l’espace géographique.</a:t>
            </a:r>
          </a:p>
          <a:p>
            <a:pPr>
              <a:buFont typeface="Wingdings" panose="05000000000000000000" pitchFamily="2" charset="2"/>
              <a:buChar char="Ø"/>
            </a:pPr>
            <a:endParaRPr lang="fr-FR" dirty="0"/>
          </a:p>
          <a:p>
            <a:pPr>
              <a:buFont typeface="Wingdings" panose="05000000000000000000" pitchFamily="2" charset="2"/>
              <a:buChar char="Ø"/>
            </a:pPr>
            <a:endParaRPr lang="fr-FR" dirty="0"/>
          </a:p>
          <a:p>
            <a:endParaRPr lang="fr-FR" dirty="0"/>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41406549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634" y="0"/>
            <a:ext cx="8229600" cy="634082"/>
          </a:xfrm>
        </p:spPr>
        <p:txBody>
          <a:bodyPr>
            <a:normAutofit fontScale="90000"/>
          </a:bodyPr>
          <a:lstStyle/>
          <a:p>
            <a:r>
              <a:rPr lang="fr-SN" b="1" dirty="0">
                <a:solidFill>
                  <a:srgbClr val="00B0F0"/>
                </a:solidFill>
              </a:rPr>
              <a:t>Conclusion </a:t>
            </a:r>
            <a:r>
              <a:rPr lang="fr-FR" b="1" dirty="0">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a:xfrm>
            <a:off x="457200" y="1600200"/>
            <a:ext cx="8607388" cy="5069160"/>
          </a:xfrm>
        </p:spPr>
        <p:txBody>
          <a:bodyPr>
            <a:normAutofit/>
          </a:bodyPr>
          <a:lstStyle/>
          <a:p>
            <a:pPr>
              <a:buFont typeface="Wingdings" panose="05000000000000000000" pitchFamily="2" charset="2"/>
              <a:buChar char="Ø"/>
            </a:pPr>
            <a:r>
              <a:rPr lang="fr-FR" b="1" dirty="0"/>
              <a:t>Le réseau: ensemble de lieux liés entre eux par des liens matériels</a:t>
            </a:r>
            <a:r>
              <a:rPr lang="fr-FR" dirty="0"/>
              <a:t>(voies de communication) ou immatériels (flux d’information)</a:t>
            </a:r>
          </a:p>
          <a:p>
            <a:pPr>
              <a:buFont typeface="Wingdings" panose="05000000000000000000" pitchFamily="2" charset="2"/>
              <a:buChar char="Ø"/>
            </a:pPr>
            <a:endParaRPr lang="fr-FR" dirty="0"/>
          </a:p>
          <a:p>
            <a:r>
              <a:rPr lang="fr-FR" dirty="0"/>
              <a:t>Les réseaux sont comparés aux </a:t>
            </a:r>
            <a:r>
              <a:rPr lang="fr-FR" b="1" dirty="0">
                <a:solidFill>
                  <a:srgbClr val="FF0000"/>
                </a:solidFill>
              </a:rPr>
              <a:t>vaisseaux sanguins</a:t>
            </a:r>
            <a:r>
              <a:rPr lang="fr-FR" dirty="0"/>
              <a:t> de l’espace géographique</a:t>
            </a:r>
          </a:p>
          <a:p>
            <a:pPr>
              <a:buFont typeface="Wingdings" panose="05000000000000000000" pitchFamily="2" charset="2"/>
              <a:buChar char="Ø"/>
            </a:pPr>
            <a:endParaRPr lang="fr-FR" dirty="0"/>
          </a:p>
          <a:p>
            <a:pPr>
              <a:buFont typeface="Wingdings" panose="05000000000000000000" pitchFamily="2" charset="2"/>
              <a:buChar char="Ø"/>
            </a:pPr>
            <a:endParaRPr lang="fr-FR" dirty="0"/>
          </a:p>
          <a:p>
            <a:endParaRPr lang="fr-FR" dirty="0"/>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19791965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451" y="-27384"/>
            <a:ext cx="8197913" cy="709124"/>
          </a:xfrm>
        </p:spPr>
        <p:txBody>
          <a:bodyPr>
            <a:normAutofit fontScale="90000"/>
          </a:bodyPr>
          <a:lstStyle/>
          <a:p>
            <a:r>
              <a:rPr lang="fr-SN" b="1" dirty="0">
                <a:solidFill>
                  <a:srgbClr val="00B0F0"/>
                </a:solidFill>
              </a:rPr>
              <a:t>Conclusion </a:t>
            </a:r>
            <a:r>
              <a:rPr lang="fr-FR" b="1" dirty="0">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a:xfrm>
            <a:off x="323528" y="1196752"/>
            <a:ext cx="8741060" cy="5472608"/>
          </a:xfrm>
        </p:spPr>
        <p:txBody>
          <a:bodyPr>
            <a:normAutofit/>
          </a:bodyPr>
          <a:lstStyle/>
          <a:p>
            <a:r>
              <a:rPr lang="fr-FR" dirty="0"/>
              <a:t>Espace : étendue limitée de la surface terrestre ;</a:t>
            </a:r>
          </a:p>
          <a:p>
            <a:endParaRPr lang="fr-FR" dirty="0"/>
          </a:p>
          <a:p>
            <a:r>
              <a:rPr lang="fr-FR" dirty="0"/>
              <a:t>Espace géographique = traduction spatiale des actions humaines dans un milieu</a:t>
            </a:r>
          </a:p>
          <a:p>
            <a:endParaRPr lang="fr-FR" dirty="0"/>
          </a:p>
          <a:p>
            <a:r>
              <a:rPr lang="fr-FR" dirty="0"/>
              <a:t>Un espace devient géographique quand il a reçu un aménagement spécifique qui le distingue d’un autre (Isnard,1978)</a:t>
            </a:r>
          </a:p>
          <a:p>
            <a:endParaRPr lang="fr-FR" dirty="0"/>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24214827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6" y="0"/>
            <a:ext cx="8229600" cy="778098"/>
          </a:xfrm>
        </p:spPr>
        <p:txBody>
          <a:bodyPr/>
          <a:lstStyle/>
          <a:p>
            <a:r>
              <a:rPr lang="fr-SN" b="1" dirty="0">
                <a:solidFill>
                  <a:srgbClr val="00B0F0"/>
                </a:solidFill>
              </a:rPr>
              <a:t>Conclusion </a:t>
            </a:r>
            <a:r>
              <a:rPr lang="fr-FR" b="1" dirty="0">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p:txBody>
          <a:bodyPr/>
          <a:lstStyle/>
          <a:p>
            <a:r>
              <a:rPr lang="fr-FR" dirty="0"/>
              <a:t>L’espace est réinterprété, divisé par secteurs (espace industriel, touristique, agricole), par des limites (urbain, rural, périurbain…) par une échelle (local, national, global...)</a:t>
            </a:r>
          </a:p>
          <a:p>
            <a:endParaRPr lang="fr-FR" dirty="0"/>
          </a:p>
          <a:p>
            <a:endParaRPr lang="fr-FR" dirty="0"/>
          </a:p>
          <a:p>
            <a:r>
              <a:rPr lang="fr-FR" dirty="0"/>
              <a:t>L’espace est un support de l’action mais aussi un instrument de l’activité</a:t>
            </a:r>
          </a:p>
        </p:txBody>
      </p:sp>
      <p:pic>
        <p:nvPicPr>
          <p:cNvPr id="4" name="officeArt object" descr="logo_UAM.jpg"/>
          <p:cNvPicPr/>
          <p:nvPr/>
        </p:nvPicPr>
        <p:blipFill>
          <a:blip r:embed="rId2"/>
          <a:stretch>
            <a:fillRect/>
          </a:stretch>
        </p:blipFill>
        <p:spPr>
          <a:xfrm>
            <a:off x="7884368" y="0"/>
            <a:ext cx="1043608" cy="872867"/>
          </a:xfrm>
          <a:prstGeom prst="rect">
            <a:avLst/>
          </a:prstGeom>
          <a:ln w="12700" cap="flat">
            <a:noFill/>
            <a:miter lim="400000"/>
          </a:ln>
          <a:effectLst/>
        </p:spPr>
      </p:pic>
    </p:spTree>
    <p:extLst>
      <p:ext uri="{BB962C8B-B14F-4D97-AF65-F5344CB8AC3E}">
        <p14:creationId xmlns:p14="http://schemas.microsoft.com/office/powerpoint/2010/main" val="23945722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451" y="29471"/>
            <a:ext cx="8229600" cy="621808"/>
          </a:xfrm>
        </p:spPr>
        <p:txBody>
          <a:bodyPr>
            <a:normAutofit fontScale="90000"/>
          </a:bodyPr>
          <a:lstStyle/>
          <a:p>
            <a:r>
              <a:rPr lang="fr-SN" b="1" dirty="0">
                <a:solidFill>
                  <a:srgbClr val="00B0F0"/>
                </a:solidFill>
              </a:rPr>
              <a:t>Conclusion </a:t>
            </a:r>
            <a:r>
              <a:rPr lang="fr-FR" b="1" dirty="0">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a:xfrm>
            <a:off x="457200" y="1124744"/>
            <a:ext cx="8607388" cy="5733256"/>
          </a:xfrm>
        </p:spPr>
        <p:txBody>
          <a:bodyPr>
            <a:normAutofit fontScale="85000" lnSpcReduction="10000"/>
          </a:bodyPr>
          <a:lstStyle/>
          <a:p>
            <a:r>
              <a:rPr lang="fr-FR" dirty="0"/>
              <a:t>L’espace est pensé autour des concepts de </a:t>
            </a:r>
            <a:r>
              <a:rPr lang="fr-FR" b="1" dirty="0"/>
              <a:t>distance</a:t>
            </a:r>
            <a:r>
              <a:rPr lang="fr-FR" dirty="0"/>
              <a:t>, de place, de </a:t>
            </a:r>
            <a:r>
              <a:rPr lang="fr-FR" b="1" dirty="0"/>
              <a:t>centralité, </a:t>
            </a:r>
            <a:r>
              <a:rPr lang="fr-FR" dirty="0"/>
              <a:t>d’accessibilité, de proximité. L’intégration de la dimension spatiale au-delà du concept pose la question des </a:t>
            </a:r>
            <a:r>
              <a:rPr lang="fr-FR" b="1" dirty="0"/>
              <a:t>formes</a:t>
            </a:r>
            <a:r>
              <a:rPr lang="fr-FR" dirty="0"/>
              <a:t> (aire, lieux, réseaux), des technologies et des stratégies spatiales.</a:t>
            </a:r>
          </a:p>
          <a:p>
            <a:endParaRPr lang="fr-FR" dirty="0"/>
          </a:p>
          <a:p>
            <a:r>
              <a:rPr lang="fr-FR" dirty="0"/>
              <a:t>L’espace est un objet pertinent d’analyse. De plus en plus les dichotomies sont déconstruites par une manière plus systémique de penser l’espace mais aussi par l’évolution des méthodes.</a:t>
            </a:r>
          </a:p>
          <a:p>
            <a:endParaRPr lang="fr-FR" dirty="0"/>
          </a:p>
          <a:p>
            <a:r>
              <a:rPr lang="fr-FR" dirty="0"/>
              <a:t> Il n’y a plus de cloisonnement entre la géographie physique et humaine, la société et la nature, le social et le spatial, l’urbain et le rural, l’agriculture et l’industrie…</a:t>
            </a:r>
          </a:p>
          <a:p>
            <a:endParaRPr lang="fr-FR" dirty="0"/>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37344331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451" y="29471"/>
            <a:ext cx="8229600" cy="621808"/>
          </a:xfrm>
        </p:spPr>
        <p:txBody>
          <a:bodyPr>
            <a:normAutofit fontScale="90000"/>
          </a:bodyPr>
          <a:lstStyle/>
          <a:p>
            <a:r>
              <a:rPr lang="fr-SN" b="1" dirty="0">
                <a:solidFill>
                  <a:srgbClr val="00B0F0"/>
                </a:solidFill>
              </a:rPr>
              <a:t>Conclusion </a:t>
            </a:r>
            <a:r>
              <a:rPr lang="fr-FR" b="1" dirty="0">
                <a:solidFill>
                  <a:srgbClr val="00B0F0"/>
                </a:solidFill>
                <a:latin typeface="Calibri" panose="020F0502020204030204" pitchFamily="34" charset="0"/>
                <a:cs typeface="Calibri" panose="020F0502020204030204" pitchFamily="34" charset="0"/>
              </a:rPr>
              <a:t>chapitre 1</a:t>
            </a:r>
            <a:endParaRPr lang="fr-FR" dirty="0"/>
          </a:p>
        </p:txBody>
      </p:sp>
      <p:sp>
        <p:nvSpPr>
          <p:cNvPr id="3" name="Espace réservé du contenu 2"/>
          <p:cNvSpPr>
            <a:spLocks noGrp="1"/>
          </p:cNvSpPr>
          <p:nvPr>
            <p:ph idx="1"/>
          </p:nvPr>
        </p:nvSpPr>
        <p:spPr>
          <a:xfrm>
            <a:off x="457200" y="1412776"/>
            <a:ext cx="8686800" cy="5328592"/>
          </a:xfrm>
        </p:spPr>
        <p:txBody>
          <a:bodyPr>
            <a:normAutofit lnSpcReduction="10000"/>
          </a:bodyPr>
          <a:lstStyle/>
          <a:p>
            <a:r>
              <a:rPr lang="fr-FR" dirty="0"/>
              <a:t>Les instruments méthodologiques sont devenus plus </a:t>
            </a:r>
            <a:r>
              <a:rPr lang="fr-FR" b="1" dirty="0">
                <a:solidFill>
                  <a:srgbClr val="FF0000"/>
                </a:solidFill>
              </a:rPr>
              <a:t>performants</a:t>
            </a:r>
            <a:r>
              <a:rPr lang="fr-FR" dirty="0"/>
              <a:t> : SIG, Géomatique, informatique…</a:t>
            </a:r>
          </a:p>
          <a:p>
            <a:endParaRPr lang="fr-FR" dirty="0"/>
          </a:p>
          <a:p>
            <a:r>
              <a:rPr lang="fr-FR" dirty="0"/>
              <a:t>La comparaison est devenue un outil méthodologique fondamental dans un contexte nouveau de </a:t>
            </a:r>
            <a:r>
              <a:rPr lang="fr-FR" b="1" dirty="0"/>
              <a:t>mise en connexion des lieux</a:t>
            </a:r>
            <a:r>
              <a:rPr lang="fr-FR" dirty="0"/>
              <a:t>, de mise en valeur des particularités. </a:t>
            </a:r>
          </a:p>
          <a:p>
            <a:pPr marL="0" indent="0">
              <a:buNone/>
            </a:pPr>
            <a:endParaRPr lang="fr-FR" dirty="0"/>
          </a:p>
          <a:p>
            <a:r>
              <a:rPr lang="fr-FR" dirty="0"/>
              <a:t>On pense l’espace dans une logique de production mais de manière intégrée.</a:t>
            </a:r>
          </a:p>
          <a:p>
            <a:endParaRPr lang="fr-FR" dirty="0"/>
          </a:p>
        </p:txBody>
      </p:sp>
      <p:pic>
        <p:nvPicPr>
          <p:cNvPr id="4" name="officeArt object" descr="logo_UAM.jpg"/>
          <p:cNvPicPr/>
          <p:nvPr/>
        </p:nvPicPr>
        <p:blipFill>
          <a:blip r:embed="rId2"/>
          <a:stretch>
            <a:fillRect/>
          </a:stretch>
        </p:blipFill>
        <p:spPr>
          <a:xfrm>
            <a:off x="8020980" y="23579"/>
            <a:ext cx="1043608" cy="872867"/>
          </a:xfrm>
          <a:prstGeom prst="rect">
            <a:avLst/>
          </a:prstGeom>
          <a:ln w="12700" cap="flat">
            <a:noFill/>
            <a:miter lim="400000"/>
          </a:ln>
          <a:effectLst/>
        </p:spPr>
      </p:pic>
    </p:spTree>
    <p:extLst>
      <p:ext uri="{BB962C8B-B14F-4D97-AF65-F5344CB8AC3E}">
        <p14:creationId xmlns:p14="http://schemas.microsoft.com/office/powerpoint/2010/main" val="5861516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83568" y="1916833"/>
            <a:ext cx="7992888" cy="1872208"/>
          </a:xfrm>
        </p:spPr>
        <p:txBody>
          <a:bodyPr>
            <a:normAutofit fontScale="90000"/>
          </a:bodyPr>
          <a:lstStyle/>
          <a:p>
            <a:br>
              <a:rPr lang="fr-SN" sz="6000" b="1" dirty="0">
                <a:solidFill>
                  <a:srgbClr val="00B0F0"/>
                </a:solidFill>
              </a:rPr>
            </a:br>
            <a:br>
              <a:rPr lang="fr-SN" sz="6000" b="1" dirty="0">
                <a:solidFill>
                  <a:srgbClr val="00B0F0"/>
                </a:solidFill>
              </a:rPr>
            </a:br>
            <a:r>
              <a:rPr lang="fr-SN" sz="6000" b="1" dirty="0">
                <a:solidFill>
                  <a:srgbClr val="00B0F0"/>
                </a:solidFill>
              </a:rPr>
              <a:t>Références bibliographiques</a:t>
            </a:r>
            <a:br>
              <a:rPr lang="fr-FR" sz="5400" dirty="0">
                <a:solidFill>
                  <a:srgbClr val="00B0F0"/>
                </a:solidFill>
              </a:rPr>
            </a:br>
            <a:br>
              <a:rPr lang="fr-FR" dirty="0">
                <a:solidFill>
                  <a:srgbClr val="00B0F0"/>
                </a:solidFill>
              </a:rPr>
            </a:br>
            <a:endParaRPr lang="fr-FR" dirty="0"/>
          </a:p>
        </p:txBody>
      </p:sp>
      <p:sp>
        <p:nvSpPr>
          <p:cNvPr id="3" name="Espace réservé du contenu 2"/>
          <p:cNvSpPr>
            <a:spLocks noGrp="1"/>
          </p:cNvSpPr>
          <p:nvPr>
            <p:ph type="subTitle" idx="1"/>
          </p:nvPr>
        </p:nvSpPr>
        <p:spPr/>
        <p:txBody>
          <a:bodyPr>
            <a:noAutofit/>
          </a:bodyPr>
          <a:lstStyle/>
          <a:p>
            <a:endParaRPr lang="fr-FR" sz="2400" dirty="0"/>
          </a:p>
          <a:p>
            <a:endParaRPr lang="fr-FR" sz="2800" dirty="0"/>
          </a:p>
        </p:txBody>
      </p:sp>
      <p:pic>
        <p:nvPicPr>
          <p:cNvPr id="4" name="officeArt object" descr="logo_UAM.jpg"/>
          <p:cNvPicPr/>
          <p:nvPr/>
        </p:nvPicPr>
        <p:blipFill>
          <a:blip r:embed="rId3"/>
          <a:stretch>
            <a:fillRect/>
          </a:stretch>
        </p:blipFill>
        <p:spPr>
          <a:xfrm>
            <a:off x="8100392" y="44624"/>
            <a:ext cx="1043608" cy="872867"/>
          </a:xfrm>
          <a:prstGeom prst="rect">
            <a:avLst/>
          </a:prstGeom>
          <a:ln w="12700" cap="flat">
            <a:noFill/>
            <a:miter lim="400000"/>
          </a:ln>
          <a:effectLst/>
        </p:spPr>
      </p:pic>
      <p:sp>
        <p:nvSpPr>
          <p:cNvPr id="2" name="Espace réservé du pied de page 1"/>
          <p:cNvSpPr>
            <a:spLocks noGrp="1"/>
          </p:cNvSpPr>
          <p:nvPr>
            <p:ph type="ftr" sz="quarter" idx="11"/>
          </p:nvPr>
        </p:nvSpPr>
        <p:spPr>
          <a:xfrm>
            <a:off x="755576" y="6093296"/>
            <a:ext cx="7560840" cy="365125"/>
          </a:xfrm>
        </p:spPr>
        <p:txBody>
          <a:bodyPr/>
          <a:lstStyle/>
          <a:p>
            <a:r>
              <a:rPr lang="fr-FR" sz="1800" dirty="0"/>
              <a:t>                                  Espaces et Territoires</a:t>
            </a:r>
          </a:p>
        </p:txBody>
      </p:sp>
    </p:spTree>
    <p:extLst>
      <p:ext uri="{BB962C8B-B14F-4D97-AF65-F5344CB8AC3E}">
        <p14:creationId xmlns:p14="http://schemas.microsoft.com/office/powerpoint/2010/main" val="2308948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706090"/>
          </a:xfrm>
        </p:spPr>
        <p:txBody>
          <a:bodyPr>
            <a:normAutofit fontScale="90000"/>
          </a:bodyPr>
          <a:lstStyle/>
          <a:p>
            <a:endParaRPr lang="fr-FR" dirty="0"/>
          </a:p>
        </p:txBody>
      </p:sp>
      <p:sp>
        <p:nvSpPr>
          <p:cNvPr id="3" name="Espace réservé du contenu 2"/>
          <p:cNvSpPr>
            <a:spLocks noGrp="1"/>
          </p:cNvSpPr>
          <p:nvPr>
            <p:ph idx="1"/>
          </p:nvPr>
        </p:nvSpPr>
        <p:spPr>
          <a:xfrm>
            <a:off x="251520" y="1340768"/>
            <a:ext cx="8892480" cy="5328592"/>
          </a:xfrm>
        </p:spPr>
        <p:txBody>
          <a:bodyPr>
            <a:normAutofit fontScale="77500" lnSpcReduction="20000"/>
          </a:bodyPr>
          <a:lstStyle/>
          <a:p>
            <a:pPr lvl="0"/>
            <a:r>
              <a:rPr lang="en-US" dirty="0"/>
              <a:t>BORD Jean-Paul La carte, </a:t>
            </a:r>
            <a:r>
              <a:rPr lang="en-US" dirty="0" err="1"/>
              <a:t>l’espace</a:t>
            </a:r>
            <a:r>
              <a:rPr lang="en-US" dirty="0"/>
              <a:t> et le </a:t>
            </a:r>
            <a:r>
              <a:rPr lang="en-US" dirty="0" err="1"/>
              <a:t>territoire</a:t>
            </a:r>
            <a:r>
              <a:rPr lang="en-US" dirty="0"/>
              <a:t> pp207-218 in JEAN Yves et CALENGE Christian “Lire les </a:t>
            </a:r>
            <a:r>
              <a:rPr lang="en-US" dirty="0" err="1"/>
              <a:t>territoires</a:t>
            </a:r>
            <a:r>
              <a:rPr lang="en-US" dirty="0"/>
              <a:t>”. Presses </a:t>
            </a:r>
            <a:r>
              <a:rPr lang="en-US" dirty="0" err="1"/>
              <a:t>Universitaires</a:t>
            </a:r>
            <a:r>
              <a:rPr lang="en-US" dirty="0"/>
              <a:t> François Rabelais. </a:t>
            </a:r>
            <a:r>
              <a:rPr lang="en-US" u="sng" dirty="0">
                <a:hlinkClick r:id="rId2"/>
              </a:rPr>
              <a:t>https://books.openedition.org/pufr/1802?lang=fr</a:t>
            </a:r>
            <a:endParaRPr lang="fr-FR" dirty="0"/>
          </a:p>
          <a:p>
            <a:endParaRPr lang="fr-FR" dirty="0"/>
          </a:p>
          <a:p>
            <a:r>
              <a:rPr lang="fr-FR" dirty="0"/>
              <a:t>Brunet Roger, La composition des modèles dans l'analyse spatiale . In: Espace géographique, tome 9, n°4, 1980. pp. 253-265; </a:t>
            </a:r>
            <a:r>
              <a:rPr lang="fr-FR" dirty="0" err="1"/>
              <a:t>doi</a:t>
            </a:r>
            <a:r>
              <a:rPr lang="fr-FR" dirty="0"/>
              <a:t> : 10.3406/spgeo.1980.3572 </a:t>
            </a:r>
            <a:r>
              <a:rPr lang="fr-FR" dirty="0">
                <a:hlinkClick r:id="rId3"/>
              </a:rPr>
              <a:t>http://www.persee.fr/doc/spgeo_0046-2497_1980_num_9_4_3572</a:t>
            </a:r>
            <a:endParaRPr lang="fr-FR" dirty="0"/>
          </a:p>
          <a:p>
            <a:r>
              <a:rPr lang="fr-SN" dirty="0"/>
              <a:t>DI MEO Guy, 2001. Géographie Sociale et territoires. Editions Nathan, 317p. </a:t>
            </a:r>
          </a:p>
          <a:p>
            <a:pPr lvl="0"/>
            <a:r>
              <a:rPr lang="en-US" dirty="0"/>
              <a:t>LUSSAULT M., 2000, "</a:t>
            </a:r>
            <a:r>
              <a:rPr lang="en-US" dirty="0" err="1"/>
              <a:t>Chapitre</a:t>
            </a:r>
            <a:r>
              <a:rPr lang="en-US" dirty="0"/>
              <a:t> 1 : Action(s) !", in </a:t>
            </a:r>
            <a:r>
              <a:rPr lang="en-US" dirty="0" err="1"/>
              <a:t>Logiques</a:t>
            </a:r>
            <a:r>
              <a:rPr lang="en-US" dirty="0"/>
              <a:t> de </a:t>
            </a:r>
            <a:r>
              <a:rPr lang="en-US" dirty="0" err="1"/>
              <a:t>l'espace</a:t>
            </a:r>
            <a:r>
              <a:rPr lang="en-US" dirty="0"/>
              <a:t>, esprit des </a:t>
            </a:r>
            <a:r>
              <a:rPr lang="en-US" dirty="0" err="1"/>
              <a:t>lieux</a:t>
            </a:r>
            <a:r>
              <a:rPr lang="en-US" dirty="0"/>
              <a:t>. </a:t>
            </a:r>
            <a:r>
              <a:rPr lang="en-US" dirty="0" err="1"/>
              <a:t>Géographie</a:t>
            </a:r>
            <a:r>
              <a:rPr lang="en-US" dirty="0"/>
              <a:t> à </a:t>
            </a:r>
            <a:r>
              <a:rPr lang="en-US" dirty="0" err="1"/>
              <a:t>Cerisy</a:t>
            </a:r>
            <a:r>
              <a:rPr lang="en-US" dirty="0"/>
              <a:t>, J. </a:t>
            </a:r>
            <a:r>
              <a:rPr lang="en-US" dirty="0" err="1"/>
              <a:t>Lévy</a:t>
            </a:r>
            <a:r>
              <a:rPr lang="en-US" dirty="0"/>
              <a:t> et M. </a:t>
            </a:r>
            <a:r>
              <a:rPr lang="en-US" dirty="0" err="1"/>
              <a:t>Lussault</a:t>
            </a:r>
            <a:r>
              <a:rPr lang="en-US" dirty="0"/>
              <a:t> (dir.), </a:t>
            </a:r>
            <a:r>
              <a:rPr lang="en-US" dirty="0" err="1"/>
              <a:t>éd</a:t>
            </a:r>
            <a:r>
              <a:rPr lang="en-US" dirty="0"/>
              <a:t>. Belin, Paris, coll. </a:t>
            </a:r>
            <a:r>
              <a:rPr lang="en-US" dirty="0" err="1"/>
              <a:t>Mappemonde</a:t>
            </a:r>
            <a:r>
              <a:rPr lang="en-US" dirty="0"/>
              <a:t>, pp. 11-36</a:t>
            </a:r>
            <a:endParaRPr lang="fr-FR" dirty="0"/>
          </a:p>
          <a:p>
            <a:endParaRPr lang="fr-FR" dirty="0"/>
          </a:p>
        </p:txBody>
      </p:sp>
    </p:spTree>
    <p:extLst>
      <p:ext uri="{BB962C8B-B14F-4D97-AF65-F5344CB8AC3E}">
        <p14:creationId xmlns:p14="http://schemas.microsoft.com/office/powerpoint/2010/main" val="88524304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101714</TotalTime>
  <Words>6262</Words>
  <Application>Microsoft Office PowerPoint</Application>
  <PresentationFormat>Affichage à l'écran (4:3)</PresentationFormat>
  <Paragraphs>663</Paragraphs>
  <Slides>86</Slides>
  <Notes>29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86</vt:i4>
      </vt:variant>
    </vt:vector>
  </HeadingPairs>
  <TitlesOfParts>
    <vt:vector size="91" baseType="lpstr">
      <vt:lpstr>Arial</vt:lpstr>
      <vt:lpstr>Calibri</vt:lpstr>
      <vt:lpstr>Lucida Sans Unicode</vt:lpstr>
      <vt:lpstr>Wingdings</vt:lpstr>
      <vt:lpstr>Thème Office</vt:lpstr>
      <vt:lpstr>Présentation PowerPoint</vt:lpstr>
      <vt:lpstr>Présentation PowerPoint</vt:lpstr>
      <vt:lpstr>Sommaire du cours </vt:lpstr>
      <vt:lpstr>  I. Concept d’espace Géographique  </vt:lpstr>
      <vt:lpstr> I. Concept d’espace </vt:lpstr>
      <vt:lpstr>I. Concept d’espace 1) approches pluridisciplinaires </vt:lpstr>
      <vt:lpstr> I. Concept d’espace 1) approches pluridisciplinaires  Génése des réflexions  </vt:lpstr>
      <vt:lpstr> 1) approches pluridisciplinaires  Génése des réflexions  </vt:lpstr>
      <vt:lpstr>1) approches pluridisciplinaires  Génése des réflexions</vt:lpstr>
      <vt:lpstr>1) approches pluridisciplinaires  Génése des réflexions</vt:lpstr>
      <vt:lpstr>1) approches pluridisciplinaires  Génése des réflexions</vt:lpstr>
      <vt:lpstr>1) approches pluridisciplinaires  Génése des réflexions</vt:lpstr>
      <vt:lpstr>1) approches pluridisciplinaires  Génése des réflexions</vt:lpstr>
      <vt:lpstr>I. Concept d’espace 2) Quelques définitions</vt:lpstr>
      <vt:lpstr>I. Concept d’espace 2) Quelques définitions</vt:lpstr>
      <vt:lpstr>I. Concept d’espace 2) Quelques définitions</vt:lpstr>
      <vt:lpstr>I. Concept d’espace 2) Quelques définitions</vt:lpstr>
      <vt:lpstr>I. Concept d’espace 3) Eléments du système spatial</vt:lpstr>
      <vt:lpstr>I. Concept d’espace 3) Eléments du système spatial</vt:lpstr>
      <vt:lpstr>I. Concept d’espace 3) Eléments du système spatial</vt:lpstr>
      <vt:lpstr>I. Concept d’espace 3) Eléments du système spatial</vt:lpstr>
      <vt:lpstr>I. Concept d’espace 3) Eléments du système spatial</vt:lpstr>
      <vt:lpstr>I. Concept d’espace 3) Eléments du système spatial</vt:lpstr>
      <vt:lpstr>I. Concept d’espace 3) Eléments du système spatial</vt:lpstr>
      <vt:lpstr>Synthèse partie I</vt:lpstr>
      <vt:lpstr> II. Les composantes et enjeux de l’Espace Géographique </vt:lpstr>
      <vt:lpstr> II. Les composantes et enjeux de l’Espace 1) Les composantes </vt:lpstr>
      <vt:lpstr> II. Les composantes et enjeux de l’Espace 1) Les composantes </vt:lpstr>
      <vt:lpstr> II. Les composantes et enjeux de l’Espace 1) Les composantes </vt:lpstr>
      <vt:lpstr>  A) Espace produit  </vt:lpstr>
      <vt:lpstr>  A) Espace produit  </vt:lpstr>
      <vt:lpstr>  A) Espace produit  </vt:lpstr>
      <vt:lpstr>  A) Espace produit  </vt:lpstr>
      <vt:lpstr>  A) Espace produit  </vt:lpstr>
      <vt:lpstr>  A) Espace produit  </vt:lpstr>
      <vt:lpstr>  A) Espace produit  </vt:lpstr>
      <vt:lpstr>  B) Espace de vie, espace vécu   </vt:lpstr>
      <vt:lpstr>  B) Espace de vie, espace vécu   </vt:lpstr>
      <vt:lpstr>  B) Espace de vie, espace vécu  </vt:lpstr>
      <vt:lpstr>  B) Espace de vie, espace vécu  </vt:lpstr>
      <vt:lpstr>  C) Espace perçu, espace représenté  </vt:lpstr>
      <vt:lpstr>  C) Espace perçu, espace représenté  </vt:lpstr>
      <vt:lpstr>  D) Espace social   </vt:lpstr>
      <vt:lpstr>  D) Espace social  </vt:lpstr>
      <vt:lpstr>II. Les composantes et enjeux de l’Espace 2) Les enjeux spatiaux </vt:lpstr>
      <vt:lpstr>II. Les composantes et enjeux de l’Espace 2) Les enjeux spatiaux </vt:lpstr>
      <vt:lpstr>  III. L’analyse spatiale : lois, échelles, organisation spatiale  </vt:lpstr>
      <vt:lpstr>III. L’analyse spatiale</vt:lpstr>
      <vt:lpstr>III. L’analyse spatiale</vt:lpstr>
      <vt:lpstr>III. L’analyse spatiale </vt:lpstr>
      <vt:lpstr>III. L’analyse spatiale </vt:lpstr>
      <vt:lpstr>III. L’analyse spatiale </vt:lpstr>
      <vt:lpstr>III. L’analyse spatiale 1) Les lois</vt:lpstr>
      <vt:lpstr>III. L’analyse spatiale 1) Les lois</vt:lpstr>
      <vt:lpstr>III. L’analyse spatiale 1) Les lois</vt:lpstr>
      <vt:lpstr>III. L’analyse spatiale 1) Les lois</vt:lpstr>
      <vt:lpstr>III. L’analyse spatiale 1) Les lois</vt:lpstr>
      <vt:lpstr>III. L’analyse spatiale 2) Echelles</vt:lpstr>
      <vt:lpstr>III. L’analyse spatiale 3) Distance</vt:lpstr>
      <vt:lpstr>III. L’analyse spatiale 3) Distance</vt:lpstr>
      <vt:lpstr>  III. L’analyse spatiale 4) Cadre conceptuel  Le cadre conceptuel de l’espace traduit deux éléments fondamentaux : physique et le fonctionnel. </vt:lpstr>
      <vt:lpstr>III. L’analyse spatiale 4) Cadre conceptuel</vt:lpstr>
      <vt:lpstr> III. L’analyse spatiale 5) Organisation spatiale</vt:lpstr>
      <vt:lpstr> III. L’analyse spatiale 5) Organisation spatiale</vt:lpstr>
      <vt:lpstr> III. L’analyse spatiale 5) Organisation spatiale</vt:lpstr>
      <vt:lpstr> III. L’analyse spatiale 5) Organisation spatiale</vt:lpstr>
      <vt:lpstr>   III. Application pratique de l’analyse spatiale: les Mobilités  </vt:lpstr>
      <vt:lpstr> III. L’analyse spatiale 6) Mobilités</vt:lpstr>
      <vt:lpstr> III. L’analyse spatiale 6) Mobilités</vt:lpstr>
      <vt:lpstr>III. L’analyse spatiale</vt:lpstr>
      <vt:lpstr>  IV. La production de l’Espace : Usages et règles  </vt:lpstr>
      <vt:lpstr>La production de l’Espace  Usages et règles</vt:lpstr>
      <vt:lpstr>La production de l’Espace  Usages et règles</vt:lpstr>
      <vt:lpstr>La production de l’Espace  Usages et règles</vt:lpstr>
      <vt:lpstr>La production de l’Espace  Usages et règles</vt:lpstr>
      <vt:lpstr>La production de l’Espace  Usages et règles</vt:lpstr>
      <vt:lpstr>Conclusion chapitre 1</vt:lpstr>
      <vt:lpstr>Conclusion chapitre 1</vt:lpstr>
      <vt:lpstr>Conclusion chapitre 1</vt:lpstr>
      <vt:lpstr>Conclusion chapitre 1</vt:lpstr>
      <vt:lpstr>Conclusion chapitre 1</vt:lpstr>
      <vt:lpstr>Conclusion chapitre 1</vt:lpstr>
      <vt:lpstr>Conclusion chapitre 1</vt:lpstr>
      <vt:lpstr>Conclusion chapitre 1</vt:lpstr>
      <vt:lpstr>  Références bibliographiques  </vt:lpstr>
      <vt:lpstr>Présentation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Dr. Amy Guéye</dc:creator>
  <cp:lastModifiedBy>moussa Kanté</cp:lastModifiedBy>
  <cp:revision>436</cp:revision>
  <dcterms:created xsi:type="dcterms:W3CDTF">2020-03-06T12:23:45Z</dcterms:created>
  <dcterms:modified xsi:type="dcterms:W3CDTF">2025-11-20T10:29:57Z</dcterms:modified>
</cp:coreProperties>
</file>