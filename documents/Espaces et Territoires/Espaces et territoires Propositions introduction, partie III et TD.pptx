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68" r:id="rId3"/>
    <p:sldId id="257" r:id="rId4"/>
    <p:sldId id="258" r:id="rId5"/>
    <p:sldId id="259" r:id="rId6"/>
    <p:sldId id="261" r:id="rId7"/>
    <p:sldId id="262" r:id="rId9"/>
    <p:sldId id="263" r:id="rId10"/>
    <p:sldId id="264" r:id="rId11"/>
    <p:sldId id="266" r:id="rId12"/>
    <p:sldId id="267" r:id="rId13"/>
    <p:sldId id="269" r:id="rId14"/>
    <p:sldId id="290" r:id="rId15"/>
    <p:sldId id="270" r:id="rId16"/>
    <p:sldId id="271" r:id="rId17"/>
    <p:sldId id="272" r:id="rId18"/>
    <p:sldId id="273" r:id="rId19"/>
    <p:sldId id="274" r:id="rId20"/>
    <p:sldId id="276" r:id="rId21"/>
    <p:sldId id="289" r:id="rId22"/>
    <p:sldId id="288" r:id="rId2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74" autoAdjust="0"/>
    <p:restoredTop sz="94676"/>
  </p:normalViewPr>
  <p:slideViewPr>
    <p:cSldViewPr snapToGrid="0">
      <p:cViewPr varScale="1">
        <p:scale>
          <a:sx n="65" d="100"/>
          <a:sy n="65" d="100"/>
        </p:scale>
        <p:origin x="852" y="-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17C5CA-9C68-4990-941D-7A150CE68A3C}" type="datetimeFigureOut">
              <a:rPr lang="en-US" smtClean="0"/>
            </a:fld>
            <a:endParaRPr lang="en-US"/>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107E57-E741-4631-BECF-71642D6896F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en-US"/>
          </a:p>
        </p:txBody>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C6107E57-E741-4631-BECF-71642D6896F4}"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a:p>
        </p:txBody>
      </p:sp>
      <p:sp>
        <p:nvSpPr>
          <p:cNvPr id="3" name="Sous-titre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sp>
        <p:nvSpPr>
          <p:cNvPr id="4" name="Espace réservé de la date 3"/>
          <p:cNvSpPr>
            <a:spLocks noGrp="1"/>
          </p:cNvSpPr>
          <p:nvPr>
            <p:ph type="dt" sz="half" idx="10"/>
          </p:nvPr>
        </p:nvSpPr>
        <p:spPr/>
        <p:txBody>
          <a:bodyPr/>
          <a:lstStyle/>
          <a:p>
            <a:fld id="{76F3856D-1687-4A26-8CDF-E0A70EC6BFA9}" type="datetimeFigureOut">
              <a:rPr lang="en-US" smtClean="0"/>
            </a:fld>
            <a:endParaRPr lang="en-US"/>
          </a:p>
        </p:txBody>
      </p:sp>
      <p:sp>
        <p:nvSpPr>
          <p:cNvPr id="5" name="Espace réservé du pied de page 4"/>
          <p:cNvSpPr>
            <a:spLocks noGrp="1"/>
          </p:cNvSpPr>
          <p:nvPr>
            <p:ph type="ftr" sz="quarter" idx="11"/>
          </p:nvPr>
        </p:nvSpPr>
        <p:spPr/>
        <p:txBody>
          <a:bodyPr/>
          <a:lstStyle/>
          <a:p>
            <a:endParaRPr lang="en-US"/>
          </a:p>
        </p:txBody>
      </p:sp>
      <p:sp>
        <p:nvSpPr>
          <p:cNvPr id="6" name="Espace réservé du numéro de diapositive 5"/>
          <p:cNvSpPr>
            <a:spLocks noGrp="1"/>
          </p:cNvSpPr>
          <p:nvPr>
            <p:ph type="sldNum" sz="quarter" idx="12"/>
          </p:nvPr>
        </p:nvSpPr>
        <p:spPr/>
        <p:txBody>
          <a:bodyPr/>
          <a:lstStyle/>
          <a:p>
            <a:fld id="{E97B66C8-5B41-4761-A1F2-10AA8F1E116C}"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u contenu 2"/>
          <p:cNvSpPr>
            <a:spLocks noGrp="1"/>
          </p:cNvSpPr>
          <p:nvPr>
            <p:ph idx="1" hasCustomPrompt="1"/>
          </p:nvPr>
        </p:nvSpPr>
        <p:spPr/>
        <p:txBody>
          <a:bodyPr/>
          <a:lstStyle/>
          <a:p>
            <a:pPr lvl="0"/>
            <a:r>
              <a:rPr lang="fr-FR"/>
              <a:t>Cliquez pour modifier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a:p>
        </p:txBody>
      </p:sp>
      <p:sp>
        <p:nvSpPr>
          <p:cNvPr id="4" name="Espace réservé de la date 3"/>
          <p:cNvSpPr>
            <a:spLocks noGrp="1"/>
          </p:cNvSpPr>
          <p:nvPr>
            <p:ph type="dt" sz="half" idx="10"/>
          </p:nvPr>
        </p:nvSpPr>
        <p:spPr/>
        <p:txBody>
          <a:bodyPr/>
          <a:lstStyle/>
          <a:p>
            <a:fld id="{76F3856D-1687-4A26-8CDF-E0A70EC6BFA9}" type="datetimeFigureOut">
              <a:rPr lang="en-US" smtClean="0"/>
            </a:fld>
            <a:endParaRPr lang="en-US"/>
          </a:p>
        </p:txBody>
      </p:sp>
      <p:sp>
        <p:nvSpPr>
          <p:cNvPr id="5" name="Espace réservé du pied de page 4"/>
          <p:cNvSpPr>
            <a:spLocks noGrp="1"/>
          </p:cNvSpPr>
          <p:nvPr>
            <p:ph type="ftr" sz="quarter" idx="11"/>
          </p:nvPr>
        </p:nvSpPr>
        <p:spPr/>
        <p:txBody>
          <a:bodyPr/>
          <a:lstStyle/>
          <a:p>
            <a:endParaRPr lang="en-US"/>
          </a:p>
        </p:txBody>
      </p:sp>
      <p:sp>
        <p:nvSpPr>
          <p:cNvPr id="6" name="Espace réservé du numéro de diapositive 5"/>
          <p:cNvSpPr>
            <a:spLocks noGrp="1"/>
          </p:cNvSpPr>
          <p:nvPr>
            <p:ph type="sldNum" sz="quarter" idx="12"/>
          </p:nvPr>
        </p:nvSpPr>
        <p:spPr/>
        <p:txBody>
          <a:bodyPr/>
          <a:lstStyle/>
          <a:p>
            <a:fld id="{E97B66C8-5B41-4761-A1F2-10AA8F1E116C}"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a:p>
        </p:txBody>
      </p:sp>
      <p:sp>
        <p:nvSpPr>
          <p:cNvPr id="3" name="Espace réservé du texte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endParaRPr lang="fr-FR"/>
          </a:p>
        </p:txBody>
      </p:sp>
      <p:sp>
        <p:nvSpPr>
          <p:cNvPr id="4" name="Espace réservé de la date 3"/>
          <p:cNvSpPr>
            <a:spLocks noGrp="1"/>
          </p:cNvSpPr>
          <p:nvPr>
            <p:ph type="dt" sz="half" idx="10"/>
          </p:nvPr>
        </p:nvSpPr>
        <p:spPr/>
        <p:txBody>
          <a:bodyPr/>
          <a:lstStyle/>
          <a:p>
            <a:fld id="{76F3856D-1687-4A26-8CDF-E0A70EC6BFA9}" type="datetimeFigureOut">
              <a:rPr lang="en-US" smtClean="0"/>
            </a:fld>
            <a:endParaRPr lang="en-US"/>
          </a:p>
        </p:txBody>
      </p:sp>
      <p:sp>
        <p:nvSpPr>
          <p:cNvPr id="5" name="Espace réservé du pied de page 4"/>
          <p:cNvSpPr>
            <a:spLocks noGrp="1"/>
          </p:cNvSpPr>
          <p:nvPr>
            <p:ph type="ftr" sz="quarter" idx="11"/>
          </p:nvPr>
        </p:nvSpPr>
        <p:spPr/>
        <p:txBody>
          <a:bodyPr/>
          <a:lstStyle/>
          <a:p>
            <a:endParaRPr lang="en-US"/>
          </a:p>
        </p:txBody>
      </p:sp>
      <p:sp>
        <p:nvSpPr>
          <p:cNvPr id="6" name="Espace réservé du numéro de diapositive 5"/>
          <p:cNvSpPr>
            <a:spLocks noGrp="1"/>
          </p:cNvSpPr>
          <p:nvPr>
            <p:ph type="sldNum" sz="quarter" idx="12"/>
          </p:nvPr>
        </p:nvSpPr>
        <p:spPr/>
        <p:txBody>
          <a:bodyPr/>
          <a:lstStyle/>
          <a:p>
            <a:fld id="{E97B66C8-5B41-4761-A1F2-10AA8F1E116C}"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u contenu 2"/>
          <p:cNvSpPr>
            <a:spLocks noGrp="1"/>
          </p:cNvSpPr>
          <p:nvPr>
            <p:ph sz="half" idx="1" hasCustomPrompt="1"/>
          </p:nvPr>
        </p:nvSpPr>
        <p:spPr>
          <a:xfrm>
            <a:off x="838200" y="1825625"/>
            <a:ext cx="5181600" cy="4351338"/>
          </a:xfrm>
        </p:spPr>
        <p:txBody>
          <a:bodyPr/>
          <a:lstStyle/>
          <a:p>
            <a:pPr lvl="0"/>
            <a:r>
              <a:rPr lang="fr-FR"/>
              <a:t>Cliquez pour modifier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a:p>
        </p:txBody>
      </p:sp>
      <p:sp>
        <p:nvSpPr>
          <p:cNvPr id="4" name="Espace réservé du contenu 3"/>
          <p:cNvSpPr>
            <a:spLocks noGrp="1"/>
          </p:cNvSpPr>
          <p:nvPr>
            <p:ph sz="half" idx="2" hasCustomPrompt="1"/>
          </p:nvPr>
        </p:nvSpPr>
        <p:spPr>
          <a:xfrm>
            <a:off x="6172200" y="1825625"/>
            <a:ext cx="5181600" cy="4351338"/>
          </a:xfrm>
        </p:spPr>
        <p:txBody>
          <a:bodyPr/>
          <a:lstStyle/>
          <a:p>
            <a:pPr lvl="0"/>
            <a:r>
              <a:rPr lang="fr-FR"/>
              <a:t>Cliquez pour modifier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a:p>
        </p:txBody>
      </p:sp>
      <p:sp>
        <p:nvSpPr>
          <p:cNvPr id="5" name="Espace réservé de la date 4"/>
          <p:cNvSpPr>
            <a:spLocks noGrp="1"/>
          </p:cNvSpPr>
          <p:nvPr>
            <p:ph type="dt" sz="half" idx="10"/>
          </p:nvPr>
        </p:nvSpPr>
        <p:spPr/>
        <p:txBody>
          <a:bodyPr/>
          <a:lstStyle/>
          <a:p>
            <a:fld id="{76F3856D-1687-4A26-8CDF-E0A70EC6BFA9}" type="datetimeFigureOut">
              <a:rPr lang="en-US" smtClean="0"/>
            </a:fld>
            <a:endParaRPr lang="en-US"/>
          </a:p>
        </p:txBody>
      </p:sp>
      <p:sp>
        <p:nvSpPr>
          <p:cNvPr id="6" name="Espace réservé du pied de page 5"/>
          <p:cNvSpPr>
            <a:spLocks noGrp="1"/>
          </p:cNvSpPr>
          <p:nvPr>
            <p:ph type="ftr" sz="quarter" idx="11"/>
          </p:nvPr>
        </p:nvSpPr>
        <p:spPr/>
        <p:txBody>
          <a:bodyPr/>
          <a:lstStyle/>
          <a:p>
            <a:endParaRPr lang="en-US"/>
          </a:p>
        </p:txBody>
      </p:sp>
      <p:sp>
        <p:nvSpPr>
          <p:cNvPr id="7" name="Espace réservé du numéro de diapositive 6"/>
          <p:cNvSpPr>
            <a:spLocks noGrp="1"/>
          </p:cNvSpPr>
          <p:nvPr>
            <p:ph type="sldNum" sz="quarter" idx="12"/>
          </p:nvPr>
        </p:nvSpPr>
        <p:spPr/>
        <p:txBody>
          <a:bodyPr/>
          <a:lstStyle/>
          <a:p>
            <a:fld id="{E97B66C8-5B41-4761-A1F2-10AA8F1E116C}"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endParaRPr lang="en-US"/>
          </a:p>
        </p:txBody>
      </p:sp>
      <p:sp>
        <p:nvSpPr>
          <p:cNvPr id="3" name="Espace réservé du texte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endParaRPr lang="fr-FR"/>
          </a:p>
        </p:txBody>
      </p:sp>
      <p:sp>
        <p:nvSpPr>
          <p:cNvPr id="4" name="Espace réservé du contenu 3"/>
          <p:cNvSpPr>
            <a:spLocks noGrp="1"/>
          </p:cNvSpPr>
          <p:nvPr>
            <p:ph sz="half" idx="2" hasCustomPrompt="1"/>
          </p:nvPr>
        </p:nvSpPr>
        <p:spPr>
          <a:xfrm>
            <a:off x="839788" y="2505075"/>
            <a:ext cx="5157787" cy="3684588"/>
          </a:xfrm>
        </p:spPr>
        <p:txBody>
          <a:bodyPr/>
          <a:lstStyle/>
          <a:p>
            <a:pPr lvl="0"/>
            <a:r>
              <a:rPr lang="fr-FR"/>
              <a:t>Cliquez pour modifier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a:p>
        </p:txBody>
      </p:sp>
      <p:sp>
        <p:nvSpPr>
          <p:cNvPr id="5" name="Espace réservé du texte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endParaRPr lang="fr-FR"/>
          </a:p>
        </p:txBody>
      </p:sp>
      <p:sp>
        <p:nvSpPr>
          <p:cNvPr id="6" name="Espace réservé du contenu 5"/>
          <p:cNvSpPr>
            <a:spLocks noGrp="1"/>
          </p:cNvSpPr>
          <p:nvPr>
            <p:ph sz="quarter" idx="4" hasCustomPrompt="1"/>
          </p:nvPr>
        </p:nvSpPr>
        <p:spPr>
          <a:xfrm>
            <a:off x="6172200" y="2505075"/>
            <a:ext cx="5183188" cy="3684588"/>
          </a:xfrm>
        </p:spPr>
        <p:txBody>
          <a:bodyPr/>
          <a:lstStyle/>
          <a:p>
            <a:pPr lvl="0"/>
            <a:r>
              <a:rPr lang="fr-FR"/>
              <a:t>Cliquez pour modifier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a:p>
        </p:txBody>
      </p:sp>
      <p:sp>
        <p:nvSpPr>
          <p:cNvPr id="7" name="Espace réservé de la date 6"/>
          <p:cNvSpPr>
            <a:spLocks noGrp="1"/>
          </p:cNvSpPr>
          <p:nvPr>
            <p:ph type="dt" sz="half" idx="10"/>
          </p:nvPr>
        </p:nvSpPr>
        <p:spPr/>
        <p:txBody>
          <a:bodyPr/>
          <a:lstStyle/>
          <a:p>
            <a:fld id="{76F3856D-1687-4A26-8CDF-E0A70EC6BFA9}" type="datetimeFigureOut">
              <a:rPr lang="en-US" smtClean="0"/>
            </a:fld>
            <a:endParaRPr lang="en-US"/>
          </a:p>
        </p:txBody>
      </p:sp>
      <p:sp>
        <p:nvSpPr>
          <p:cNvPr id="8" name="Espace réservé du pied de page 7"/>
          <p:cNvSpPr>
            <a:spLocks noGrp="1"/>
          </p:cNvSpPr>
          <p:nvPr>
            <p:ph type="ftr" sz="quarter" idx="11"/>
          </p:nvPr>
        </p:nvSpPr>
        <p:spPr/>
        <p:txBody>
          <a:bodyPr/>
          <a:lstStyle/>
          <a:p>
            <a:endParaRPr lang="en-US"/>
          </a:p>
        </p:txBody>
      </p:sp>
      <p:sp>
        <p:nvSpPr>
          <p:cNvPr id="9" name="Espace réservé du numéro de diapositive 8"/>
          <p:cNvSpPr>
            <a:spLocks noGrp="1"/>
          </p:cNvSpPr>
          <p:nvPr>
            <p:ph type="sldNum" sz="quarter" idx="12"/>
          </p:nvPr>
        </p:nvSpPr>
        <p:spPr/>
        <p:txBody>
          <a:bodyPr/>
          <a:lstStyle/>
          <a:p>
            <a:fld id="{E97B66C8-5B41-4761-A1F2-10AA8F1E116C}"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e la date 2"/>
          <p:cNvSpPr>
            <a:spLocks noGrp="1"/>
          </p:cNvSpPr>
          <p:nvPr>
            <p:ph type="dt" sz="half" idx="10"/>
          </p:nvPr>
        </p:nvSpPr>
        <p:spPr/>
        <p:txBody>
          <a:bodyPr/>
          <a:lstStyle/>
          <a:p>
            <a:fld id="{76F3856D-1687-4A26-8CDF-E0A70EC6BFA9}" type="datetimeFigureOut">
              <a:rPr lang="en-US" smtClean="0"/>
            </a:fld>
            <a:endParaRPr lang="en-US"/>
          </a:p>
        </p:txBody>
      </p:sp>
      <p:sp>
        <p:nvSpPr>
          <p:cNvPr id="4" name="Espace réservé du pied de page 3"/>
          <p:cNvSpPr>
            <a:spLocks noGrp="1"/>
          </p:cNvSpPr>
          <p:nvPr>
            <p:ph type="ftr" sz="quarter" idx="11"/>
          </p:nvPr>
        </p:nvSpPr>
        <p:spPr/>
        <p:txBody>
          <a:bodyPr/>
          <a:lstStyle/>
          <a:p>
            <a:endParaRPr lang="en-US"/>
          </a:p>
        </p:txBody>
      </p:sp>
      <p:sp>
        <p:nvSpPr>
          <p:cNvPr id="5" name="Espace réservé du numéro de diapositive 4"/>
          <p:cNvSpPr>
            <a:spLocks noGrp="1"/>
          </p:cNvSpPr>
          <p:nvPr>
            <p:ph type="sldNum" sz="quarter" idx="12"/>
          </p:nvPr>
        </p:nvSpPr>
        <p:spPr/>
        <p:txBody>
          <a:bodyPr/>
          <a:lstStyle/>
          <a:p>
            <a:fld id="{E97B66C8-5B41-4761-A1F2-10AA8F1E116C}"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76F3856D-1687-4A26-8CDF-E0A70EC6BFA9}" type="datetimeFigureOut">
              <a:rPr lang="en-US" smtClean="0"/>
            </a:fld>
            <a:endParaRPr lang="en-US"/>
          </a:p>
        </p:txBody>
      </p:sp>
      <p:sp>
        <p:nvSpPr>
          <p:cNvPr id="3" name="Espace réservé du pied de page 2"/>
          <p:cNvSpPr>
            <a:spLocks noGrp="1"/>
          </p:cNvSpPr>
          <p:nvPr>
            <p:ph type="ftr" sz="quarter" idx="11"/>
          </p:nvPr>
        </p:nvSpPr>
        <p:spPr/>
        <p:txBody>
          <a:bodyPr/>
          <a:lstStyle/>
          <a:p>
            <a:endParaRPr lang="en-US"/>
          </a:p>
        </p:txBody>
      </p:sp>
      <p:sp>
        <p:nvSpPr>
          <p:cNvPr id="4" name="Espace réservé du numéro de diapositive 3"/>
          <p:cNvSpPr>
            <a:spLocks noGrp="1"/>
          </p:cNvSpPr>
          <p:nvPr>
            <p:ph type="sldNum" sz="quarter" idx="12"/>
          </p:nvPr>
        </p:nvSpPr>
        <p:spPr/>
        <p:txBody>
          <a:bodyPr/>
          <a:lstStyle/>
          <a:p>
            <a:fld id="{E97B66C8-5B41-4761-A1F2-10AA8F1E116C}"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Espace réservé du contenu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a:p>
        </p:txBody>
      </p:sp>
      <p:sp>
        <p:nvSpPr>
          <p:cNvPr id="4" name="Espace réservé du texte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endParaRPr lang="fr-FR"/>
          </a:p>
        </p:txBody>
      </p:sp>
      <p:sp>
        <p:nvSpPr>
          <p:cNvPr id="5" name="Espace réservé de la date 4"/>
          <p:cNvSpPr>
            <a:spLocks noGrp="1"/>
          </p:cNvSpPr>
          <p:nvPr>
            <p:ph type="dt" sz="half" idx="10"/>
          </p:nvPr>
        </p:nvSpPr>
        <p:spPr/>
        <p:txBody>
          <a:bodyPr/>
          <a:lstStyle/>
          <a:p>
            <a:fld id="{76F3856D-1687-4A26-8CDF-E0A70EC6BFA9}" type="datetimeFigureOut">
              <a:rPr lang="en-US" smtClean="0"/>
            </a:fld>
            <a:endParaRPr lang="en-US"/>
          </a:p>
        </p:txBody>
      </p:sp>
      <p:sp>
        <p:nvSpPr>
          <p:cNvPr id="6" name="Espace réservé du pied de page 5"/>
          <p:cNvSpPr>
            <a:spLocks noGrp="1"/>
          </p:cNvSpPr>
          <p:nvPr>
            <p:ph type="ftr" sz="quarter" idx="11"/>
          </p:nvPr>
        </p:nvSpPr>
        <p:spPr/>
        <p:txBody>
          <a:bodyPr/>
          <a:lstStyle/>
          <a:p>
            <a:endParaRPr lang="en-US"/>
          </a:p>
        </p:txBody>
      </p:sp>
      <p:sp>
        <p:nvSpPr>
          <p:cNvPr id="7" name="Espace réservé du numéro de diapositive 6"/>
          <p:cNvSpPr>
            <a:spLocks noGrp="1"/>
          </p:cNvSpPr>
          <p:nvPr>
            <p:ph type="sldNum" sz="quarter" idx="12"/>
          </p:nvPr>
        </p:nvSpPr>
        <p:spPr/>
        <p:txBody>
          <a:bodyPr/>
          <a:lstStyle/>
          <a:p>
            <a:fld id="{E97B66C8-5B41-4761-A1F2-10AA8F1E116C}"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Espace réservé du texte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endParaRPr lang="fr-FR"/>
          </a:p>
        </p:txBody>
      </p:sp>
      <p:sp>
        <p:nvSpPr>
          <p:cNvPr id="5" name="Espace réservé de la date 4"/>
          <p:cNvSpPr>
            <a:spLocks noGrp="1"/>
          </p:cNvSpPr>
          <p:nvPr>
            <p:ph type="dt" sz="half" idx="10"/>
          </p:nvPr>
        </p:nvSpPr>
        <p:spPr/>
        <p:txBody>
          <a:bodyPr/>
          <a:lstStyle/>
          <a:p>
            <a:fld id="{76F3856D-1687-4A26-8CDF-E0A70EC6BFA9}" type="datetimeFigureOut">
              <a:rPr lang="en-US" smtClean="0"/>
            </a:fld>
            <a:endParaRPr lang="en-US"/>
          </a:p>
        </p:txBody>
      </p:sp>
      <p:sp>
        <p:nvSpPr>
          <p:cNvPr id="6" name="Espace réservé du pied de page 5"/>
          <p:cNvSpPr>
            <a:spLocks noGrp="1"/>
          </p:cNvSpPr>
          <p:nvPr>
            <p:ph type="ftr" sz="quarter" idx="11"/>
          </p:nvPr>
        </p:nvSpPr>
        <p:spPr/>
        <p:txBody>
          <a:bodyPr/>
          <a:lstStyle/>
          <a:p>
            <a:endParaRPr lang="en-US"/>
          </a:p>
        </p:txBody>
      </p:sp>
      <p:sp>
        <p:nvSpPr>
          <p:cNvPr id="7" name="Espace réservé du numéro de diapositive 6"/>
          <p:cNvSpPr>
            <a:spLocks noGrp="1"/>
          </p:cNvSpPr>
          <p:nvPr>
            <p:ph type="sldNum" sz="quarter" idx="12"/>
          </p:nvPr>
        </p:nvSpPr>
        <p:spPr/>
        <p:txBody>
          <a:bodyPr/>
          <a:lstStyle/>
          <a:p>
            <a:fld id="{E97B66C8-5B41-4761-A1F2-10AA8F1E116C}"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u texte vertical 2"/>
          <p:cNvSpPr>
            <a:spLocks noGrp="1"/>
          </p:cNvSpPr>
          <p:nvPr>
            <p:ph type="body" orient="vert" idx="1" hasCustomPrompt="1"/>
          </p:nvPr>
        </p:nvSpPr>
        <p:spPr/>
        <p:txBody>
          <a:bodyPr vert="eaVert"/>
          <a:lstStyle/>
          <a:p>
            <a:pPr lvl="0"/>
            <a:r>
              <a:rPr lang="fr-FR"/>
              <a:t>Cliquez pour modifier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a:p>
        </p:txBody>
      </p:sp>
      <p:sp>
        <p:nvSpPr>
          <p:cNvPr id="4" name="Espace réservé de la date 3"/>
          <p:cNvSpPr>
            <a:spLocks noGrp="1"/>
          </p:cNvSpPr>
          <p:nvPr>
            <p:ph type="dt" sz="half" idx="10"/>
          </p:nvPr>
        </p:nvSpPr>
        <p:spPr/>
        <p:txBody>
          <a:bodyPr/>
          <a:lstStyle/>
          <a:p>
            <a:fld id="{76F3856D-1687-4A26-8CDF-E0A70EC6BFA9}" type="datetimeFigureOut">
              <a:rPr lang="en-US" smtClean="0"/>
            </a:fld>
            <a:endParaRPr lang="en-US"/>
          </a:p>
        </p:txBody>
      </p:sp>
      <p:sp>
        <p:nvSpPr>
          <p:cNvPr id="5" name="Espace réservé du pied de page 4"/>
          <p:cNvSpPr>
            <a:spLocks noGrp="1"/>
          </p:cNvSpPr>
          <p:nvPr>
            <p:ph type="ftr" sz="quarter" idx="11"/>
          </p:nvPr>
        </p:nvSpPr>
        <p:spPr/>
        <p:txBody>
          <a:bodyPr/>
          <a:lstStyle/>
          <a:p>
            <a:endParaRPr lang="en-US"/>
          </a:p>
        </p:txBody>
      </p:sp>
      <p:sp>
        <p:nvSpPr>
          <p:cNvPr id="6" name="Espace réservé du numéro de diapositive 5"/>
          <p:cNvSpPr>
            <a:spLocks noGrp="1"/>
          </p:cNvSpPr>
          <p:nvPr>
            <p:ph type="sldNum" sz="quarter" idx="12"/>
          </p:nvPr>
        </p:nvSpPr>
        <p:spPr/>
        <p:txBody>
          <a:bodyPr/>
          <a:lstStyle/>
          <a:p>
            <a:fld id="{E97B66C8-5B41-4761-A1F2-10AA8F1E116C}"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endParaRPr lang="en-US"/>
          </a:p>
        </p:txBody>
      </p:sp>
      <p:sp>
        <p:nvSpPr>
          <p:cNvPr id="3" name="Espace réservé du texte vertical 2"/>
          <p:cNvSpPr>
            <a:spLocks noGrp="1"/>
          </p:cNvSpPr>
          <p:nvPr>
            <p:ph type="body" orient="vert" idx="1" hasCustomPrompt="1"/>
          </p:nvPr>
        </p:nvSpPr>
        <p:spPr>
          <a:xfrm>
            <a:off x="838200" y="365125"/>
            <a:ext cx="7734300" cy="5811838"/>
          </a:xfrm>
        </p:spPr>
        <p:txBody>
          <a:bodyPr vert="eaVert"/>
          <a:lstStyle/>
          <a:p>
            <a:pPr lvl="0"/>
            <a:r>
              <a:rPr lang="fr-FR"/>
              <a:t>Cliquez pour modifier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a:p>
        </p:txBody>
      </p:sp>
      <p:sp>
        <p:nvSpPr>
          <p:cNvPr id="4" name="Espace réservé de la date 3"/>
          <p:cNvSpPr>
            <a:spLocks noGrp="1"/>
          </p:cNvSpPr>
          <p:nvPr>
            <p:ph type="dt" sz="half" idx="10"/>
          </p:nvPr>
        </p:nvSpPr>
        <p:spPr/>
        <p:txBody>
          <a:bodyPr/>
          <a:lstStyle/>
          <a:p>
            <a:fld id="{76F3856D-1687-4A26-8CDF-E0A70EC6BFA9}" type="datetimeFigureOut">
              <a:rPr lang="en-US" smtClean="0"/>
            </a:fld>
            <a:endParaRPr lang="en-US"/>
          </a:p>
        </p:txBody>
      </p:sp>
      <p:sp>
        <p:nvSpPr>
          <p:cNvPr id="5" name="Espace réservé du pied de page 4"/>
          <p:cNvSpPr>
            <a:spLocks noGrp="1"/>
          </p:cNvSpPr>
          <p:nvPr>
            <p:ph type="ftr" sz="quarter" idx="11"/>
          </p:nvPr>
        </p:nvSpPr>
        <p:spPr/>
        <p:txBody>
          <a:bodyPr/>
          <a:lstStyle/>
          <a:p>
            <a:endParaRPr lang="en-US"/>
          </a:p>
        </p:txBody>
      </p:sp>
      <p:sp>
        <p:nvSpPr>
          <p:cNvPr id="6" name="Espace réservé du numéro de diapositive 5"/>
          <p:cNvSpPr>
            <a:spLocks noGrp="1"/>
          </p:cNvSpPr>
          <p:nvPr>
            <p:ph type="sldNum" sz="quarter" idx="12"/>
          </p:nvPr>
        </p:nvSpPr>
        <p:spPr/>
        <p:txBody>
          <a:bodyPr/>
          <a:lstStyle/>
          <a:p>
            <a:fld id="{E97B66C8-5B41-4761-A1F2-10AA8F1E116C}"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en-US"/>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F3856D-1687-4A26-8CDF-E0A70EC6BFA9}" type="datetimeFigureOut">
              <a:rPr lang="en-US" smtClean="0"/>
            </a:fld>
            <a:endParaRPr lang="en-US"/>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7B66C8-5B41-4761-A1F2-10AA8F1E116C}"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132736"/>
            <a:ext cx="10414819" cy="1801388"/>
          </a:xfrm>
        </p:spPr>
        <p:txBody>
          <a:bodyPr>
            <a:normAutofit fontScale="90000"/>
          </a:bodyPr>
          <a:lstStyle/>
          <a:p>
            <a:pPr marL="0" marR="0" lvl="0" indent="0" algn="ctr" defTabSz="457200" rtl="0" eaLnBrk="1" fontAlgn="auto" latinLnBrk="0" hangingPunct="1">
              <a:lnSpc>
                <a:spcPct val="90000"/>
              </a:lnSpc>
              <a:spcBef>
                <a:spcPts val="1000"/>
              </a:spcBef>
              <a:spcAft>
                <a:spcPts val="0"/>
              </a:spcAft>
              <a:buClr>
                <a:srgbClr val="5FCBEF"/>
              </a:buClr>
              <a:buSzPct val="80000"/>
              <a:buFont typeface="Wingdings 3"/>
              <a:buNone/>
              <a:defRPr/>
            </a:pPr>
            <a:br>
              <a:rPr lang="fr-FR" sz="2200" dirty="0">
                <a:latin typeface="Arial Black" panose="020B0A04020102020204" pitchFamily="34" charset="0"/>
              </a:rPr>
            </a:br>
            <a:r>
              <a:rPr lang="fr-FR" sz="2200" dirty="0">
                <a:latin typeface="Arial Black" panose="020B0A04020102020204" pitchFamily="34" charset="0"/>
              </a:rPr>
              <a:t>Université Amadou </a:t>
            </a:r>
            <a:r>
              <a:rPr lang="fr-FR" sz="2200" dirty="0" err="1">
                <a:latin typeface="Arial Black" panose="020B0A04020102020204" pitchFamily="34" charset="0"/>
              </a:rPr>
              <a:t>Mahtar</a:t>
            </a:r>
            <a:r>
              <a:rPr lang="fr-FR" sz="2200" dirty="0">
                <a:latin typeface="Arial Black" panose="020B0A04020102020204" pitchFamily="34" charset="0"/>
              </a:rPr>
              <a:t> </a:t>
            </a:r>
            <a:r>
              <a:rPr lang="fr-FR" sz="2200" dirty="0" err="1">
                <a:latin typeface="Arial Black" panose="020B0A04020102020204" pitchFamily="34" charset="0"/>
              </a:rPr>
              <a:t>Mbow</a:t>
            </a:r>
            <a:r>
              <a:rPr lang="fr-FR" sz="2200" dirty="0">
                <a:latin typeface="Arial Black" panose="020B0A04020102020204" pitchFamily="34" charset="0"/>
              </a:rPr>
              <a:t> (UAM)</a:t>
            </a:r>
            <a:br>
              <a:rPr lang="en-US" sz="2200" dirty="0">
                <a:latin typeface="Arial Black" panose="020B0A04020102020204" pitchFamily="34" charset="0"/>
              </a:rPr>
            </a:br>
            <a:r>
              <a:rPr lang="fr-FR" sz="2200" dirty="0">
                <a:latin typeface="Arial Black" panose="020B0A04020102020204" pitchFamily="34" charset="0"/>
              </a:rPr>
              <a:t>*******************</a:t>
            </a:r>
            <a:br>
              <a:rPr lang="fr-FR" sz="2200" dirty="0">
                <a:latin typeface="Arial Black" panose="020B0A04020102020204" pitchFamily="34" charset="0"/>
              </a:rPr>
            </a:br>
            <a:r>
              <a:rPr kumimoji="0" lang="fr-FR" sz="2400" b="1" i="0" u="none" strike="noStrike" kern="1200" cap="none" spc="0" normalizeH="0" baseline="0" noProof="0" dirty="0">
                <a:ln>
                  <a:noFill/>
                </a:ln>
                <a:solidFill>
                  <a:srgbClr val="000000"/>
                </a:solidFill>
                <a:effectLst/>
                <a:uLnTx/>
                <a:uFillTx/>
                <a:latin typeface="Trebuchet MS" panose="020B0603020202020204"/>
              </a:rPr>
              <a:t>Département Urbanisme Architecture et Aménagement Durable des Territoires(DU2ADT)</a:t>
            </a:r>
            <a:br>
              <a:rPr kumimoji="0" lang="fr-FR" sz="2400" b="0" i="0" u="none" strike="noStrike" kern="1200" cap="none" spc="0" normalizeH="0" baseline="0" noProof="0" dirty="0">
                <a:ln>
                  <a:noFill/>
                </a:ln>
                <a:solidFill>
                  <a:srgbClr val="000000"/>
                </a:solidFill>
                <a:effectLst/>
                <a:uLnTx/>
                <a:uFillTx/>
                <a:latin typeface="Trebuchet MS" panose="020B0603020202020204"/>
              </a:rPr>
            </a:br>
            <a:r>
              <a:rPr lang="fr-FR" sz="2200" dirty="0">
                <a:latin typeface="Arial Black" panose="020B0A04020102020204" pitchFamily="34" charset="0"/>
              </a:rPr>
              <a:t>*************</a:t>
            </a:r>
            <a:br>
              <a:rPr lang="en-US" sz="2200" dirty="0">
                <a:latin typeface="Arial Black" panose="020B0A04020102020204" pitchFamily="34" charset="0"/>
              </a:rPr>
            </a:br>
            <a:endParaRPr lang="en-US" sz="2200" dirty="0">
              <a:latin typeface="Arial Black" panose="020B0A04020102020204" pitchFamily="34" charset="0"/>
            </a:endParaRPr>
          </a:p>
        </p:txBody>
      </p:sp>
      <p:sp>
        <p:nvSpPr>
          <p:cNvPr id="13" name="ZoneTexte 12"/>
          <p:cNvSpPr txBox="1"/>
          <p:nvPr/>
        </p:nvSpPr>
        <p:spPr>
          <a:xfrm>
            <a:off x="6168583" y="5181470"/>
            <a:ext cx="6023417" cy="837473"/>
          </a:xfrm>
          <a:prstGeom prst="rect">
            <a:avLst/>
          </a:prstGeom>
          <a:noFill/>
        </p:spPr>
        <p:txBody>
          <a:bodyPr wrap="square">
            <a:spAutoFit/>
          </a:bodyPr>
          <a:lstStyle/>
          <a:p>
            <a:pPr algn="just">
              <a:lnSpc>
                <a:spcPct val="115000"/>
              </a:lnSpc>
              <a:spcAft>
                <a:spcPts val="1000"/>
              </a:spcAft>
              <a:buNone/>
            </a:pPr>
            <a:r>
              <a:rPr lang="fr-FR" sz="1800" b="1" dirty="0">
                <a:effectLst/>
                <a:latin typeface="Arial Black" panose="020B0A04020102020204" pitchFamily="34" charset="0"/>
                <a:ea typeface="Times New Roman" panose="02020603050405020304" pitchFamily="18" charset="0"/>
                <a:cs typeface="Times New Roman" panose="02020603050405020304" pitchFamily="18" charset="0"/>
              </a:rPr>
              <a:t>Papa Balla Moussa Kanté</a:t>
            </a:r>
            <a:endParaRPr lang="en-US" sz="1600" dirty="0">
              <a:effectLst/>
              <a:latin typeface="Arial Black" panose="020B0A04020102020204" pitchFamily="34" charset="0"/>
              <a:ea typeface="Calibri" panose="020F0502020204030204" pitchFamily="34" charset="0"/>
              <a:cs typeface="Times New Roman" panose="02020603050405020304" pitchFamily="18" charset="0"/>
            </a:endParaRPr>
          </a:p>
          <a:p>
            <a:pPr algn="just">
              <a:lnSpc>
                <a:spcPct val="115000"/>
              </a:lnSpc>
              <a:spcAft>
                <a:spcPts val="1000"/>
              </a:spcAft>
              <a:buNone/>
            </a:pPr>
            <a:r>
              <a:rPr lang="fr-FR" sz="1800" b="1" dirty="0">
                <a:effectLst/>
                <a:latin typeface="Times New Roman" panose="02020603050405020304" pitchFamily="18" charset="0"/>
                <a:ea typeface="Times New Roman" panose="02020603050405020304" pitchFamily="18" charset="0"/>
                <a:cs typeface="Times New Roman" panose="02020603050405020304" pitchFamily="18" charset="0"/>
              </a:rPr>
              <a:t>Doctorant en Aménagement-Développement rural</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Image 2"/>
          <p:cNvPicPr>
            <a:picLocks noChangeAspect="1"/>
          </p:cNvPicPr>
          <p:nvPr/>
        </p:nvPicPr>
        <p:blipFill>
          <a:blip r:embed="rId1"/>
          <a:stretch>
            <a:fillRect/>
          </a:stretch>
        </p:blipFill>
        <p:spPr>
          <a:xfrm>
            <a:off x="5297665" y="1600811"/>
            <a:ext cx="1213209" cy="1304657"/>
          </a:xfrm>
          <a:prstGeom prst="rect">
            <a:avLst/>
          </a:prstGeom>
        </p:spPr>
      </p:pic>
      <p:sp>
        <p:nvSpPr>
          <p:cNvPr id="5" name="ZoneTexte 4"/>
          <p:cNvSpPr txBox="1"/>
          <p:nvPr/>
        </p:nvSpPr>
        <p:spPr>
          <a:xfrm>
            <a:off x="3139597" y="2992357"/>
            <a:ext cx="6098458" cy="1217769"/>
          </a:xfrm>
          <a:prstGeom prst="rect">
            <a:avLst/>
          </a:prstGeom>
          <a:noFill/>
        </p:spPr>
        <p:txBody>
          <a:bodyPr wrap="square">
            <a:spAutoFit/>
          </a:bodyPr>
          <a:lstStyle/>
          <a:p>
            <a:pPr marL="0" marR="0" lvl="0" indent="0" algn="ctr" defTabSz="457200" rtl="0" eaLnBrk="1" fontAlgn="auto" latinLnBrk="0" hangingPunct="1">
              <a:lnSpc>
                <a:spcPct val="90000"/>
              </a:lnSpc>
              <a:spcBef>
                <a:spcPts val="1000"/>
              </a:spcBef>
              <a:spcAft>
                <a:spcPts val="0"/>
              </a:spcAft>
              <a:buClr>
                <a:srgbClr val="5FCBEF"/>
              </a:buClr>
              <a:buSzPct val="80000"/>
              <a:buFont typeface="Wingdings 3"/>
              <a:buNone/>
              <a:defRPr/>
            </a:pPr>
            <a:r>
              <a:rPr kumimoji="0" lang="fr-FR" sz="4000" b="1" i="0" u="none" strike="noStrike" kern="1200" cap="none" spc="0" normalizeH="0" baseline="0" noProof="0" dirty="0">
                <a:ln>
                  <a:noFill/>
                </a:ln>
                <a:solidFill>
                  <a:srgbClr val="00B0F0"/>
                </a:solidFill>
                <a:effectLst/>
                <a:uLnTx/>
                <a:uFillTx/>
                <a:latin typeface="Calibri" panose="020F0502020204030204"/>
              </a:rPr>
              <a:t>Introduction et chapitre 3 : </a:t>
            </a:r>
            <a:endParaRPr kumimoji="0" lang="fr-FR" sz="4000" b="1" i="0" u="none" strike="noStrike" kern="1200" cap="none" spc="0" normalizeH="0" baseline="0" noProof="0" dirty="0">
              <a:ln>
                <a:noFill/>
              </a:ln>
              <a:solidFill>
                <a:srgbClr val="00B0F0"/>
              </a:solidFill>
              <a:effectLst/>
              <a:uLnTx/>
              <a:uFillTx/>
              <a:latin typeface="Calibri" panose="020F0502020204030204"/>
            </a:endParaRPr>
          </a:p>
          <a:p>
            <a:pPr marL="0" marR="0" lvl="0" indent="0" algn="ctr" defTabSz="457200" rtl="0" eaLnBrk="1" fontAlgn="auto" latinLnBrk="0" hangingPunct="1">
              <a:lnSpc>
                <a:spcPct val="90000"/>
              </a:lnSpc>
              <a:spcBef>
                <a:spcPts val="1000"/>
              </a:spcBef>
              <a:spcAft>
                <a:spcPts val="0"/>
              </a:spcAft>
              <a:buClr>
                <a:srgbClr val="5FCBEF"/>
              </a:buClr>
              <a:buSzPct val="80000"/>
              <a:buFont typeface="Wingdings 3"/>
              <a:buNone/>
              <a:defRPr/>
            </a:pPr>
            <a:r>
              <a:rPr kumimoji="0" lang="fr-FR" sz="3200" b="1" i="0" u="none" strike="noStrike" kern="1200" cap="none" spc="0" normalizeH="0" baseline="0" noProof="0" dirty="0">
                <a:ln>
                  <a:noFill/>
                </a:ln>
                <a:solidFill>
                  <a:srgbClr val="C55A11"/>
                </a:solidFill>
                <a:effectLst/>
                <a:uLnTx/>
                <a:uFillTx/>
                <a:latin typeface="Calibri" panose="020F0502020204030204"/>
              </a:rPr>
              <a:t>EC Espaces et Territoires</a:t>
            </a:r>
            <a:endParaRPr kumimoji="0" lang="fr-FR" sz="3200" b="0" i="0" u="none" strike="noStrike" kern="1200" cap="none" spc="0" normalizeH="0" baseline="0" noProof="0" dirty="0">
              <a:ln>
                <a:noFill/>
              </a:ln>
              <a:solidFill>
                <a:srgbClr val="C55A11"/>
              </a:solidFill>
              <a:effectLst/>
              <a:uLnTx/>
              <a:uFillTx/>
              <a:latin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63013" y="129152"/>
            <a:ext cx="10515600" cy="976978"/>
          </a:xfrm>
        </p:spPr>
        <p:txBody>
          <a:bodyPr>
            <a:normAutofit/>
          </a:bodyPr>
          <a:lstStyle/>
          <a:p>
            <a:r>
              <a:rPr lang="fr-FR" sz="3600" b="1" dirty="0">
                <a:solidFill>
                  <a:srgbClr val="00B0F0"/>
                </a:solidFill>
                <a:cs typeface="Times New Roman" panose="02020603050405020304" pitchFamily="18" charset="0"/>
              </a:rPr>
              <a:t>Sommaire</a:t>
            </a:r>
            <a:endParaRPr lang="en-US" sz="3600" b="1" dirty="0">
              <a:solidFill>
                <a:srgbClr val="00B0F0"/>
              </a:solidFill>
              <a:cs typeface="Times New Roman" panose="02020603050405020304" pitchFamily="18" charset="0"/>
            </a:endParaRPr>
          </a:p>
        </p:txBody>
      </p:sp>
      <p:sp>
        <p:nvSpPr>
          <p:cNvPr id="3" name="Espace réservé du contenu 2"/>
          <p:cNvSpPr>
            <a:spLocks noGrp="1"/>
          </p:cNvSpPr>
          <p:nvPr>
            <p:ph idx="1"/>
          </p:nvPr>
        </p:nvSpPr>
        <p:spPr>
          <a:xfrm>
            <a:off x="147484" y="412955"/>
            <a:ext cx="10631129" cy="5386746"/>
          </a:xfrm>
        </p:spPr>
        <p:txBody>
          <a:bodyPr>
            <a:normAutofit/>
          </a:bodyPr>
          <a:lstStyle/>
          <a:p>
            <a:pPr marL="0" indent="0">
              <a:lnSpc>
                <a:spcPct val="100000"/>
              </a:lnSpc>
              <a:buNone/>
            </a:pPr>
            <a:endParaRPr lang="en-US" sz="1600" dirty="0">
              <a:latin typeface="Arial Black" panose="020B0A04020102020204" pitchFamily="34" charset="0"/>
            </a:endParaRPr>
          </a:p>
          <a:p>
            <a:pPr marL="0" indent="0">
              <a:lnSpc>
                <a:spcPct val="120000"/>
              </a:lnSpc>
              <a:buNone/>
            </a:pPr>
            <a:endParaRPr lang="en-US" sz="1400" dirty="0">
              <a:latin typeface="Arial Black" panose="020B0A04020102020204" pitchFamily="34" charset="0"/>
            </a:endParaRPr>
          </a:p>
        </p:txBody>
      </p:sp>
      <p:sp>
        <p:nvSpPr>
          <p:cNvPr id="5" name="ZoneTexte 4"/>
          <p:cNvSpPr txBox="1"/>
          <p:nvPr/>
        </p:nvSpPr>
        <p:spPr>
          <a:xfrm>
            <a:off x="409267" y="1060997"/>
            <a:ext cx="6098458" cy="369332"/>
          </a:xfrm>
          <a:prstGeom prst="rect">
            <a:avLst/>
          </a:prstGeom>
          <a:noFill/>
        </p:spPr>
        <p:txBody>
          <a:bodyPr wrap="square">
            <a:spAutoFit/>
          </a:bodyPr>
          <a:lstStyle/>
          <a:p>
            <a:r>
              <a:rPr lang="fr-FR" sz="1800" b="1" dirty="0">
                <a:solidFill>
                  <a:srgbClr val="00B0F0"/>
                </a:solidFill>
                <a:latin typeface="Times New Roman" panose="02020603050405020304" pitchFamily="18" charset="0"/>
                <a:ea typeface="Montserrat" panose="00000500000000000000" pitchFamily="2" charset="0"/>
                <a:cs typeface="+mn-cs"/>
              </a:rPr>
              <a:t>Introduction </a:t>
            </a:r>
            <a:endParaRPr lang="en-US" dirty="0">
              <a:solidFill>
                <a:srgbClr val="00B0F0"/>
              </a:solidFill>
            </a:endParaRPr>
          </a:p>
        </p:txBody>
      </p:sp>
      <p:sp>
        <p:nvSpPr>
          <p:cNvPr id="7" name="ZoneTexte 6"/>
          <p:cNvSpPr txBox="1"/>
          <p:nvPr/>
        </p:nvSpPr>
        <p:spPr>
          <a:xfrm>
            <a:off x="409267" y="1627923"/>
            <a:ext cx="6098458" cy="390684"/>
          </a:xfrm>
          <a:prstGeom prst="rect">
            <a:avLst/>
          </a:prstGeom>
          <a:noFill/>
        </p:spPr>
        <p:txBody>
          <a:bodyPr wrap="square">
            <a:spAutoFit/>
          </a:bodyPr>
          <a:lstStyle/>
          <a:p>
            <a:pPr algn="just">
              <a:lnSpc>
                <a:spcPct val="115000"/>
              </a:lnSpc>
              <a:spcAft>
                <a:spcPts val="1000"/>
              </a:spcAft>
              <a:buNone/>
            </a:pPr>
            <a:r>
              <a:rPr lang="fr-FR" sz="1800" b="1" dirty="0">
                <a:solidFill>
                  <a:srgbClr val="00B0F0"/>
                </a:solidFill>
                <a:effectLst/>
                <a:latin typeface="Times New Roman" panose="02020603050405020304" pitchFamily="18" charset="0"/>
                <a:ea typeface="Calibri" panose="020F0502020204030204" pitchFamily="34" charset="0"/>
                <a:cs typeface="Times New Roman" panose="02020603050405020304" pitchFamily="18" charset="0"/>
              </a:rPr>
              <a:t>Résumé du cours </a:t>
            </a:r>
            <a:endParaRPr lang="en-US" sz="10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ZoneTexte 8"/>
          <p:cNvSpPr txBox="1"/>
          <p:nvPr/>
        </p:nvSpPr>
        <p:spPr>
          <a:xfrm>
            <a:off x="409267" y="3199861"/>
            <a:ext cx="6257003" cy="341632"/>
          </a:xfrm>
          <a:prstGeom prst="rect">
            <a:avLst/>
          </a:prstGeom>
          <a:noFill/>
        </p:spPr>
        <p:txBody>
          <a:bodyPr wrap="square">
            <a:spAutoFit/>
          </a:bodyPr>
          <a:lstStyle/>
          <a:p>
            <a:pPr>
              <a:lnSpc>
                <a:spcPct val="90000"/>
              </a:lnSpc>
              <a:spcBef>
                <a:spcPts val="1000"/>
              </a:spcBef>
              <a:buNone/>
            </a:pPr>
            <a:r>
              <a:rPr lang="fr-FR" sz="1800" b="1" kern="1200" dirty="0">
                <a:solidFill>
                  <a:srgbClr val="00B0F0"/>
                </a:solidFill>
                <a:effectLst/>
                <a:latin typeface="Times New Roman" panose="02020603050405020304" pitchFamily="18" charset="0"/>
                <a:ea typeface="Times New Roman" panose="02020603050405020304" pitchFamily="18" charset="0"/>
              </a:rPr>
              <a:t>Chapitre 3 : L’espace et le territoire  </a:t>
            </a:r>
            <a:endParaRPr lang="fr-FR" sz="1800" b="1" kern="1200" dirty="0">
              <a:solidFill>
                <a:srgbClr val="00B0F0"/>
              </a:solidFill>
              <a:effectLst/>
              <a:latin typeface="Times New Roman" panose="02020603050405020304" pitchFamily="18" charset="0"/>
              <a:ea typeface="Times New Roman" panose="02020603050405020304" pitchFamily="18" charset="0"/>
            </a:endParaRPr>
          </a:p>
        </p:txBody>
      </p:sp>
      <p:sp>
        <p:nvSpPr>
          <p:cNvPr id="11" name="ZoneTexte 10"/>
          <p:cNvSpPr txBox="1"/>
          <p:nvPr/>
        </p:nvSpPr>
        <p:spPr>
          <a:xfrm>
            <a:off x="409267" y="3684074"/>
            <a:ext cx="6098458" cy="837473"/>
          </a:xfrm>
          <a:prstGeom prst="rect">
            <a:avLst/>
          </a:prstGeom>
          <a:noFill/>
        </p:spPr>
        <p:txBody>
          <a:bodyPr wrap="square">
            <a:spAutoFit/>
          </a:bodyPr>
          <a:lstStyle/>
          <a:p>
            <a:pPr algn="just">
              <a:lnSpc>
                <a:spcPct val="115000"/>
              </a:lnSpc>
              <a:spcAft>
                <a:spcPts val="1000"/>
              </a:spcAft>
              <a:buNone/>
            </a:pPr>
            <a:r>
              <a:rPr lang="fr-FR" sz="1800" b="1" dirty="0">
                <a:solidFill>
                  <a:srgbClr val="00B0F0"/>
                </a:solidFill>
                <a:effectLst/>
                <a:latin typeface="Times New Roman" panose="02020603050405020304" pitchFamily="18" charset="0"/>
                <a:ea typeface="Calibri" panose="020F0502020204030204" pitchFamily="34" charset="0"/>
                <a:cs typeface="Times New Roman" panose="02020603050405020304" pitchFamily="18" charset="0"/>
              </a:rPr>
              <a:t>TD  </a:t>
            </a:r>
            <a:endParaRPr lang="fr-FR" sz="1800" b="1" dirty="0">
              <a:solidFill>
                <a:srgbClr val="00B0F0"/>
              </a:solidFill>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buNone/>
            </a:pPr>
            <a:r>
              <a:rPr lang="fr-FR" b="1" dirty="0">
                <a:solidFill>
                  <a:srgbClr val="00B0F0"/>
                </a:solidFill>
                <a:latin typeface="Times New Roman" panose="02020603050405020304" pitchFamily="18" charset="0"/>
                <a:ea typeface="Calibri" panose="020F0502020204030204" pitchFamily="34" charset="0"/>
                <a:cs typeface="Times New Roman" panose="02020603050405020304" pitchFamily="18" charset="0"/>
              </a:rPr>
              <a:t>Conclusion</a:t>
            </a:r>
            <a:r>
              <a:rPr lang="fr-FR" sz="1800" b="1" dirty="0">
                <a:solidFill>
                  <a:srgbClr val="00B0F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16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ZoneTexte 5"/>
          <p:cNvSpPr txBox="1"/>
          <p:nvPr/>
        </p:nvSpPr>
        <p:spPr>
          <a:xfrm>
            <a:off x="409267" y="2088373"/>
            <a:ext cx="6098458" cy="646331"/>
          </a:xfrm>
          <a:prstGeom prst="rect">
            <a:avLst/>
          </a:prstGeom>
          <a:noFill/>
        </p:spPr>
        <p:txBody>
          <a:bodyPr wrap="square">
            <a:spAutoFit/>
          </a:bodyPr>
          <a:lstStyle/>
          <a:p>
            <a:r>
              <a:rPr lang="fr-FR" sz="1800" b="1" dirty="0">
                <a:solidFill>
                  <a:srgbClr val="00B0F0"/>
                </a:solidFill>
              </a:rPr>
              <a:t>Chapitre 1. Repenser l’Espace Géographique : définitions, rappels contextuels et méthodologiques</a:t>
            </a:r>
            <a:endParaRPr lang="fr-FR" sz="1800" dirty="0">
              <a:solidFill>
                <a:srgbClr val="00B0F0"/>
              </a:solidFill>
            </a:endParaRPr>
          </a:p>
        </p:txBody>
      </p:sp>
      <p:sp>
        <p:nvSpPr>
          <p:cNvPr id="10" name="ZoneTexte 9"/>
          <p:cNvSpPr txBox="1"/>
          <p:nvPr/>
        </p:nvSpPr>
        <p:spPr>
          <a:xfrm>
            <a:off x="409267" y="2804470"/>
            <a:ext cx="6098458" cy="369332"/>
          </a:xfrm>
          <a:prstGeom prst="rect">
            <a:avLst/>
          </a:prstGeom>
          <a:noFill/>
        </p:spPr>
        <p:txBody>
          <a:bodyPr wrap="square">
            <a:spAutoFit/>
          </a:bodyPr>
          <a:lstStyle/>
          <a:p>
            <a:r>
              <a:rPr lang="fr-FR" b="1" dirty="0">
                <a:solidFill>
                  <a:srgbClr val="00B0F0"/>
                </a:solidFill>
              </a:rPr>
              <a:t>Chapitre 2 : La construction des territoires</a:t>
            </a:r>
            <a:endParaRPr lang="en-US" b="1" dirty="0">
              <a:solidFill>
                <a:srgbClr val="00B0F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advTm="3160"/>
    </mc:Choice>
    <mc:Fallback>
      <p:transition spd="slow" advTm="316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151646"/>
            <a:ext cx="10515600" cy="585773"/>
          </a:xfrm>
        </p:spPr>
        <p:txBody>
          <a:bodyPr>
            <a:normAutofit fontScale="90000"/>
          </a:bodyPr>
          <a:lstStyle/>
          <a:p>
            <a:pPr marL="228600" marR="0" lvl="0" indent="-228600" algn="ctr" defTabSz="914400" rtl="0" eaLnBrk="1" fontAlgn="auto" latinLnBrk="0" hangingPunct="1">
              <a:lnSpc>
                <a:spcPct val="90000"/>
              </a:lnSpc>
              <a:spcBef>
                <a:spcPts val="1000"/>
              </a:spcBef>
              <a:spcAft>
                <a:spcPts val="0"/>
              </a:spcAft>
              <a:defRPr/>
            </a:pPr>
            <a:r>
              <a:rPr kumimoji="0" lang="fr-FR" sz="2800" b="1" i="0" u="none" strike="noStrike" kern="1200" cap="none" spc="0" normalizeH="0" baseline="0" noProof="0" dirty="0">
                <a:ln>
                  <a:noFill/>
                </a:ln>
                <a:solidFill>
                  <a:srgbClr val="00B0F0"/>
                </a:solidFill>
                <a:effectLst/>
                <a:uLnTx/>
                <a:uFillTx/>
                <a:latin typeface="Times New Roman" panose="02020603050405020304" pitchFamily="18" charset="0"/>
                <a:ea typeface="Montserrat" panose="00000500000000000000" pitchFamily="2" charset="0"/>
                <a:cs typeface="+mn-cs"/>
              </a:rPr>
              <a:t>1- </a:t>
            </a:r>
            <a:r>
              <a:rPr lang="fr-FR" sz="2800" b="1" dirty="0">
                <a:solidFill>
                  <a:srgbClr val="00B0F0"/>
                </a:solidFill>
                <a:latin typeface="Times New Roman" panose="02020603050405020304" pitchFamily="18" charset="0"/>
                <a:ea typeface="Montserrat" panose="00000500000000000000" pitchFamily="2" charset="0"/>
                <a:cs typeface="+mn-cs"/>
              </a:rPr>
              <a:t>Introduction</a:t>
            </a:r>
            <a:br>
              <a:rPr kumimoji="0" lang="fr-FR" sz="2800" b="1" i="0" u="none" strike="noStrike" kern="1200" cap="none" spc="0" normalizeH="0" baseline="0" noProof="0" dirty="0">
                <a:ln>
                  <a:noFill/>
                </a:ln>
                <a:solidFill>
                  <a:schemeClr val="accent6"/>
                </a:solidFill>
                <a:effectLst/>
                <a:uLnTx/>
                <a:uFillTx/>
                <a:latin typeface="Times New Roman" panose="02020603050405020304" pitchFamily="18" charset="0"/>
                <a:ea typeface="Montserrat" panose="00000500000000000000" pitchFamily="2" charset="0"/>
                <a:cs typeface="+mn-cs"/>
              </a:rPr>
            </a:br>
            <a:endParaRPr lang="en-US" sz="2800" b="1" dirty="0">
              <a:solidFill>
                <a:schemeClr val="accent6"/>
              </a:solidFill>
            </a:endParaRPr>
          </a:p>
        </p:txBody>
      </p:sp>
      <p:sp>
        <p:nvSpPr>
          <p:cNvPr id="3" name="Espace réservé du contenu 2"/>
          <p:cNvSpPr>
            <a:spLocks noGrp="1"/>
          </p:cNvSpPr>
          <p:nvPr>
            <p:ph idx="1"/>
          </p:nvPr>
        </p:nvSpPr>
        <p:spPr>
          <a:xfrm>
            <a:off x="625642" y="604684"/>
            <a:ext cx="10728158" cy="6101670"/>
          </a:xfrm>
        </p:spPr>
        <p:txBody>
          <a:bodyPr>
            <a:noAutofit/>
          </a:bodyPr>
          <a:lstStyle/>
          <a:p>
            <a:pPr marL="0" indent="0">
              <a:buNone/>
            </a:pPr>
            <a:endParaRPr lang="en-US" dirty="0"/>
          </a:p>
          <a:p>
            <a:pPr marL="0" indent="0">
              <a:buNone/>
            </a:pPr>
            <a:r>
              <a:rPr lang="fr-FR" sz="2400" dirty="0"/>
              <a:t>-Un géographe disait de la géographie être la science de tout et du tout avec une prédilection pour la terre (étude de la terre). « La </a:t>
            </a:r>
            <a:r>
              <a:rPr lang="fr-FR" sz="2400" b="1" dirty="0"/>
              <a:t>géographie</a:t>
            </a:r>
            <a:r>
              <a:rPr lang="fr-FR" sz="2400" dirty="0"/>
              <a:t> est une science sociale qui étudie le rapport des sociétés humaines à leurs espaces. Son étymologie, d’origine grecque et latine (du grec via le latin </a:t>
            </a:r>
            <a:r>
              <a:rPr lang="fr-FR" sz="2400" i="1" dirty="0" err="1"/>
              <a:t>geographia</a:t>
            </a:r>
            <a:r>
              <a:rPr lang="fr-FR" sz="2400" dirty="0"/>
              <a:t>, « écriture de la Terre », « description de la Terre »), témoigne de son ancienneté et de ses buts initiaux (Géo confluences).  </a:t>
            </a:r>
            <a:endParaRPr lang="fr-FR" sz="2400" dirty="0"/>
          </a:p>
          <a:p>
            <a:pPr marL="0" indent="0">
              <a:buNone/>
            </a:pPr>
            <a:r>
              <a:rPr lang="fr-FR" sz="2400" dirty="0"/>
              <a:t>-A ce vaste champ d’étude, il fallait trouver des compartimentations, des sectorisations, des spécialisations pour une plus grande précision et meilleure prise sur les réalités. Dans ce sens, l’espace et le territoire sont du champ lexical de la géographie et renvoient à des étendues déterminées malgré un frottement et un flou dans leurs définitions.</a:t>
            </a:r>
            <a:endParaRPr lang="fr-FR" sz="2400" dirty="0"/>
          </a:p>
          <a:p>
            <a:pPr marL="0" indent="0">
              <a:buNone/>
            </a:pPr>
            <a:r>
              <a:rPr lang="fr-FR" sz="2400" dirty="0">
                <a:latin typeface="Times New Roman" panose="02020603050405020304" pitchFamily="18" charset="0"/>
                <a:ea typeface="Calibri" panose="020F0502020204030204" pitchFamily="34" charset="0"/>
                <a:cs typeface="Times New Roman" panose="02020603050405020304" pitchFamily="18" charset="0"/>
              </a:rPr>
              <a:t>-En effet, l’analyse géographique part du concret, de l’espace, du territoire, du milieu…d’où la nécessité d’une détermination et délimitation de l’étendue, de notre proche et lointain environnement afin d’avoir ‘’une unité’’, ‘’une entité’’, ‘’un cadre’’ d’analyse.</a:t>
            </a:r>
            <a:endParaRPr lang="fr-FR" sz="2400" dirty="0">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sz="2400" dirty="0"/>
          </a:p>
          <a:p>
            <a:pPr marL="0" indent="0">
              <a:lnSpc>
                <a:spcPct val="100000"/>
              </a:lnSpc>
              <a:buNone/>
            </a:pPr>
            <a:endParaRPr lang="en-US" sz="1800" b="1"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88"/>
    </mc:Choice>
    <mc:Fallback>
      <p:transition spd="slow" advTm="188"/>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322006" y="0"/>
            <a:ext cx="11547988" cy="10355912"/>
          </a:xfrm>
          <a:prstGeom prst="rect">
            <a:avLst/>
          </a:prstGeom>
          <a:noFill/>
        </p:spPr>
        <p:txBody>
          <a:bodyPr wrap="square">
            <a:spAutoFit/>
          </a:bodyPr>
          <a:lstStyle/>
          <a:p>
            <a:pPr algn="just">
              <a:lnSpc>
                <a:spcPct val="115000"/>
              </a:lnSpc>
              <a:spcAft>
                <a:spcPts val="1000"/>
              </a:spcAft>
              <a:buNone/>
            </a:pP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-Pris séparément et à travers leur rapport, l’espace et le territoire sont composants de l’étendue, constituent des échantillons, permettant analyse et investissement. Dans ce cadre, espace et territoire font l’objet d’une quête de consensus, de convention à leur compréhension permettant un entendement universel et donc faire œuvre de science.</a:t>
            </a:r>
            <a:endParaRPr lang="fr-FR" sz="2400" dirty="0">
              <a:effectLst/>
              <a:latin typeface="Times New Roman" panose="02020603050405020304" pitchFamily="18" charset="0"/>
              <a:ea typeface="Calibri" panose="020F0502020204030204" pitchFamily="34" charset="0"/>
              <a:cs typeface="Times New Roman" panose="02020603050405020304" pitchFamily="18" charset="0"/>
            </a:endParaRPr>
          </a:p>
          <a:p>
            <a:r>
              <a:rPr lang="fr-FR" sz="2400" dirty="0">
                <a:latin typeface="Times New Roman" panose="02020603050405020304" pitchFamily="18" charset="0"/>
                <a:cs typeface="Times New Roman" panose="02020603050405020304" pitchFamily="18" charset="0"/>
              </a:rPr>
              <a:t>-A la recherche de l’espace et du territoire, nous allons voir que les théoriciens, selon leurs approches ou angles de définition des notions, se confortent et se réfutent semblant se livrer à une guerre dans la théorie. L’espace est qualifié pour plus de précisions et le territoire est cerné selon la spécialité de l’auteur.</a:t>
            </a:r>
            <a:endParaRPr lang="fr-FR" sz="2400" dirty="0">
              <a:latin typeface="Times New Roman" panose="02020603050405020304" pitchFamily="18" charset="0"/>
              <a:cs typeface="Times New Roman" panose="02020603050405020304" pitchFamily="18" charset="0"/>
            </a:endParaRPr>
          </a:p>
          <a:p>
            <a:endParaRPr lang="fr-FR"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t>
            </a:r>
            <a:r>
              <a:rPr lang="fr-FR" sz="2400" dirty="0">
                <a:latin typeface="Times New Roman" panose="02020603050405020304" pitchFamily="18" charset="0"/>
                <a:cs typeface="Times New Roman" panose="02020603050405020304" pitchFamily="18" charset="0"/>
              </a:rPr>
              <a:t>Bref, l’espace est une étendue limitée de la surface terrestre. Il est réinterprété, divisé par secteurs (espace industriel, touristique, agricole), par des limites (urbain, rural, périurbain…) par une échelle (local, national, global...)  d’où un ajout de qualificatif déterminant. L’espace géographique est une traduction spatiale des actions humaines dans un milieu. Et un espace devient géographique quand il a reçu un aménagement spécifique qui le distingue d’un autre (Isnard,1978). Ainsi, l’espace est un support de l’action mais aussi un instrument de l’activité</a:t>
            </a:r>
            <a:endParaRPr lang="en-US" sz="2400" dirty="0">
              <a:latin typeface="Times New Roman" panose="02020603050405020304" pitchFamily="18" charset="0"/>
              <a:cs typeface="Times New Roman" panose="02020603050405020304" pitchFamily="18" charset="0"/>
            </a:endParaRPr>
          </a:p>
          <a:p>
            <a:pPr algn="just">
              <a:lnSpc>
                <a:spcPct val="115000"/>
              </a:lnSpc>
              <a:spcAft>
                <a:spcPts val="1000"/>
              </a:spcAft>
              <a:buNone/>
            </a:pPr>
            <a:endParaRPr lang="fr-FR"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buNone/>
            </a:pPr>
            <a:endParaRPr lang="fr-FR" sz="16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buNone/>
            </a:pPr>
            <a:endParaRPr lang="fr-FR" sz="16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buNone/>
            </a:pPr>
            <a:endParaRPr lang="fr-FR" sz="16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buNone/>
            </a:pPr>
            <a:endParaRPr lang="fr-FR" sz="16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buNone/>
            </a:pPr>
            <a:endParaRPr lang="fr-FR" sz="16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buNone/>
            </a:pPr>
            <a:endParaRPr lang="fr-FR" sz="16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buNone/>
            </a:pPr>
            <a:endParaRPr lang="fr-FR" sz="16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buNone/>
            </a:pPr>
            <a:endParaRPr lang="fr-FR" sz="16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buNone/>
            </a:pP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737"/>
    </mc:Choice>
    <mc:Fallback>
      <p:transition spd="slow" advTm="1737"/>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p:cNvSpPr txBox="1"/>
          <p:nvPr/>
        </p:nvSpPr>
        <p:spPr>
          <a:xfrm>
            <a:off x="191729" y="143325"/>
            <a:ext cx="11577483" cy="6139951"/>
          </a:xfrm>
          <a:prstGeom prst="rect">
            <a:avLst/>
          </a:prstGeom>
          <a:noFill/>
        </p:spPr>
        <p:txBody>
          <a:bodyPr wrap="square">
            <a:spAutoFit/>
          </a:bodyPr>
          <a:lstStyle/>
          <a:p>
            <a:pPr algn="just">
              <a:lnSpc>
                <a:spcPct val="115000"/>
              </a:lnSpc>
              <a:spcAft>
                <a:spcPts val="1000"/>
              </a:spcAft>
              <a:buNone/>
            </a:pP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-Pour sa part, le territoire est ‘’un espace plus’’ en termes d’encadrement et pouvant être inclus ou de moindre dimension par rapport à l’espace : « Portion de la surface terrestre, appropriée par un groupe social pour assurer sa reproduction et la satisfaction de ses besoins vitaux » (M. Le Berre).</a:t>
            </a:r>
            <a:r>
              <a:rPr lang="fr-FR" sz="2400" kern="12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Le système territorial désigne ainsi : l’espace géographique approprié par l’homme ; c’est aussi un </a:t>
            </a: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système de représentations et de perceptions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mais également un </a:t>
            </a: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système d’acteurs avec des logiques plurielles donc instituant des rapports de pouvoir, de domination, d’autorité et parfois d’exclusion (Système territorial = Espace +Société+ Institution).</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buNone/>
            </a:pP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-Donc, le territoire est à l’origine un espace géographique. Parmi les nombreuses définitions de l’espace, le territoire a une quasi coïncidence avec celui de ‘’l’espace au singulier’’</a:t>
            </a:r>
            <a:r>
              <a:rPr lang="fr-FR" sz="2400" kern="1200" dirty="0">
                <a:solidFill>
                  <a:srgbClr val="00B0F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fr-FR" sz="2400" kern="1200" dirty="0">
                <a:effectLst/>
                <a:latin typeface="Times New Roman" panose="02020603050405020304" pitchFamily="18" charset="0"/>
                <a:ea typeface="Times New Roman" panose="02020603050405020304" pitchFamily="18" charset="0"/>
                <a:cs typeface="Times New Roman" panose="02020603050405020304" pitchFamily="18" charset="0"/>
              </a:rPr>
              <a:t>qui est</a:t>
            </a: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 </a:t>
            </a:r>
            <a:r>
              <a:rPr lang="fr-FR" sz="2400" b="1" dirty="0">
                <a:effectLst/>
                <a:latin typeface="Times New Roman" panose="02020603050405020304" pitchFamily="18" charset="0"/>
                <a:ea typeface="Calibri" panose="020F0502020204030204" pitchFamily="34" charset="0"/>
                <a:cs typeface="Times New Roman" panose="02020603050405020304" pitchFamily="18" charset="0"/>
              </a:rPr>
              <a:t>« une portion de l’espace terrestre localisée, définie par sa nature et ses propriétés physiques, économiques et sociales ». Ici, la démarcation entre espace et territoire est donc d’ordre institutionnel avec le règne d’un pouvoir sur le territoire. </a:t>
            </a: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Le territoire constitue donc un démembrement spatial plus structuré que l’espace.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530942" y="113060"/>
            <a:ext cx="11002297" cy="8033738"/>
          </a:xfrm>
          <a:prstGeom prst="rect">
            <a:avLst/>
          </a:prstGeom>
          <a:noFill/>
        </p:spPr>
        <p:txBody>
          <a:bodyPr wrap="square">
            <a:spAutoFit/>
          </a:bodyPr>
          <a:lstStyle/>
          <a:p>
            <a:pPr algn="just">
              <a:lnSpc>
                <a:spcPct val="115000"/>
              </a:lnSpc>
              <a:spcAft>
                <a:spcPts val="1000"/>
              </a:spcAft>
              <a:buNone/>
            </a:pPr>
            <a:r>
              <a:rPr lang="fr-FR" sz="3600" b="1" u="sng" dirty="0">
                <a:solidFill>
                  <a:srgbClr val="00B0F0"/>
                </a:solidFill>
                <a:effectLst/>
                <a:latin typeface="Times New Roman" panose="02020603050405020304" pitchFamily="18" charset="0"/>
                <a:ea typeface="Calibri" panose="020F0502020204030204" pitchFamily="34" charset="0"/>
                <a:cs typeface="Times New Roman" panose="02020603050405020304" pitchFamily="18" charset="0"/>
              </a:rPr>
              <a:t>Résumé du cours :</a:t>
            </a:r>
            <a:endParaRPr lang="en-US" sz="16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endParaRPr>
          </a:p>
          <a:p>
            <a:pPr>
              <a:spcBef>
                <a:spcPts val="670"/>
              </a:spcBef>
              <a:buNone/>
            </a:pPr>
            <a:r>
              <a:rPr lang="fr-FR" sz="2000" b="1" kern="1200" dirty="0">
                <a:solidFill>
                  <a:srgbClr val="00B0F0"/>
                </a:solidFill>
                <a:effectLst/>
                <a:latin typeface="Times New Roman" panose="02020603050405020304" pitchFamily="18" charset="0"/>
                <a:ea typeface="+mn-ea"/>
              </a:rPr>
              <a:t>Chapitre 1. Repenser l’Espace Géographique : définitions, rappels contextuels et méthodologiques</a:t>
            </a:r>
            <a:endParaRPr lang="en-US" sz="2000" dirty="0">
              <a:effectLst/>
              <a:latin typeface="Times New Roman" panose="02020603050405020304" pitchFamily="18" charset="0"/>
              <a:ea typeface="Times New Roman" panose="02020603050405020304" pitchFamily="18" charset="0"/>
            </a:endParaRPr>
          </a:p>
          <a:p>
            <a:pPr>
              <a:lnSpc>
                <a:spcPct val="115000"/>
              </a:lnSpc>
              <a:spcAft>
                <a:spcPts val="1000"/>
              </a:spcAft>
              <a:buNone/>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Font typeface="Wingdings 3" panose="05040102010807070707" pitchFamily="18" charset="2"/>
              <a:buChar char=""/>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Concept d’espace : approches pluridisciplinaires et méthodologiques ; définitions et système spatial</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buNone/>
            </a:pPr>
            <a:r>
              <a:rPr lang="fr-FR" sz="2000" dirty="0">
                <a:effectLst/>
                <a:latin typeface="Times New Roman" panose="02020603050405020304" pitchFamily="18" charset="0"/>
                <a:ea typeface="Calibri" panose="020F0502020204030204" pitchFamily="34" charset="0"/>
                <a:cs typeface="Times New Roman" panose="02020603050405020304" pitchFamily="18" charset="0"/>
              </a:rPr>
              <a:t> D’emblée, on procède à une délimitation de l’espace pris en compte qui est l’espace géographique et pas celui cosmique. L’espace géographique étant une étendue délimitée, donc cartographiable, de la Terre (espace terrestre), de l’une de ses parties (espace urbain, espace rural, espace régional, espace maritime, etc…)</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buNone/>
            </a:pPr>
            <a:r>
              <a:rPr lang="fr-FR" sz="2000" dirty="0">
                <a:effectLst/>
                <a:latin typeface="Times New Roman" panose="02020603050405020304" pitchFamily="18" charset="0"/>
                <a:ea typeface="Calibri" panose="020F0502020204030204" pitchFamily="34" charset="0"/>
                <a:cs typeface="Times New Roman" panose="02020603050405020304" pitchFamily="18" charset="0"/>
              </a:rPr>
              <a:t>Ainsi, il est rappelé la trajectoire de la discipline, de la réflexion ou du questionnement spatial et ses incitations. Et, pour une meilleure compréhension, ses conceptualisations, la pratique ou production spatiale, l’évolution du concept sont analysées.</a:t>
            </a:r>
            <a:endParaRPr lang="fr-FR"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fr-FR" sz="2000" dirty="0">
                <a:latin typeface="Times New Roman" panose="02020603050405020304" pitchFamily="18" charset="0"/>
                <a:cs typeface="Times New Roman" panose="02020603050405020304" pitchFamily="18" charset="0"/>
              </a:rPr>
              <a:t>Un zoom est fait sur le système spatial qui désigne l'ensemble des composants de l’espace (habitat, réseaux, relief, ressources…) qui par leurs interactions et leurs positions constituent un espace fonctionnel.</a:t>
            </a:r>
            <a:endParaRPr lang="en-US" sz="2000" dirty="0">
              <a:latin typeface="Times New Roman" panose="02020603050405020304" pitchFamily="18" charset="0"/>
              <a:cs typeface="Times New Roman" panose="02020603050405020304" pitchFamily="18" charset="0"/>
            </a:endParaRPr>
          </a:p>
          <a:p>
            <a:pPr algn="just">
              <a:lnSpc>
                <a:spcPct val="115000"/>
              </a:lnSpc>
              <a:spcAft>
                <a:spcPts val="1000"/>
              </a:spcAft>
              <a:buNone/>
            </a:pPr>
            <a:endParaRPr lang="fr-FR"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buNone/>
            </a:pPr>
            <a:endParaRPr lang="fr-FR" sz="16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buNone/>
            </a:pPr>
            <a:endParaRPr lang="fr-FR" sz="16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buNone/>
            </a:pP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132735" y="0"/>
            <a:ext cx="11621729" cy="8023991"/>
          </a:xfrm>
          <a:prstGeom prst="rect">
            <a:avLst/>
          </a:prstGeom>
          <a:noFill/>
        </p:spPr>
        <p:txBody>
          <a:bodyPr wrap="square">
            <a:spAutoFit/>
          </a:bodyPr>
          <a:lstStyle/>
          <a:p>
            <a:pPr marL="342900" lvl="0" indent="-342900" algn="just">
              <a:lnSpc>
                <a:spcPct val="115000"/>
              </a:lnSpc>
              <a:spcAft>
                <a:spcPts val="1000"/>
              </a:spcAft>
              <a:buFont typeface="Wingdings 3" panose="05040102010807070707" pitchFamily="18" charset="2"/>
              <a:buChar char=""/>
              <a:tabLst>
                <a:tab pos="457200" algn="l"/>
              </a:tabLst>
            </a:pPr>
            <a:r>
              <a:rPr lang="fr-FR" sz="2000" b="1" dirty="0">
                <a:effectLst/>
                <a:latin typeface="Times New Roman" panose="02020603050405020304" pitchFamily="18" charset="0"/>
                <a:ea typeface="Calibri" panose="020F0502020204030204" pitchFamily="34" charset="0"/>
                <a:cs typeface="Times New Roman" panose="02020603050405020304" pitchFamily="18" charset="0"/>
              </a:rPr>
              <a:t>Les composantes et enjeux de l’Espace Géographique</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buNone/>
            </a:pPr>
            <a:r>
              <a:rPr lang="fr-FR" sz="2000" dirty="0">
                <a:effectLst/>
                <a:latin typeface="Times New Roman" panose="02020603050405020304" pitchFamily="18" charset="0"/>
                <a:ea typeface="Calibri" panose="020F0502020204030204" pitchFamily="34" charset="0"/>
                <a:cs typeface="Times New Roman" panose="02020603050405020304" pitchFamily="18" charset="0"/>
              </a:rPr>
              <a:t>L'espace géographique est composé de plusieurs catégories ou (composantes). Lesquelles sont simplement des « modalités différentes » de prise en compte de l’espace.</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buNone/>
            </a:pPr>
            <a:r>
              <a:rPr lang="fr-FR" sz="2000" dirty="0">
                <a:effectLst/>
                <a:latin typeface="Times New Roman" panose="02020603050405020304" pitchFamily="18" charset="0"/>
                <a:ea typeface="Calibri" panose="020F0502020204030204" pitchFamily="34" charset="0"/>
                <a:cs typeface="Times New Roman" panose="02020603050405020304" pitchFamily="18" charset="0"/>
              </a:rPr>
              <a:t>Dans ce sens, on distingue quatre (4) catégories ou composantes qui concerne l’espace :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buNone/>
            </a:pPr>
            <a:r>
              <a:rPr lang="fr-FR" sz="2000" dirty="0">
                <a:effectLst/>
                <a:latin typeface="Times New Roman" panose="02020603050405020304" pitchFamily="18" charset="0"/>
                <a:ea typeface="Calibri" panose="020F0502020204030204" pitchFamily="34" charset="0"/>
                <a:cs typeface="Times New Roman" panose="02020603050405020304" pitchFamily="18" charset="0"/>
              </a:rPr>
              <a:t>Espace produit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buNone/>
            </a:pPr>
            <a:r>
              <a:rPr lang="fr-FR" sz="2000" dirty="0">
                <a:effectLst/>
                <a:latin typeface="Times New Roman" panose="02020603050405020304" pitchFamily="18" charset="0"/>
                <a:ea typeface="Calibri" panose="020F0502020204030204" pitchFamily="34" charset="0"/>
                <a:cs typeface="Times New Roman" panose="02020603050405020304" pitchFamily="18" charset="0"/>
              </a:rPr>
              <a:t>Espace de vie ou espace vécu,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buNone/>
            </a:pPr>
            <a:r>
              <a:rPr lang="fr-FR" sz="2000" dirty="0">
                <a:effectLst/>
                <a:latin typeface="Times New Roman" panose="02020603050405020304" pitchFamily="18" charset="0"/>
                <a:ea typeface="Calibri" panose="020F0502020204030204" pitchFamily="34" charset="0"/>
                <a:cs typeface="Times New Roman" panose="02020603050405020304" pitchFamily="18" charset="0"/>
              </a:rPr>
              <a:t>Espace perçu, espace représenté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buNone/>
            </a:pPr>
            <a:r>
              <a:rPr lang="fr-FR" sz="2000" dirty="0">
                <a:effectLst/>
                <a:latin typeface="Times New Roman" panose="02020603050405020304" pitchFamily="18" charset="0"/>
                <a:ea typeface="Calibri" panose="020F0502020204030204" pitchFamily="34" charset="0"/>
                <a:cs typeface="Times New Roman" panose="02020603050405020304" pitchFamily="18" charset="0"/>
              </a:rPr>
              <a:t>Espace social. </a:t>
            </a:r>
            <a:endParaRPr lang="fr-FR" sz="2000" dirty="0">
              <a:effectLst/>
              <a:latin typeface="Times New Roman" panose="02020603050405020304" pitchFamily="18" charset="0"/>
              <a:ea typeface="Calibri" panose="020F0502020204030204" pitchFamily="34" charset="0"/>
              <a:cs typeface="Times New Roman" panose="02020603050405020304" pitchFamily="18" charset="0"/>
            </a:endParaRPr>
          </a:p>
          <a:p>
            <a:r>
              <a:rPr lang="fr-FR" sz="2000" dirty="0">
                <a:latin typeface="Times New Roman" panose="02020603050405020304" pitchFamily="18" charset="0"/>
                <a:cs typeface="Times New Roman" panose="02020603050405020304" pitchFamily="18" charset="0"/>
              </a:rPr>
              <a:t>En définitive : l’espace est produit, vécu, perçu, représenté. On peut assister </a:t>
            </a:r>
            <a:r>
              <a:rPr lang="fr-FR" sz="2000" b="1" dirty="0">
                <a:latin typeface="Times New Roman" panose="02020603050405020304" pitchFamily="18" charset="0"/>
                <a:cs typeface="Times New Roman" panose="02020603050405020304" pitchFamily="18" charset="0"/>
              </a:rPr>
              <a:t>à une juxtaposition</a:t>
            </a:r>
            <a:r>
              <a:rPr lang="fr-FR" sz="2000" dirty="0">
                <a:latin typeface="Times New Roman" panose="02020603050405020304" pitchFamily="18" charset="0"/>
                <a:cs typeface="Times New Roman" panose="02020603050405020304" pitchFamily="18" charset="0"/>
              </a:rPr>
              <a:t> et une superposition (d’échelles) d’espaces , c’est ce que </a:t>
            </a:r>
            <a:r>
              <a:rPr lang="fr-FR" sz="2000" dirty="0" err="1">
                <a:latin typeface="Times New Roman" panose="02020603050405020304" pitchFamily="18" charset="0"/>
                <a:cs typeface="Times New Roman" panose="02020603050405020304" pitchFamily="18" charset="0"/>
              </a:rPr>
              <a:t>Castells</a:t>
            </a:r>
            <a:r>
              <a:rPr lang="fr-FR" sz="2000" dirty="0">
                <a:latin typeface="Times New Roman" panose="02020603050405020304" pitchFamily="18" charset="0"/>
                <a:cs typeface="Times New Roman" panose="02020603050405020304" pitchFamily="18" charset="0"/>
              </a:rPr>
              <a:t> appelle un flux d’espaces générant ainsi une multiplicité de territoires.</a:t>
            </a:r>
            <a:endParaRPr lang="en-US" sz="2000" dirty="0">
              <a:latin typeface="Times New Roman" panose="02020603050405020304" pitchFamily="18" charset="0"/>
              <a:cs typeface="Times New Roman" panose="02020603050405020304" pitchFamily="18" charset="0"/>
            </a:endParaRPr>
          </a:p>
          <a:p>
            <a:pPr lvl="0"/>
            <a:r>
              <a:rPr lang="fr-FR" sz="2000" dirty="0">
                <a:latin typeface="Times New Roman" panose="02020603050405020304" pitchFamily="18" charset="0"/>
                <a:cs typeface="Times New Roman" panose="02020603050405020304" pitchFamily="18" charset="0"/>
              </a:rPr>
              <a:t>Cet espace composite est aussi source d’enjeux divers rattachés à l’accès ou l’usage de cet espace, à sa ou ses situations par rapport à l’espace.</a:t>
            </a:r>
            <a:endParaRPr lang="en-US" sz="2000" dirty="0">
              <a:latin typeface="Times New Roman" panose="02020603050405020304" pitchFamily="18" charset="0"/>
              <a:cs typeface="Times New Roman" panose="02020603050405020304" pitchFamily="18" charset="0"/>
            </a:endParaRPr>
          </a:p>
          <a:p>
            <a:r>
              <a:rPr lang="fr-FR" sz="2000" dirty="0">
                <a:latin typeface="Times New Roman" panose="02020603050405020304" pitchFamily="18" charset="0"/>
                <a:cs typeface="Times New Roman" panose="02020603050405020304" pitchFamily="18" charset="0"/>
              </a:rPr>
              <a:t>Ces enjeux sont importants en termes de :</a:t>
            </a:r>
            <a:endParaRPr lang="en-US" sz="2000" dirty="0">
              <a:latin typeface="Times New Roman" panose="02020603050405020304" pitchFamily="18" charset="0"/>
              <a:cs typeface="Times New Roman" panose="02020603050405020304" pitchFamily="18" charset="0"/>
            </a:endParaRPr>
          </a:p>
          <a:p>
            <a:r>
              <a:rPr lang="fr-FR" sz="2000" dirty="0">
                <a:latin typeface="Times New Roman" panose="02020603050405020304" pitchFamily="18" charset="0"/>
                <a:cs typeface="Times New Roman" panose="02020603050405020304" pitchFamily="18" charset="0"/>
              </a:rPr>
              <a:t>Localisation,</a:t>
            </a:r>
            <a:endParaRPr lang="en-US" sz="2000" dirty="0">
              <a:latin typeface="Times New Roman" panose="02020603050405020304" pitchFamily="18" charset="0"/>
              <a:cs typeface="Times New Roman" panose="02020603050405020304" pitchFamily="18" charset="0"/>
            </a:endParaRPr>
          </a:p>
          <a:p>
            <a:r>
              <a:rPr lang="fr-FR" sz="2000" dirty="0">
                <a:latin typeface="Times New Roman" panose="02020603050405020304" pitchFamily="18" charset="0"/>
                <a:cs typeface="Times New Roman" panose="02020603050405020304" pitchFamily="18" charset="0"/>
              </a:rPr>
              <a:t>Distance,</a:t>
            </a:r>
            <a:endParaRPr lang="en-US" sz="2000" dirty="0">
              <a:latin typeface="Times New Roman" panose="02020603050405020304" pitchFamily="18" charset="0"/>
              <a:cs typeface="Times New Roman" panose="02020603050405020304" pitchFamily="18" charset="0"/>
            </a:endParaRPr>
          </a:p>
          <a:p>
            <a:r>
              <a:rPr lang="fr-FR" sz="2000" dirty="0">
                <a:latin typeface="Times New Roman" panose="02020603050405020304" pitchFamily="18" charset="0"/>
                <a:cs typeface="Times New Roman" panose="02020603050405020304" pitchFamily="18" charset="0"/>
              </a:rPr>
              <a:t>Délimitation,</a:t>
            </a:r>
            <a:endParaRPr lang="en-US" sz="2000" dirty="0">
              <a:latin typeface="Times New Roman" panose="02020603050405020304" pitchFamily="18" charset="0"/>
              <a:cs typeface="Times New Roman" panose="02020603050405020304" pitchFamily="18" charset="0"/>
            </a:endParaRPr>
          </a:p>
          <a:p>
            <a:r>
              <a:rPr lang="fr-FR" sz="2000" dirty="0">
                <a:latin typeface="Times New Roman" panose="02020603050405020304" pitchFamily="18" charset="0"/>
                <a:cs typeface="Times New Roman" panose="02020603050405020304" pitchFamily="18" charset="0"/>
              </a:rPr>
              <a:t>Appropriation,</a:t>
            </a:r>
            <a:endParaRPr lang="en-US" sz="2000" dirty="0">
              <a:latin typeface="Times New Roman" panose="02020603050405020304" pitchFamily="18" charset="0"/>
              <a:cs typeface="Times New Roman" panose="02020603050405020304" pitchFamily="18" charset="0"/>
            </a:endParaRPr>
          </a:p>
          <a:p>
            <a:pPr algn="just">
              <a:lnSpc>
                <a:spcPct val="115000"/>
              </a:lnSpc>
              <a:spcAft>
                <a:spcPts val="1000"/>
              </a:spcAft>
              <a:buNone/>
            </a:pPr>
            <a:endParaRPr lang="fr-FR"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buNone/>
            </a:pPr>
            <a:endParaRPr lang="fr-FR" sz="16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buNone/>
            </a:pP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575187" y="203085"/>
            <a:ext cx="11430000" cy="7140673"/>
          </a:xfrm>
          <a:prstGeom prst="rect">
            <a:avLst/>
          </a:prstGeom>
          <a:noFill/>
        </p:spPr>
        <p:txBody>
          <a:bodyPr wrap="square">
            <a:spAutoFit/>
          </a:bodyPr>
          <a:lstStyle/>
          <a:p>
            <a:pPr marL="342900" lvl="0" indent="-342900" algn="just">
              <a:lnSpc>
                <a:spcPct val="115000"/>
              </a:lnSpc>
              <a:spcAft>
                <a:spcPts val="1000"/>
              </a:spcAft>
              <a:buFont typeface="Wingdings 3" panose="05040102010807070707" pitchFamily="18" charset="2"/>
              <a:buChar char=""/>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L’analyse spatiale : lois, échelles, organisation spatiale et quelques applications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buNone/>
            </a:pPr>
            <a:r>
              <a:rPr lang="fr-FR" sz="20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buNone/>
            </a:pPr>
            <a:r>
              <a:rPr lang="fr-FR" sz="2000" dirty="0">
                <a:effectLst/>
                <a:latin typeface="Times New Roman" panose="02020603050405020304" pitchFamily="18" charset="0"/>
                <a:ea typeface="Calibri" panose="020F0502020204030204" pitchFamily="34" charset="0"/>
                <a:cs typeface="Times New Roman" panose="02020603050405020304" pitchFamily="18" charset="0"/>
              </a:rPr>
              <a:t>	Par l’analyse spatiale, l’unité, l’entité, la portion peut être soumise à étude pour en déduire des informations importantes à la décision. Cependant, cette analyse se base sur des lois, échelles, distances (un système de conventions), un cadre conceptuel, vocabulaire propre à l’analyse spatiale. L’analyse spatiale peut déboucher sur une organisation spatiale, notamment, lors de la représentation à travers la </a:t>
            </a:r>
            <a:r>
              <a:rPr lang="fr-FR" sz="2000" dirty="0" err="1">
                <a:effectLst/>
                <a:latin typeface="Times New Roman" panose="02020603050405020304" pitchFamily="18" charset="0"/>
                <a:ea typeface="Calibri" panose="020F0502020204030204" pitchFamily="34" charset="0"/>
                <a:cs typeface="Times New Roman" panose="02020603050405020304" pitchFamily="18" charset="0"/>
              </a:rPr>
              <a:t>chorématique</a:t>
            </a:r>
            <a:r>
              <a:rPr lang="fr-FR" sz="2000" dirty="0">
                <a:effectLst/>
                <a:latin typeface="Times New Roman" panose="02020603050405020304" pitchFamily="18" charset="0"/>
                <a:ea typeface="Calibri" panose="020F0502020204030204" pitchFamily="34" charset="0"/>
                <a:cs typeface="Times New Roman" panose="02020603050405020304" pitchFamily="18" charset="0"/>
              </a:rPr>
              <a:t> encore appelée « grammaire de l’Espace » qui utilise et analyse les chorèmes, c'est-à-dire des représentations schématiques. Les </a:t>
            </a:r>
            <a:r>
              <a:rPr lang="fr-FR" sz="2000" dirty="0" err="1">
                <a:effectLst/>
                <a:latin typeface="Times New Roman" panose="02020603050405020304" pitchFamily="18" charset="0"/>
                <a:ea typeface="Calibri" panose="020F0502020204030204" pitchFamily="34" charset="0"/>
                <a:cs typeface="Times New Roman" panose="02020603050405020304" pitchFamily="18" charset="0"/>
              </a:rPr>
              <a:t>chorémes</a:t>
            </a:r>
            <a:r>
              <a:rPr lang="fr-FR" sz="2000" dirty="0">
                <a:effectLst/>
                <a:latin typeface="Times New Roman" panose="02020603050405020304" pitchFamily="18" charset="0"/>
                <a:ea typeface="Calibri" panose="020F0502020204030204" pitchFamily="34" charset="0"/>
                <a:cs typeface="Times New Roman" panose="02020603050405020304" pitchFamily="18" charset="0"/>
              </a:rPr>
              <a:t> étant des formes simples dont la combinaison permet de construire des modèles graphiques. Ils constituent un langage de signes qui s’ajoute au vocabulaire spatial basé sur des normes et font office de conventions.  L’organisation spatiale issue de son analyse, lors de son application prend en compte des logiques plurielles et secrètent des théories et des modèles divers.</a:t>
            </a:r>
            <a:endParaRPr lang="fr-FR"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buNone/>
            </a:pPr>
            <a:endParaRPr lang="fr-FR"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buNone/>
            </a:pPr>
            <a:endParaRPr lang="fr-FR" sz="16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buNone/>
            </a:pPr>
            <a:endParaRPr lang="fr-FR" sz="16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buNone/>
            </a:pPr>
            <a:endParaRPr lang="fr-FR" sz="16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buNone/>
            </a:pPr>
            <a:endParaRPr lang="fr-FR" sz="16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buNone/>
            </a:pPr>
            <a:endParaRPr lang="fr-FR" sz="16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buNone/>
            </a:pP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250722" y="0"/>
            <a:ext cx="11941277" cy="6309420"/>
          </a:xfrm>
          <a:prstGeom prst="rect">
            <a:avLst/>
          </a:prstGeom>
          <a:noFill/>
        </p:spPr>
        <p:txBody>
          <a:bodyPr wrap="square">
            <a:spAutoFit/>
          </a:bodyPr>
          <a:lstStyle/>
          <a:p>
            <a:pPr marL="342900" lvl="0" indent="-342900" algn="just">
              <a:lnSpc>
                <a:spcPct val="115000"/>
              </a:lnSpc>
              <a:spcAft>
                <a:spcPts val="1000"/>
              </a:spcAft>
              <a:buFont typeface="Wingdings 3" panose="05040102010807070707" pitchFamily="18" charset="2"/>
              <a:buChar char=""/>
              <a:tabLst>
                <a:tab pos="457200" algn="l"/>
              </a:tabLst>
            </a:pPr>
            <a:r>
              <a:rPr lang="fr-FR" sz="2000" b="1" dirty="0">
                <a:effectLst/>
                <a:latin typeface="Times New Roman" panose="02020603050405020304" pitchFamily="18" charset="0"/>
                <a:ea typeface="Calibri" panose="020F0502020204030204" pitchFamily="34" charset="0"/>
                <a:cs typeface="Times New Roman" panose="02020603050405020304" pitchFamily="18" charset="0"/>
              </a:rPr>
              <a:t>La </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production de l’Espace : usages et règles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buNone/>
            </a:pPr>
            <a:r>
              <a:rPr lang="fr-FR" sz="2000" dirty="0">
                <a:effectLst/>
                <a:latin typeface="Times New Roman" panose="02020603050405020304" pitchFamily="18" charset="0"/>
                <a:ea typeface="Calibri" panose="020F0502020204030204" pitchFamily="34" charset="0"/>
                <a:cs typeface="Times New Roman" panose="02020603050405020304" pitchFamily="18" charset="0"/>
              </a:rPr>
              <a:t>L’analyse et l’organisation spatiales permettent une production de l’espace pour divers usages (occupation, appropriation, exploitation, habitation, échange,  gestion…) selon des normes ou règles définies (La production de l’espace obéit à des lois centre/périphérie, flux/réseaux, hiérarchie/rang…)</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buNone/>
            </a:pPr>
            <a:r>
              <a:rPr lang="fr-FR" sz="2000" dirty="0">
                <a:effectLst/>
                <a:latin typeface="Times New Roman" panose="02020603050405020304" pitchFamily="18" charset="0"/>
                <a:ea typeface="Calibri" panose="020F0502020204030204" pitchFamily="34" charset="0"/>
                <a:cs typeface="Times New Roman" panose="02020603050405020304" pitchFamily="18" charset="0"/>
              </a:rPr>
              <a:t>Cet encadrement de la pratique de l’espace par des règles, codes, lois, règlements (Code de l’urbanisme, Code de l’environnement, code minier…) est aussi formulé ou planifié à travers des documents de planification. Au Sénégal, il existe des documents de planification tels que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356235" lvl="0" indent="-342900" algn="just" fontAlgn="base">
              <a:lnSpc>
                <a:spcPct val="95000"/>
              </a:lnSpc>
              <a:spcAft>
                <a:spcPts val="1715"/>
              </a:spcAft>
              <a:buClr>
                <a:srgbClr val="000000"/>
              </a:buClr>
              <a:buSzPts val="1400"/>
              <a:buBlip>
                <a:blip r:embed="rId1"/>
              </a:buBlip>
            </a:pPr>
            <a:r>
              <a:rPr lang="fr-FR" sz="2000" u="none" strike="noStrike" dirty="0">
                <a:effectLst/>
                <a:uFill>
                  <a:solidFill>
                    <a:srgbClr val="000000"/>
                  </a:solidFill>
                </a:uFill>
                <a:latin typeface="Times New Roman" panose="02020603050405020304" pitchFamily="18" charset="0"/>
                <a:ea typeface="Calibri" panose="020F0502020204030204" pitchFamily="34" charset="0"/>
                <a:cs typeface="Calibri" panose="020F0502020204030204" pitchFamily="34" charset="0"/>
              </a:rPr>
              <a:t>Le Plan national d'Aménagement et de développement territorial (PNADT) ;</a:t>
            </a:r>
            <a:endParaRPr lang="en-US" sz="2000" u="none" strike="noStrike" dirty="0">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endParaRPr>
          </a:p>
          <a:p>
            <a:pPr marL="342900" marR="356235" lvl="0" indent="-342900" algn="just" fontAlgn="base">
              <a:lnSpc>
                <a:spcPct val="95000"/>
              </a:lnSpc>
              <a:spcAft>
                <a:spcPts val="1715"/>
              </a:spcAft>
              <a:buClr>
                <a:srgbClr val="000000"/>
              </a:buClr>
              <a:buSzPts val="1400"/>
              <a:buBlip>
                <a:blip r:embed="rId1"/>
              </a:buBlip>
            </a:pPr>
            <a:r>
              <a:rPr lang="fr-FR" sz="2000" u="none" strike="noStrike" dirty="0">
                <a:effectLst/>
                <a:uFill>
                  <a:solidFill>
                    <a:srgbClr val="000000"/>
                  </a:solidFill>
                </a:uFill>
                <a:latin typeface="Times New Roman" panose="02020603050405020304" pitchFamily="18" charset="0"/>
                <a:ea typeface="Calibri" panose="020F0502020204030204" pitchFamily="34" charset="0"/>
                <a:cs typeface="Calibri" panose="020F0502020204030204" pitchFamily="34" charset="0"/>
              </a:rPr>
              <a:t> Le Schéma départemental d'Aménagement et de Développement territorial (SDADT) ; </a:t>
            </a:r>
            <a:endParaRPr lang="en-US" sz="2000" u="none" strike="noStrike" dirty="0">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endParaRPr>
          </a:p>
          <a:p>
            <a:pPr marL="342900" marR="356235" lvl="0" indent="-342900" algn="just" fontAlgn="base">
              <a:lnSpc>
                <a:spcPct val="95000"/>
              </a:lnSpc>
              <a:spcAft>
                <a:spcPts val="1715"/>
              </a:spcAft>
              <a:buClr>
                <a:srgbClr val="000000"/>
              </a:buClr>
              <a:buSzPts val="1400"/>
              <a:buBlip>
                <a:blip r:embed="rId1"/>
              </a:buBlip>
            </a:pPr>
            <a:r>
              <a:rPr lang="fr-FR" sz="2000" u="none" strike="noStrike" dirty="0">
                <a:effectLst/>
                <a:uFill>
                  <a:solidFill>
                    <a:srgbClr val="000000"/>
                  </a:solidFill>
                </a:uFill>
                <a:latin typeface="Times New Roman" panose="02020603050405020304" pitchFamily="18" charset="0"/>
                <a:ea typeface="Calibri" panose="020F0502020204030204" pitchFamily="34" charset="0"/>
                <a:cs typeface="Calibri" panose="020F0502020204030204" pitchFamily="34" charset="0"/>
              </a:rPr>
              <a:t>Le Schéma communal d'Aménagement et de Développement territorial (SCADT) ;</a:t>
            </a:r>
            <a:endParaRPr lang="en-US" sz="2000" u="none" strike="noStrike" dirty="0">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endParaRPr>
          </a:p>
          <a:p>
            <a:pPr marL="342900" marR="356235" lvl="0" indent="-342900" algn="just" fontAlgn="base">
              <a:lnSpc>
                <a:spcPct val="95000"/>
              </a:lnSpc>
              <a:spcAft>
                <a:spcPts val="1715"/>
              </a:spcAft>
              <a:buClr>
                <a:srgbClr val="000000"/>
              </a:buClr>
              <a:buSzPts val="1400"/>
              <a:buBlip>
                <a:blip r:embed="rId1"/>
              </a:buBlip>
            </a:pPr>
            <a:r>
              <a:rPr lang="fr-FR" sz="2000" u="none" strike="noStrike" dirty="0">
                <a:effectLst/>
                <a:uFill>
                  <a:solidFill>
                    <a:srgbClr val="000000"/>
                  </a:solidFill>
                </a:uFill>
                <a:latin typeface="Times New Roman" panose="02020603050405020304" pitchFamily="18" charset="0"/>
                <a:ea typeface="Calibri" panose="020F0502020204030204" pitchFamily="34" charset="0"/>
                <a:cs typeface="Calibri" panose="020F0502020204030204" pitchFamily="34" charset="0"/>
              </a:rPr>
              <a:t>Le Schéma de Cohérence territoriale (SCOT) ;</a:t>
            </a:r>
            <a:endParaRPr lang="en-US" sz="2000" u="none" strike="noStrike" dirty="0">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endParaRPr>
          </a:p>
          <a:p>
            <a:pPr marL="342900" marR="356235" lvl="0" indent="-342900" algn="just" fontAlgn="base">
              <a:lnSpc>
                <a:spcPct val="95000"/>
              </a:lnSpc>
              <a:spcAft>
                <a:spcPts val="1715"/>
              </a:spcAft>
              <a:buClr>
                <a:srgbClr val="000000"/>
              </a:buClr>
              <a:buSzPts val="1400"/>
              <a:buBlip>
                <a:blip r:embed="rId1"/>
              </a:buBlip>
            </a:pPr>
            <a:r>
              <a:rPr lang="fr-FR" sz="2000" u="none" strike="noStrike" dirty="0">
                <a:effectLst/>
                <a:uFill>
                  <a:solidFill>
                    <a:srgbClr val="000000"/>
                  </a:solidFill>
                </a:uFill>
                <a:latin typeface="Times New Roman" panose="02020603050405020304" pitchFamily="18" charset="0"/>
                <a:ea typeface="Calibri" panose="020F0502020204030204" pitchFamily="34" charset="0"/>
                <a:cs typeface="Calibri" panose="020F0502020204030204" pitchFamily="34" charset="0"/>
              </a:rPr>
              <a:t>Le Schéma directeur d'Aménagement et de Développement territorial des zones spécifiques (SDADT-ZS) ;</a:t>
            </a:r>
            <a:endParaRPr lang="en-US" sz="2000" u="none" strike="noStrike" dirty="0">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endParaRPr>
          </a:p>
          <a:p>
            <a:pPr marL="342900" marR="356235" lvl="0" indent="-342900" algn="just" fontAlgn="base">
              <a:lnSpc>
                <a:spcPct val="95000"/>
              </a:lnSpc>
              <a:spcAft>
                <a:spcPts val="1715"/>
              </a:spcAft>
              <a:buClr>
                <a:srgbClr val="000000"/>
              </a:buClr>
              <a:buSzPts val="1400"/>
              <a:buBlip>
                <a:blip r:embed="rId1"/>
              </a:buBlip>
            </a:pPr>
            <a:r>
              <a:rPr lang="fr-FR" sz="2000" u="none" strike="noStrike" dirty="0">
                <a:effectLst/>
                <a:uFill>
                  <a:solidFill>
                    <a:srgbClr val="000000"/>
                  </a:solidFill>
                </a:uFill>
                <a:latin typeface="Times New Roman" panose="02020603050405020304" pitchFamily="18" charset="0"/>
                <a:ea typeface="Calibri" panose="020F0502020204030204" pitchFamily="34" charset="0"/>
                <a:cs typeface="Calibri" panose="020F0502020204030204" pitchFamily="34" charset="0"/>
              </a:rPr>
              <a:t>Le PDU: Plan Directeur d’Urbanisme</a:t>
            </a:r>
            <a:endParaRPr lang="en-US" sz="2000" u="none" strike="noStrike" dirty="0">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endParaRPr>
          </a:p>
          <a:p>
            <a:pPr marL="342900" marR="356235" lvl="0" indent="-342900" algn="just" fontAlgn="base">
              <a:lnSpc>
                <a:spcPct val="95000"/>
              </a:lnSpc>
              <a:spcAft>
                <a:spcPts val="1715"/>
              </a:spcAft>
              <a:buClr>
                <a:srgbClr val="000000"/>
              </a:buClr>
              <a:buSzPts val="1400"/>
              <a:buBlip>
                <a:blip r:embed="rId1"/>
              </a:buBlip>
            </a:pPr>
            <a:r>
              <a:rPr lang="fr-FR" sz="2000" u="none" strike="noStrike" dirty="0">
                <a:effectLst/>
                <a:uFill>
                  <a:solidFill>
                    <a:srgbClr val="000000"/>
                  </a:solidFill>
                </a:uFill>
                <a:latin typeface="Times New Roman" panose="02020603050405020304" pitchFamily="18" charset="0"/>
                <a:ea typeface="Calibri" panose="020F0502020204030204" pitchFamily="34" charset="0"/>
                <a:cs typeface="Calibri" panose="020F0502020204030204" pitchFamily="34" charset="0"/>
              </a:rPr>
              <a:t>Le PUD : Plan d’Urbanisme de détails…</a:t>
            </a:r>
            <a:r>
              <a:rPr lang="fr-FR" sz="2000" u="none" strike="noStrike" dirty="0" err="1">
                <a:effectLst/>
                <a:uFill>
                  <a:solidFill>
                    <a:srgbClr val="000000"/>
                  </a:solidFill>
                </a:uFill>
                <a:latin typeface="Times New Roman" panose="02020603050405020304" pitchFamily="18" charset="0"/>
                <a:ea typeface="Calibri" panose="020F0502020204030204" pitchFamily="34" charset="0"/>
                <a:cs typeface="Calibri" panose="020F0502020204030204" pitchFamily="34" charset="0"/>
              </a:rPr>
              <a:t>Etc</a:t>
            </a:r>
            <a:endParaRPr lang="en-US" sz="2000" u="none" strike="noStrike" dirty="0">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oneTexte 5"/>
          <p:cNvSpPr txBox="1"/>
          <p:nvPr/>
        </p:nvSpPr>
        <p:spPr>
          <a:xfrm>
            <a:off x="233516" y="365961"/>
            <a:ext cx="11724968" cy="5965544"/>
          </a:xfrm>
          <a:prstGeom prst="rect">
            <a:avLst/>
          </a:prstGeom>
          <a:noFill/>
        </p:spPr>
        <p:txBody>
          <a:bodyPr wrap="square">
            <a:spAutoFit/>
          </a:bodyPr>
          <a:lstStyle/>
          <a:p>
            <a:pPr>
              <a:lnSpc>
                <a:spcPct val="90000"/>
              </a:lnSpc>
              <a:spcBef>
                <a:spcPts val="1000"/>
              </a:spcBef>
              <a:buNone/>
            </a:pPr>
            <a:r>
              <a:rPr lang="fr-FR" sz="2400" b="1" kern="1200" dirty="0">
                <a:solidFill>
                  <a:srgbClr val="00B0F0"/>
                </a:solidFill>
                <a:effectLst/>
                <a:latin typeface="Times New Roman" panose="02020603050405020304" pitchFamily="18" charset="0"/>
                <a:ea typeface="Times New Roman" panose="02020603050405020304" pitchFamily="18" charset="0"/>
              </a:rPr>
              <a:t>Chapitre 2 : La construction des territoires</a:t>
            </a:r>
            <a:r>
              <a:rPr lang="fr-FR" sz="18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Wingdings 3" panose="05040102010807070707" pitchFamily="18" charset="2"/>
              <a:buChar char=""/>
              <a:tabLst>
                <a:tab pos="457200" algn="l"/>
              </a:tabLs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I. Concept de Territoire : cadre conceptuel, dimensions et définitions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buNone/>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Il est procédé à la définition du territoire selon ses dimensions</a:t>
            </a:r>
            <a:r>
              <a:rPr lang="fr-FR" sz="2000" dirty="0">
                <a:effectLst/>
                <a:latin typeface="Times New Roman" panose="02020603050405020304" pitchFamily="18" charset="0"/>
                <a:ea typeface="Calibri" panose="020F0502020204030204" pitchFamily="34" charset="0"/>
                <a:cs typeface="Times New Roman" panose="02020603050405020304" pitchFamily="18" charset="0"/>
              </a:rPr>
              <a:t> multiples ou domaines déterminants</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et ses traits distinctifs d’avec l’espace, le terroir, le lieu</a:t>
            </a:r>
            <a:r>
              <a:rPr lang="fr-FR" sz="20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fr-FR"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buNone/>
            </a:pP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Wingdings 3" panose="05040102010807070707" pitchFamily="18" charset="2"/>
              <a:buChar char=""/>
              <a:tabLst>
                <a:tab pos="457200" algn="l"/>
              </a:tabLst>
            </a:pPr>
            <a:r>
              <a:rPr lang="fr-FR" sz="2000" b="1" dirty="0">
                <a:effectLst/>
                <a:latin typeface="Times New Roman" panose="02020603050405020304" pitchFamily="18" charset="0"/>
                <a:ea typeface="Calibri" panose="020F0502020204030204" pitchFamily="34" charset="0"/>
                <a:cs typeface="Times New Roman" panose="02020603050405020304" pitchFamily="18" charset="0"/>
              </a:rPr>
              <a:t>II. Système territorial, usages et enjeux du territoire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buNone/>
            </a:pPr>
            <a:r>
              <a:rPr lang="fr-FR" sz="2000" dirty="0">
                <a:effectLst/>
                <a:latin typeface="Times New Roman" panose="02020603050405020304" pitchFamily="18" charset="0"/>
                <a:ea typeface="Calibri" panose="020F0502020204030204" pitchFamily="34" charset="0"/>
                <a:cs typeface="Times New Roman" panose="02020603050405020304" pitchFamily="18" charset="0"/>
              </a:rPr>
              <a:t>         Et pour mieux cerner le territoire, le système territorial, lieu d’interactions entre espaces, sociétés et institutions est ausculté et a ,aujourd’hui, comme méthode de gouvernance l’intelligence territoriale. Par cette gouvernance, on assiste à une domestication du territoire, d’où on note de nombreux usages du territoire : économiques, politiques, ludiques et parfois même spirituels, etc. Le territoire est un dénominateur commun, incontournable à la société caractérisée par sa diversité d’où des enjeux multiples, des tiraillements et conflits d’usages récurrents ( « le foncier est au Sénégal le premier motif d’alerte-conflits que je reçois » disait Le président Macky </a:t>
            </a:r>
            <a:r>
              <a:rPr lang="fr-FR" sz="2000" dirty="0" err="1">
                <a:effectLst/>
                <a:latin typeface="Times New Roman" panose="02020603050405020304" pitchFamily="18" charset="0"/>
                <a:ea typeface="Calibri" panose="020F0502020204030204" pitchFamily="34" charset="0"/>
                <a:cs typeface="Times New Roman" panose="02020603050405020304" pitchFamily="18" charset="0"/>
              </a:rPr>
              <a:t>Sall</a:t>
            </a:r>
            <a:r>
              <a:rPr lang="fr-FR" sz="2000" dirty="0">
                <a:effectLst/>
                <a:latin typeface="Times New Roman" panose="02020603050405020304" pitchFamily="18" charset="0"/>
                <a:ea typeface="Calibri" panose="020F0502020204030204" pitchFamily="34" charset="0"/>
                <a:cs typeface="Times New Roman" panose="02020603050405020304" pitchFamily="18" charset="0"/>
              </a:rPr>
              <a:t>, les occupations jugées anarchiques sont d’actualité avec des actions de désencombrements…)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15000"/>
              </a:lnSpc>
              <a:spcAft>
                <a:spcPts val="100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923003" y="736941"/>
            <a:ext cx="11141178" cy="2867965"/>
          </a:xfrm>
          <a:prstGeom prst="rect">
            <a:avLst/>
          </a:prstGeom>
          <a:noFill/>
        </p:spPr>
        <p:txBody>
          <a:bodyPr wrap="square">
            <a:spAutoFit/>
          </a:bodyPr>
          <a:lstStyle/>
          <a:p>
            <a:pPr marL="342900" lvl="0" indent="-342900" algn="just">
              <a:lnSpc>
                <a:spcPct val="115000"/>
              </a:lnSpc>
              <a:spcAft>
                <a:spcPts val="1000"/>
              </a:spcAft>
              <a:buFont typeface="Wingdings 3" panose="05040102010807070707" pitchFamily="18" charset="2"/>
              <a:buChar char=""/>
              <a:tabLst>
                <a:tab pos="457200" algn="l"/>
              </a:tabLst>
            </a:pPr>
            <a:r>
              <a:rPr lang="fr-FR" sz="2000" b="1" dirty="0">
                <a:effectLst/>
                <a:latin typeface="Times New Roman" panose="02020603050405020304" pitchFamily="18" charset="0"/>
                <a:ea typeface="Times New Roman" panose="02020603050405020304" pitchFamily="18" charset="0"/>
                <a:cs typeface="Times New Roman" panose="02020603050405020304" pitchFamily="18" charset="0"/>
              </a:rPr>
              <a:t>III. Territorialisation et territorialités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a:buNone/>
            </a:pPr>
            <a:r>
              <a:rPr lang="en-US" sz="2000" dirty="0">
                <a:effectLst/>
                <a:latin typeface="Times New Roman" panose="02020603050405020304" pitchFamily="18" charset="0"/>
                <a:ea typeface="Times New Roman" panose="02020603050405020304" pitchFamily="18" charset="0"/>
              </a:rPr>
              <a:t>Néanmoins, l’humanité a dépassé l’état de nature et dans un contexte démocratique, de développement local avec la déconcentration et la décentralisation, il est question de territorialisation, de territorialité voire territorialisme. La territorialisation qui est une </a:t>
            </a:r>
            <a:r>
              <a:rPr lang="fr-FR" sz="2000" kern="1200" dirty="0">
                <a:effectLst/>
                <a:latin typeface="Times New Roman" panose="02020603050405020304" pitchFamily="18" charset="0"/>
                <a:ea typeface="Times New Roman" panose="02020603050405020304" pitchFamily="18" charset="0"/>
              </a:rPr>
              <a:t>adaptation des politiques publiques nationales aux spécificités locales prenant en compte les échelons politico-administratifs inférieurs et la démocratie locale.</a:t>
            </a:r>
            <a:r>
              <a:rPr lang="fr-FR" sz="2000" kern="1200" dirty="0">
                <a:effectLst/>
                <a:latin typeface="Times New Roman" panose="02020603050405020304" pitchFamily="18" charset="0"/>
                <a:ea typeface="Calibri" panose="020F0502020204030204" pitchFamily="34" charset="0"/>
              </a:rPr>
              <a:t> </a:t>
            </a:r>
            <a:r>
              <a:rPr lang="fr-FR" sz="2000" kern="1200" dirty="0">
                <a:effectLst/>
                <a:latin typeface="Times New Roman" panose="02020603050405020304" pitchFamily="18" charset="0"/>
                <a:ea typeface="Times New Roman" panose="02020603050405020304" pitchFamily="18" charset="0"/>
              </a:rPr>
              <a:t>La territorialité, une relation qualifiante à l’espace.</a:t>
            </a:r>
            <a:r>
              <a:rPr lang="fr-FR" sz="2000" kern="1200" dirty="0">
                <a:effectLst/>
                <a:latin typeface="Times New Roman" panose="02020603050405020304" pitchFamily="18" charset="0"/>
                <a:ea typeface="Calibri" panose="020F0502020204030204" pitchFamily="34" charset="0"/>
              </a:rPr>
              <a:t> Et cette territorialité peut parfois s'accompagner de « </a:t>
            </a:r>
            <a:r>
              <a:rPr lang="fr-FR" sz="2000" i="1" kern="1200" dirty="0">
                <a:effectLst/>
                <a:latin typeface="Times New Roman" panose="02020603050405020304" pitchFamily="18" charset="0"/>
                <a:ea typeface="Calibri" panose="020F0502020204030204" pitchFamily="34" charset="0"/>
              </a:rPr>
              <a:t>territorialisme </a:t>
            </a:r>
            <a:r>
              <a:rPr lang="fr-FR" sz="2000" kern="1200" dirty="0">
                <a:effectLst/>
                <a:latin typeface="Times New Roman" panose="02020603050405020304" pitchFamily="18" charset="0"/>
                <a:ea typeface="Calibri" panose="020F0502020204030204" pitchFamily="34" charset="0"/>
              </a:rPr>
              <a:t>» qui traduit généralement un rejet de l'autre</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p:cNvSpPr txBox="1"/>
          <p:nvPr/>
        </p:nvSpPr>
        <p:spPr>
          <a:xfrm>
            <a:off x="1312606" y="2664496"/>
            <a:ext cx="10102645" cy="757130"/>
          </a:xfrm>
          <a:prstGeom prst="rect">
            <a:avLst/>
          </a:prstGeom>
          <a:noFill/>
        </p:spPr>
        <p:txBody>
          <a:bodyPr wrap="square">
            <a:spAutoFit/>
          </a:bodyPr>
          <a:lstStyle/>
          <a:p>
            <a:pPr>
              <a:lnSpc>
                <a:spcPct val="90000"/>
              </a:lnSpc>
              <a:spcBef>
                <a:spcPts val="1000"/>
              </a:spcBef>
              <a:buNone/>
            </a:pPr>
            <a:r>
              <a:rPr lang="fr-FR" sz="4800" b="1" kern="1200" dirty="0">
                <a:solidFill>
                  <a:srgbClr val="00B0F0"/>
                </a:solidFill>
                <a:effectLst/>
                <a:latin typeface="Times New Roman" panose="02020603050405020304" pitchFamily="18" charset="0"/>
                <a:ea typeface="Times New Roman" panose="02020603050405020304" pitchFamily="18" charset="0"/>
              </a:rPr>
              <a:t>Chapitre 3 : L’espace et le territoire</a:t>
            </a:r>
            <a:endParaRPr lang="fr-FR" sz="4800" b="1" kern="1200" dirty="0">
              <a:solidFill>
                <a:srgbClr val="00B0F0"/>
              </a:solidFill>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145026" y="707923"/>
            <a:ext cx="11901948" cy="5024068"/>
          </a:xfrm>
          <a:prstGeom prst="rect">
            <a:avLst/>
          </a:prstGeom>
          <a:noFill/>
        </p:spPr>
        <p:txBody>
          <a:bodyPr wrap="square">
            <a:spAutoFit/>
          </a:bodyPr>
          <a:lstStyle/>
          <a:p>
            <a:pPr>
              <a:lnSpc>
                <a:spcPct val="90000"/>
              </a:lnSpc>
              <a:spcBef>
                <a:spcPts val="1000"/>
              </a:spcBef>
              <a:buNone/>
            </a:pPr>
            <a:r>
              <a:rPr lang="fr-FR" sz="2400" b="1" kern="1200" dirty="0">
                <a:solidFill>
                  <a:srgbClr val="00B0F0"/>
                </a:solidFill>
                <a:effectLst/>
                <a:latin typeface="Times New Roman" panose="02020603050405020304" pitchFamily="18" charset="0"/>
                <a:ea typeface="Times New Roman" panose="02020603050405020304" pitchFamily="18" charset="0"/>
              </a:rPr>
              <a:t>Chapitre 3 : L’espace et le territoire</a:t>
            </a:r>
            <a:endParaRPr lang="fr-FR" sz="2400" b="1" kern="1200" dirty="0">
              <a:solidFill>
                <a:srgbClr val="00B0F0"/>
              </a:solidFill>
              <a:effectLst/>
              <a:latin typeface="Times New Roman" panose="02020603050405020304" pitchFamily="18" charset="0"/>
              <a:ea typeface="Times New Roman" panose="02020603050405020304" pitchFamily="18" charset="0"/>
            </a:endParaRPr>
          </a:p>
          <a:p>
            <a:pPr>
              <a:lnSpc>
                <a:spcPct val="90000"/>
              </a:lnSpc>
              <a:spcBef>
                <a:spcPts val="1000"/>
              </a:spcBef>
              <a:buNone/>
            </a:pPr>
            <a:r>
              <a:rPr lang="fr-FR" sz="2000" dirty="0"/>
              <a:t>En sciences sociales, une définition n’est pas statique, elle est dynamique</a:t>
            </a:r>
            <a:r>
              <a:rPr lang="fr-FR" sz="2000" b="1" dirty="0"/>
              <a:t>. </a:t>
            </a:r>
            <a:r>
              <a:rPr lang="fr-FR" sz="2000" dirty="0"/>
              <a:t>Et, d</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u fait d’un frottement, un flou conceptuel est perceptible entre les notions d’espace et de territoire. Souvent, l’espace évolue en territoire(s) et le territoire </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est à l’origine</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un espace. Aussi, un espace peut abriter plusieurs territoires : </a:t>
            </a:r>
            <a:r>
              <a:rPr lang="fr-FR" sz="2000" dirty="0">
                <a:effectLst/>
                <a:latin typeface="Times New Roman" panose="02020603050405020304" pitchFamily="18" charset="0"/>
                <a:ea typeface="Calibri" panose="020F0502020204030204" pitchFamily="34" charset="0"/>
                <a:cs typeface="Times New Roman" panose="02020603050405020304" pitchFamily="18" charset="0"/>
              </a:rPr>
              <a:t>on peut assister </a:t>
            </a:r>
            <a:r>
              <a:rPr lang="fr-FR" sz="2000" b="1" dirty="0">
                <a:effectLst/>
                <a:latin typeface="Times New Roman" panose="02020603050405020304" pitchFamily="18" charset="0"/>
                <a:ea typeface="Calibri" panose="020F0502020204030204" pitchFamily="34" charset="0"/>
                <a:cs typeface="Times New Roman" panose="02020603050405020304" pitchFamily="18" charset="0"/>
              </a:rPr>
              <a:t>à une juxtaposition</a:t>
            </a:r>
            <a:r>
              <a:rPr lang="fr-FR" sz="2000" dirty="0">
                <a:effectLst/>
                <a:latin typeface="Times New Roman" panose="02020603050405020304" pitchFamily="18" charset="0"/>
                <a:ea typeface="Calibri" panose="020F0502020204030204" pitchFamily="34" charset="0"/>
                <a:cs typeface="Times New Roman" panose="02020603050405020304" pitchFamily="18" charset="0"/>
              </a:rPr>
              <a:t> d’espaces, c’est ce que </a:t>
            </a:r>
            <a:r>
              <a:rPr lang="fr-FR" sz="2000" dirty="0" err="1">
                <a:effectLst/>
                <a:latin typeface="Times New Roman" panose="02020603050405020304" pitchFamily="18" charset="0"/>
                <a:ea typeface="Calibri" panose="020F0502020204030204" pitchFamily="34" charset="0"/>
                <a:cs typeface="Times New Roman" panose="02020603050405020304" pitchFamily="18" charset="0"/>
              </a:rPr>
              <a:t>Castells</a:t>
            </a:r>
            <a:r>
              <a:rPr lang="fr-FR" sz="2000" dirty="0">
                <a:effectLst/>
                <a:latin typeface="Times New Roman" panose="02020603050405020304" pitchFamily="18" charset="0"/>
                <a:ea typeface="Calibri" panose="020F0502020204030204" pitchFamily="34" charset="0"/>
                <a:cs typeface="Times New Roman" panose="02020603050405020304" pitchFamily="18" charset="0"/>
              </a:rPr>
              <a:t> appelle un flux d’espaces générant ainsi une multiplicité de territoires mais aussi à une superposition d’échelles spatiale et territoriale (du local au global). L’espace est l’origine du territoire qui est une appropriation, une domestication, une anthropisation de l’étendue spatiale.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buNone/>
            </a:pPr>
            <a:r>
              <a:rPr lang="fr-FR" sz="2000" dirty="0">
                <a:effectLst/>
                <a:latin typeface="Times New Roman" panose="02020603050405020304" pitchFamily="18" charset="0"/>
                <a:ea typeface="Calibri" panose="020F0502020204030204" pitchFamily="34" charset="0"/>
                <a:cs typeface="Times New Roman" panose="02020603050405020304" pitchFamily="18" charset="0"/>
              </a:rPr>
              <a:t>En effet, l’espace est une étendue limitée de la surface terrestre. Il est un support de l’action mais aussi un instrument de l’activité. Et à travers son action raisonnée, l’homme artificialise et administre cet espace devenant ‘’un espace plus’’ ou territoire (s) : « Portion de la surface terrestre, appropriée par un groupe social pour assurer sa reproduction et la satisfaction de ses besoins vitaux » (M. Le Berre).</a:t>
            </a:r>
            <a:r>
              <a:rPr lang="fr-FR" sz="2000" kern="12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12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Et pour une plus nette démarcation entre espace et territoire, il est relevé l’institutionnalisation du territoire avec un pouvoir exerçant l’autorité. Cette différenciation par le pouvoir exercé est encore plus opportune par considération à l’espace au singulier proche de la définition du territoire : </a:t>
            </a:r>
            <a:r>
              <a:rPr lang="fr-FR" sz="2000" dirty="0">
                <a:effectLst/>
                <a:latin typeface="Times New Roman" panose="02020603050405020304" pitchFamily="18" charset="0"/>
                <a:ea typeface="Calibri" panose="020F0502020204030204" pitchFamily="34" charset="0"/>
                <a:cs typeface="Times New Roman" panose="02020603050405020304" pitchFamily="18" charset="0"/>
              </a:rPr>
              <a:t>‘’l’espace au singulier’’</a:t>
            </a:r>
            <a:r>
              <a:rPr lang="fr-FR" sz="2000" kern="1200" dirty="0">
                <a:solidFill>
                  <a:srgbClr val="00B0F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fr-FR" sz="2000" kern="1200" dirty="0">
                <a:effectLst/>
                <a:latin typeface="Times New Roman" panose="02020603050405020304" pitchFamily="18" charset="0"/>
                <a:ea typeface="Times New Roman" panose="02020603050405020304" pitchFamily="18" charset="0"/>
                <a:cs typeface="Times New Roman" panose="02020603050405020304" pitchFamily="18" charset="0"/>
              </a:rPr>
              <a:t>qui est</a:t>
            </a:r>
            <a:r>
              <a:rPr lang="fr-FR" sz="2000" dirty="0">
                <a:effectLst/>
                <a:latin typeface="Times New Roman" panose="02020603050405020304" pitchFamily="18" charset="0"/>
                <a:ea typeface="Calibri" panose="020F0502020204030204" pitchFamily="34" charset="0"/>
                <a:cs typeface="Times New Roman" panose="02020603050405020304" pitchFamily="18" charset="0"/>
              </a:rPr>
              <a:t> « une portion de l’espace terrestre localisée, définie par sa nature et ses propriétés physiques, économiques et sociales ».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334296" y="457200"/>
            <a:ext cx="11857704" cy="7640810"/>
          </a:xfrm>
          <a:prstGeom prst="rect">
            <a:avLst/>
          </a:prstGeom>
          <a:noFill/>
        </p:spPr>
        <p:txBody>
          <a:bodyPr wrap="square">
            <a:spAutoFit/>
          </a:bodyPr>
          <a:lstStyle/>
          <a:p>
            <a:pPr algn="just">
              <a:lnSpc>
                <a:spcPct val="115000"/>
              </a:lnSpc>
              <a:spcAft>
                <a:spcPts val="1000"/>
              </a:spcAft>
            </a:pPr>
            <a:r>
              <a:rPr lang="fr-FR" sz="1800" b="1" dirty="0">
                <a:effectLst/>
                <a:latin typeface="Times New Roman" panose="02020603050405020304" pitchFamily="18" charset="0"/>
                <a:ea typeface="Calibri" panose="020F0502020204030204" pitchFamily="34" charset="0"/>
                <a:cs typeface="Times New Roman" panose="02020603050405020304" pitchFamily="18" charset="0"/>
              </a:rPr>
              <a:t>-</a:t>
            </a:r>
            <a:r>
              <a:rPr lang="fr-FR" b="1" dirty="0"/>
              <a:t>-Exemples de juxtaposition et superposition (d’échelles) spatiales et territoriales </a:t>
            </a:r>
            <a:r>
              <a:rPr lang="fr-FR" sz="1800" b="1" dirty="0">
                <a:effectLst/>
                <a:latin typeface="Times New Roman" panose="02020603050405020304" pitchFamily="18" charset="0"/>
                <a:ea typeface="Calibri" panose="020F0502020204030204" pitchFamily="34" charset="0"/>
                <a:cs typeface="Times New Roman" panose="02020603050405020304" pitchFamily="18"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buNone/>
            </a:pPr>
            <a:r>
              <a:rPr lang="fr-FR" sz="2000" dirty="0">
                <a:effectLst/>
                <a:latin typeface="Times New Roman" panose="02020603050405020304" pitchFamily="18" charset="0"/>
                <a:ea typeface="Calibri" panose="020F0502020204030204" pitchFamily="34" charset="0"/>
                <a:cs typeface="Times New Roman" panose="02020603050405020304" pitchFamily="18" charset="0"/>
              </a:rPr>
              <a:t>De là, on peut déduire que la commune rurale de </a:t>
            </a:r>
            <a:r>
              <a:rPr lang="fr-FR" sz="2000" dirty="0" err="1">
                <a:effectLst/>
                <a:latin typeface="Times New Roman" panose="02020603050405020304" pitchFamily="18" charset="0"/>
                <a:ea typeface="Calibri" panose="020F0502020204030204" pitchFamily="34" charset="0"/>
                <a:cs typeface="Times New Roman" panose="02020603050405020304" pitchFamily="18" charset="0"/>
              </a:rPr>
              <a:t>Ndindy</a:t>
            </a:r>
            <a:r>
              <a:rPr lang="fr-FR" sz="2000" dirty="0">
                <a:effectLst/>
                <a:latin typeface="Times New Roman" panose="02020603050405020304" pitchFamily="18" charset="0"/>
                <a:ea typeface="Calibri" panose="020F0502020204030204" pitchFamily="34" charset="0"/>
                <a:cs typeface="Times New Roman" panose="02020603050405020304" pitchFamily="18" charset="0"/>
              </a:rPr>
              <a:t> est un territoire administré par le maire abritant des populations surtout agricoles pour la plupart wolof ou sérère. </a:t>
            </a:r>
            <a:r>
              <a:rPr lang="fr-FR" sz="2000" dirty="0" err="1">
                <a:effectLst/>
                <a:latin typeface="Times New Roman" panose="02020603050405020304" pitchFamily="18" charset="0"/>
                <a:ea typeface="Calibri" panose="020F0502020204030204" pitchFamily="34" charset="0"/>
                <a:cs typeface="Times New Roman" panose="02020603050405020304" pitchFamily="18" charset="0"/>
              </a:rPr>
              <a:t>Ndindy</a:t>
            </a:r>
            <a:r>
              <a:rPr lang="fr-FR" sz="2000" dirty="0">
                <a:effectLst/>
                <a:latin typeface="Times New Roman" panose="02020603050405020304" pitchFamily="18" charset="0"/>
                <a:ea typeface="Calibri" panose="020F0502020204030204" pitchFamily="34" charset="0"/>
                <a:cs typeface="Times New Roman" panose="02020603050405020304" pitchFamily="18" charset="0"/>
              </a:rPr>
              <a:t> avec une superficie définie et des limites claires est logé dans l’espace régional Diourbellois mais dans la zone éco géographique du bassin arachidier.</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buNone/>
            </a:pPr>
            <a:r>
              <a:rPr lang="fr-FR" sz="2000" dirty="0">
                <a:effectLst/>
                <a:latin typeface="Times New Roman" panose="02020603050405020304" pitchFamily="18" charset="0"/>
                <a:ea typeface="Calibri" panose="020F0502020204030204" pitchFamily="34" charset="0"/>
                <a:cs typeface="Times New Roman" panose="02020603050405020304" pitchFamily="18" charset="0"/>
              </a:rPr>
              <a:t>Autre exemple, la commune urbaine de Dakar plateau fait partie du département et de la région de Dakar. Elle est administrée pour la voie administrative par un sous-préfet et pour le volet décentralisation par le maire, cette commune est partie d’un arrondissement administré par le même sous-préfet, d’un département sous l’autorité du préfet, d’une région gérée par un gouverneur, d’un pays sous l’autorité d’un président de la république, le pays est dans l’espace continental africain qu’il partage avec des Etats-</a:t>
            </a:r>
            <a:r>
              <a:rPr lang="fr-FR" sz="2000" dirty="0" err="1">
                <a:effectLst/>
                <a:latin typeface="Times New Roman" panose="02020603050405020304" pitchFamily="18" charset="0"/>
                <a:ea typeface="Calibri" panose="020F0502020204030204" pitchFamily="34" charset="0"/>
                <a:cs typeface="Times New Roman" panose="02020603050405020304" pitchFamily="18" charset="0"/>
              </a:rPr>
              <a:t>fréres</a:t>
            </a:r>
            <a:r>
              <a:rPr lang="fr-FR" sz="2000" dirty="0">
                <a:effectLst/>
                <a:latin typeface="Times New Roman" panose="02020603050405020304" pitchFamily="18" charset="0"/>
                <a:ea typeface="Calibri" panose="020F0502020204030204" pitchFamily="34" charset="0"/>
                <a:cs typeface="Times New Roman" panose="02020603050405020304" pitchFamily="18" charset="0"/>
              </a:rPr>
              <a:t> et le continent baigne dans un monde en mondialisation (échelle du local au global). Cette mondialisation se fait avec une réduction du rapport distance-temps, une connectivité ou circulation instantanée de l’information (un village planétaire) d’où certains prospectivistes parlent d’universaliser tel le titre de l’ouvrage primé du Pr Souleymane Bachir Diagne « Universaliser ». Dans cette juxtaposition, superposition de territoires et d’espaces, des relations de coopération et de mutualisation se multiplient telles les ententes intercommunales (</a:t>
            </a:r>
            <a:r>
              <a:rPr lang="fr-FR" sz="2000" dirty="0" err="1">
                <a:effectLst/>
                <a:latin typeface="Times New Roman" panose="02020603050405020304" pitchFamily="18" charset="0"/>
                <a:ea typeface="Calibri" panose="020F0502020204030204" pitchFamily="34" charset="0"/>
                <a:cs typeface="Times New Roman" panose="02020603050405020304" pitchFamily="18" charset="0"/>
              </a:rPr>
              <a:t>Mbayard</a:t>
            </a:r>
            <a:r>
              <a:rPr lang="fr-FR" sz="2000" dirty="0">
                <a:effectLst/>
                <a:latin typeface="Times New Roman" panose="02020603050405020304" pitchFamily="18" charset="0"/>
                <a:ea typeface="Calibri" panose="020F0502020204030204" pitchFamily="34" charset="0"/>
                <a:cs typeface="Times New Roman" panose="02020603050405020304" pitchFamily="18" charset="0"/>
              </a:rPr>
              <a:t> à Diourbel), les unions (UEMOA, UE, UA…), des communautés (CEDEAO en Afrique de l’ouest, Union du Maghreb arabe (UMA)), des fédérations (Nigéria, Etats unis) …</a:t>
            </a:r>
            <a:endParaRPr lang="fr-FR"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buNone/>
            </a:pPr>
            <a:endParaRPr lang="fr-FR"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buNone/>
            </a:pPr>
            <a:endParaRPr lang="fr-FR" sz="16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buNone/>
            </a:pPr>
            <a:endParaRPr lang="fr-FR" sz="16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buNone/>
            </a:pP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152400" y="196526"/>
            <a:ext cx="11887200" cy="7844455"/>
          </a:xfrm>
          <a:prstGeom prst="rect">
            <a:avLst/>
          </a:prstGeom>
          <a:noFill/>
        </p:spPr>
        <p:txBody>
          <a:bodyPr wrap="square">
            <a:spAutoFit/>
          </a:bodyPr>
          <a:lstStyle/>
          <a:p>
            <a:pPr algn="just">
              <a:lnSpc>
                <a:spcPct val="115000"/>
              </a:lnSpc>
              <a:spcAft>
                <a:spcPts val="1000"/>
              </a:spcAft>
              <a:buNone/>
            </a:pPr>
            <a:r>
              <a:rPr lang="fr-FR" sz="2000" b="1" dirty="0">
                <a:effectLst/>
                <a:latin typeface="Times New Roman" panose="02020603050405020304" pitchFamily="18" charset="0"/>
                <a:ea typeface="Calibri" panose="020F0502020204030204" pitchFamily="34" charset="0"/>
                <a:cs typeface="Times New Roman" panose="02020603050405020304" pitchFamily="18" charset="0"/>
              </a:rPr>
              <a:t>-Elaboration de documents d’étude et de planification sur la base de l’espace et du territoire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buNone/>
            </a:pPr>
            <a:r>
              <a:rPr lang="en-US" sz="2000" kern="12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Revenant au Sénégal, l’espace est souvent étudié à travers des rapports, politiques, programmes ou plans multisectoriels (déclaration de politique générale, Atlas du Sénégal…) ou à travers un secteur défini (politiques agricoles, lettre de politiques sectorielles du ministère de l’urbanisme, de l’aménagement et des collectivités territoriales). Cependant, plus le territoire considéré est réduit plus l’étude gagne en précision d’où des mémoires et thèses ont souvent comme champ d’investigations des communes considérées comme des échantillons ou unités spatiales d’analyse pertinents. De même, les monographies (Étude complète et détaillée sur un sujet précis) ont souvent comme terrain des territoires réduits plus cernables. Lors de ces études territoriales géographiques (des géographes, aménagistes, urbanistes, environnementalistes, océanographes…sur un territoire pris en compte), il n’est pas question d’analyser séparément les éléments, composants et inter-agissants sur le territoire étudié. Mais, le rapport, l’interaction, l’interrelation, le résultant des rapports est recherché. Cela pour déceler les interférences fécondes à optimiser ou négatives à mitiger. Et, le leitmotiv de la géographie contemporaine appliquée est : « espaces, sociétés et temps ». Espaces pour partir du concret, d’un territoire avec ses caractéristiques physiques et artificiels, le matériel. Sociétés prenant en comptes les individus et groupes, leurs caractéristiques, leur évolution, leur répartition spatiale, leurs activités, leurs cultures, leurs défis…bref leurs traits d’identification et interactions. Le temps pour marquer les moments, évaluer les évolutions, savoir se projeter sur la base des dynamiques et tendances relevées. Cela en privilégiant, le temps présent à mieux maitriser prenant en compte le passé et en s’y basant pour se propulser dans le futur. </a:t>
            </a:r>
            <a:endParaRPr lang="en-US" sz="2000" kern="12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5000"/>
              </a:lnSpc>
              <a:spcAft>
                <a:spcPts val="1000"/>
              </a:spcAft>
              <a:buNone/>
            </a:pPr>
            <a:endParaRPr lang="en-US" dirty="0">
              <a:solidFill>
                <a:srgbClr val="404040"/>
              </a:solidFill>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buNone/>
            </a:pPr>
            <a:endParaRPr lang="en-US" sz="1600" dirty="0">
              <a:solidFill>
                <a:srgbClr val="404040"/>
              </a:solidFill>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buNone/>
            </a:pP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191728" y="186465"/>
            <a:ext cx="11857704" cy="7357142"/>
          </a:xfrm>
          <a:prstGeom prst="rect">
            <a:avLst/>
          </a:prstGeom>
          <a:noFill/>
        </p:spPr>
        <p:txBody>
          <a:bodyPr wrap="square">
            <a:spAutoFit/>
          </a:bodyPr>
          <a:lstStyle/>
          <a:p>
            <a:pPr algn="just">
              <a:lnSpc>
                <a:spcPct val="115000"/>
              </a:lnSpc>
              <a:spcAft>
                <a:spcPts val="1000"/>
              </a:spcAft>
              <a:buNone/>
            </a:pPr>
            <a:r>
              <a:rPr lang="en-US" sz="2000" b="1" kern="1200" dirty="0">
                <a:solidFill>
                  <a:srgbClr val="404040"/>
                </a:solidFill>
                <a:effectLst/>
                <a:latin typeface="Times New Roman" panose="02020603050405020304" pitchFamily="18" charset="0"/>
                <a:ea typeface="Times New Roman" panose="02020603050405020304" pitchFamily="18" charset="0"/>
                <a:cs typeface="Times New Roman" panose="02020603050405020304" pitchFamily="18" charset="0"/>
              </a:rPr>
              <a:t>-Exemple des documents officiels de planification et de développement territorial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R="1262380" algn="just">
              <a:lnSpc>
                <a:spcPct val="115000"/>
              </a:lnSpc>
              <a:spcAft>
                <a:spcPts val="1545"/>
              </a:spcAft>
              <a:buNone/>
            </a:pPr>
            <a:r>
              <a:rPr lang="fr-FR" sz="2000" dirty="0">
                <a:effectLst/>
                <a:latin typeface="Times New Roman" panose="02020603050405020304" pitchFamily="18" charset="0"/>
                <a:ea typeface="Calibri" panose="020F0502020204030204" pitchFamily="34" charset="0"/>
                <a:cs typeface="Times New Roman" panose="02020603050405020304" pitchFamily="18" charset="0"/>
              </a:rPr>
              <a:t>Selon la loi d'orientation pour l'aménagement et le développement durable des territoires (LOADT) de 2021, il existe divers documents de planification articulés au découpage territorial de la décentralisation: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356235" lvl="0" indent="-342900" algn="just">
              <a:lnSpc>
                <a:spcPct val="115000"/>
              </a:lnSpc>
              <a:spcAft>
                <a:spcPts val="1715"/>
              </a:spcAft>
              <a:buFont typeface="Symbol" panose="05050102010706020507" pitchFamily="18" charset="2"/>
              <a:buBlip>
                <a:blip r:embed="rId1"/>
              </a:buBlip>
              <a:tabLst>
                <a:tab pos="457200" algn="l"/>
              </a:tabLst>
            </a:pPr>
            <a:r>
              <a:rPr lang="fr-FR" sz="2000" dirty="0">
                <a:effectLst/>
                <a:latin typeface="Times New Roman" panose="02020603050405020304" pitchFamily="18" charset="0"/>
                <a:ea typeface="Calibri" panose="020F0502020204030204" pitchFamily="34" charset="0"/>
                <a:cs typeface="Times New Roman" panose="02020603050405020304" pitchFamily="18" charset="0"/>
              </a:rPr>
              <a:t>le Plan national d'Aménagement et de développement territorial (PNADT)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356235" lvl="0" indent="-342900" algn="just">
              <a:lnSpc>
                <a:spcPct val="115000"/>
              </a:lnSpc>
              <a:spcAft>
                <a:spcPts val="1715"/>
              </a:spcAft>
              <a:buFont typeface="Symbol" panose="05050102010706020507" pitchFamily="18" charset="2"/>
              <a:buBlip>
                <a:blip r:embed="rId1"/>
              </a:buBlip>
              <a:tabLst>
                <a:tab pos="457200" algn="l"/>
              </a:tabLst>
            </a:pPr>
            <a:r>
              <a:rPr lang="fr-FR" sz="2000" dirty="0">
                <a:effectLst/>
                <a:latin typeface="Times New Roman" panose="02020603050405020304" pitchFamily="18" charset="0"/>
                <a:ea typeface="Calibri" panose="020F0502020204030204" pitchFamily="34" charset="0"/>
                <a:cs typeface="Times New Roman" panose="02020603050405020304" pitchFamily="18" charset="0"/>
              </a:rPr>
              <a:t> le Schéma départemental d'Aménagement et de Développement territorial (SDADT) ;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356235" lvl="0" indent="-342900" algn="just">
              <a:lnSpc>
                <a:spcPct val="115000"/>
              </a:lnSpc>
              <a:spcAft>
                <a:spcPts val="1715"/>
              </a:spcAft>
              <a:buFont typeface="Symbol" panose="05050102010706020507" pitchFamily="18" charset="2"/>
              <a:buBlip>
                <a:blip r:embed="rId1"/>
              </a:buBlip>
              <a:tabLst>
                <a:tab pos="457200" algn="l"/>
              </a:tabLst>
            </a:pPr>
            <a:r>
              <a:rPr lang="fr-FR" sz="2000" dirty="0">
                <a:effectLst/>
                <a:latin typeface="Times New Roman" panose="02020603050405020304" pitchFamily="18" charset="0"/>
                <a:ea typeface="Calibri" panose="020F0502020204030204" pitchFamily="34" charset="0"/>
                <a:cs typeface="Times New Roman" panose="02020603050405020304" pitchFamily="18" charset="0"/>
              </a:rPr>
              <a:t>le Schéma communal d'Aménagement et de Développement territorial (SCADT)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356235" lvl="0" indent="-342900" algn="just">
              <a:lnSpc>
                <a:spcPct val="115000"/>
              </a:lnSpc>
              <a:spcAft>
                <a:spcPts val="1715"/>
              </a:spcAft>
              <a:buFont typeface="Symbol" panose="05050102010706020507" pitchFamily="18" charset="2"/>
              <a:buBlip>
                <a:blip r:embed="rId1"/>
              </a:buBlip>
              <a:tabLst>
                <a:tab pos="457200" algn="l"/>
              </a:tabLst>
            </a:pPr>
            <a:r>
              <a:rPr lang="fr-FR" sz="2000" dirty="0">
                <a:effectLst/>
                <a:latin typeface="Times New Roman" panose="02020603050405020304" pitchFamily="18" charset="0"/>
                <a:ea typeface="Calibri" panose="020F0502020204030204" pitchFamily="34" charset="0"/>
                <a:cs typeface="Times New Roman" panose="02020603050405020304" pitchFamily="18" charset="0"/>
              </a:rPr>
              <a:t>le Schéma de Cohérence territoriale (SCOT)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356235" lvl="0" indent="-342900" algn="just">
              <a:lnSpc>
                <a:spcPct val="115000"/>
              </a:lnSpc>
              <a:spcAft>
                <a:spcPts val="1715"/>
              </a:spcAft>
              <a:buFont typeface="Symbol" panose="05050102010706020507" pitchFamily="18" charset="2"/>
              <a:buBlip>
                <a:blip r:embed="rId1"/>
              </a:buBlip>
              <a:tabLst>
                <a:tab pos="457200" algn="l"/>
              </a:tabLst>
            </a:pPr>
            <a:r>
              <a:rPr lang="fr-FR" sz="2000" dirty="0">
                <a:effectLst/>
                <a:latin typeface="Times New Roman" panose="02020603050405020304" pitchFamily="18" charset="0"/>
                <a:ea typeface="Calibri" panose="020F0502020204030204" pitchFamily="34" charset="0"/>
                <a:cs typeface="Times New Roman" panose="02020603050405020304" pitchFamily="18" charset="0"/>
              </a:rPr>
              <a:t>le Schéma directeur d'Aménagement et de Développement territorial des zones spécifiques (SDADT-ZS).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buNone/>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Ces différents outils de planification et du développement</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 territorial</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ont une élaboration mixte avec l’expertise de services techniques compétents mais participative à travers des consultations, des diagnostics participatifs, des enquêtes. C’est donc le croisement des données quantitatives et qualitatives recueillies et l’apport des technocrates qui aboutissent à ces documents d’orientation.</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5000"/>
              </a:lnSpc>
              <a:spcAft>
                <a:spcPts val="1000"/>
              </a:spcAft>
              <a:buNone/>
            </a:pP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buNone/>
            </a:pP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buNone/>
            </a:pP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211393" y="221226"/>
            <a:ext cx="11769213" cy="7326365"/>
          </a:xfrm>
          <a:prstGeom prst="rect">
            <a:avLst/>
          </a:prstGeom>
          <a:noFill/>
        </p:spPr>
        <p:txBody>
          <a:bodyPr wrap="square">
            <a:spAutoFit/>
          </a:bodyPr>
          <a:lstStyle/>
          <a:p>
            <a:pPr marR="356235" algn="just">
              <a:lnSpc>
                <a:spcPct val="115000"/>
              </a:lnSpc>
              <a:spcAft>
                <a:spcPts val="1000"/>
              </a:spcAft>
              <a:buNone/>
            </a:pPr>
            <a:r>
              <a:rPr lang="fr-FR" sz="2000" dirty="0">
                <a:effectLst/>
                <a:latin typeface="Times New Roman" panose="02020603050405020304" pitchFamily="18" charset="0"/>
                <a:ea typeface="Calibri" panose="020F0502020204030204" pitchFamily="34" charset="0"/>
                <a:cs typeface="Times New Roman" panose="02020603050405020304" pitchFamily="18" charset="0"/>
              </a:rPr>
              <a:t>Sachant que le PNADT est le cadre de référence spatiale pour la territorialisation des politiques publiques. Tous les autres documents de planification économique, spatiale et sectorielle sont cohérents avec les orientations retenues par le PNADT.</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R="356235" algn="just">
              <a:lnSpc>
                <a:spcPct val="115000"/>
              </a:lnSpc>
              <a:spcAft>
                <a:spcPts val="1000"/>
              </a:spcAft>
              <a:buNone/>
            </a:pPr>
            <a:r>
              <a:rPr lang="fr-FR" sz="2000" dirty="0">
                <a:effectLst/>
                <a:latin typeface="Times New Roman" panose="02020603050405020304" pitchFamily="18" charset="0"/>
                <a:ea typeface="Calibri" panose="020F0502020204030204" pitchFamily="34" charset="0"/>
                <a:cs typeface="Times New Roman" panose="02020603050405020304" pitchFamily="18" charset="0"/>
              </a:rPr>
              <a:t>Conformément aux orientations du PNADT, le Schéma départemental d'Aménagement et de Développement territorial définit les options d'aménagement et de développement à l'échelle du département. Idem pour le schéma communal qui se conforme à celui départemental.</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R="356235" algn="just">
              <a:lnSpc>
                <a:spcPct val="115000"/>
              </a:lnSpc>
              <a:spcAft>
                <a:spcPts val="1815"/>
              </a:spcAft>
              <a:buNone/>
            </a:pPr>
            <a:r>
              <a:rPr lang="fr-FR" sz="2000" dirty="0">
                <a:effectLst/>
                <a:latin typeface="Times New Roman" panose="02020603050405020304" pitchFamily="18" charset="0"/>
                <a:ea typeface="Calibri" panose="020F0502020204030204" pitchFamily="34" charset="0"/>
                <a:cs typeface="Times New Roman" panose="02020603050405020304" pitchFamily="18" charset="0"/>
              </a:rPr>
              <a:t>Le schéma de cohérence territoriale est élaboré au niveau des grandes métropoles du pays. L'élaboration du SCOT est à l'initiative des départements, des communes et de leurs groupements.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R="356235" algn="just">
              <a:lnSpc>
                <a:spcPct val="115000"/>
              </a:lnSpc>
              <a:spcAft>
                <a:spcPts val="1815"/>
              </a:spcAft>
              <a:buNone/>
            </a:pPr>
            <a:r>
              <a:rPr lang="fr-FR" sz="2000" dirty="0">
                <a:effectLst/>
                <a:latin typeface="Times New Roman" panose="02020603050405020304" pitchFamily="18" charset="0"/>
                <a:ea typeface="Calibri" panose="020F0502020204030204" pitchFamily="34" charset="0"/>
                <a:cs typeface="Times New Roman" panose="02020603050405020304" pitchFamily="18" charset="0"/>
              </a:rPr>
              <a:t>Conformément aux orientations du PNADT, des Schémas directeurs d'Aménagement et de Développement territorial de zones spécifiques (SDADT-ZS) peuvent être élaborés par l'Etat, en concertation avec les collectivités territoriales concernées ou leur groupement, pour des zones spécifiques caractérisées notamment par leurs fortes potentialités économiques, leur faible niveau d'équipement, leur sensibilité écologique ou leur statut.</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R="356235" algn="just">
              <a:lnSpc>
                <a:spcPct val="115000"/>
              </a:lnSpc>
              <a:spcAft>
                <a:spcPts val="1815"/>
              </a:spcAft>
              <a:buNone/>
            </a:pPr>
            <a:r>
              <a:rPr lang="fr-FR" sz="2000" dirty="0">
                <a:effectLst/>
                <a:latin typeface="Times New Roman" panose="02020603050405020304" pitchFamily="18" charset="0"/>
                <a:ea typeface="Calibri" panose="020F0502020204030204" pitchFamily="34" charset="0"/>
                <a:cs typeface="Times New Roman" panose="02020603050405020304" pitchFamily="18" charset="0"/>
              </a:rPr>
              <a:t>Ces différents documents sont approuvés par l’Etat et ont des durées de vie variables.</a:t>
            </a:r>
            <a:endParaRPr lang="fr-FR"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R="356235" algn="just">
              <a:lnSpc>
                <a:spcPct val="115000"/>
              </a:lnSpc>
              <a:spcAft>
                <a:spcPts val="1815"/>
              </a:spcAft>
              <a:buNone/>
            </a:pPr>
            <a:endParaRPr lang="fr-FR" dirty="0">
              <a:latin typeface="Times New Roman" panose="02020603050405020304" pitchFamily="18" charset="0"/>
              <a:ea typeface="Calibri" panose="020F0502020204030204" pitchFamily="34" charset="0"/>
              <a:cs typeface="Times New Roman" panose="02020603050405020304" pitchFamily="18" charset="0"/>
            </a:endParaRPr>
          </a:p>
          <a:p>
            <a:pPr marR="356235" algn="just">
              <a:lnSpc>
                <a:spcPct val="115000"/>
              </a:lnSpc>
              <a:spcAft>
                <a:spcPts val="1815"/>
              </a:spcAft>
              <a:buNone/>
            </a:pPr>
            <a:endParaRPr lang="fr-FR"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R="356235" algn="just">
              <a:lnSpc>
                <a:spcPct val="115000"/>
              </a:lnSpc>
              <a:spcAft>
                <a:spcPts val="1815"/>
              </a:spcAft>
              <a:buNone/>
            </a:pP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167149" y="-29497"/>
            <a:ext cx="11857702" cy="7063105"/>
          </a:xfrm>
          <a:prstGeom prst="rect">
            <a:avLst/>
          </a:prstGeom>
          <a:noFill/>
        </p:spPr>
        <p:txBody>
          <a:bodyPr wrap="square">
            <a:spAutoFit/>
          </a:bodyPr>
          <a:lstStyle/>
          <a:p>
            <a:pPr algn="just">
              <a:lnSpc>
                <a:spcPct val="115000"/>
              </a:lnSpc>
              <a:spcAft>
                <a:spcPts val="1000"/>
              </a:spcAft>
              <a:buNone/>
            </a:pPr>
            <a:r>
              <a:rPr lang="fr-FR" sz="1600" b="1" dirty="0">
                <a:solidFill>
                  <a:srgbClr val="00B0F0"/>
                </a:solidFill>
                <a:effectLst/>
                <a:latin typeface="Times New Roman" panose="02020603050405020304" pitchFamily="18" charset="0"/>
                <a:ea typeface="Calibri" panose="020F0502020204030204" pitchFamily="34" charset="0"/>
                <a:cs typeface="Times New Roman" panose="02020603050405020304" pitchFamily="18" charset="0"/>
              </a:rPr>
              <a:t>Cette partie 4-des TD se fera en 30mn par groupe avec : </a:t>
            </a:r>
            <a:endParaRPr lang="en-US" sz="1600" b="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buNone/>
            </a:pPr>
            <a:r>
              <a:rPr lang="fr-FR" dirty="0">
                <a:effectLst/>
                <a:latin typeface="Times New Roman" panose="02020603050405020304" pitchFamily="18" charset="0"/>
                <a:ea typeface="Calibri" panose="020F0502020204030204" pitchFamily="34" charset="0"/>
                <a:cs typeface="Times New Roman" panose="02020603050405020304" pitchFamily="18" charset="0"/>
              </a:rPr>
              <a:t>1-une documentation (articles exemple : de</a:t>
            </a:r>
            <a:r>
              <a:rPr lang="fr-FR"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la notion de territoire Par Yvon </a:t>
            </a:r>
            <a:r>
              <a:rPr lang="fr-FR" dirty="0" err="1">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Pesqueux</a:t>
            </a:r>
            <a:r>
              <a:rPr lang="fr-FR" dirty="0">
                <a:effectLst/>
                <a:latin typeface="Times New Roman" panose="02020603050405020304" pitchFamily="18" charset="0"/>
                <a:ea typeface="Calibri" panose="020F0502020204030204" pitchFamily="34" charset="0"/>
                <a:cs typeface="Times New Roman" panose="02020603050405020304" pitchFamily="18" charset="0"/>
              </a:rPr>
              <a:t>…) à résumer et relever en illustrant différentes définitions du territoire qui y sont soulevées.</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buNone/>
            </a:pPr>
            <a:r>
              <a:rPr lang="fr-FR" dirty="0">
                <a:effectLst/>
                <a:latin typeface="Times New Roman" panose="02020603050405020304" pitchFamily="18" charset="0"/>
                <a:ea typeface="Calibri" panose="020F0502020204030204" pitchFamily="34" charset="0"/>
                <a:cs typeface="Times New Roman" panose="02020603050405020304" pitchFamily="18" charset="0"/>
              </a:rPr>
              <a:t>-Des sujets de documentation, de recherche pour élaborer des dossiers à exposer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buNone/>
            </a:pPr>
            <a:r>
              <a:rPr lang="fr-FR" dirty="0">
                <a:effectLst/>
                <a:latin typeface="Times New Roman" panose="02020603050405020304" pitchFamily="18" charset="0"/>
                <a:ea typeface="Calibri" panose="020F0502020204030204" pitchFamily="34" charset="0"/>
                <a:cs typeface="Times New Roman" panose="02020603050405020304" pitchFamily="18" charset="0"/>
              </a:rPr>
              <a:t> 2- Selon la définition des deux notions (espace et territoire) et la pratique, quels exemples de relations décelez vous entre les sociétés humaines  avec leurs espaces et avec leurs territoires, expliquez et illustrez?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buNone/>
            </a:pPr>
            <a:r>
              <a:rPr lang="fr-FR" dirty="0">
                <a:effectLst/>
                <a:latin typeface="Times New Roman" panose="02020603050405020304" pitchFamily="18" charset="0"/>
                <a:ea typeface="Calibri" panose="020F0502020204030204" pitchFamily="34" charset="0"/>
                <a:cs typeface="Times New Roman" panose="02020603050405020304" pitchFamily="18" charset="0"/>
              </a:rPr>
              <a:t>3- Au sens de nos définitions des deux notions, u</a:t>
            </a:r>
            <a:r>
              <a:rPr lang="fr-FR" dirty="0">
                <a:latin typeface="Times New Roman" panose="02020603050405020304" pitchFamily="18" charset="0"/>
                <a:ea typeface="Calibri" panose="020F0502020204030204" pitchFamily="34" charset="0"/>
                <a:cs typeface="Times New Roman" panose="02020603050405020304" pitchFamily="18" charset="0"/>
              </a:rPr>
              <a:t>n territoire non logé dans un espace est ce envisageable, expliquez et illustrez  3 EXEMPLES DE TERRITOIRE?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buNone/>
            </a:pPr>
            <a:r>
              <a:rPr lang="fr-FR" dirty="0">
                <a:effectLst/>
                <a:latin typeface="Times New Roman" panose="02020603050405020304" pitchFamily="18" charset="0"/>
                <a:ea typeface="Calibri" panose="020F0502020204030204" pitchFamily="34" charset="0"/>
                <a:cs typeface="Times New Roman" panose="02020603050405020304" pitchFamily="18" charset="0"/>
              </a:rPr>
              <a:t>4-</a:t>
            </a:r>
            <a:r>
              <a:rPr lang="fr-FR" dirty="0">
                <a:latin typeface="Times New Roman" panose="02020603050405020304" pitchFamily="18" charset="0"/>
                <a:ea typeface="Calibri" panose="020F0502020204030204" pitchFamily="34" charset="0"/>
                <a:cs typeface="Times New Roman" panose="02020603050405020304" pitchFamily="18" charset="0"/>
              </a:rPr>
              <a:t> Au sens de nos définitions des deux notions, </a:t>
            </a:r>
            <a:r>
              <a:rPr lang="fr-FR" dirty="0">
                <a:effectLst/>
                <a:latin typeface="Times New Roman" panose="02020603050405020304" pitchFamily="18" charset="0"/>
                <a:ea typeface="Calibri" panose="020F0502020204030204" pitchFamily="34" charset="0"/>
                <a:cs typeface="Times New Roman" panose="02020603050405020304" pitchFamily="18" charset="0"/>
              </a:rPr>
              <a:t>un espace sans territoire est-ce possible, argumentez et illustrez ?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buNone/>
            </a:pPr>
            <a:r>
              <a:rPr lang="fr-FR" dirty="0">
                <a:effectLst/>
                <a:latin typeface="Times New Roman" panose="02020603050405020304" pitchFamily="18" charset="0"/>
                <a:ea typeface="Calibri" panose="020F0502020204030204" pitchFamily="34" charset="0"/>
                <a:cs typeface="Times New Roman" panose="02020603050405020304" pitchFamily="18" charset="0"/>
              </a:rPr>
              <a:t>5-Donnez cinq usages de la société de son support spatial, expliquez et illustrez chaque usage par un exemple concret.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buNone/>
            </a:pPr>
            <a:r>
              <a:rPr lang="fr-FR" dirty="0">
                <a:effectLst/>
                <a:latin typeface="Times New Roman" panose="02020603050405020304" pitchFamily="18" charset="0"/>
                <a:ea typeface="Calibri" panose="020F0502020204030204" pitchFamily="34" charset="0"/>
                <a:cs typeface="Times New Roman" panose="02020603050405020304" pitchFamily="18" charset="0"/>
              </a:rPr>
              <a:t> 6-Un ensemble de territoires peut-il constituer un territoire plus grand ? peut-il correspondre à un espace? expliquez et illustrez </a:t>
            </a:r>
            <a:r>
              <a:rPr lang="fr-FR" dirty="0">
                <a:latin typeface="Times New Roman" panose="02020603050405020304" pitchFamily="18" charset="0"/>
                <a:ea typeface="Calibri" panose="020F0502020204030204" pitchFamily="34" charset="0"/>
                <a:cs typeface="Times New Roman" panose="02020603050405020304" pitchFamily="18" charset="0"/>
              </a:rPr>
              <a:t>chacune de vos </a:t>
            </a:r>
            <a:r>
              <a:rPr lang="fr-FR" dirty="0">
                <a:effectLst/>
                <a:latin typeface="Times New Roman" panose="02020603050405020304" pitchFamily="18" charset="0"/>
                <a:ea typeface="Calibri" panose="020F0502020204030204" pitchFamily="34" charset="0"/>
                <a:cs typeface="Times New Roman" panose="02020603050405020304" pitchFamily="18" charset="0"/>
              </a:rPr>
              <a:t>réponses par un exemple concret?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buNone/>
            </a:pPr>
            <a:r>
              <a:rPr lang="fr-FR" dirty="0">
                <a:effectLst/>
                <a:latin typeface="Times New Roman" panose="02020603050405020304" pitchFamily="18" charset="0"/>
                <a:ea typeface="Calibri" panose="020F0502020204030204" pitchFamily="34" charset="0"/>
                <a:cs typeface="Times New Roman" panose="02020603050405020304" pitchFamily="18" charset="0"/>
              </a:rPr>
              <a:t>7-une invite à partir de son vécu, un cas concret d’étendue sur laquelle on repère, identifie un espace et un territoire liés à travers lesquels, on énumère et analyse pour chaque entité </a:t>
            </a:r>
            <a:r>
              <a:rPr lang="fr-FR" dirty="0">
                <a:latin typeface="Times New Roman" panose="02020603050405020304" pitchFamily="18" charset="0"/>
                <a:ea typeface="Calibri" panose="020F0502020204030204" pitchFamily="34" charset="0"/>
                <a:cs typeface="Times New Roman" panose="02020603050405020304" pitchFamily="18" charset="0"/>
              </a:rPr>
              <a:t>trois </a:t>
            </a:r>
            <a:r>
              <a:rPr lang="fr-FR" dirty="0">
                <a:effectLst/>
                <a:latin typeface="Times New Roman" panose="02020603050405020304" pitchFamily="18" charset="0"/>
                <a:ea typeface="Calibri" panose="020F0502020204030204" pitchFamily="34" charset="0"/>
                <a:cs typeface="Times New Roman" panose="02020603050405020304" pitchFamily="18" charset="0"/>
              </a:rPr>
              <a:t>angles, </a:t>
            </a:r>
            <a:r>
              <a:rPr lang="fr-FR" dirty="0">
                <a:latin typeface="Times New Roman" panose="02020603050405020304" pitchFamily="18" charset="0"/>
                <a:ea typeface="Calibri" panose="020F0502020204030204" pitchFamily="34" charset="0"/>
                <a:cs typeface="Times New Roman" panose="02020603050405020304" pitchFamily="18" charset="0"/>
              </a:rPr>
              <a:t>trois </a:t>
            </a:r>
            <a:r>
              <a:rPr lang="fr-FR" dirty="0">
                <a:effectLst/>
                <a:latin typeface="Times New Roman" panose="02020603050405020304" pitchFamily="18" charset="0"/>
                <a:ea typeface="Calibri" panose="020F0502020204030204" pitchFamily="34" charset="0"/>
                <a:cs typeface="Times New Roman" panose="02020603050405020304" pitchFamily="18" charset="0"/>
              </a:rPr>
              <a:t>usages caractéristiques de l’étendue territoriale et spatiale (social, politique, économique, ludique, spirituel…).</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buNone/>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8-Choisissez une zone, démontrez son statut de territoire à travers les caractéristiques du territoire, peignez le rapport espace-société-temps qui y prévaut (une ébauche de monographie)……</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buNone/>
            </a:pP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fr-FR" dirty="0">
                <a:effectLst/>
                <a:latin typeface="Times New Roman" panose="02020603050405020304" pitchFamily="18" charset="0"/>
                <a:ea typeface="Calibri" panose="020F0502020204030204" pitchFamily="34" charset="0"/>
                <a:cs typeface="Times New Roman" panose="02020603050405020304" pitchFamily="18" charset="0"/>
              </a:rPr>
              <a:t>Ces TD ont pour objectifs d’éclairer, de rendre plus intelligible le support, en permettant son appropriation et enrichissement.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p:cNvSpPr txBox="1"/>
          <p:nvPr/>
        </p:nvSpPr>
        <p:spPr>
          <a:xfrm>
            <a:off x="265471" y="265472"/>
            <a:ext cx="11592232" cy="10064294"/>
          </a:xfrm>
          <a:prstGeom prst="rect">
            <a:avLst/>
          </a:prstGeom>
          <a:noFill/>
        </p:spPr>
        <p:txBody>
          <a:bodyPr wrap="square">
            <a:spAutoFit/>
          </a:bodyPr>
          <a:lstStyle/>
          <a:p>
            <a:r>
              <a:rPr lang="fr-FR" sz="2400" b="1" dirty="0"/>
              <a:t>Conclusion générale:</a:t>
            </a:r>
            <a:endParaRPr lang="fr-FR" sz="2400" b="1" dirty="0"/>
          </a:p>
          <a:p>
            <a:endParaRPr lang="fr-FR" sz="2400" b="1" dirty="0"/>
          </a:p>
          <a:p>
            <a:endParaRPr lang="fr-FR" sz="2400" b="1" dirty="0"/>
          </a:p>
          <a:p>
            <a:pPr lvl="0"/>
            <a:r>
              <a:rPr lang="fr-FR" sz="2400" dirty="0"/>
              <a:t>….Au sens large, le territoire est une portion d‘espace appropriée</a:t>
            </a:r>
            <a:endParaRPr lang="fr-FR" sz="2400" dirty="0"/>
          </a:p>
          <a:p>
            <a:pPr lvl="0"/>
            <a:r>
              <a:rPr lang="fr-FR" sz="2400" dirty="0"/>
              <a:t>Le territoire peut être </a:t>
            </a:r>
            <a:r>
              <a:rPr lang="fr-FR" sz="2400" b="1" dirty="0"/>
              <a:t>perçu, vécu, ou représenté</a:t>
            </a:r>
            <a:r>
              <a:rPr lang="fr-FR" sz="2400" dirty="0"/>
              <a:t>. </a:t>
            </a:r>
            <a:endParaRPr lang="fr-FR" sz="2400" dirty="0"/>
          </a:p>
          <a:p>
            <a:pPr lvl="0"/>
            <a:r>
              <a:rPr lang="fr-FR" sz="2400" dirty="0"/>
              <a:t>Le territoire a un nom, un espace et une </a:t>
            </a:r>
            <a:r>
              <a:rPr lang="fr-FR" sz="2400" b="1" dirty="0"/>
              <a:t>autorité régulatrice</a:t>
            </a:r>
            <a:r>
              <a:rPr lang="fr-FR" sz="2400" dirty="0"/>
              <a:t>. En d’autres termes une identification, un </a:t>
            </a:r>
            <a:r>
              <a:rPr lang="fr-FR" sz="2400" b="1" dirty="0"/>
              <a:t>cadre physique </a:t>
            </a:r>
            <a:r>
              <a:rPr lang="fr-FR" sz="2400" dirty="0"/>
              <a:t>et une modalité de gouvernance.</a:t>
            </a:r>
            <a:endParaRPr lang="fr-FR" sz="2400" dirty="0"/>
          </a:p>
          <a:p>
            <a:pPr lvl="0"/>
            <a:endParaRPr lang="fr-FR" sz="2400" dirty="0"/>
          </a:p>
          <a:p>
            <a:pPr lvl="0"/>
            <a:r>
              <a:rPr lang="fr-FR" sz="2400" dirty="0"/>
              <a:t>C’est une entité spatiale, </a:t>
            </a:r>
            <a:r>
              <a:rPr lang="fr-FR" sz="2400" b="1" dirty="0"/>
              <a:t>le lieu de vie du groupe </a:t>
            </a:r>
            <a:r>
              <a:rPr lang="fr-FR" sz="2400" dirty="0"/>
              <a:t>indissociable de ce dernier ». Le territoire peut être la maison, le quartier, la ville, la région, la nation…</a:t>
            </a:r>
            <a:endParaRPr lang="fr-FR" sz="2400" dirty="0"/>
          </a:p>
          <a:p>
            <a:pPr lvl="0"/>
            <a:r>
              <a:rPr lang="fr-FR" sz="2400" dirty="0"/>
              <a:t>La notion de territoire est donc à la fois </a:t>
            </a:r>
            <a:r>
              <a:rPr lang="fr-FR" sz="2400" b="1" dirty="0"/>
              <a:t>juridique, sociale et culturelle</a:t>
            </a:r>
            <a:r>
              <a:rPr lang="fr-FR" sz="2400" dirty="0"/>
              <a:t>, et même </a:t>
            </a:r>
            <a:r>
              <a:rPr lang="fr-FR" sz="2400" b="1" dirty="0"/>
              <a:t>affective</a:t>
            </a:r>
            <a:r>
              <a:rPr lang="fr-FR" sz="2400" dirty="0"/>
              <a:t>. Le territoire implique toujours une appropriation de l'espace : il est autre chose que l'espace.»…..</a:t>
            </a:r>
            <a:endParaRPr lang="fr-FR" sz="2400" dirty="0"/>
          </a:p>
          <a:p>
            <a:endParaRPr lang="fr-FR" sz="2400" b="1" dirty="0"/>
          </a:p>
          <a:p>
            <a:endParaRPr lang="fr-FR" sz="2400" b="1" dirty="0"/>
          </a:p>
          <a:p>
            <a:endParaRPr lang="fr-FR" sz="2400" b="1" dirty="0"/>
          </a:p>
          <a:p>
            <a:endParaRPr lang="fr-FR" sz="2400" b="1" dirty="0"/>
          </a:p>
          <a:p>
            <a:endParaRPr lang="fr-FR" sz="2400" b="1" dirty="0"/>
          </a:p>
          <a:p>
            <a:endParaRPr lang="fr-FR" sz="2400" b="1" dirty="0"/>
          </a:p>
          <a:p>
            <a:endParaRPr lang="fr-FR" sz="2400" b="1" dirty="0"/>
          </a:p>
          <a:p>
            <a:endParaRPr lang="fr-FR" sz="2400" b="1" dirty="0"/>
          </a:p>
          <a:p>
            <a:endParaRPr lang="fr-FR" sz="2400" b="1" dirty="0"/>
          </a:p>
          <a:p>
            <a:endParaRPr lang="fr-FR" sz="2400" b="1" dirty="0"/>
          </a:p>
          <a:p>
            <a:endParaRPr lang="fr-FR" sz="2400" b="1" dirty="0"/>
          </a:p>
          <a:p>
            <a:endParaRPr lang="fr-FR" sz="2400" b="1" dirty="0"/>
          </a:p>
          <a:p>
            <a:endParaRPr lang="fr-FR" sz="2400" b="1" dirty="0"/>
          </a:p>
          <a:p>
            <a:endParaRPr lang="en-US" sz="2400" b="1"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p:cNvSpPr txBox="1"/>
          <p:nvPr/>
        </p:nvSpPr>
        <p:spPr>
          <a:xfrm>
            <a:off x="545689" y="2921168"/>
            <a:ext cx="11459497" cy="1015663"/>
          </a:xfrm>
          <a:prstGeom prst="rect">
            <a:avLst/>
          </a:prstGeom>
          <a:noFill/>
        </p:spPr>
        <p:txBody>
          <a:bodyPr wrap="square">
            <a:spAutoFit/>
          </a:bodyPr>
          <a:lstStyle/>
          <a:p>
            <a:r>
              <a:rPr kumimoji="0" lang="fr-FR" sz="6000" b="0" i="0" u="none" strike="noStrike" kern="1200" cap="none" spc="0" normalizeH="0" baseline="0" noProof="0" dirty="0">
                <a:ln>
                  <a:noFill/>
                </a:ln>
                <a:solidFill>
                  <a:srgbClr val="92D050"/>
                </a:solidFill>
                <a:effectLst/>
                <a:uLnTx/>
                <a:uFillTx/>
                <a:latin typeface="Arial Black" panose="020B0A04020102020204" pitchFamily="34" charset="0"/>
                <a:ea typeface="+mj-ea"/>
                <a:cs typeface="+mj-cs"/>
              </a:rPr>
              <a:t>Merci de votre attention</a:t>
            </a:r>
            <a:endParaRPr lang="en-US" dirty="0"/>
          </a:p>
        </p:txBody>
      </p:sp>
    </p:spTree>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19681</Words>
  <Application>WPS Presentation</Application>
  <PresentationFormat>Grand écran</PresentationFormat>
  <Paragraphs>194</Paragraphs>
  <Slides>20</Slides>
  <Notes>1</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20</vt:i4>
      </vt:variant>
    </vt:vector>
  </HeadingPairs>
  <TitlesOfParts>
    <vt:vector size="38" baseType="lpstr">
      <vt:lpstr>Arial</vt:lpstr>
      <vt:lpstr>SimSun</vt:lpstr>
      <vt:lpstr>Wingdings</vt:lpstr>
      <vt:lpstr>Wingdings 3</vt:lpstr>
      <vt:lpstr>Symbol</vt:lpstr>
      <vt:lpstr>Arial Black</vt:lpstr>
      <vt:lpstr>Trebuchet MS</vt:lpstr>
      <vt:lpstr>Times New Roman</vt:lpstr>
      <vt:lpstr>Calibri</vt:lpstr>
      <vt:lpstr>Calibri</vt:lpstr>
      <vt:lpstr>Montserrat</vt:lpstr>
      <vt:lpstr>AMGDT</vt:lpstr>
      <vt:lpstr>Wingdings 3</vt:lpstr>
      <vt:lpstr>Microsoft YaHei</vt:lpstr>
      <vt:lpstr>Arial Unicode MS</vt:lpstr>
      <vt:lpstr>Calibri Light</vt:lpstr>
      <vt:lpstr>Symbol</vt:lpstr>
      <vt:lpstr>Thème Office</vt:lpstr>
      <vt:lpstr> Université Amadou Mahtar Mbow (UAM) ******************* Département Urbanisme Architecture et Aménagement Durable des Territoires(DU2ADT) ************* </vt:lpstr>
      <vt:lpstr>Sommaire</vt:lpstr>
      <vt:lpstr>1- Introduction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Université Amadou Makhtar Mbow  DSTAAN (département des Sciences Agricoles, Alimentaires et Nutritionnelles)</dc:title>
  <dc:creator>moussa Kanté</dc:creator>
  <cp:lastModifiedBy>Abdoulahi TOP</cp:lastModifiedBy>
  <cp:revision>47</cp:revision>
  <dcterms:created xsi:type="dcterms:W3CDTF">2024-11-19T03:59:00Z</dcterms:created>
  <dcterms:modified xsi:type="dcterms:W3CDTF">2025-11-22T12:00:56Z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2897817476F2499FB8D34ABA03E343A1_12</vt:lpwstr>
  </property>
  <property fmtid="{D5CDD505-2E9C-101B-9397-08002B2CF9AE}" pid="3" name="KSOProductBuildVer">
    <vt:lpwstr>1036-12.2.0.23155</vt:lpwstr>
  </property>
</Properties>
</file>