
<file path=[Content_Types].xml><?xml version="1.0" encoding="utf-8"?>
<Types xmlns="http://schemas.openxmlformats.org/package/2006/content-types">
  <Default Extension="emf" ContentType="image/x-emf"/>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media/image10.jpg" ContentType="image/jpeg"/>
  <Override PartName="/ppt/media/image11.jpg" ContentType="image/jpe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946" r:id="rId1"/>
  </p:sldMasterIdLst>
  <p:notesMasterIdLst>
    <p:notesMasterId r:id="rId68"/>
  </p:notesMasterIdLst>
  <p:sldIdLst>
    <p:sldId id="256" r:id="rId2"/>
    <p:sldId id="267" r:id="rId3"/>
    <p:sldId id="380" r:id="rId4"/>
    <p:sldId id="381" r:id="rId5"/>
    <p:sldId id="382" r:id="rId6"/>
    <p:sldId id="383" r:id="rId7"/>
    <p:sldId id="391" r:id="rId8"/>
    <p:sldId id="392" r:id="rId9"/>
    <p:sldId id="390" r:id="rId10"/>
    <p:sldId id="388" r:id="rId11"/>
    <p:sldId id="441" r:id="rId12"/>
    <p:sldId id="389" r:id="rId13"/>
    <p:sldId id="387" r:id="rId14"/>
    <p:sldId id="386" r:id="rId15"/>
    <p:sldId id="385" r:id="rId16"/>
    <p:sldId id="384" r:id="rId17"/>
    <p:sldId id="376" r:id="rId18"/>
    <p:sldId id="393" r:id="rId19"/>
    <p:sldId id="395" r:id="rId20"/>
    <p:sldId id="396" r:id="rId21"/>
    <p:sldId id="397" r:id="rId22"/>
    <p:sldId id="398" r:id="rId23"/>
    <p:sldId id="399" r:id="rId24"/>
    <p:sldId id="405" r:id="rId25"/>
    <p:sldId id="406" r:id="rId26"/>
    <p:sldId id="400" r:id="rId27"/>
    <p:sldId id="403" r:id="rId28"/>
    <p:sldId id="404" r:id="rId29"/>
    <p:sldId id="394" r:id="rId30"/>
    <p:sldId id="402" r:id="rId31"/>
    <p:sldId id="401" r:id="rId32"/>
    <p:sldId id="429" r:id="rId33"/>
    <p:sldId id="428" r:id="rId34"/>
    <p:sldId id="427" r:id="rId35"/>
    <p:sldId id="426" r:id="rId36"/>
    <p:sldId id="425" r:id="rId37"/>
    <p:sldId id="424" r:id="rId38"/>
    <p:sldId id="423" r:id="rId39"/>
    <p:sldId id="422" r:id="rId40"/>
    <p:sldId id="421" r:id="rId41"/>
    <p:sldId id="420" r:id="rId42"/>
    <p:sldId id="419" r:id="rId43"/>
    <p:sldId id="418" r:id="rId44"/>
    <p:sldId id="417" r:id="rId45"/>
    <p:sldId id="416" r:id="rId46"/>
    <p:sldId id="415" r:id="rId47"/>
    <p:sldId id="414" r:id="rId48"/>
    <p:sldId id="413" r:id="rId49"/>
    <p:sldId id="412" r:id="rId50"/>
    <p:sldId id="411" r:id="rId51"/>
    <p:sldId id="409" r:id="rId52"/>
    <p:sldId id="410" r:id="rId53"/>
    <p:sldId id="408" r:id="rId54"/>
    <p:sldId id="435" r:id="rId55"/>
    <p:sldId id="434" r:id="rId56"/>
    <p:sldId id="433" r:id="rId57"/>
    <p:sldId id="432" r:id="rId58"/>
    <p:sldId id="431" r:id="rId59"/>
    <p:sldId id="430" r:id="rId60"/>
    <p:sldId id="438" r:id="rId61"/>
    <p:sldId id="437" r:id="rId62"/>
    <p:sldId id="436" r:id="rId63"/>
    <p:sldId id="407" r:id="rId64"/>
    <p:sldId id="440" r:id="rId65"/>
    <p:sldId id="442" r:id="rId66"/>
    <p:sldId id="439" r:id="rId67"/>
  </p:sldIdLst>
  <p:sldSz cx="12192000" cy="6858000"/>
  <p:notesSz cx="6889750" cy="100187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user" initials="u" lastIdx="1" clrIdx="0">
    <p:extLst>
      <p:ext uri="{19B8F6BF-5375-455C-9EA6-DF929625EA0E}">
        <p15:presenceInfo xmlns:p15="http://schemas.microsoft.com/office/powerpoint/2012/main" userId="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Style léger 3 - Accentuation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103" autoAdjust="0"/>
  </p:normalViewPr>
  <p:slideViewPr>
    <p:cSldViewPr snapToGrid="0">
      <p:cViewPr>
        <p:scale>
          <a:sx n="76" d="100"/>
          <a:sy n="76" d="100"/>
        </p:scale>
        <p:origin x="946" y="13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85558" cy="502676"/>
          </a:xfrm>
          <a:prstGeom prst="rect">
            <a:avLst/>
          </a:prstGeom>
        </p:spPr>
        <p:txBody>
          <a:bodyPr vert="horz" lIns="96616" tIns="48308" rIns="96616" bIns="48308" rtlCol="0"/>
          <a:lstStyle>
            <a:lvl1pPr algn="l">
              <a:defRPr sz="1300"/>
            </a:lvl1pPr>
          </a:lstStyle>
          <a:p>
            <a:endParaRPr lang="fr-FR"/>
          </a:p>
        </p:txBody>
      </p:sp>
      <p:sp>
        <p:nvSpPr>
          <p:cNvPr id="3" name="Espace réservé de la date 2"/>
          <p:cNvSpPr>
            <a:spLocks noGrp="1"/>
          </p:cNvSpPr>
          <p:nvPr>
            <p:ph type="dt" idx="1"/>
          </p:nvPr>
        </p:nvSpPr>
        <p:spPr>
          <a:xfrm>
            <a:off x="3902597" y="0"/>
            <a:ext cx="2985558" cy="502676"/>
          </a:xfrm>
          <a:prstGeom prst="rect">
            <a:avLst/>
          </a:prstGeom>
        </p:spPr>
        <p:txBody>
          <a:bodyPr vert="horz" lIns="96616" tIns="48308" rIns="96616" bIns="48308" rtlCol="0"/>
          <a:lstStyle>
            <a:lvl1pPr algn="r">
              <a:defRPr sz="1300"/>
            </a:lvl1pPr>
          </a:lstStyle>
          <a:p>
            <a:fld id="{A0D543E3-5C40-4AC7-8B96-BD64EEDFD2C4}" type="datetimeFigureOut">
              <a:rPr lang="fr-FR" smtClean="0"/>
              <a:t>10/05/2024</a:t>
            </a:fld>
            <a:endParaRPr lang="fr-FR"/>
          </a:p>
        </p:txBody>
      </p:sp>
      <p:sp>
        <p:nvSpPr>
          <p:cNvPr id="4" name="Espace réservé de l'image des diapositives 3"/>
          <p:cNvSpPr>
            <a:spLocks noGrp="1" noRot="1" noChangeAspect="1"/>
          </p:cNvSpPr>
          <p:nvPr>
            <p:ph type="sldImg" idx="2"/>
          </p:nvPr>
        </p:nvSpPr>
        <p:spPr>
          <a:xfrm>
            <a:off x="439738" y="1252538"/>
            <a:ext cx="6010275" cy="3381375"/>
          </a:xfrm>
          <a:prstGeom prst="rect">
            <a:avLst/>
          </a:prstGeom>
          <a:noFill/>
          <a:ln w="12700">
            <a:solidFill>
              <a:prstClr val="black"/>
            </a:solidFill>
          </a:ln>
        </p:spPr>
        <p:txBody>
          <a:bodyPr vert="horz" lIns="96616" tIns="48308" rIns="96616" bIns="48308" rtlCol="0" anchor="ctr"/>
          <a:lstStyle/>
          <a:p>
            <a:endParaRPr lang="fr-FR"/>
          </a:p>
        </p:txBody>
      </p:sp>
      <p:sp>
        <p:nvSpPr>
          <p:cNvPr id="5" name="Espace réservé des commentaires 4"/>
          <p:cNvSpPr>
            <a:spLocks noGrp="1"/>
          </p:cNvSpPr>
          <p:nvPr>
            <p:ph type="body" sz="quarter" idx="3"/>
          </p:nvPr>
        </p:nvSpPr>
        <p:spPr>
          <a:xfrm>
            <a:off x="688975" y="4821506"/>
            <a:ext cx="5511800" cy="3944868"/>
          </a:xfrm>
          <a:prstGeom prst="rect">
            <a:avLst/>
          </a:prstGeom>
        </p:spPr>
        <p:txBody>
          <a:bodyPr vert="horz" lIns="96616" tIns="48308" rIns="96616" bIns="48308" rtlCol="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9516039"/>
            <a:ext cx="2985558" cy="502674"/>
          </a:xfrm>
          <a:prstGeom prst="rect">
            <a:avLst/>
          </a:prstGeom>
        </p:spPr>
        <p:txBody>
          <a:bodyPr vert="horz" lIns="96616" tIns="48308" rIns="96616" bIns="48308" rtlCol="0" anchor="b"/>
          <a:lstStyle>
            <a:lvl1pPr algn="l">
              <a:defRPr sz="1300"/>
            </a:lvl1pPr>
          </a:lstStyle>
          <a:p>
            <a:endParaRPr lang="fr-FR"/>
          </a:p>
        </p:txBody>
      </p:sp>
      <p:sp>
        <p:nvSpPr>
          <p:cNvPr id="7" name="Espace réservé du numéro de diapositive 6"/>
          <p:cNvSpPr>
            <a:spLocks noGrp="1"/>
          </p:cNvSpPr>
          <p:nvPr>
            <p:ph type="sldNum" sz="quarter" idx="5"/>
          </p:nvPr>
        </p:nvSpPr>
        <p:spPr>
          <a:xfrm>
            <a:off x="3902597" y="9516039"/>
            <a:ext cx="2985558" cy="502674"/>
          </a:xfrm>
          <a:prstGeom prst="rect">
            <a:avLst/>
          </a:prstGeom>
        </p:spPr>
        <p:txBody>
          <a:bodyPr vert="horz" lIns="96616" tIns="48308" rIns="96616" bIns="48308" rtlCol="0" anchor="b"/>
          <a:lstStyle>
            <a:lvl1pPr algn="r">
              <a:defRPr sz="1300"/>
            </a:lvl1pPr>
          </a:lstStyle>
          <a:p>
            <a:fld id="{298A3304-FD71-4AE4-8272-050BC0084339}" type="slidenum">
              <a:rPr lang="fr-FR" smtClean="0"/>
              <a:t>‹N°›</a:t>
            </a:fld>
            <a:endParaRPr lang="fr-FR"/>
          </a:p>
        </p:txBody>
      </p:sp>
    </p:spTree>
    <p:extLst>
      <p:ext uri="{BB962C8B-B14F-4D97-AF65-F5344CB8AC3E}">
        <p14:creationId xmlns:p14="http://schemas.microsoft.com/office/powerpoint/2010/main" val="17591614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grpSp>
        <p:nvGrpSpPr>
          <p:cNvPr id="14" name="Group 13"/>
          <p:cNvGrpSpPr/>
          <p:nvPr/>
        </p:nvGrpSpPr>
        <p:grpSpPr>
          <a:xfrm>
            <a:off x="-1588" y="0"/>
            <a:ext cx="12193588" cy="6861555"/>
            <a:chOff x="-1588" y="0"/>
            <a:chExt cx="12193588" cy="6861555"/>
          </a:xfrm>
        </p:grpSpPr>
        <p:sp>
          <p:nvSpPr>
            <p:cNvPr id="9" name="Rectangle 8"/>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a:prstGeom prst="rect">
            <a:avLst/>
          </a:prstGeom>
        </p:spPr>
        <p:txBody>
          <a:bodyPr anchor="b"/>
          <a:lstStyle>
            <a:lvl1pPr>
              <a:defRPr sz="5400"/>
            </a:lvl1pPr>
          </a:lstStyle>
          <a:p>
            <a:r>
              <a:rPr lang="fr-FR"/>
              <a:t>Modifiez le style du titre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tx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en-US" dirty="0"/>
          </a:p>
        </p:txBody>
      </p:sp>
      <p:sp>
        <p:nvSpPr>
          <p:cNvPr id="4" name="Date Placeholder 3"/>
          <p:cNvSpPr>
            <a:spLocks noGrp="1"/>
          </p:cNvSpPr>
          <p:nvPr>
            <p:ph type="dt" sz="half" idx="10"/>
          </p:nvPr>
        </p:nvSpPr>
        <p:spPr>
          <a:xfrm rot="5400000">
            <a:off x="10158984" y="1792224"/>
            <a:ext cx="990599" cy="304799"/>
          </a:xfrm>
        </p:spPr>
        <p:txBody>
          <a:bodyPr/>
          <a:lstStyle>
            <a:lvl1pPr algn="l">
              <a:defRPr b="0">
                <a:solidFill>
                  <a:schemeClr val="bg1"/>
                </a:solidFill>
              </a:defRPr>
            </a:lvl1pPr>
          </a:lstStyle>
          <a:p>
            <a:fld id="{4AAD347D-5ACD-4C99-B74B-A9C85AD731AF}" type="datetimeFigureOut">
              <a:rPr lang="en-US" smtClean="0"/>
              <a:t>5/10/2024</a:t>
            </a:fld>
            <a:endParaRPr lang="en-US" dirty="0"/>
          </a:p>
        </p:txBody>
      </p:sp>
      <p:sp>
        <p:nvSpPr>
          <p:cNvPr id="5" name="Footer Placeholder 4"/>
          <p:cNvSpPr>
            <a:spLocks noGrp="1"/>
          </p:cNvSpPr>
          <p:nvPr>
            <p:ph type="ftr" sz="quarter" idx="11"/>
          </p:nvPr>
        </p:nvSpPr>
        <p:spPr>
          <a:xfrm rot="5400000">
            <a:off x="8951976" y="3227832"/>
            <a:ext cx="3867912" cy="310896"/>
          </a:xfrm>
        </p:spPr>
        <p:txBody>
          <a:bodyPr/>
          <a:lstStyle>
            <a:lvl1pPr>
              <a:defRPr sz="1000" b="0">
                <a:solidFill>
                  <a:schemeClr val="bg1"/>
                </a:solidFill>
              </a:defRPr>
            </a:lvl1pPr>
          </a:lstStyle>
          <a:p>
            <a:endParaRPr lang="en-US" dirty="0"/>
          </a:p>
        </p:txBody>
      </p:sp>
      <p:sp>
        <p:nvSpPr>
          <p:cNvPr id="8" name="Rectangle 7"/>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10351008" y="292608"/>
            <a:ext cx="838199" cy="767687"/>
          </a:xfrm>
        </p:spPr>
        <p:txBody>
          <a:bodyPr/>
          <a:lstStyle>
            <a:lvl1pPr>
              <a:defRPr sz="2800" b="0" i="0">
                <a:latin typeface="+mj-lt"/>
              </a:defRPr>
            </a:lvl1pPr>
          </a:lstStyle>
          <a:p>
            <a:fld id="{D57F1E4F-1CFF-5643-939E-02111984F565}" type="slidenum">
              <a:rPr lang="en-US" smtClean="0"/>
              <a:t>‹N°›</a:t>
            </a:fld>
            <a:endParaRPr lang="en-US" dirty="0"/>
          </a:p>
        </p:txBody>
      </p:sp>
    </p:spTree>
    <p:extLst>
      <p:ext uri="{BB962C8B-B14F-4D97-AF65-F5344CB8AC3E}">
        <p14:creationId xmlns:p14="http://schemas.microsoft.com/office/powerpoint/2010/main" val="574402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9"/>
            <a:ext cx="8825659" cy="706964"/>
          </a:xfrm>
          <a:prstGeom prst="rect">
            <a:avLst/>
          </a:prstGeom>
        </p:spPr>
        <p:txBody>
          <a:bodyPr anchor="ctr"/>
          <a:lstStyle/>
          <a:p>
            <a:r>
              <a:rPr lang="fr-FR"/>
              <a:t>Modifiez le style du titre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5/10/2024</a:t>
            </a:fld>
            <a:endParaRPr lang="en-US" dirty="0"/>
          </a:p>
        </p:txBody>
      </p:sp>
      <p:sp>
        <p:nvSpPr>
          <p:cNvPr id="5" name="Footer Placeholder 4"/>
          <p:cNvSpPr>
            <a:spLocks noGrp="1"/>
          </p:cNvSpPr>
          <p:nvPr>
            <p:ph type="ftr" sz="quarter" idx="11"/>
          </p:nvPr>
        </p:nvSpPr>
        <p:spPr/>
        <p:txBody>
          <a:bodyPr/>
          <a:lstStyle>
            <a:lvl1pPr>
              <a:defRPr sz="1000" b="1"/>
            </a:lvl1p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18975878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grpSp>
        <p:nvGrpSpPr>
          <p:cNvPr id="17" name="Group 16"/>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Rectangle 8"/>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7"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679192"/>
            <a:ext cx="4343400" cy="2286000"/>
          </a:xfrm>
          <a:prstGeom prst="rect">
            <a:avLst/>
          </a:prstGeom>
        </p:spPr>
        <p:txBody>
          <a:bodyPr anchor="ctr" anchorCtr="0"/>
          <a:lstStyle>
            <a:lvl1pPr algn="l">
              <a:defRPr sz="4000" b="0" cap="none"/>
            </a:lvl1pPr>
          </a:lstStyle>
          <a:p>
            <a:r>
              <a:rPr lang="fr-FR"/>
              <a:t>Modifiez le style du titre</a:t>
            </a:r>
            <a:endParaRPr lang="en-US" dirty="0"/>
          </a:p>
        </p:txBody>
      </p:sp>
      <p:sp>
        <p:nvSpPr>
          <p:cNvPr id="3" name="Text Placeholder 2"/>
          <p:cNvSpPr>
            <a:spLocks noGrp="1"/>
          </p:cNvSpPr>
          <p:nvPr>
            <p:ph type="body" idx="1"/>
          </p:nvPr>
        </p:nvSpPr>
        <p:spPr>
          <a:xfrm>
            <a:off x="6894576" y="2679192"/>
            <a:ext cx="3758184" cy="2286000"/>
          </a:xfrm>
        </p:spPr>
        <p:txBody>
          <a:bodyPr anchor="ctr" anchorCtr="0"/>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Modifiez les styles du texte du masque</a:t>
            </a:r>
          </a:p>
        </p:txBody>
      </p:sp>
      <p:sp>
        <p:nvSpPr>
          <p:cNvPr id="4" name="Date Placeholder 3"/>
          <p:cNvSpPr>
            <a:spLocks noGrp="1"/>
          </p:cNvSpPr>
          <p:nvPr>
            <p:ph type="dt" sz="half" idx="10"/>
          </p:nvPr>
        </p:nvSpPr>
        <p:spPr/>
        <p:txBody>
          <a:bodyPr/>
          <a:lstStyle/>
          <a:p>
            <a:fld id="{4509A250-FF31-4206-8172-F9D3106AACB1}" type="datetimeFigureOut">
              <a:rPr lang="en-US" smtClean="0"/>
              <a:t>5/10/2024</a:t>
            </a:fld>
            <a:endParaRPr lang="en-US" dirty="0"/>
          </a:p>
        </p:txBody>
      </p:sp>
      <p:sp>
        <p:nvSpPr>
          <p:cNvPr id="5" name="Footer Placeholder 4"/>
          <p:cNvSpPr>
            <a:spLocks noGrp="1"/>
          </p:cNvSpPr>
          <p:nvPr>
            <p:ph type="ftr" sz="quarter" idx="11"/>
          </p:nvPr>
        </p:nvSpPr>
        <p:spPr/>
        <p:txBody>
          <a:bodyPr/>
          <a:lstStyle>
            <a:lvl1pPr>
              <a:defRPr sz="1000" b="1"/>
            </a:lvl1pPr>
          </a:lstStyle>
          <a:p>
            <a:endParaRPr lang="en-US" dirty="0"/>
          </a:p>
        </p:txBody>
      </p:sp>
      <p:sp>
        <p:nvSpPr>
          <p:cNvPr id="10" name="Rectangle 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25176347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a:xfrm>
            <a:off x="1154953" y="969264"/>
            <a:ext cx="8825659" cy="704088"/>
          </a:xfrm>
          <a:prstGeom prst="rect">
            <a:avLst/>
          </a:prstGeom>
        </p:spPr>
        <p:txBody>
          <a:bodyPr/>
          <a:lstStyle/>
          <a:p>
            <a:r>
              <a:rPr lang="fr-FR"/>
              <a:t>Modifiez le style du titre</a:t>
            </a:r>
            <a:endParaRPr lang="en-US" dirty="0"/>
          </a:p>
        </p:txBody>
      </p:sp>
      <p:sp>
        <p:nvSpPr>
          <p:cNvPr id="3" name="Content Placeholder 2"/>
          <p:cNvSpPr>
            <a:spLocks noGrp="1"/>
          </p:cNvSpPr>
          <p:nvPr>
            <p:ph sz="half" idx="1"/>
          </p:nvPr>
        </p:nvSpPr>
        <p:spPr>
          <a:xfrm>
            <a:off x="1154954" y="2603500"/>
            <a:ext cx="4828032" cy="3416301"/>
          </a:xfrm>
        </p:spPr>
        <p:txBody>
          <a:bodyPr>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208776" y="2603500"/>
            <a:ext cx="4828032" cy="3416300"/>
          </a:xfrm>
        </p:spPr>
        <p:txBody>
          <a:bodyPr>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4509A250-FF31-4206-8172-F9D3106AACB1}" type="datetimeFigureOut">
              <a:rPr lang="en-US" smtClean="0"/>
              <a:t>5/10/2024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9795429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1154954" y="969264"/>
            <a:ext cx="8825659" cy="704088"/>
          </a:xfrm>
          <a:prstGeom prst="rect">
            <a:avLst/>
          </a:prstGeom>
        </p:spPr>
        <p:txBody>
          <a:bodyPr/>
          <a:lstStyle>
            <a:lvl1pPr>
              <a:defRPr/>
            </a:lvl1pPr>
          </a:lstStyle>
          <a:p>
            <a:r>
              <a:rPr lang="fr-FR"/>
              <a:t>Modifiez le style du titre</a:t>
            </a:r>
            <a:endParaRPr lang="en-US" dirty="0"/>
          </a:p>
        </p:txBody>
      </p:sp>
      <p:sp>
        <p:nvSpPr>
          <p:cNvPr id="3" name="Text Placeholder 2"/>
          <p:cNvSpPr>
            <a:spLocks noGrp="1"/>
          </p:cNvSpPr>
          <p:nvPr>
            <p:ph type="body" idx="1"/>
          </p:nvPr>
        </p:nvSpPr>
        <p:spPr>
          <a:xfrm>
            <a:off x="1154954" y="2606040"/>
            <a:ext cx="4828032"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Content Placeholder 3"/>
          <p:cNvSpPr>
            <a:spLocks noGrp="1"/>
          </p:cNvSpPr>
          <p:nvPr>
            <p:ph sz="half" idx="2"/>
          </p:nvPr>
        </p:nvSpPr>
        <p:spPr>
          <a:xfrm>
            <a:off x="1154954" y="3198448"/>
            <a:ext cx="4828032" cy="2843784"/>
          </a:xfrm>
        </p:spPr>
        <p:txBody>
          <a:bodyPr>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208776" y="2606040"/>
            <a:ext cx="4828032"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Content Placeholder 5"/>
          <p:cNvSpPr>
            <a:spLocks noGrp="1"/>
          </p:cNvSpPr>
          <p:nvPr>
            <p:ph sz="quarter" idx="4"/>
          </p:nvPr>
        </p:nvSpPr>
        <p:spPr>
          <a:xfrm>
            <a:off x="6208711" y="3187921"/>
            <a:ext cx="4825160" cy="2854311"/>
          </a:xfrm>
        </p:spPr>
        <p:txBody>
          <a:bodyPr>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4509A250-FF31-4206-8172-F9D3106AACB1}" type="datetimeFigureOut">
              <a:rPr lang="en-US" smtClean="0"/>
              <a:t>5/10/2024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28464497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a:xfrm>
            <a:off x="1152144" y="969264"/>
            <a:ext cx="8825659" cy="704088"/>
          </a:xfrm>
          <a:prstGeom prst="rect">
            <a:avLst/>
          </a:prstGeom>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4509A250-FF31-4206-8172-F9D3106AACB1}" type="datetimeFigureOut">
              <a:rPr lang="en-US" smtClean="0"/>
              <a:t>5/10/2024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37707323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09A250-FF31-4206-8172-F9D3106AACB1}" type="datetimeFigureOut">
              <a:rPr lang="en-US" smtClean="0"/>
              <a:t>5/10/2024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Rectangle 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2917725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grpSp>
        <p:nvGrpSpPr>
          <p:cNvPr id="18" name="Group 17"/>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3" y="1298448"/>
            <a:ext cx="2793159" cy="1597152"/>
          </a:xfrm>
          <a:prstGeom prst="rect">
            <a:avLst/>
          </a:prstGeom>
        </p:spPr>
        <p:txBody>
          <a:bodyPr anchor="b"/>
          <a:lstStyle>
            <a:lvl1pPr algn="l">
              <a:defRPr sz="2400" b="0"/>
            </a:lvl1pPr>
          </a:lstStyle>
          <a:p>
            <a:r>
              <a:rPr lang="fr-FR"/>
              <a:t>Modifiez le style du titre</a:t>
            </a:r>
            <a:endParaRPr lang="en-US" dirty="0"/>
          </a:p>
        </p:txBody>
      </p:sp>
      <p:sp>
        <p:nvSpPr>
          <p:cNvPr id="3" name="Content Placeholder 2"/>
          <p:cNvSpPr>
            <a:spLocks noGrp="1"/>
          </p:cNvSpPr>
          <p:nvPr>
            <p:ph idx="1"/>
          </p:nvPr>
        </p:nvSpPr>
        <p:spPr>
          <a:xfrm>
            <a:off x="5779008" y="1447800"/>
            <a:ext cx="5195997" cy="4572000"/>
          </a:xfrm>
        </p:spPr>
        <p:txBody>
          <a:bodyPr anchor="ctr">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bwMode="gray">
          <a:xfrm>
            <a:off x="1154953" y="3129280"/>
            <a:ext cx="2793159" cy="2895599"/>
          </a:xfrm>
        </p:spPr>
        <p:txBody>
          <a:bodyPr/>
          <a:lstStyle>
            <a:lvl1pPr marL="0" indent="0">
              <a:buNone/>
              <a:defRPr sz="1400">
                <a:solidFill>
                  <a:schemeClr val="tx2">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Date Placeholder 4"/>
          <p:cNvSpPr>
            <a:spLocks noGrp="1"/>
          </p:cNvSpPr>
          <p:nvPr>
            <p:ph type="dt" sz="half" idx="10"/>
          </p:nvPr>
        </p:nvSpPr>
        <p:spPr/>
        <p:txBody>
          <a:bodyPr/>
          <a:lstStyle/>
          <a:p>
            <a:fld id="{4509A250-FF31-4206-8172-F9D3106AACB1}" type="datetimeFigureOut">
              <a:rPr lang="en-US" smtClean="0"/>
              <a:t>5/10/2024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7418136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grpSp>
        <p:nvGrpSpPr>
          <p:cNvPr id="18" name="Group 17"/>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3907" y="1693332"/>
            <a:ext cx="3860259" cy="1735668"/>
          </a:xfrm>
          <a:prstGeom prst="rect">
            <a:avLst/>
          </a:prstGeom>
        </p:spPr>
        <p:txBody>
          <a:bodyPr anchor="b">
            <a:normAutofit/>
          </a:bodyPr>
          <a:lstStyle>
            <a:lvl1pPr algn="l">
              <a:defRPr sz="3600" b="0"/>
            </a:lvl1pPr>
          </a:lstStyle>
          <a:p>
            <a:r>
              <a:rPr lang="fr-FR"/>
              <a:t>Modifiez le style du titre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bwMode="gray">
          <a:xfrm>
            <a:off x="1154955" y="3657600"/>
            <a:ext cx="3859212" cy="1371600"/>
          </a:xfrm>
        </p:spPr>
        <p:txBody>
          <a:bodyPr>
            <a:normAutofit/>
          </a:bodyPr>
          <a:lstStyle>
            <a:lvl1pPr marL="0" indent="0">
              <a:buNone/>
              <a:defRPr sz="1400">
                <a:solidFill>
                  <a:schemeClr val="tx2">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Date Placeholder 4"/>
          <p:cNvSpPr>
            <a:spLocks noGrp="1"/>
          </p:cNvSpPr>
          <p:nvPr>
            <p:ph type="dt" sz="half" idx="10"/>
          </p:nvPr>
        </p:nvSpPr>
        <p:spPr/>
        <p:txBody>
          <a:bodyPr/>
          <a:lstStyle/>
          <a:p>
            <a:fld id="{4509A250-FF31-4206-8172-F9D3106AACB1}" type="datetimeFigureOut">
              <a:rPr lang="en-US" smtClean="0"/>
              <a:t>5/10/2024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30237008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Image panoramique avec légende">
    <p:spTree>
      <p:nvGrpSpPr>
        <p:cNvPr id="1" name=""/>
        <p:cNvGrpSpPr/>
        <p:nvPr/>
      </p:nvGrpSpPr>
      <p:grpSpPr>
        <a:xfrm>
          <a:off x="0" y="0"/>
          <a:ext cx="0" cy="0"/>
          <a:chOff x="0" y="0"/>
          <a:chExt cx="0" cy="0"/>
        </a:xfrm>
      </p:grpSpPr>
      <p:grpSp>
        <p:nvGrpSpPr>
          <p:cNvPr id="17" name="Group 16"/>
          <p:cNvGrpSpPr/>
          <p:nvPr/>
        </p:nvGrpSpPr>
        <p:grpSpPr>
          <a:xfrm>
            <a:off x="-1588" y="0"/>
            <a:ext cx="12193588" cy="6861555"/>
            <a:chOff x="-1588" y="0"/>
            <a:chExt cx="12193588" cy="6861555"/>
          </a:xfrm>
        </p:grpSpPr>
        <p:sp>
          <p:nvSpPr>
            <p:cNvPr id="11" name="Rectangle 10"/>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7" y="4969927"/>
            <a:ext cx="8825657" cy="566738"/>
          </a:xfrm>
          <a:prstGeom prst="rect">
            <a:avLst/>
          </a:prstGeom>
        </p:spPr>
        <p:txBody>
          <a:bodyPr anchor="b">
            <a:normAutofit/>
          </a:bodyPr>
          <a:lstStyle>
            <a:lvl1pPr algn="l">
              <a:defRPr sz="2400" b="0"/>
            </a:lvl1pPr>
          </a:lstStyle>
          <a:p>
            <a:r>
              <a:rPr lang="fr-FR"/>
              <a:t>Modifiez le style du titre</a:t>
            </a:r>
            <a:endParaRPr lang="en-US" dirty="0"/>
          </a:p>
        </p:txBody>
      </p:sp>
      <p:sp>
        <p:nvSpPr>
          <p:cNvPr id="3" name="Picture Placeholder 2"/>
          <p:cNvSpPr>
            <a:spLocks noGrp="1" noChangeAspect="1"/>
          </p:cNvSpPr>
          <p:nvPr>
            <p:ph type="pic" idx="1"/>
          </p:nvPr>
        </p:nvSpPr>
        <p:spPr>
          <a:xfrm>
            <a:off x="1154955" y="685800"/>
            <a:ext cx="8825658"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bwMode="gray">
          <a:xfrm>
            <a:off x="1154957" y="5536665"/>
            <a:ext cx="8825656" cy="493712"/>
          </a:xfrm>
        </p:spPr>
        <p:txBody>
          <a:bodyPr>
            <a:normAutofit/>
          </a:bodyPr>
          <a:lstStyle>
            <a:lvl1pPr marL="0" indent="0">
              <a:buNone/>
              <a:defRPr sz="1200">
                <a:solidFill>
                  <a:schemeClr val="tx2">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Date Placeholder 4"/>
          <p:cNvSpPr>
            <a:spLocks noGrp="1"/>
          </p:cNvSpPr>
          <p:nvPr>
            <p:ph type="dt" sz="half" idx="10"/>
          </p:nvPr>
        </p:nvSpPr>
        <p:spPr/>
        <p:txBody>
          <a:bodyPr/>
          <a:lstStyle/>
          <a:p>
            <a:fld id="{4509A250-FF31-4206-8172-F9D3106AACB1}" type="datetimeFigureOut">
              <a:rPr lang="en-US" smtClean="0"/>
              <a:t>5/10/2024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2" name="Rectangle 1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257182897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re et légende">
    <p:spTree>
      <p:nvGrpSpPr>
        <p:cNvPr id="1" name=""/>
        <p:cNvGrpSpPr/>
        <p:nvPr/>
      </p:nvGrpSpPr>
      <p:grpSpPr>
        <a:xfrm>
          <a:off x="0" y="0"/>
          <a:ext cx="0" cy="0"/>
          <a:chOff x="0" y="0"/>
          <a:chExt cx="0" cy="0"/>
        </a:xfrm>
      </p:grpSpPr>
      <p:grpSp>
        <p:nvGrpSpPr>
          <p:cNvPr id="16" name="Group 15"/>
          <p:cNvGrpSpPr/>
          <p:nvPr/>
        </p:nvGrpSpPr>
        <p:grpSpPr>
          <a:xfrm>
            <a:off x="-1588" y="0"/>
            <a:ext cx="12193588" cy="6861555"/>
            <a:chOff x="-1588" y="0"/>
            <a:chExt cx="12193588" cy="6861555"/>
          </a:xfrm>
        </p:grpSpPr>
        <p:sp>
          <p:nvSpPr>
            <p:cNvPr id="10" name="Rectangle 9"/>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9"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060704"/>
            <a:ext cx="8833104" cy="1371600"/>
          </a:xfrm>
          <a:prstGeom prst="rect">
            <a:avLst/>
          </a:prstGeom>
        </p:spPr>
        <p:txBody>
          <a:bodyPr anchor="ctr" anchorCtr="0"/>
          <a:lstStyle>
            <a:lvl1pPr>
              <a:defRPr sz="4000"/>
            </a:lvl1pPr>
          </a:lstStyle>
          <a:p>
            <a:r>
              <a:rPr lang="fr-FR"/>
              <a:t>Modifiez le style du titre</a:t>
            </a:r>
            <a:endParaRPr lang="en-US" dirty="0"/>
          </a:p>
        </p:txBody>
      </p:sp>
      <p:sp>
        <p:nvSpPr>
          <p:cNvPr id="8" name="Text Placeholder 3"/>
          <p:cNvSpPr>
            <a:spLocks noGrp="1"/>
          </p:cNvSpPr>
          <p:nvPr>
            <p:ph type="body" sz="half" idx="2"/>
          </p:nvPr>
        </p:nvSpPr>
        <p:spPr>
          <a:xfrm>
            <a:off x="1152144" y="3547872"/>
            <a:ext cx="8825659" cy="2478024"/>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4" name="Date Placeholder 3"/>
          <p:cNvSpPr>
            <a:spLocks noGrp="1"/>
          </p:cNvSpPr>
          <p:nvPr>
            <p:ph type="dt" sz="half" idx="10"/>
          </p:nvPr>
        </p:nvSpPr>
        <p:spPr/>
        <p:txBody>
          <a:bodyPr/>
          <a:lstStyle/>
          <a:p>
            <a:fld id="{4509A250-FF31-4206-8172-F9D3106AACB1}" type="datetimeFigureOut">
              <a:rPr lang="en-US" smtClean="0"/>
              <a:t>5/10/2024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549512616"/>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itation avec légende">
    <p:spTree>
      <p:nvGrpSpPr>
        <p:cNvPr id="1" name=""/>
        <p:cNvGrpSpPr/>
        <p:nvPr/>
      </p:nvGrpSpPr>
      <p:grpSpPr>
        <a:xfrm>
          <a:off x="0" y="0"/>
          <a:ext cx="0" cy="0"/>
          <a:chOff x="0" y="0"/>
          <a:chExt cx="0" cy="0"/>
        </a:xfrm>
      </p:grpSpPr>
      <p:grpSp>
        <p:nvGrpSpPr>
          <p:cNvPr id="7" name="Group 6"/>
          <p:cNvGrpSpPr/>
          <p:nvPr/>
        </p:nvGrpSpPr>
        <p:grpSpPr>
          <a:xfrm>
            <a:off x="-1588" y="0"/>
            <a:ext cx="12193588" cy="6861555"/>
            <a:chOff x="-1588" y="0"/>
            <a:chExt cx="12193588" cy="6861555"/>
          </a:xfrm>
        </p:grpSpPr>
        <p:sp>
          <p:nvSpPr>
            <p:cNvPr id="16" name="Rectangle 15"/>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Oval 17"/>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7"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2" name="TextBox 11"/>
          <p:cNvSpPr txBox="1"/>
          <p:nvPr/>
        </p:nvSpPr>
        <p:spPr bwMode="gray">
          <a:xfrm>
            <a:off x="898295" y="596767"/>
            <a:ext cx="801912" cy="156966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cs typeface="Arial"/>
              </a:defRPr>
            </a:lvl1pPr>
          </a:lstStyle>
          <a:p>
            <a:pPr lvl="0"/>
            <a:r>
              <a:rPr lang="en-US" sz="9600" dirty="0">
                <a:solidFill>
                  <a:schemeClr val="tx2">
                    <a:lumMod val="40000"/>
                    <a:lumOff val="60000"/>
                  </a:schemeClr>
                </a:solidFill>
              </a:rPr>
              <a:t>“</a:t>
            </a:r>
          </a:p>
        </p:txBody>
      </p:sp>
      <p:sp>
        <p:nvSpPr>
          <p:cNvPr id="15" name="TextBox 14"/>
          <p:cNvSpPr txBox="1"/>
          <p:nvPr/>
        </p:nvSpPr>
        <p:spPr bwMode="gray">
          <a:xfrm>
            <a:off x="9715063" y="2629300"/>
            <a:ext cx="801912" cy="156966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cs typeface="Arial"/>
              </a:defRPr>
            </a:lvl1pPr>
          </a:lstStyle>
          <a:p>
            <a:pPr lvl="0"/>
            <a:r>
              <a:rPr lang="en-US" sz="9600" dirty="0">
                <a:solidFill>
                  <a:schemeClr val="tx2">
                    <a:lumMod val="40000"/>
                    <a:lumOff val="60000"/>
                  </a:schemeClr>
                </a:solidFill>
              </a:rPr>
              <a:t>”</a:t>
            </a:r>
          </a:p>
        </p:txBody>
      </p:sp>
      <p:sp>
        <p:nvSpPr>
          <p:cNvPr id="2" name="Title 1"/>
          <p:cNvSpPr>
            <a:spLocks noGrp="1"/>
          </p:cNvSpPr>
          <p:nvPr>
            <p:ph type="title"/>
          </p:nvPr>
        </p:nvSpPr>
        <p:spPr>
          <a:xfrm>
            <a:off x="1574801" y="980517"/>
            <a:ext cx="8460983" cy="2698249"/>
          </a:xfrm>
          <a:prstGeom prst="rect">
            <a:avLst/>
          </a:prstGeom>
        </p:spPr>
        <p:txBody>
          <a:bodyPr anchor="ctr" anchorCtr="0"/>
          <a:lstStyle>
            <a:lvl1pPr>
              <a:defRPr sz="4000"/>
            </a:lvl1pPr>
          </a:lstStyle>
          <a:p>
            <a:r>
              <a:rPr lang="fr-FR"/>
              <a:t>Modifiez le style du titre</a:t>
            </a:r>
            <a:endParaRPr lang="en-US" dirty="0"/>
          </a:p>
        </p:txBody>
      </p:sp>
      <p:sp>
        <p:nvSpPr>
          <p:cNvPr id="11" name="Text Placeholder 3"/>
          <p:cNvSpPr>
            <a:spLocks noGrp="1"/>
          </p:cNvSpPr>
          <p:nvPr>
            <p:ph type="body" sz="half" idx="14"/>
          </p:nvPr>
        </p:nvSpPr>
        <p:spPr bwMode="gray">
          <a:xfrm>
            <a:off x="1945945" y="3679987"/>
            <a:ext cx="7725772" cy="342174"/>
          </a:xfrm>
        </p:spPr>
        <p:txBody>
          <a:bodyPr vert="horz" lIns="91440" tIns="45720" rIns="91440" bIns="45720" rtlCol="0" anchor="t">
            <a:normAutofit/>
          </a:bodyPr>
          <a:lstStyle>
            <a:lvl1pPr>
              <a:buNone/>
              <a:defRPr lang="en-US" sz="1400" cap="small" dirty="0">
                <a:solidFill>
                  <a:schemeClr val="tx2">
                    <a:lumMod val="40000"/>
                    <a:lumOff val="60000"/>
                  </a:schemeClr>
                </a:solidFill>
                <a:latin typeface="+mn-lt"/>
              </a:defRPr>
            </a:lvl1pPr>
          </a:lstStyle>
          <a:p>
            <a:pPr marL="0" lvl="0" indent="0">
              <a:buNone/>
            </a:pPr>
            <a:r>
              <a:rPr lang="fr-FR"/>
              <a:t>Modifiez les styles du texte du masque</a:t>
            </a:r>
          </a:p>
        </p:txBody>
      </p:sp>
      <p:sp>
        <p:nvSpPr>
          <p:cNvPr id="10" name="Text Placeholder 3"/>
          <p:cNvSpPr>
            <a:spLocks noGrp="1"/>
          </p:cNvSpPr>
          <p:nvPr>
            <p:ph type="body" sz="half" idx="2"/>
          </p:nvPr>
        </p:nvSpPr>
        <p:spPr>
          <a:xfrm>
            <a:off x="1154954" y="5029198"/>
            <a:ext cx="8825659" cy="997858"/>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4" name="Date Placeholder 3"/>
          <p:cNvSpPr>
            <a:spLocks noGrp="1"/>
          </p:cNvSpPr>
          <p:nvPr>
            <p:ph type="dt" sz="half" idx="10"/>
          </p:nvPr>
        </p:nvSpPr>
        <p:spPr/>
        <p:txBody>
          <a:bodyPr/>
          <a:lstStyle/>
          <a:p>
            <a:fld id="{4509A250-FF31-4206-8172-F9D3106AACB1}" type="datetimeFigureOut">
              <a:rPr lang="en-US" smtClean="0"/>
              <a:t>5/10/2024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23" name="Rectangle 2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2349005338"/>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arte nom">
    <p:spTree>
      <p:nvGrpSpPr>
        <p:cNvPr id="1" name=""/>
        <p:cNvGrpSpPr/>
        <p:nvPr/>
      </p:nvGrpSpPr>
      <p:grpSpPr>
        <a:xfrm>
          <a:off x="0" y="0"/>
          <a:ext cx="0" cy="0"/>
          <a:chOff x="0" y="0"/>
          <a:chExt cx="0" cy="0"/>
        </a:xfrm>
      </p:grpSpPr>
      <p:grpSp>
        <p:nvGrpSpPr>
          <p:cNvPr id="16" name="Group 15"/>
          <p:cNvGrpSpPr/>
          <p:nvPr/>
        </p:nvGrpSpPr>
        <p:grpSpPr>
          <a:xfrm>
            <a:off x="-1588" y="0"/>
            <a:ext cx="12193588" cy="6861555"/>
            <a:chOff x="-1588" y="0"/>
            <a:chExt cx="12193588" cy="6861555"/>
          </a:xfrm>
        </p:grpSpPr>
        <p:sp>
          <p:nvSpPr>
            <p:cNvPr id="11" name="Rectangle 10"/>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3525"/>
            <a:ext cx="8865623" cy="1819656"/>
          </a:xfrm>
          <a:prstGeom prst="rect">
            <a:avLst/>
          </a:prstGeom>
        </p:spPr>
        <p:txBody>
          <a:bodyPr anchor="b"/>
          <a:lstStyle>
            <a:lvl1pPr algn="l">
              <a:defRPr sz="4000" b="0" cap="none"/>
            </a:lvl1pPr>
          </a:lstStyle>
          <a:p>
            <a:r>
              <a:rPr lang="fr-FR"/>
              <a:t>Modifiez le style du titre</a:t>
            </a:r>
            <a:endParaRPr lang="en-US" dirty="0"/>
          </a:p>
        </p:txBody>
      </p:sp>
      <p:sp>
        <p:nvSpPr>
          <p:cNvPr id="3" name="Text Placeholder 2"/>
          <p:cNvSpPr>
            <a:spLocks noGrp="1"/>
          </p:cNvSpPr>
          <p:nvPr>
            <p:ph type="body" idx="1"/>
          </p:nvPr>
        </p:nvSpPr>
        <p:spPr>
          <a:xfrm>
            <a:off x="1154954" y="5029200"/>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Modifiez les styles du texte du masque</a:t>
            </a:r>
          </a:p>
        </p:txBody>
      </p:sp>
      <p:sp>
        <p:nvSpPr>
          <p:cNvPr id="4" name="Date Placeholder 3"/>
          <p:cNvSpPr>
            <a:spLocks noGrp="1"/>
          </p:cNvSpPr>
          <p:nvPr>
            <p:ph type="dt" sz="half" idx="10"/>
          </p:nvPr>
        </p:nvSpPr>
        <p:spPr/>
        <p:txBody>
          <a:bodyPr/>
          <a:lstStyle/>
          <a:p>
            <a:fld id="{4509A250-FF31-4206-8172-F9D3106AACB1}" type="datetimeFigureOut">
              <a:rPr lang="en-US" smtClean="0"/>
              <a:t>5/10/2024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0" name="Rectangle 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2470225074"/>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onnes">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a:prstGeom prst="rect">
            <a:avLst/>
          </a:prstGeom>
        </p:spPr>
        <p:txBody>
          <a:bodyPr/>
          <a:lstStyle>
            <a:lvl1pPr>
              <a:defRPr sz="3600"/>
            </a:lvl1pPr>
          </a:lstStyle>
          <a:p>
            <a:r>
              <a:rPr lang="fr-FR"/>
              <a:t>Modifiez le style du titre</a:t>
            </a:r>
            <a:endParaRPr lang="en-US" dirty="0"/>
          </a:p>
        </p:txBody>
      </p:sp>
      <p:sp>
        <p:nvSpPr>
          <p:cNvPr id="3" name="Text Placeholder 2"/>
          <p:cNvSpPr>
            <a:spLocks noGrp="1"/>
          </p:cNvSpPr>
          <p:nvPr>
            <p:ph type="body" idx="1"/>
          </p:nvPr>
        </p:nvSpPr>
        <p:spPr>
          <a:xfrm>
            <a:off x="1154954" y="2603500"/>
            <a:ext cx="3129168"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16" name="Text Placeholder 3"/>
          <p:cNvSpPr>
            <a:spLocks noGrp="1"/>
          </p:cNvSpPr>
          <p:nvPr>
            <p:ph type="body" sz="half" idx="15"/>
          </p:nvPr>
        </p:nvSpPr>
        <p:spPr>
          <a:xfrm>
            <a:off x="1154954" y="3179764"/>
            <a:ext cx="3129168" cy="2847290"/>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Text Placeholder 4"/>
          <p:cNvSpPr>
            <a:spLocks noGrp="1"/>
          </p:cNvSpPr>
          <p:nvPr>
            <p:ph type="body" sz="quarter" idx="3"/>
          </p:nvPr>
        </p:nvSpPr>
        <p:spPr>
          <a:xfrm>
            <a:off x="4512721" y="2603500"/>
            <a:ext cx="3145380"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19" name="Text Placeholder 3"/>
          <p:cNvSpPr>
            <a:spLocks noGrp="1"/>
          </p:cNvSpPr>
          <p:nvPr>
            <p:ph type="body" sz="half" idx="16"/>
          </p:nvPr>
        </p:nvSpPr>
        <p:spPr>
          <a:xfrm>
            <a:off x="4512721" y="3179764"/>
            <a:ext cx="3145380" cy="2847290"/>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14" name="Text Placeholder 4"/>
          <p:cNvSpPr>
            <a:spLocks noGrp="1"/>
          </p:cNvSpPr>
          <p:nvPr>
            <p:ph type="body" sz="quarter" idx="13"/>
          </p:nvPr>
        </p:nvSpPr>
        <p:spPr>
          <a:xfrm>
            <a:off x="7886700" y="2595032"/>
            <a:ext cx="3161029" cy="58473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20" name="Text Placeholder 3"/>
          <p:cNvSpPr>
            <a:spLocks noGrp="1"/>
          </p:cNvSpPr>
          <p:nvPr>
            <p:ph type="body" sz="half" idx="17"/>
          </p:nvPr>
        </p:nvSpPr>
        <p:spPr>
          <a:xfrm>
            <a:off x="7886700" y="3179764"/>
            <a:ext cx="3161029" cy="2847290"/>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cxnSp>
        <p:nvCxnSpPr>
          <p:cNvPr id="17" name="Straight Connector 16"/>
          <p:cNvCxnSpPr/>
          <p:nvPr/>
        </p:nvCxnSpPr>
        <p:spPr>
          <a:xfrm>
            <a:off x="4384991" y="2603500"/>
            <a:ext cx="32564" cy="3423554"/>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5824" y="2603500"/>
            <a:ext cx="0" cy="3423554"/>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4509A250-FF31-4206-8172-F9D3106AACB1}" type="datetimeFigureOut">
              <a:rPr lang="en-US" smtClean="0"/>
              <a:t>5/10/2024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2371741610"/>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onnes d’image">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a:prstGeom prst="rect">
            <a:avLst/>
          </a:prstGeom>
        </p:spPr>
        <p:txBody>
          <a:bodyPr anchor="ctr" anchorCtr="0"/>
          <a:lstStyle>
            <a:lvl1pPr>
              <a:defRPr sz="3600"/>
            </a:lvl1pPr>
          </a:lstStyle>
          <a:p>
            <a:r>
              <a:rPr lang="fr-FR"/>
              <a:t>Modifiez le style du titre</a:t>
            </a:r>
            <a:endParaRPr lang="en-US" dirty="0"/>
          </a:p>
        </p:txBody>
      </p:sp>
      <p:sp>
        <p:nvSpPr>
          <p:cNvPr id="3" name="Text Placeholder 2"/>
          <p:cNvSpPr>
            <a:spLocks noGrp="1"/>
          </p:cNvSpPr>
          <p:nvPr>
            <p:ph type="body" idx="1"/>
          </p:nvPr>
        </p:nvSpPr>
        <p:spPr>
          <a:xfrm>
            <a:off x="1154954" y="4532845"/>
            <a:ext cx="3050438" cy="576260"/>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29" name="Picture Placeholder 2"/>
          <p:cNvSpPr>
            <a:spLocks noGrp="1" noChangeAspect="1"/>
          </p:cNvSpPr>
          <p:nvPr>
            <p:ph type="pic" idx="15"/>
          </p:nvPr>
        </p:nvSpPr>
        <p:spPr>
          <a:xfrm>
            <a:off x="1334552" y="2610916"/>
            <a:ext cx="2691242" cy="1584094"/>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22" name="Text Placeholder 3"/>
          <p:cNvSpPr>
            <a:spLocks noGrp="1"/>
          </p:cNvSpPr>
          <p:nvPr>
            <p:ph type="body" sz="half" idx="18"/>
          </p:nvPr>
        </p:nvSpPr>
        <p:spPr>
          <a:xfrm>
            <a:off x="1154954" y="5109107"/>
            <a:ext cx="3050438" cy="91794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Text Placeholder 4"/>
          <p:cNvSpPr>
            <a:spLocks noGrp="1"/>
          </p:cNvSpPr>
          <p:nvPr>
            <p:ph type="body" sz="quarter" idx="3"/>
          </p:nvPr>
        </p:nvSpPr>
        <p:spPr>
          <a:xfrm>
            <a:off x="4568865" y="4532842"/>
            <a:ext cx="30504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30" name="Picture Placeholder 2"/>
          <p:cNvSpPr>
            <a:spLocks noGrp="1" noChangeAspect="1"/>
          </p:cNvSpPr>
          <p:nvPr>
            <p:ph type="pic" idx="21"/>
          </p:nvPr>
        </p:nvSpPr>
        <p:spPr>
          <a:xfrm>
            <a:off x="474846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23" name="Text Placeholder 3"/>
          <p:cNvSpPr>
            <a:spLocks noGrp="1"/>
          </p:cNvSpPr>
          <p:nvPr>
            <p:ph type="body" sz="half" idx="19"/>
          </p:nvPr>
        </p:nvSpPr>
        <p:spPr>
          <a:xfrm>
            <a:off x="4568865" y="5109108"/>
            <a:ext cx="3050438" cy="91257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14" name="Text Placeholder 4"/>
          <p:cNvSpPr>
            <a:spLocks noGrp="1"/>
          </p:cNvSpPr>
          <p:nvPr>
            <p:ph type="body" sz="quarter" idx="13"/>
          </p:nvPr>
        </p:nvSpPr>
        <p:spPr>
          <a:xfrm>
            <a:off x="7983433" y="4532842"/>
            <a:ext cx="30504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31"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24" name="Text Placeholder 3"/>
          <p:cNvSpPr>
            <a:spLocks noGrp="1"/>
          </p:cNvSpPr>
          <p:nvPr>
            <p:ph type="body" sz="half" idx="20"/>
          </p:nvPr>
        </p:nvSpPr>
        <p:spPr>
          <a:xfrm>
            <a:off x="7983433" y="5109107"/>
            <a:ext cx="3050438" cy="91794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cxnSp>
        <p:nvCxnSpPr>
          <p:cNvPr id="17" name="Straight Connector 16"/>
          <p:cNvCxnSpPr/>
          <p:nvPr/>
        </p:nvCxnSpPr>
        <p:spPr>
          <a:xfrm>
            <a:off x="4384245" y="2603500"/>
            <a:ext cx="1" cy="3461811"/>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807352" y="2603500"/>
            <a:ext cx="0" cy="3461811"/>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4509A250-FF31-4206-8172-F9D3106AACB1}" type="datetimeFigureOut">
              <a:rPr lang="en-US" smtClean="0"/>
              <a:t>5/10/2024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3077368359"/>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a:prstGeom prst="rect">
            <a:avLst/>
          </a:prstGeom>
        </p:spPr>
        <p:txBody>
          <a:bodyPr/>
          <a:lstStyle/>
          <a:p>
            <a:r>
              <a:rPr lang="fr-FR"/>
              <a:t>Modifiez le style du titre</a:t>
            </a:r>
            <a:endParaRPr lang="en-US" dirty="0"/>
          </a:p>
        </p:txBody>
      </p:sp>
      <p:sp>
        <p:nvSpPr>
          <p:cNvPr id="3" name="Vertical Text Placeholder 2"/>
          <p:cNvSpPr>
            <a:spLocks noGrp="1"/>
          </p:cNvSpPr>
          <p:nvPr>
            <p:ph type="body" orient="vert" idx="1"/>
          </p:nvPr>
        </p:nvSpPr>
        <p:spPr>
          <a:xfrm>
            <a:off x="1154954" y="2595033"/>
            <a:ext cx="8825659" cy="3424768"/>
          </a:xfrm>
        </p:spPr>
        <p:txBody>
          <a:bodyPr vert="eaVert" anchor="t" anchorCtr="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5/10/2024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33636335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grpSp>
        <p:nvGrpSpPr>
          <p:cNvPr id="8" name="Group 7"/>
          <p:cNvGrpSpPr/>
          <p:nvPr/>
        </p:nvGrpSpPr>
        <p:grpSpPr>
          <a:xfrm>
            <a:off x="-1588" y="0"/>
            <a:ext cx="12193588" cy="6861555"/>
            <a:chOff x="-1588" y="0"/>
            <a:chExt cx="12193588" cy="6861555"/>
          </a:xfrm>
        </p:grpSpPr>
        <p:sp>
          <p:nvSpPr>
            <p:cNvPr id="15" name="Rectangle 14"/>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Rectangle 12"/>
            <p:cNvSpPr/>
            <p:nvPr/>
          </p:nvSpPr>
          <p:spPr>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6"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76756" y="1278466"/>
            <a:ext cx="1441567" cy="4748591"/>
          </a:xfrm>
          <a:prstGeom prst="rect">
            <a:avLst/>
          </a:prstGeom>
        </p:spPr>
        <p:txBody>
          <a:bodyPr vert="eaVert" anchor="b" anchorCtr="0"/>
          <a:lstStyle/>
          <a:p>
            <a:r>
              <a:rPr lang="fr-FR"/>
              <a:t>Modifiez le style du titre</a:t>
            </a:r>
            <a:endParaRPr lang="en-US" dirty="0"/>
          </a:p>
        </p:txBody>
      </p:sp>
      <p:sp>
        <p:nvSpPr>
          <p:cNvPr id="3" name="Vertical Text Placeholder 2"/>
          <p:cNvSpPr>
            <a:spLocks noGrp="1"/>
          </p:cNvSpPr>
          <p:nvPr>
            <p:ph type="body" orient="vert" idx="1"/>
          </p:nvPr>
        </p:nvSpPr>
        <p:spPr>
          <a:xfrm>
            <a:off x="1154954" y="1278465"/>
            <a:ext cx="6256025" cy="4748591"/>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5/10/2024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20" name="Rectangle 1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02111984F565}" type="slidenum">
              <a:rPr lang="en-US" smtClean="0"/>
              <a:t>‹N°›</a:t>
            </a:fld>
            <a:endParaRPr lang="en-US" dirty="0"/>
          </a:p>
        </p:txBody>
      </p:sp>
    </p:spTree>
    <p:extLst>
      <p:ext uri="{BB962C8B-B14F-4D97-AF65-F5344CB8AC3E}">
        <p14:creationId xmlns:p14="http://schemas.microsoft.com/office/powerpoint/2010/main" val="29715251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Group 1"/>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19">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Oval 20"/>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34"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7"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2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30"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fr-FR"/>
              <a:t>Modifiez le style du titre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10652760" y="6391656"/>
            <a:ext cx="990599" cy="304799"/>
          </a:xfrm>
          <a:prstGeom prst="rect">
            <a:avLst/>
          </a:prstGeom>
        </p:spPr>
        <p:txBody>
          <a:bodyPr vert="horz" lIns="91440" tIns="45720" rIns="91440" bIns="45720" rtlCol="0" anchor="ctr" anchorCtr="0"/>
          <a:lstStyle>
            <a:lvl1pPr algn="r">
              <a:defRPr sz="1000" b="1" i="0">
                <a:solidFill>
                  <a:schemeClr val="accent1"/>
                </a:solidFill>
              </a:defRPr>
            </a:lvl1pPr>
          </a:lstStyle>
          <a:p>
            <a:fld id="{4509A250-FF31-4206-8172-F9D3106AACB1}" type="datetimeFigureOut">
              <a:rPr lang="en-US" smtClean="0"/>
              <a:t>5/10/2024</a:t>
            </a:fld>
            <a:endParaRPr lang="en-US" dirty="0"/>
          </a:p>
        </p:txBody>
      </p:sp>
      <p:sp>
        <p:nvSpPr>
          <p:cNvPr id="5" name="Footer Placeholder 4"/>
          <p:cNvSpPr>
            <a:spLocks noGrp="1"/>
          </p:cNvSpPr>
          <p:nvPr>
            <p:ph type="ftr" sz="quarter" idx="3"/>
          </p:nvPr>
        </p:nvSpPr>
        <p:spPr>
          <a:xfrm>
            <a:off x="557784" y="6391656"/>
            <a:ext cx="3867912" cy="310896"/>
          </a:xfrm>
          <a:prstGeom prst="rect">
            <a:avLst/>
          </a:prstGeom>
        </p:spPr>
        <p:txBody>
          <a:bodyPr vert="horz" lIns="91440" tIns="45720" rIns="91440" bIns="45720" rtlCol="0" anchor="ctr" anchorCtr="0"/>
          <a:lstStyle>
            <a:lvl1pPr algn="l">
              <a:defRPr sz="1000" b="1" i="0">
                <a:solidFill>
                  <a:schemeClr val="accent1"/>
                </a:solidFill>
              </a:defRPr>
            </a:lvl1pPr>
          </a:lstStyle>
          <a:p>
            <a:endParaRPr lang="en-US" dirty="0"/>
          </a:p>
        </p:txBody>
      </p:sp>
      <p:sp>
        <p:nvSpPr>
          <p:cNvPr id="29" name="Rectangle 2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02111984F565}" type="slidenum">
              <a:rPr lang="en-US" smtClean="0"/>
              <a:t>‹N°›</a:t>
            </a:fld>
            <a:endParaRPr lang="en-US" dirty="0"/>
          </a:p>
        </p:txBody>
      </p:sp>
    </p:spTree>
    <p:extLst>
      <p:ext uri="{BB962C8B-B14F-4D97-AF65-F5344CB8AC3E}">
        <p14:creationId xmlns:p14="http://schemas.microsoft.com/office/powerpoint/2010/main" val="833105726"/>
      </p:ext>
    </p:extLst>
  </p:cSld>
  <p:clrMap bg1="lt1" tx1="dk1" bg2="lt2" tx2="dk2" accent1="accent1" accent2="accent2" accent3="accent3" accent4="accent4" accent5="accent5" accent6="accent6" hlink="hlink" folHlink="folHlink"/>
  <p:sldLayoutIdLst>
    <p:sldLayoutId id="2147483947" r:id="rId1"/>
    <p:sldLayoutId id="2147483948" r:id="rId2"/>
    <p:sldLayoutId id="2147483949" r:id="rId3"/>
    <p:sldLayoutId id="2147483950" r:id="rId4"/>
    <p:sldLayoutId id="2147483951" r:id="rId5"/>
    <p:sldLayoutId id="2147483952" r:id="rId6"/>
    <p:sldLayoutId id="2147483953" r:id="rId7"/>
    <p:sldLayoutId id="2147483954" r:id="rId8"/>
    <p:sldLayoutId id="2147483955" r:id="rId9"/>
    <p:sldLayoutId id="2147483956" r:id="rId10"/>
    <p:sldLayoutId id="2147483957" r:id="rId11"/>
    <p:sldLayoutId id="2147483958" r:id="rId12"/>
    <p:sldLayoutId id="2147483959" r:id="rId13"/>
    <p:sldLayoutId id="2147483960" r:id="rId14"/>
    <p:sldLayoutId id="2147483961" r:id="rId15"/>
    <p:sldLayoutId id="2147483962" r:id="rId16"/>
    <p:sldLayoutId id="2147483963"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Layout" Target="../slideLayouts/slideLayout7.xml"/><Relationship Id="rId5" Type="http://schemas.openxmlformats.org/officeDocument/2006/relationships/image" Target="../media/image9.emf"/><Relationship Id="rId4" Type="http://schemas.openxmlformats.org/officeDocument/2006/relationships/image" Target="../media/image6.emf"/></Relationships>
</file>

<file path=ppt/slides/_rels/slide1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jpg"/><Relationship Id="rId1" Type="http://schemas.openxmlformats.org/officeDocument/2006/relationships/slideLayout" Target="../slideLayouts/slideLayout7.xml"/><Relationship Id="rId6" Type="http://schemas.openxmlformats.org/officeDocument/2006/relationships/image" Target="../media/image15.emf"/><Relationship Id="rId5" Type="http://schemas.openxmlformats.org/officeDocument/2006/relationships/image" Target="../media/image14.emf"/><Relationship Id="rId4" Type="http://schemas.openxmlformats.org/officeDocument/2006/relationships/image" Target="../media/image13.emf"/></Relationships>
</file>

<file path=ppt/slides/_rels/slide13.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emf"/><Relationship Id="rId1" Type="http://schemas.openxmlformats.org/officeDocument/2006/relationships/slideLayout" Target="../slideLayouts/slideLayout7.xml"/><Relationship Id="rId6" Type="http://schemas.openxmlformats.org/officeDocument/2006/relationships/image" Target="../media/image20.emf"/><Relationship Id="rId5" Type="http://schemas.openxmlformats.org/officeDocument/2006/relationships/image" Target="../media/image19.emf"/><Relationship Id="rId4" Type="http://schemas.openxmlformats.org/officeDocument/2006/relationships/image" Target="../media/image18.emf"/></Relationships>
</file>

<file path=ppt/slides/_rels/slide14.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22.emf"/><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26.emf"/><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29.emf"/><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image" Target="../media/image31.emf"/><Relationship Id="rId1" Type="http://schemas.openxmlformats.org/officeDocument/2006/relationships/slideLayout" Target="../slideLayouts/slideLayout7.xml"/><Relationship Id="rId4" Type="http://schemas.openxmlformats.org/officeDocument/2006/relationships/image" Target="../media/image33.emf"/></Relationships>
</file>

<file path=ppt/slides/_rels/slide23.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image" Target="../media/image34.emf"/><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image" Target="../media/image36.emf"/><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image" Target="../media/image40.emf"/><Relationship Id="rId1" Type="http://schemas.openxmlformats.org/officeDocument/2006/relationships/slideLayout" Target="../slideLayouts/slideLayout7.xml"/><Relationship Id="rId4" Type="http://schemas.openxmlformats.org/officeDocument/2006/relationships/image" Target="../media/image42.emf"/></Relationships>
</file>

<file path=ppt/slides/_rels/slide30.xml.rels><?xml version="1.0" encoding="UTF-8" standalone="yes"?>
<Relationships xmlns="http://schemas.openxmlformats.org/package/2006/relationships"><Relationship Id="rId3" Type="http://schemas.openxmlformats.org/officeDocument/2006/relationships/image" Target="../media/image44.emf"/><Relationship Id="rId2" Type="http://schemas.openxmlformats.org/officeDocument/2006/relationships/image" Target="../media/image43.emf"/><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8" Type="http://schemas.openxmlformats.org/officeDocument/2006/relationships/image" Target="../media/image51.emf"/><Relationship Id="rId3" Type="http://schemas.openxmlformats.org/officeDocument/2006/relationships/image" Target="../media/image46.emf"/><Relationship Id="rId7" Type="http://schemas.openxmlformats.org/officeDocument/2006/relationships/image" Target="../media/image50.emf"/><Relationship Id="rId2" Type="http://schemas.openxmlformats.org/officeDocument/2006/relationships/image" Target="../media/image45.emf"/><Relationship Id="rId1" Type="http://schemas.openxmlformats.org/officeDocument/2006/relationships/slideLayout" Target="../slideLayouts/slideLayout7.xml"/><Relationship Id="rId6" Type="http://schemas.openxmlformats.org/officeDocument/2006/relationships/image" Target="../media/image49.emf"/><Relationship Id="rId5" Type="http://schemas.openxmlformats.org/officeDocument/2006/relationships/image" Target="../media/image48.emf"/><Relationship Id="rId4" Type="http://schemas.openxmlformats.org/officeDocument/2006/relationships/image" Target="../media/image47.emf"/><Relationship Id="rId9" Type="http://schemas.openxmlformats.org/officeDocument/2006/relationships/image" Target="../media/image52.e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54.emf"/><Relationship Id="rId2" Type="http://schemas.openxmlformats.org/officeDocument/2006/relationships/image" Target="../media/image53.emf"/><Relationship Id="rId1" Type="http://schemas.openxmlformats.org/officeDocument/2006/relationships/slideLayout" Target="../slideLayouts/slideLayout7.xml"/><Relationship Id="rId4" Type="http://schemas.openxmlformats.org/officeDocument/2006/relationships/image" Target="../media/image55.emf"/></Relationships>
</file>

<file path=ppt/slides/_rels/slide34.xml.rels><?xml version="1.0" encoding="UTF-8" standalone="yes"?>
<Relationships xmlns="http://schemas.openxmlformats.org/package/2006/relationships"><Relationship Id="rId3" Type="http://schemas.openxmlformats.org/officeDocument/2006/relationships/image" Target="../media/image57.emf"/><Relationship Id="rId2" Type="http://schemas.openxmlformats.org/officeDocument/2006/relationships/image" Target="../media/image56.emf"/><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58.emf"/><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60.emf"/><Relationship Id="rId2" Type="http://schemas.openxmlformats.org/officeDocument/2006/relationships/image" Target="../media/image59.emf"/><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61.emf"/><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62.emf"/><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64.emf"/><Relationship Id="rId2" Type="http://schemas.openxmlformats.org/officeDocument/2006/relationships/image" Target="../media/image63.emf"/><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66.emf"/><Relationship Id="rId2" Type="http://schemas.openxmlformats.org/officeDocument/2006/relationships/image" Target="../media/image65.emf"/><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68.emf"/><Relationship Id="rId2" Type="http://schemas.openxmlformats.org/officeDocument/2006/relationships/image" Target="../media/image67.emf"/><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70.emf"/><Relationship Id="rId2" Type="http://schemas.openxmlformats.org/officeDocument/2006/relationships/image" Target="../media/image69.emf"/><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71.emf"/><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73.emf"/><Relationship Id="rId2" Type="http://schemas.openxmlformats.org/officeDocument/2006/relationships/image" Target="../media/image72.emf"/><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66.emf"/><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73.emf"/><Relationship Id="rId2" Type="http://schemas.openxmlformats.org/officeDocument/2006/relationships/image" Target="../media/image74.emf"/><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75.emf"/><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73.emf"/><Relationship Id="rId2" Type="http://schemas.openxmlformats.org/officeDocument/2006/relationships/image" Target="../media/image76.emf"/><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77.emf"/><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73.emf"/><Relationship Id="rId2" Type="http://schemas.openxmlformats.org/officeDocument/2006/relationships/image" Target="../media/image78.emf"/><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79.emf"/><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80.emf"/><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81.emf"/><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83.emf"/><Relationship Id="rId2" Type="http://schemas.openxmlformats.org/officeDocument/2006/relationships/image" Target="../media/image82.emf"/><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84.emf"/><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86.emf"/><Relationship Id="rId2" Type="http://schemas.openxmlformats.org/officeDocument/2006/relationships/image" Target="../media/image85.emf"/><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87.emf"/><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89.emf"/><Relationship Id="rId2" Type="http://schemas.openxmlformats.org/officeDocument/2006/relationships/image" Target="../media/image88.emf"/><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90.emf"/><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92.emf"/><Relationship Id="rId2" Type="http://schemas.openxmlformats.org/officeDocument/2006/relationships/image" Target="../media/image91.emf"/><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93.emf"/><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95.emf"/><Relationship Id="rId2" Type="http://schemas.openxmlformats.org/officeDocument/2006/relationships/image" Target="../media/image94.emf"/><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96.emf"/><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98.emf"/><Relationship Id="rId2" Type="http://schemas.openxmlformats.org/officeDocument/2006/relationships/image" Target="../media/image97.emf"/><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051303" y="511687"/>
            <a:ext cx="7653196" cy="1038746"/>
          </a:xfrm>
          <a:prstGeom prst="rect">
            <a:avLst/>
          </a:prstGeom>
        </p:spPr>
        <p:txBody>
          <a:bodyPr wrap="square">
            <a:spAutoFit/>
          </a:bodyPr>
          <a:lstStyle/>
          <a:p>
            <a:pPr algn="ctr">
              <a:lnSpc>
                <a:spcPct val="100000"/>
              </a:lnSpc>
              <a:spcBef>
                <a:spcPts val="860"/>
              </a:spcBef>
            </a:pPr>
            <a:r>
              <a:rPr lang="fr-FR" spc="15" dirty="0">
                <a:latin typeface="LM Roman 12"/>
                <a:cs typeface="LM Roman 12"/>
              </a:rPr>
              <a:t>RÉPUBLIQUE DU SENEGAL</a:t>
            </a:r>
          </a:p>
          <a:p>
            <a:pPr algn="ctr">
              <a:lnSpc>
                <a:spcPct val="100000"/>
              </a:lnSpc>
              <a:spcBef>
                <a:spcPts val="860"/>
              </a:spcBef>
            </a:pPr>
            <a:r>
              <a:rPr lang="fr-FR" spc="15" dirty="0">
                <a:latin typeface="LM Roman 12"/>
                <a:cs typeface="LM Roman 12"/>
              </a:rPr>
              <a:t>Ministère de </a:t>
            </a:r>
            <a:r>
              <a:rPr lang="fr-FR" spc="10" dirty="0">
                <a:latin typeface="LM Roman 12"/>
                <a:cs typeface="LM Roman 12"/>
              </a:rPr>
              <a:t>l’Enseignement </a:t>
            </a:r>
            <a:r>
              <a:rPr lang="fr-FR" spc="15" dirty="0">
                <a:latin typeface="LM Roman 12"/>
                <a:cs typeface="LM Roman 12"/>
              </a:rPr>
              <a:t>Supérieur </a:t>
            </a:r>
            <a:r>
              <a:rPr lang="fr-FR" spc="10" dirty="0">
                <a:latin typeface="LM Roman 12"/>
                <a:cs typeface="LM Roman 12"/>
              </a:rPr>
              <a:t>et </a:t>
            </a:r>
            <a:r>
              <a:rPr lang="fr-FR" spc="15" dirty="0">
                <a:latin typeface="LM Roman 12"/>
                <a:cs typeface="LM Roman 12"/>
              </a:rPr>
              <a:t>de </a:t>
            </a:r>
            <a:r>
              <a:rPr lang="fr-FR" spc="10" dirty="0">
                <a:latin typeface="LM Roman 12"/>
                <a:cs typeface="LM Roman 12"/>
              </a:rPr>
              <a:t>la </a:t>
            </a:r>
            <a:r>
              <a:rPr lang="fr-FR" spc="5" dirty="0">
                <a:latin typeface="LM Roman 12"/>
                <a:cs typeface="LM Roman 12"/>
              </a:rPr>
              <a:t>Recherche </a:t>
            </a:r>
            <a:r>
              <a:rPr lang="fr-FR" dirty="0">
                <a:latin typeface="LM Roman 12"/>
                <a:cs typeface="LM Roman 12"/>
              </a:rPr>
              <a:t>Scientifique  </a:t>
            </a:r>
            <a:r>
              <a:rPr lang="fr-FR" spc="10" dirty="0">
                <a:latin typeface="LM Roman 12"/>
                <a:cs typeface="LM Roman 12"/>
              </a:rPr>
              <a:t>UAM</a:t>
            </a:r>
            <a:endParaRPr lang="fr-FR" dirty="0">
              <a:latin typeface="LM Roman 12"/>
              <a:cs typeface="LM Roman 12"/>
            </a:endParaRPr>
          </a:p>
        </p:txBody>
      </p:sp>
      <p:sp>
        <p:nvSpPr>
          <p:cNvPr id="8" name="Rectangle 7"/>
          <p:cNvSpPr/>
          <p:nvPr/>
        </p:nvSpPr>
        <p:spPr>
          <a:xfrm>
            <a:off x="2734146" y="2203186"/>
            <a:ext cx="3874883" cy="659155"/>
          </a:xfrm>
          <a:prstGeom prst="rect">
            <a:avLst/>
          </a:prstGeom>
        </p:spPr>
        <p:txBody>
          <a:bodyPr wrap="square">
            <a:spAutoFit/>
          </a:bodyPr>
          <a:lstStyle/>
          <a:p>
            <a:pPr marL="12700">
              <a:spcBef>
                <a:spcPts val="110"/>
              </a:spcBef>
            </a:pPr>
            <a:endParaRPr lang="fr-FR" dirty="0">
              <a:latin typeface="LM Roman 12"/>
              <a:cs typeface="LM Roman 12"/>
            </a:endParaRPr>
          </a:p>
          <a:p>
            <a:pPr marL="12700">
              <a:lnSpc>
                <a:spcPct val="100000"/>
              </a:lnSpc>
              <a:spcBef>
                <a:spcPts val="110"/>
              </a:spcBef>
            </a:pPr>
            <a:endParaRPr lang="fr-FR" b="1" spc="-325" dirty="0">
              <a:latin typeface="LM Roman 12"/>
              <a:cs typeface="LM Roman 12"/>
            </a:endParaRPr>
          </a:p>
        </p:txBody>
      </p:sp>
      <p:sp>
        <p:nvSpPr>
          <p:cNvPr id="9" name="object 5"/>
          <p:cNvSpPr/>
          <p:nvPr/>
        </p:nvSpPr>
        <p:spPr>
          <a:xfrm>
            <a:off x="4423048" y="2114266"/>
            <a:ext cx="2720153" cy="1800101"/>
          </a:xfrm>
          <a:prstGeom prst="rect">
            <a:avLst/>
          </a:prstGeom>
          <a:blipFill>
            <a:blip r:embed="rId2" cstate="print"/>
            <a:stretch>
              <a:fillRect/>
            </a:stretch>
          </a:blipFill>
        </p:spPr>
        <p:txBody>
          <a:bodyPr wrap="square" lIns="0" tIns="0" rIns="0" bIns="0" rtlCol="0"/>
          <a:lstStyle/>
          <a:p>
            <a:endParaRPr/>
          </a:p>
        </p:txBody>
      </p:sp>
      <p:sp>
        <p:nvSpPr>
          <p:cNvPr id="12" name="ZoneTexte 11"/>
          <p:cNvSpPr txBox="1"/>
          <p:nvPr/>
        </p:nvSpPr>
        <p:spPr>
          <a:xfrm>
            <a:off x="1889157" y="5135988"/>
            <a:ext cx="5389830" cy="923330"/>
          </a:xfrm>
          <a:prstGeom prst="rect">
            <a:avLst/>
          </a:prstGeom>
          <a:noFill/>
        </p:spPr>
        <p:txBody>
          <a:bodyPr wrap="square" rtlCol="0">
            <a:spAutoFit/>
          </a:bodyPr>
          <a:lstStyle/>
          <a:p>
            <a:r>
              <a:rPr lang="fr-FR" dirty="0"/>
              <a:t>M.GUEYE</a:t>
            </a:r>
          </a:p>
          <a:p>
            <a:r>
              <a:rPr lang="fr-FR" dirty="0"/>
              <a:t>Email: </a:t>
            </a:r>
            <a:r>
              <a:rPr lang="fr-FR" dirty="0" err="1"/>
              <a:t>malick,gueye@uam,</a:t>
            </a:r>
            <a:r>
              <a:rPr lang="fr-FR" err="1"/>
              <a:t>edu</a:t>
            </a:r>
            <a:r>
              <a:rPr lang="fr-FR"/>
              <a:t>,sn</a:t>
            </a:r>
          </a:p>
          <a:p>
            <a:r>
              <a:rPr lang="fr-FR" dirty="0"/>
              <a:t>gueye_malick_1@yahoo.fr</a:t>
            </a:r>
          </a:p>
        </p:txBody>
      </p:sp>
      <p:sp>
        <p:nvSpPr>
          <p:cNvPr id="14" name="ZoneTexte 13"/>
          <p:cNvSpPr txBox="1"/>
          <p:nvPr/>
        </p:nvSpPr>
        <p:spPr>
          <a:xfrm>
            <a:off x="9282901" y="5782319"/>
            <a:ext cx="2516864" cy="369332"/>
          </a:xfrm>
          <a:prstGeom prst="rect">
            <a:avLst/>
          </a:prstGeom>
          <a:noFill/>
        </p:spPr>
        <p:txBody>
          <a:bodyPr wrap="square" rtlCol="0">
            <a:spAutoFit/>
          </a:bodyPr>
          <a:lstStyle/>
          <a:p>
            <a:r>
              <a:rPr lang="fr-FR" dirty="0"/>
              <a:t>Année: 2023-2024</a:t>
            </a:r>
          </a:p>
        </p:txBody>
      </p:sp>
      <p:sp>
        <p:nvSpPr>
          <p:cNvPr id="2" name="Parchemin horizontal 1"/>
          <p:cNvSpPr/>
          <p:nvPr/>
        </p:nvSpPr>
        <p:spPr>
          <a:xfrm>
            <a:off x="2666197" y="3914366"/>
            <a:ext cx="6830887" cy="1221621"/>
          </a:xfrm>
          <a:prstGeom prst="horizontalScrol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t>Cours de Géométrie Descriptive</a:t>
            </a:r>
          </a:p>
        </p:txBody>
      </p:sp>
    </p:spTree>
    <p:extLst>
      <p:ext uri="{BB962C8B-B14F-4D97-AF65-F5344CB8AC3E}">
        <p14:creationId xmlns:p14="http://schemas.microsoft.com/office/powerpoint/2010/main" val="190178731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2564775" y="2297722"/>
            <a:ext cx="7244861" cy="3141785"/>
          </a:xfrm>
          <a:prstGeom prst="rect">
            <a:avLst/>
          </a:prstGeom>
          <a:noFill/>
        </p:spPr>
        <p:txBody>
          <a:bodyPr wrap="square" rtlCol="0">
            <a:spAutoFit/>
          </a:bodyPr>
          <a:lstStyle/>
          <a:p>
            <a:endParaRPr lang="fr-FR" dirty="0"/>
          </a:p>
        </p:txBody>
      </p:sp>
      <p:sp>
        <p:nvSpPr>
          <p:cNvPr id="3" name="Rectangle 2"/>
          <p:cNvSpPr/>
          <p:nvPr/>
        </p:nvSpPr>
        <p:spPr>
          <a:xfrm>
            <a:off x="1622854" y="2726724"/>
            <a:ext cx="9275805" cy="11121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rPr>
              <a:t>CHAPITRE 1</a:t>
            </a:r>
          </a:p>
          <a:p>
            <a:pPr algn="ctr"/>
            <a:r>
              <a:rPr lang="fr-FR" sz="2800" b="1" dirty="0">
                <a:solidFill>
                  <a:schemeClr val="bg1"/>
                </a:solidFill>
              </a:rPr>
              <a:t>Présentation de la géométrie descriptive</a:t>
            </a:r>
          </a:p>
        </p:txBody>
      </p:sp>
    </p:spTree>
    <p:extLst>
      <p:ext uri="{BB962C8B-B14F-4D97-AF65-F5344CB8AC3E}">
        <p14:creationId xmlns:p14="http://schemas.microsoft.com/office/powerpoint/2010/main" val="28860951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15547" y="377035"/>
            <a:ext cx="10214918" cy="5355312"/>
          </a:xfrm>
          <a:prstGeom prst="rect">
            <a:avLst/>
          </a:prstGeom>
        </p:spPr>
        <p:txBody>
          <a:bodyPr wrap="square">
            <a:spAutoFit/>
          </a:bodyPr>
          <a:lstStyle/>
          <a:p>
            <a:r>
              <a:rPr lang="fr-FR" dirty="0"/>
              <a:t>1.1 </a:t>
            </a:r>
            <a:r>
              <a:rPr lang="fr-FR" b="1" u="sng" dirty="0"/>
              <a:t>Présentation de la géométrie descriptive </a:t>
            </a:r>
          </a:p>
          <a:p>
            <a:endParaRPr lang="fr-FR" dirty="0"/>
          </a:p>
          <a:p>
            <a:r>
              <a:rPr lang="fr-FR" dirty="0"/>
              <a:t>La géométrie descriptive est un moyen d'expression graphique.</a:t>
            </a:r>
          </a:p>
          <a:p>
            <a:r>
              <a:rPr lang="fr-FR" dirty="0"/>
              <a:t> </a:t>
            </a:r>
          </a:p>
          <a:p>
            <a:r>
              <a:rPr lang="fr-FR" dirty="0"/>
              <a:t>Elle constitue un préalable nécessaire à l'étude du dessin technique, relais entre celui qui conçoit et celui qui réalise. Si la géométrie descriptive donne des méthodes de représentation des corps de la nature, de leurs formes, dimensions, positions relatives sur une feuille de papier, elle ne se borne cependant pas à dresser correctement des lignes.</a:t>
            </a:r>
          </a:p>
          <a:p>
            <a:endParaRPr lang="fr-FR" dirty="0"/>
          </a:p>
          <a:p>
            <a:r>
              <a:rPr lang="fr-FR" dirty="0"/>
              <a:t> Elle permet aussi de développer l'agencement des formes et d'être l'intermédiaire entre la pensée et l'exécution car le fait de comparer sans cesse deux projections l'une à l'autre développe la reconstitution spatiale des problèmes qui n'est pas innée. </a:t>
            </a:r>
          </a:p>
          <a:p>
            <a:endParaRPr lang="fr-FR" dirty="0"/>
          </a:p>
          <a:p>
            <a:r>
              <a:rPr lang="fr-FR" dirty="0"/>
              <a:t>Cette vue spatiale acquise par la géométrie descriptive est indispensable à tout concepteur qui doit pouvoir choisir le mode de représentation adapté au réalisateur. </a:t>
            </a:r>
          </a:p>
          <a:p>
            <a:endParaRPr lang="fr-FR" dirty="0"/>
          </a:p>
          <a:p>
            <a:r>
              <a:rPr lang="fr-FR" dirty="0"/>
              <a:t>Cette vue spatiale devrait dans une certaine mesure faire partie des connaissances communes à tous, c'est un moyen de communication qui donne de l'existence aux pensées.</a:t>
            </a:r>
          </a:p>
        </p:txBody>
      </p:sp>
    </p:spTree>
    <p:extLst>
      <p:ext uri="{BB962C8B-B14F-4D97-AF65-F5344CB8AC3E}">
        <p14:creationId xmlns:p14="http://schemas.microsoft.com/office/powerpoint/2010/main" val="5235551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0615" y="263611"/>
            <a:ext cx="10585622" cy="6463308"/>
          </a:xfrm>
          <a:prstGeom prst="rect">
            <a:avLst/>
          </a:prstGeom>
        </p:spPr>
        <p:txBody>
          <a:bodyPr wrap="square">
            <a:spAutoFit/>
          </a:bodyPr>
          <a:lstStyle/>
          <a:p>
            <a:r>
              <a:rPr lang="fr-FR" dirty="0"/>
              <a:t>1.1.1 </a:t>
            </a:r>
            <a:r>
              <a:rPr lang="fr-FR" b="1" u="sng" dirty="0"/>
              <a:t>Objectif du cours de 1er bachelier </a:t>
            </a:r>
            <a:endParaRPr lang="fr-FR" dirty="0"/>
          </a:p>
          <a:p>
            <a:r>
              <a:rPr lang="fr-FR" dirty="0"/>
              <a:t> En premier bachelier, on étudiera les principales méthodes de représentation des corps et leurs applications en dessin à savoir : le dessin géométrique, les projections orthogonales, les projections cotées, les projections axonométriques, les perspectives coniques, les ombres. </a:t>
            </a:r>
          </a:p>
          <a:p>
            <a:r>
              <a:rPr lang="fr-FR" dirty="0"/>
              <a:t>On développera la vue spatiale, le langage du graphisme technique. </a:t>
            </a:r>
          </a:p>
          <a:p>
            <a:endParaRPr lang="fr-FR" dirty="0"/>
          </a:p>
          <a:p>
            <a:r>
              <a:rPr lang="fr-FR" dirty="0"/>
              <a:t>On étudiera les principales méthodes graphiques de représentation des corps tridimensionnels et leurs applications en dessin. </a:t>
            </a:r>
          </a:p>
          <a:p>
            <a:endParaRPr lang="fr-FR" dirty="0"/>
          </a:p>
          <a:p>
            <a:r>
              <a:rPr lang="fr-FR" dirty="0"/>
              <a:t>1.1.1.1 </a:t>
            </a:r>
            <a:r>
              <a:rPr lang="fr-FR" b="1" dirty="0"/>
              <a:t>Applications simples :</a:t>
            </a:r>
            <a:r>
              <a:rPr lang="fr-FR" dirty="0"/>
              <a:t> </a:t>
            </a:r>
          </a:p>
          <a:p>
            <a:pPr marL="342900" indent="-342900">
              <a:buAutoNum type="arabicPeriod"/>
            </a:pPr>
            <a:r>
              <a:rPr lang="fr-FR" dirty="0"/>
              <a:t>des problèmes de représentation de volumes dans l'espace </a:t>
            </a:r>
          </a:p>
          <a:p>
            <a:r>
              <a:rPr lang="fr-FR" dirty="0"/>
              <a:t>2. des problèmes de recherche de vraies grandeurs (angles - distances - surfaces). </a:t>
            </a:r>
          </a:p>
          <a:p>
            <a:r>
              <a:rPr lang="fr-FR" dirty="0"/>
              <a:t>3. des problèmes de sections, d'intersections de volumes. </a:t>
            </a:r>
          </a:p>
          <a:p>
            <a:r>
              <a:rPr lang="fr-FR" dirty="0"/>
              <a:t>4. exercices suivant les déférents systèmes de projections (orthogonales, cotées,  	perspectives). </a:t>
            </a:r>
          </a:p>
          <a:p>
            <a:endParaRPr lang="fr-FR" dirty="0"/>
          </a:p>
          <a:p>
            <a:r>
              <a:rPr lang="fr-FR" dirty="0"/>
              <a:t>1.1.2 </a:t>
            </a:r>
            <a:r>
              <a:rPr lang="fr-FR" b="1" u="sng" dirty="0"/>
              <a:t>Objectif du cours de 2ème bachelier  </a:t>
            </a:r>
          </a:p>
          <a:p>
            <a:r>
              <a:rPr lang="fr-FR" dirty="0"/>
              <a:t>En deuxième bachelier, on développe les moyens de représentation architecturale en abordant les compléments de géométrie descriptive à savoir : les ombres, l'ensoleillement, les perspectives coniques et an isométriques, la stéréotomie, les surfaces courbes. </a:t>
            </a:r>
          </a:p>
          <a:p>
            <a:r>
              <a:rPr lang="fr-FR" dirty="0"/>
              <a:t>On parfait le moyen d'expression de représentation spatiale. </a:t>
            </a:r>
          </a:p>
          <a:p>
            <a:r>
              <a:rPr lang="fr-FR" dirty="0"/>
              <a:t>On parfait les moyens de représentation des formes architecturales en abordant les compléments de la géométrie descriptive.</a:t>
            </a:r>
          </a:p>
        </p:txBody>
      </p:sp>
    </p:spTree>
    <p:extLst>
      <p:ext uri="{BB962C8B-B14F-4D97-AF65-F5344CB8AC3E}">
        <p14:creationId xmlns:p14="http://schemas.microsoft.com/office/powerpoint/2010/main" val="2450962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95351" y="0"/>
            <a:ext cx="2738250" cy="369332"/>
          </a:xfrm>
          <a:prstGeom prst="rect">
            <a:avLst/>
          </a:prstGeom>
        </p:spPr>
        <p:txBody>
          <a:bodyPr wrap="none">
            <a:spAutoFit/>
          </a:bodyPr>
          <a:lstStyle/>
          <a:p>
            <a:r>
              <a:rPr lang="fr-FR" dirty="0"/>
              <a:t>1.2 </a:t>
            </a:r>
            <a:r>
              <a:rPr lang="fr-FR" b="1" u="sng" dirty="0"/>
              <a:t>Matériel nécessaire</a:t>
            </a:r>
          </a:p>
        </p:txBody>
      </p:sp>
      <p:sp>
        <p:nvSpPr>
          <p:cNvPr id="5" name="ZoneTexte 4"/>
          <p:cNvSpPr txBox="1"/>
          <p:nvPr/>
        </p:nvSpPr>
        <p:spPr>
          <a:xfrm>
            <a:off x="654087" y="428367"/>
            <a:ext cx="4820778" cy="6340197"/>
          </a:xfrm>
          <a:prstGeom prst="rect">
            <a:avLst/>
          </a:prstGeom>
          <a:noFill/>
        </p:spPr>
        <p:txBody>
          <a:bodyPr wrap="square" rtlCol="0">
            <a:spAutoFit/>
          </a:bodyPr>
          <a:lstStyle/>
          <a:p>
            <a:r>
              <a:rPr lang="fr-FR" sz="1400" b="1" dirty="0"/>
              <a:t>1 Té</a:t>
            </a:r>
          </a:p>
          <a:p>
            <a:pPr marL="285750" indent="-285750">
              <a:buFont typeface="Arial" panose="020B0604020202020204" pitchFamily="34" charset="0"/>
              <a:buChar char="•"/>
            </a:pPr>
            <a:r>
              <a:rPr lang="fr-FR" sz="1400" dirty="0"/>
              <a:t>Matériau plastique transparent ou carbone ou alu</a:t>
            </a:r>
          </a:p>
          <a:p>
            <a:pPr marL="285750" indent="-285750">
              <a:buFont typeface="Arial" panose="020B0604020202020204" pitchFamily="34" charset="0"/>
              <a:buChar char="•"/>
            </a:pPr>
            <a:r>
              <a:rPr lang="fr-FR" sz="1400" dirty="0"/>
              <a:t>Longueur: environ 80cm</a:t>
            </a:r>
          </a:p>
          <a:p>
            <a:pPr marL="285750" indent="-285750">
              <a:buFont typeface="Arial" panose="020B0604020202020204" pitchFamily="34" charset="0"/>
              <a:buChar char="•"/>
            </a:pPr>
            <a:r>
              <a:rPr lang="fr-FR" sz="1400" dirty="0"/>
              <a:t>Attention au </a:t>
            </a:r>
            <a:r>
              <a:rPr lang="fr-FR" sz="1400" u="sng" dirty="0"/>
              <a:t>profil de la branche sur laquelle on dessine: </a:t>
            </a:r>
            <a:r>
              <a:rPr lang="fr-FR" sz="1400" dirty="0"/>
              <a:t>le support doit être suffisamment épais, afin de permettre aux équerres de bien glisser sur le bord.</a:t>
            </a:r>
          </a:p>
          <a:p>
            <a:pPr marL="285750" indent="-285750">
              <a:buFont typeface="Arial" panose="020B0604020202020204" pitchFamily="34" charset="0"/>
              <a:buChar char="•"/>
            </a:pPr>
            <a:r>
              <a:rPr lang="fr-FR" sz="1400" dirty="0"/>
              <a:t>Exemple: standard graph (plastique transparent)</a:t>
            </a:r>
          </a:p>
          <a:p>
            <a:endParaRPr lang="fr-FR" sz="1400" dirty="0"/>
          </a:p>
          <a:p>
            <a:r>
              <a:rPr lang="fr-FR" sz="1400" b="1" dirty="0"/>
              <a:t>2 équerres en plastic (avec écarteurs)</a:t>
            </a:r>
          </a:p>
          <a:p>
            <a:pPr marL="285750" indent="-285750">
              <a:buFont typeface="Arial" panose="020B0604020202020204" pitchFamily="34" charset="0"/>
              <a:buChar char="•"/>
            </a:pPr>
            <a:r>
              <a:rPr lang="fr-FR" sz="1400" dirty="0"/>
              <a:t>À 45°, de longueur de diagonale +/- 40 cm (en général, ces équerres sont de couleur orange)</a:t>
            </a:r>
          </a:p>
          <a:p>
            <a:pPr marL="285750" indent="-285750">
              <a:buFont typeface="Arial" panose="020B0604020202020204" pitchFamily="34" charset="0"/>
              <a:buChar char="•"/>
            </a:pPr>
            <a:r>
              <a:rPr lang="fr-FR" sz="1400" dirty="0"/>
              <a:t>Exemple: standard graph</a:t>
            </a:r>
          </a:p>
          <a:p>
            <a:pPr marL="285750" indent="-285750">
              <a:buFont typeface="Arial" panose="020B0604020202020204" pitchFamily="34" charset="0"/>
              <a:buChar char="•"/>
            </a:pPr>
            <a:endParaRPr lang="fr-FR" sz="1400" dirty="0"/>
          </a:p>
          <a:p>
            <a:r>
              <a:rPr lang="fr-FR" sz="1400" b="1" dirty="0"/>
              <a:t>1 latte graduée</a:t>
            </a:r>
          </a:p>
          <a:p>
            <a:pPr marL="285750" indent="-285750">
              <a:buFont typeface="Arial" panose="020B0604020202020204" pitchFamily="34" charset="0"/>
              <a:buChar char="•"/>
            </a:pPr>
            <a:r>
              <a:rPr lang="fr-FR" sz="1400" dirty="0"/>
              <a:t>De longueur 40 ou 50 cm</a:t>
            </a:r>
          </a:p>
          <a:p>
            <a:pPr marL="285750" indent="-285750">
              <a:buFont typeface="Arial" panose="020B0604020202020204" pitchFamily="34" charset="0"/>
              <a:buChar char="•"/>
            </a:pPr>
            <a:r>
              <a:rPr lang="fr-FR" sz="1400" dirty="0"/>
              <a:t>Plastic, ou mieux: alu</a:t>
            </a:r>
          </a:p>
          <a:p>
            <a:pPr marL="285750" indent="-285750">
              <a:buFont typeface="Arial" panose="020B0604020202020204" pitchFamily="34" charset="0"/>
              <a:buChar char="•"/>
            </a:pPr>
            <a:r>
              <a:rPr lang="fr-FR" sz="1400" dirty="0"/>
              <a:t>Exemple: standard graph ou linex ou staedtler</a:t>
            </a:r>
          </a:p>
          <a:p>
            <a:pPr marL="285750" indent="-285750">
              <a:buFont typeface="Arial" panose="020B0604020202020204" pitchFamily="34" charset="0"/>
              <a:buChar char="•"/>
            </a:pPr>
            <a:endParaRPr lang="fr-FR" sz="1400" dirty="0"/>
          </a:p>
          <a:p>
            <a:r>
              <a:rPr lang="fr-FR" sz="1400" b="1" dirty="0"/>
              <a:t>1compas à réglage par pas de vis</a:t>
            </a:r>
          </a:p>
          <a:p>
            <a:pPr marL="285750" indent="-285750">
              <a:buFont typeface="Arial" panose="020B0604020202020204" pitchFamily="34" charset="0"/>
              <a:buChar char="•"/>
            </a:pPr>
            <a:r>
              <a:rPr lang="fr-FR" sz="1400" dirty="0"/>
              <a:t>Avec rallonge 15-20 cm</a:t>
            </a:r>
          </a:p>
          <a:p>
            <a:pPr marL="285750" indent="-285750">
              <a:buFont typeface="Arial" panose="020B0604020202020204" pitchFamily="34" charset="0"/>
              <a:buChar char="•"/>
            </a:pPr>
            <a:r>
              <a:rPr lang="fr-FR" sz="1400" dirty="0"/>
              <a:t>Avec adaptateur pour feutre</a:t>
            </a:r>
          </a:p>
          <a:p>
            <a:pPr marL="285750" indent="-285750">
              <a:buFont typeface="Arial" panose="020B0604020202020204" pitchFamily="34" charset="0"/>
              <a:buChar char="•"/>
            </a:pPr>
            <a:r>
              <a:rPr lang="fr-FR" sz="1400" dirty="0"/>
              <a:t>Exemple: staedtler</a:t>
            </a:r>
          </a:p>
          <a:p>
            <a:pPr marL="285750" indent="-285750">
              <a:buFont typeface="Arial" panose="020B0604020202020204" pitchFamily="34" charset="0"/>
              <a:buChar char="•"/>
            </a:pPr>
            <a:endParaRPr lang="fr-FR" sz="1400" dirty="0"/>
          </a:p>
          <a:p>
            <a:r>
              <a:rPr lang="fr-FR" sz="1400" b="1" dirty="0"/>
              <a:t>1 gabarit pour tracer des cercles</a:t>
            </a:r>
            <a:r>
              <a:rPr lang="fr-FR" sz="1400" dirty="0"/>
              <a:t> (plastic transparent, à plots) de diamètres de 1 à 35 cm</a:t>
            </a:r>
          </a:p>
          <a:p>
            <a:pPr marL="285750" indent="-285750">
              <a:buFont typeface="Arial" panose="020B0604020202020204" pitchFamily="34" charset="0"/>
              <a:buChar char="•"/>
            </a:pPr>
            <a:r>
              <a:rPr lang="fr-FR" sz="1400" dirty="0"/>
              <a:t>Exemple: standard graph</a:t>
            </a:r>
          </a:p>
          <a:p>
            <a:endParaRPr lang="fr-FR" sz="1400" dirty="0"/>
          </a:p>
          <a:p>
            <a:endParaRPr lang="fr-FR" sz="1400" dirty="0"/>
          </a:p>
        </p:txBody>
      </p:sp>
      <p:sp>
        <p:nvSpPr>
          <p:cNvPr id="7" name="ZoneTexte 6"/>
          <p:cNvSpPr txBox="1"/>
          <p:nvPr/>
        </p:nvSpPr>
        <p:spPr>
          <a:xfrm>
            <a:off x="6161903" y="428367"/>
            <a:ext cx="5288691" cy="5693866"/>
          </a:xfrm>
          <a:prstGeom prst="rect">
            <a:avLst/>
          </a:prstGeom>
          <a:noFill/>
        </p:spPr>
        <p:txBody>
          <a:bodyPr wrap="square" rtlCol="0">
            <a:spAutoFit/>
          </a:bodyPr>
          <a:lstStyle/>
          <a:p>
            <a:r>
              <a:rPr lang="fr-FR" sz="1400" b="1" dirty="0"/>
              <a:t>5 feutres calibrés (encre noire)</a:t>
            </a:r>
          </a:p>
          <a:p>
            <a:pPr marL="285750" indent="-285750">
              <a:buFont typeface="Arial" panose="020B0604020202020204" pitchFamily="34" charset="0"/>
              <a:buChar char="•"/>
            </a:pPr>
            <a:r>
              <a:rPr lang="fr-FR" sz="1400" dirty="0"/>
              <a:t>Épaisseurs de traits: 0,10 – 0,2 – 0,3 – 0,5 – 0,7</a:t>
            </a:r>
          </a:p>
          <a:p>
            <a:pPr marL="285750" indent="-285750">
              <a:buFont typeface="Arial" panose="020B0604020202020204" pitchFamily="34" charset="0"/>
              <a:buChar char="•"/>
            </a:pPr>
            <a:r>
              <a:rPr lang="fr-FR" sz="1400" dirty="0"/>
              <a:t>Exemple: staedtler ou art line</a:t>
            </a:r>
          </a:p>
          <a:p>
            <a:pPr marL="285750" indent="-285750">
              <a:buFont typeface="Arial" panose="020B0604020202020204" pitchFamily="34" charset="0"/>
              <a:buChar char="•"/>
            </a:pPr>
            <a:endParaRPr lang="fr-FR" sz="1400" dirty="0"/>
          </a:p>
          <a:p>
            <a:r>
              <a:rPr lang="fr-FR" sz="1400" dirty="0"/>
              <a:t>1crayon 1H (pour le dessin aux instruments)</a:t>
            </a:r>
          </a:p>
          <a:p>
            <a:r>
              <a:rPr lang="fr-FR" sz="1400" dirty="0"/>
              <a:t>1crayon HB</a:t>
            </a:r>
          </a:p>
          <a:p>
            <a:r>
              <a:rPr lang="fr-FR" sz="1400" dirty="0"/>
              <a:t>1crayon 2B (pour le croquis à main levée) ex: Lyra</a:t>
            </a:r>
          </a:p>
          <a:p>
            <a:r>
              <a:rPr lang="fr-FR" sz="1400" dirty="0"/>
              <a:t>1gomme (matière synthétique)</a:t>
            </a:r>
          </a:p>
          <a:p>
            <a:endParaRPr lang="fr-FR" sz="1400" dirty="0"/>
          </a:p>
          <a:p>
            <a:r>
              <a:rPr lang="fr-FR" sz="1400" dirty="0"/>
              <a:t>1 taille crayon métal</a:t>
            </a:r>
          </a:p>
          <a:p>
            <a:r>
              <a:rPr lang="fr-FR" sz="1400" dirty="0"/>
              <a:t>1 rouleau de papier collant crêpe </a:t>
            </a:r>
          </a:p>
          <a:p>
            <a:pPr marL="285750" indent="-285750">
              <a:buFont typeface="Arial" panose="020B0604020202020204" pitchFamily="34" charset="0"/>
              <a:buChar char="•"/>
            </a:pPr>
            <a:r>
              <a:rPr lang="fr-FR" sz="1400" dirty="0"/>
              <a:t>Largeur de bande +/- 18 cm</a:t>
            </a:r>
          </a:p>
          <a:p>
            <a:pPr marL="285750" indent="-285750">
              <a:buFont typeface="Arial" panose="020B0604020202020204" pitchFamily="34" charset="0"/>
              <a:buChar char="•"/>
            </a:pPr>
            <a:r>
              <a:rPr lang="fr-FR" sz="1400" dirty="0"/>
              <a:t>Exemple: Tesa</a:t>
            </a:r>
          </a:p>
          <a:p>
            <a:pPr marL="285750" indent="-285750">
              <a:buFont typeface="Arial" panose="020B0604020202020204" pitchFamily="34" charset="0"/>
              <a:buChar char="•"/>
            </a:pPr>
            <a:endParaRPr lang="fr-FR" sz="1400" dirty="0"/>
          </a:p>
          <a:p>
            <a:r>
              <a:rPr lang="fr-FR" sz="1400" dirty="0"/>
              <a:t>Plus:</a:t>
            </a:r>
          </a:p>
          <a:p>
            <a:r>
              <a:rPr lang="fr-FR" sz="1400" dirty="0"/>
              <a:t>1 planche A4 avec pince pour fixer le papier</a:t>
            </a:r>
          </a:p>
          <a:p>
            <a:pPr marL="285750" indent="-285750">
              <a:buFont typeface="Arial" panose="020B0604020202020204" pitchFamily="34" charset="0"/>
              <a:buChar char="•"/>
            </a:pPr>
            <a:r>
              <a:rPr lang="fr-FR" sz="1400" dirty="0"/>
              <a:t>Exemple: panneau 24*33 cm hardboard 3mm ép. et pince Bulldog </a:t>
            </a:r>
          </a:p>
          <a:p>
            <a:pPr marL="285750" indent="-285750">
              <a:buFont typeface="Arial" panose="020B0604020202020204" pitchFamily="34" charset="0"/>
              <a:buChar char="•"/>
            </a:pPr>
            <a:endParaRPr lang="fr-FR" sz="1400" dirty="0"/>
          </a:p>
          <a:p>
            <a:r>
              <a:rPr lang="fr-FR" sz="1400" dirty="0"/>
              <a:t>1 bloc de papier «croquis » </a:t>
            </a:r>
          </a:p>
          <a:p>
            <a:pPr marL="285750" indent="-285750">
              <a:buFont typeface="Arial" panose="020B0604020202020204" pitchFamily="34" charset="0"/>
              <a:buChar char="•"/>
            </a:pPr>
            <a:r>
              <a:rPr lang="fr-FR" sz="1400" dirty="0"/>
              <a:t>Format A4, épaisseur: 100 – 200 g/m2</a:t>
            </a:r>
          </a:p>
          <a:p>
            <a:pPr marL="285750" indent="-285750">
              <a:buFont typeface="Arial" panose="020B0604020202020204" pitchFamily="34" charset="0"/>
              <a:buChar char="•"/>
            </a:pPr>
            <a:r>
              <a:rPr lang="fr-FR" sz="1400" dirty="0"/>
              <a:t>Surface « à grain » </a:t>
            </a:r>
          </a:p>
          <a:p>
            <a:pPr marL="285750" indent="-285750">
              <a:buFont typeface="Arial" panose="020B0604020202020204" pitchFamily="34" charset="0"/>
              <a:buChar char="•"/>
            </a:pPr>
            <a:r>
              <a:rPr lang="fr-FR" sz="1400" dirty="0"/>
              <a:t>Exemple: Lana, canson ou arteco</a:t>
            </a:r>
          </a:p>
          <a:p>
            <a:pPr marL="285750" indent="-285750">
              <a:buFont typeface="Arial" panose="020B0604020202020204" pitchFamily="34" charset="0"/>
              <a:buChar char="•"/>
            </a:pPr>
            <a:endParaRPr lang="fr-FR" sz="1400" dirty="0"/>
          </a:p>
          <a:p>
            <a:r>
              <a:rPr lang="fr-FR" sz="1400" dirty="0"/>
              <a:t>1 mètre enrouleur, longueur 3 mètres</a:t>
            </a:r>
          </a:p>
          <a:p>
            <a:pPr marL="285750" indent="-285750">
              <a:buFont typeface="Arial" panose="020B0604020202020204" pitchFamily="34" charset="0"/>
              <a:buChar char="•"/>
            </a:pPr>
            <a:r>
              <a:rPr lang="fr-FR" sz="1400" dirty="0"/>
              <a:t>Exemple: Stanley</a:t>
            </a:r>
          </a:p>
        </p:txBody>
      </p:sp>
      <p:graphicFrame>
        <p:nvGraphicFramePr>
          <p:cNvPr id="8" name="Tableau 7"/>
          <p:cNvGraphicFramePr>
            <a:graphicFrameLocks noGrp="1"/>
          </p:cNvGraphicFramePr>
          <p:nvPr>
            <p:extLst>
              <p:ext uri="{D42A27DB-BD31-4B8C-83A1-F6EECF244321}">
                <p14:modId xmlns:p14="http://schemas.microsoft.com/office/powerpoint/2010/main" val="2420691272"/>
              </p:ext>
            </p:extLst>
          </p:nvPr>
        </p:nvGraphicFramePr>
        <p:xfrm>
          <a:off x="5700584" y="418659"/>
          <a:ext cx="208280" cy="6359611"/>
        </p:xfrm>
        <a:graphic>
          <a:graphicData uri="http://schemas.openxmlformats.org/drawingml/2006/table">
            <a:tbl>
              <a:tblPr/>
              <a:tblGrid>
                <a:gridCol w="208280">
                  <a:extLst>
                    <a:ext uri="{9D8B030D-6E8A-4147-A177-3AD203B41FA5}">
                      <a16:colId xmlns:a16="http://schemas.microsoft.com/office/drawing/2014/main" val="20000"/>
                    </a:ext>
                  </a:extLst>
                </a:gridCol>
              </a:tblGrid>
              <a:tr h="6359611">
                <a:tc>
                  <a:txBody>
                    <a:bodyPr/>
                    <a:lstStyle/>
                    <a:p>
                      <a:endParaRPr lang="fr-FR"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5895582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2199501" y="1068253"/>
            <a:ext cx="7404227" cy="5789747"/>
          </a:xfrm>
          <a:prstGeom prst="rect">
            <a:avLst/>
          </a:prstGeom>
        </p:spPr>
      </p:pic>
      <p:sp>
        <p:nvSpPr>
          <p:cNvPr id="3" name="Rectangle 2"/>
          <p:cNvSpPr/>
          <p:nvPr/>
        </p:nvSpPr>
        <p:spPr>
          <a:xfrm>
            <a:off x="2520778" y="0"/>
            <a:ext cx="7144891" cy="1138773"/>
          </a:xfrm>
          <a:prstGeom prst="rect">
            <a:avLst/>
          </a:prstGeom>
        </p:spPr>
        <p:txBody>
          <a:bodyPr wrap="square">
            <a:spAutoFit/>
          </a:bodyPr>
          <a:lstStyle/>
          <a:p>
            <a:r>
              <a:rPr lang="fr-FR" dirty="0">
                <a:latin typeface="F38"/>
              </a:rPr>
              <a:t>1.3</a:t>
            </a:r>
            <a:r>
              <a:rPr lang="fr-FR" sz="3200" dirty="0">
                <a:latin typeface="F38"/>
              </a:rPr>
              <a:t> </a:t>
            </a:r>
            <a:r>
              <a:rPr lang="fr-FR" b="1" u="sng" dirty="0">
                <a:latin typeface="F38"/>
              </a:rPr>
              <a:t>Géométrie plane - exemple - :</a:t>
            </a:r>
          </a:p>
          <a:p>
            <a:endParaRPr lang="fr-FR" b="1" u="sng" dirty="0">
              <a:latin typeface="F38"/>
            </a:endParaRPr>
          </a:p>
          <a:p>
            <a:r>
              <a:rPr lang="fr-FR" dirty="0">
                <a:latin typeface="F35"/>
              </a:rPr>
              <a:t>méthodes de tracé des polygones réguliers</a:t>
            </a:r>
            <a:endParaRPr lang="fr-FR" dirty="0"/>
          </a:p>
        </p:txBody>
      </p:sp>
    </p:spTree>
    <p:extLst>
      <p:ext uri="{BB962C8B-B14F-4D97-AF65-F5344CB8AC3E}">
        <p14:creationId xmlns:p14="http://schemas.microsoft.com/office/powerpoint/2010/main" val="6216058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37038" y="0"/>
            <a:ext cx="10239632" cy="1292662"/>
          </a:xfrm>
          <a:prstGeom prst="rect">
            <a:avLst/>
          </a:prstGeom>
        </p:spPr>
        <p:txBody>
          <a:bodyPr wrap="square">
            <a:spAutoFit/>
          </a:bodyPr>
          <a:lstStyle/>
          <a:p>
            <a:r>
              <a:rPr lang="fr-FR" b="1" dirty="0">
                <a:latin typeface="F38"/>
              </a:rPr>
              <a:t>1.4</a:t>
            </a:r>
            <a:r>
              <a:rPr lang="fr-FR" b="1" u="sng" dirty="0">
                <a:latin typeface="F38"/>
              </a:rPr>
              <a:t> Conventions de dessin</a:t>
            </a:r>
          </a:p>
          <a:p>
            <a:endParaRPr lang="fr-FR" b="1" u="sng" dirty="0">
              <a:latin typeface="F38"/>
            </a:endParaRPr>
          </a:p>
          <a:p>
            <a:r>
              <a:rPr lang="fr-FR" sz="1400" dirty="0">
                <a:latin typeface="F15"/>
              </a:rPr>
              <a:t>Présentation (mode paysage) d'une épure A3 (42cm x 29,7cm)</a:t>
            </a:r>
          </a:p>
          <a:p>
            <a:r>
              <a:rPr lang="fr-FR" sz="1400" dirty="0">
                <a:latin typeface="F15"/>
              </a:rPr>
              <a:t>Les unités des grandeurs dimensionnelles sont exprimées en cm, les épaisseurs des traits en </a:t>
            </a:r>
            <a:r>
              <a:rPr lang="fr-FR" sz="1400" dirty="0" err="1">
                <a:latin typeface="F15"/>
              </a:rPr>
              <a:t>mm.</a:t>
            </a:r>
            <a:endParaRPr lang="fr-FR" sz="1400" dirty="0">
              <a:latin typeface="F15"/>
            </a:endParaRPr>
          </a:p>
          <a:p>
            <a:r>
              <a:rPr lang="fr-FR" sz="1400" dirty="0">
                <a:latin typeface="F15"/>
              </a:rPr>
              <a:t>Le lettrage est réalisé en écriture normalisée. (voir norme ISO).</a:t>
            </a:r>
            <a:endParaRPr lang="fr-FR" sz="1400" dirty="0"/>
          </a:p>
        </p:txBody>
      </p:sp>
      <p:pic>
        <p:nvPicPr>
          <p:cNvPr id="3" name="Image 2"/>
          <p:cNvPicPr>
            <a:picLocks noChangeAspect="1"/>
          </p:cNvPicPr>
          <p:nvPr/>
        </p:nvPicPr>
        <p:blipFill>
          <a:blip r:embed="rId2"/>
          <a:stretch>
            <a:fillRect/>
          </a:stretch>
        </p:blipFill>
        <p:spPr>
          <a:xfrm>
            <a:off x="2265616" y="1292662"/>
            <a:ext cx="7076597" cy="5472054"/>
          </a:xfrm>
          <a:prstGeom prst="rect">
            <a:avLst/>
          </a:prstGeom>
        </p:spPr>
      </p:pic>
    </p:spTree>
    <p:extLst>
      <p:ext uri="{BB962C8B-B14F-4D97-AF65-F5344CB8AC3E}">
        <p14:creationId xmlns:p14="http://schemas.microsoft.com/office/powerpoint/2010/main" val="38677491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22854" y="2726724"/>
            <a:ext cx="9275805" cy="11121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rPr>
              <a:t>CHAPITRE 2</a:t>
            </a:r>
          </a:p>
          <a:p>
            <a:pPr algn="ctr"/>
            <a:r>
              <a:rPr lang="fr-FR" sz="2800" b="1" dirty="0">
                <a:solidFill>
                  <a:schemeClr val="bg1"/>
                </a:solidFill>
              </a:rPr>
              <a:t>Principes de représentation</a:t>
            </a:r>
          </a:p>
        </p:txBody>
      </p:sp>
    </p:spTree>
    <p:extLst>
      <p:ext uri="{BB962C8B-B14F-4D97-AF65-F5344CB8AC3E}">
        <p14:creationId xmlns:p14="http://schemas.microsoft.com/office/powerpoint/2010/main" val="30613122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99935" y="60910"/>
            <a:ext cx="8855676" cy="2585323"/>
          </a:xfrm>
          <a:prstGeom prst="rect">
            <a:avLst/>
          </a:prstGeom>
        </p:spPr>
        <p:txBody>
          <a:bodyPr wrap="square">
            <a:spAutoFit/>
          </a:bodyPr>
          <a:lstStyle/>
          <a:p>
            <a:r>
              <a:rPr lang="fr-FR" b="1" u="sng" dirty="0">
                <a:latin typeface="F34"/>
              </a:rPr>
              <a:t>Principes de représentation</a:t>
            </a:r>
          </a:p>
          <a:p>
            <a:endParaRPr lang="fr-FR" b="1" u="sng" dirty="0">
              <a:latin typeface="F34"/>
            </a:endParaRPr>
          </a:p>
          <a:p>
            <a:r>
              <a:rPr lang="fr-FR" sz="1400" dirty="0">
                <a:latin typeface="F15"/>
              </a:rPr>
              <a:t>Pour représenter une gure de l'espace sur une surface (= le</a:t>
            </a:r>
          </a:p>
          <a:p>
            <a:r>
              <a:rPr lang="fr-FR" sz="1400" dirty="0">
                <a:latin typeface="F35"/>
              </a:rPr>
              <a:t>plan de projection</a:t>
            </a:r>
            <a:r>
              <a:rPr lang="fr-FR" sz="1400" dirty="0">
                <a:latin typeface="F15"/>
              </a:rPr>
              <a:t>), il n'existe pas d'autre procédé que celui</a:t>
            </a:r>
          </a:p>
          <a:p>
            <a:r>
              <a:rPr lang="fr-FR" sz="1400" dirty="0">
                <a:latin typeface="F15"/>
              </a:rPr>
              <a:t>de faire passer par les points de la gure des droites parallèles</a:t>
            </a:r>
          </a:p>
          <a:p>
            <a:r>
              <a:rPr lang="fr-FR" sz="1400" dirty="0">
                <a:latin typeface="F15"/>
              </a:rPr>
              <a:t>entre elles ou des droites concourantes. Ces droites ( = </a:t>
            </a:r>
            <a:r>
              <a:rPr lang="fr-FR" sz="1400" dirty="0">
                <a:latin typeface="F35"/>
              </a:rPr>
              <a:t>les projetantes</a:t>
            </a:r>
            <a:r>
              <a:rPr lang="fr-FR" sz="1400" dirty="0">
                <a:latin typeface="F15"/>
              </a:rPr>
              <a:t>)</a:t>
            </a:r>
          </a:p>
          <a:p>
            <a:r>
              <a:rPr lang="fr-FR" sz="1400" dirty="0">
                <a:latin typeface="F15"/>
              </a:rPr>
              <a:t>rencontrent le plan de projection en diérents points</a:t>
            </a:r>
          </a:p>
          <a:p>
            <a:r>
              <a:rPr lang="fr-FR" sz="1400" dirty="0">
                <a:latin typeface="F15"/>
              </a:rPr>
              <a:t>qu'on relie entre eux pour obtenir une gure plane appelée </a:t>
            </a:r>
            <a:r>
              <a:rPr lang="fr-FR" sz="1400" dirty="0">
                <a:latin typeface="F35"/>
              </a:rPr>
              <a:t>projection</a:t>
            </a:r>
          </a:p>
          <a:p>
            <a:r>
              <a:rPr lang="fr-FR" sz="1400" dirty="0">
                <a:latin typeface="F15"/>
              </a:rPr>
              <a:t>de l'objet sur le plan de projection.</a:t>
            </a:r>
          </a:p>
          <a:p>
            <a:endParaRPr lang="fr-FR" sz="1400" dirty="0">
              <a:latin typeface="F15"/>
            </a:endParaRPr>
          </a:p>
          <a:p>
            <a:r>
              <a:rPr lang="fr-FR" sz="1400" dirty="0">
                <a:latin typeface="F35"/>
              </a:rPr>
              <a:t>Pour représenter un volume il faudra au moins 3 plans de projections.</a:t>
            </a:r>
            <a:endParaRPr lang="fr-FR" sz="1400" dirty="0"/>
          </a:p>
        </p:txBody>
      </p:sp>
      <p:pic>
        <p:nvPicPr>
          <p:cNvPr id="3" name="Image 2"/>
          <p:cNvPicPr>
            <a:picLocks noChangeAspect="1"/>
          </p:cNvPicPr>
          <p:nvPr/>
        </p:nvPicPr>
        <p:blipFill>
          <a:blip r:embed="rId2"/>
          <a:stretch>
            <a:fillRect/>
          </a:stretch>
        </p:blipFill>
        <p:spPr>
          <a:xfrm>
            <a:off x="874712" y="529972"/>
            <a:ext cx="2580575" cy="1647198"/>
          </a:xfrm>
          <a:prstGeom prst="rect">
            <a:avLst/>
          </a:prstGeom>
        </p:spPr>
      </p:pic>
      <p:pic>
        <p:nvPicPr>
          <p:cNvPr id="4" name="Image 3"/>
          <p:cNvPicPr>
            <a:picLocks noChangeAspect="1"/>
          </p:cNvPicPr>
          <p:nvPr/>
        </p:nvPicPr>
        <p:blipFill>
          <a:blip r:embed="rId3"/>
          <a:stretch>
            <a:fillRect/>
          </a:stretch>
        </p:blipFill>
        <p:spPr>
          <a:xfrm>
            <a:off x="4481569" y="2646233"/>
            <a:ext cx="3546204" cy="2555779"/>
          </a:xfrm>
          <a:prstGeom prst="rect">
            <a:avLst/>
          </a:prstGeom>
        </p:spPr>
      </p:pic>
      <p:sp>
        <p:nvSpPr>
          <p:cNvPr id="5" name="Rectangle 4"/>
          <p:cNvSpPr/>
          <p:nvPr/>
        </p:nvSpPr>
        <p:spPr>
          <a:xfrm>
            <a:off x="3599935" y="5327119"/>
            <a:ext cx="6384326" cy="1384995"/>
          </a:xfrm>
          <a:prstGeom prst="rect">
            <a:avLst/>
          </a:prstGeom>
        </p:spPr>
        <p:txBody>
          <a:bodyPr wrap="square">
            <a:spAutoFit/>
          </a:bodyPr>
          <a:lstStyle/>
          <a:p>
            <a:r>
              <a:rPr lang="fr-FR" sz="1400" dirty="0">
                <a:latin typeface="F15"/>
              </a:rPr>
              <a:t>Il est très important de comprendre que pour chaque face projetée, c'est la face vue depuis l'observateur</a:t>
            </a:r>
          </a:p>
          <a:p>
            <a:r>
              <a:rPr lang="fr-FR" sz="1400" dirty="0">
                <a:latin typeface="F15"/>
              </a:rPr>
              <a:t>qui est projetée sur la surface de référence.</a:t>
            </a:r>
          </a:p>
          <a:p>
            <a:r>
              <a:rPr lang="fr-FR" sz="1400" dirty="0">
                <a:latin typeface="F15"/>
              </a:rPr>
              <a:t>Par exemple : la vue supérieure du volume est dessinée en plan. (vue supérieure de l'objet comme si vous</a:t>
            </a:r>
          </a:p>
          <a:p>
            <a:r>
              <a:rPr lang="fr-FR" sz="1400" dirty="0">
                <a:latin typeface="F15"/>
              </a:rPr>
              <a:t>étiez en avion = vue de dessus dessinée en projection sur le sol)</a:t>
            </a:r>
            <a:endParaRPr lang="fr-FR" sz="1400" dirty="0"/>
          </a:p>
        </p:txBody>
      </p:sp>
    </p:spTree>
    <p:extLst>
      <p:ext uri="{BB962C8B-B14F-4D97-AF65-F5344CB8AC3E}">
        <p14:creationId xmlns:p14="http://schemas.microsoft.com/office/powerpoint/2010/main" val="40670492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212469" y="0"/>
            <a:ext cx="7916564" cy="6955750"/>
          </a:xfrm>
          <a:prstGeom prst="rect">
            <a:avLst/>
          </a:prstGeom>
        </p:spPr>
        <p:txBody>
          <a:bodyPr wrap="square">
            <a:spAutoFit/>
          </a:bodyPr>
          <a:lstStyle/>
          <a:p>
            <a:r>
              <a:rPr lang="fr-FR" b="1" dirty="0">
                <a:latin typeface="F38"/>
              </a:rPr>
              <a:t>2.1 </a:t>
            </a:r>
            <a:r>
              <a:rPr lang="fr-FR" b="1" u="sng" dirty="0">
                <a:latin typeface="F38"/>
              </a:rPr>
              <a:t>Les diérents types de projections</a:t>
            </a:r>
          </a:p>
          <a:p>
            <a:endParaRPr lang="fr-FR" b="1" dirty="0">
              <a:latin typeface="F25"/>
            </a:endParaRPr>
          </a:p>
          <a:p>
            <a:r>
              <a:rPr lang="fr-FR" b="1" dirty="0">
                <a:latin typeface="F25"/>
              </a:rPr>
              <a:t>2.1.1 </a:t>
            </a:r>
            <a:r>
              <a:rPr lang="fr-FR" b="1" u="sng" dirty="0">
                <a:latin typeface="F25"/>
              </a:rPr>
              <a:t>Les projections parallèles</a:t>
            </a:r>
          </a:p>
          <a:p>
            <a:r>
              <a:rPr lang="fr-FR" sz="1400" dirty="0">
                <a:latin typeface="F15"/>
              </a:rPr>
              <a:t>conditions : les projetantes doivent être parallèles entre elles.</a:t>
            </a:r>
          </a:p>
          <a:p>
            <a:endParaRPr lang="fr-FR" sz="1400" dirty="0">
              <a:latin typeface="F35"/>
            </a:endParaRPr>
          </a:p>
          <a:p>
            <a:endParaRPr lang="fr-FR" sz="1400" dirty="0">
              <a:latin typeface="F35"/>
            </a:endParaRPr>
          </a:p>
          <a:p>
            <a:endParaRPr lang="fr-FR" sz="1400" dirty="0">
              <a:latin typeface="F35"/>
            </a:endParaRPr>
          </a:p>
          <a:p>
            <a:endParaRPr lang="fr-FR" sz="1400" dirty="0">
              <a:latin typeface="F35"/>
            </a:endParaRPr>
          </a:p>
          <a:p>
            <a:endParaRPr lang="fr-FR" sz="1400" dirty="0">
              <a:latin typeface="F35"/>
            </a:endParaRPr>
          </a:p>
          <a:p>
            <a:endParaRPr lang="fr-FR" sz="1400" dirty="0">
              <a:latin typeface="F35"/>
            </a:endParaRPr>
          </a:p>
          <a:p>
            <a:r>
              <a:rPr lang="fr-FR" sz="1400" b="1" dirty="0">
                <a:latin typeface="F35"/>
              </a:rPr>
              <a:t>2.1.1.1 Les projections orthogonales</a:t>
            </a:r>
          </a:p>
          <a:p>
            <a:r>
              <a:rPr lang="fr-FR" sz="1400" dirty="0">
                <a:latin typeface="F15"/>
              </a:rPr>
              <a:t>Les projetantes sont perpendiculaires au plan de projection.</a:t>
            </a:r>
          </a:p>
          <a:p>
            <a:endParaRPr lang="fr-FR" sz="1400" dirty="0">
              <a:latin typeface="F35"/>
            </a:endParaRPr>
          </a:p>
          <a:p>
            <a:endParaRPr lang="fr-FR" sz="1400" dirty="0">
              <a:latin typeface="F35"/>
            </a:endParaRPr>
          </a:p>
          <a:p>
            <a:endParaRPr lang="fr-FR" sz="1400" dirty="0">
              <a:latin typeface="F35"/>
            </a:endParaRPr>
          </a:p>
          <a:p>
            <a:endParaRPr lang="fr-FR" sz="1400" dirty="0">
              <a:latin typeface="F35"/>
            </a:endParaRPr>
          </a:p>
          <a:p>
            <a:endParaRPr lang="fr-FR" sz="1400" dirty="0">
              <a:latin typeface="F35"/>
            </a:endParaRPr>
          </a:p>
          <a:p>
            <a:endParaRPr lang="fr-FR" sz="1400" dirty="0">
              <a:latin typeface="F35"/>
            </a:endParaRPr>
          </a:p>
          <a:p>
            <a:r>
              <a:rPr lang="fr-FR" sz="1400" b="1" dirty="0">
                <a:latin typeface="F35"/>
              </a:rPr>
              <a:t>2.1.1.1.1 Les vues géométrales </a:t>
            </a:r>
          </a:p>
          <a:p>
            <a:r>
              <a:rPr lang="fr-FR" sz="1400" dirty="0">
                <a:latin typeface="F15"/>
              </a:rPr>
              <a:t>Elles sont constituées par deux, trois ou quatres projections sur les plans de projections (tous perpendiculaires entre eux). Ce sont les élévations - vue en plan - vues de prol.</a:t>
            </a:r>
          </a:p>
          <a:p>
            <a:endParaRPr lang="fr-FR" sz="1400" dirty="0">
              <a:latin typeface="F35"/>
            </a:endParaRPr>
          </a:p>
          <a:p>
            <a:endParaRPr lang="fr-FR" sz="1400" dirty="0">
              <a:latin typeface="F35"/>
            </a:endParaRPr>
          </a:p>
          <a:p>
            <a:endParaRPr lang="fr-FR" sz="1400" dirty="0">
              <a:latin typeface="F35"/>
            </a:endParaRPr>
          </a:p>
          <a:p>
            <a:endParaRPr lang="fr-FR" sz="1400" dirty="0">
              <a:latin typeface="F35"/>
            </a:endParaRPr>
          </a:p>
          <a:p>
            <a:endParaRPr lang="fr-FR" sz="1400" dirty="0">
              <a:latin typeface="F35"/>
            </a:endParaRPr>
          </a:p>
          <a:p>
            <a:endParaRPr lang="fr-FR" sz="1400" dirty="0">
              <a:latin typeface="F35"/>
            </a:endParaRPr>
          </a:p>
          <a:p>
            <a:r>
              <a:rPr lang="fr-FR" sz="1400" b="1" dirty="0">
                <a:latin typeface="F35"/>
              </a:rPr>
              <a:t>2.1.1.1.2 Les vues axonométriques </a:t>
            </a:r>
          </a:p>
          <a:p>
            <a:r>
              <a:rPr lang="fr-FR" sz="1400" dirty="0">
                <a:latin typeface="F15"/>
              </a:rPr>
              <a:t>Elles sont constituées d'une projection unique. Ce sont les perspectives isométriques, dimétriques et anisomé-triques.</a:t>
            </a:r>
          </a:p>
          <a:p>
            <a:endParaRPr lang="fr-FR" sz="1400" dirty="0">
              <a:latin typeface="F35"/>
            </a:endParaRPr>
          </a:p>
        </p:txBody>
      </p:sp>
      <p:pic>
        <p:nvPicPr>
          <p:cNvPr id="3" name="Image 2"/>
          <p:cNvPicPr>
            <a:picLocks noChangeAspect="1"/>
          </p:cNvPicPr>
          <p:nvPr/>
        </p:nvPicPr>
        <p:blipFill>
          <a:blip r:embed="rId2"/>
          <a:stretch>
            <a:fillRect/>
          </a:stretch>
        </p:blipFill>
        <p:spPr>
          <a:xfrm>
            <a:off x="1677101" y="538507"/>
            <a:ext cx="2476629" cy="1245407"/>
          </a:xfrm>
          <a:prstGeom prst="rect">
            <a:avLst/>
          </a:prstGeom>
        </p:spPr>
      </p:pic>
      <p:pic>
        <p:nvPicPr>
          <p:cNvPr id="4" name="Image 3"/>
          <p:cNvPicPr>
            <a:picLocks noChangeAspect="1"/>
          </p:cNvPicPr>
          <p:nvPr/>
        </p:nvPicPr>
        <p:blipFill>
          <a:blip r:embed="rId3"/>
          <a:stretch>
            <a:fillRect/>
          </a:stretch>
        </p:blipFill>
        <p:spPr>
          <a:xfrm>
            <a:off x="1677101" y="2059662"/>
            <a:ext cx="2476629" cy="1322635"/>
          </a:xfrm>
          <a:prstGeom prst="rect">
            <a:avLst/>
          </a:prstGeom>
        </p:spPr>
      </p:pic>
      <p:pic>
        <p:nvPicPr>
          <p:cNvPr id="5" name="Image 4"/>
          <p:cNvPicPr>
            <a:picLocks noChangeAspect="1"/>
          </p:cNvPicPr>
          <p:nvPr/>
        </p:nvPicPr>
        <p:blipFill>
          <a:blip r:embed="rId4"/>
          <a:stretch>
            <a:fillRect/>
          </a:stretch>
        </p:blipFill>
        <p:spPr>
          <a:xfrm>
            <a:off x="1677102" y="3777241"/>
            <a:ext cx="2472400" cy="1324597"/>
          </a:xfrm>
          <a:prstGeom prst="rect">
            <a:avLst/>
          </a:prstGeom>
        </p:spPr>
      </p:pic>
      <p:pic>
        <p:nvPicPr>
          <p:cNvPr id="6" name="Image 5"/>
          <p:cNvPicPr>
            <a:picLocks noChangeAspect="1"/>
          </p:cNvPicPr>
          <p:nvPr/>
        </p:nvPicPr>
        <p:blipFill>
          <a:blip r:embed="rId5"/>
          <a:stretch>
            <a:fillRect/>
          </a:stretch>
        </p:blipFill>
        <p:spPr>
          <a:xfrm>
            <a:off x="1705382" y="5306938"/>
            <a:ext cx="2507087" cy="1553234"/>
          </a:xfrm>
          <a:prstGeom prst="rect">
            <a:avLst/>
          </a:prstGeom>
        </p:spPr>
      </p:pic>
    </p:spTree>
    <p:extLst>
      <p:ext uri="{BB962C8B-B14F-4D97-AF65-F5344CB8AC3E}">
        <p14:creationId xmlns:p14="http://schemas.microsoft.com/office/powerpoint/2010/main" val="20109864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19125" y="0"/>
            <a:ext cx="11509908" cy="9202519"/>
          </a:xfrm>
          <a:prstGeom prst="rect">
            <a:avLst/>
          </a:prstGeom>
        </p:spPr>
        <p:txBody>
          <a:bodyPr wrap="square">
            <a:spAutoFit/>
          </a:bodyPr>
          <a:lstStyle/>
          <a:p>
            <a:r>
              <a:rPr lang="fr-FR" b="1" dirty="0">
                <a:latin typeface="F38"/>
              </a:rPr>
              <a:t>2.1 </a:t>
            </a:r>
            <a:r>
              <a:rPr lang="fr-FR" b="1" u="sng" dirty="0">
                <a:latin typeface="F38"/>
              </a:rPr>
              <a:t>Les diérents types de projections</a:t>
            </a:r>
          </a:p>
          <a:p>
            <a:endParaRPr lang="fr-FR" b="1" dirty="0">
              <a:latin typeface="F25"/>
            </a:endParaRPr>
          </a:p>
          <a:p>
            <a:r>
              <a:rPr lang="fr-FR" b="1" dirty="0">
                <a:latin typeface="F25"/>
              </a:rPr>
              <a:t>2.1.1.1.2 </a:t>
            </a:r>
            <a:r>
              <a:rPr lang="fr-FR" b="1" u="sng" dirty="0">
                <a:latin typeface="F25"/>
              </a:rPr>
              <a:t>Les projections axonométriques </a:t>
            </a:r>
          </a:p>
          <a:p>
            <a:endParaRPr lang="fr-FR" sz="1400" b="0" i="0" dirty="0">
              <a:solidFill>
                <a:srgbClr val="BDC1C6"/>
              </a:solidFill>
              <a:effectLst/>
              <a:latin typeface="arial" panose="020B0604020202020204" pitchFamily="34" charset="0"/>
            </a:endParaRPr>
          </a:p>
          <a:p>
            <a:pPr marL="285750" indent="-285750">
              <a:buFont typeface="Wingdings" panose="05000000000000000000" pitchFamily="2" charset="2"/>
              <a:buChar char="q"/>
            </a:pPr>
            <a:r>
              <a:rPr lang="fr-FR" sz="2400" i="0" dirty="0">
                <a:solidFill>
                  <a:schemeClr val="accent4"/>
                </a:solidFill>
                <a:effectLst/>
                <a:latin typeface="Times New Roman" panose="02020603050405020304" pitchFamily="18" charset="0"/>
                <a:cs typeface="Times New Roman" panose="02020603050405020304" pitchFamily="18" charset="0"/>
              </a:rPr>
              <a:t>La perspective </a:t>
            </a:r>
            <a:r>
              <a:rPr lang="fr-FR" sz="2400" i="0" u="sng" dirty="0">
                <a:solidFill>
                  <a:srgbClr val="FF0000"/>
                </a:solidFill>
                <a:effectLst/>
                <a:latin typeface="Times New Roman" panose="02020603050405020304" pitchFamily="18" charset="0"/>
                <a:cs typeface="Times New Roman" panose="02020603050405020304" pitchFamily="18" charset="0"/>
              </a:rPr>
              <a:t>isométrique </a:t>
            </a:r>
            <a:r>
              <a:rPr lang="fr-FR" sz="2400" i="0" dirty="0">
                <a:solidFill>
                  <a:schemeClr val="accent4"/>
                </a:solidFill>
                <a:effectLst/>
                <a:latin typeface="Times New Roman" panose="02020603050405020304" pitchFamily="18" charset="0"/>
                <a:cs typeface="Times New Roman" panose="02020603050405020304" pitchFamily="18" charset="0"/>
              </a:rPr>
              <a:t>est une méthode de représentation en perspective dans laquelle les trois directions de l'espace sont représentées avec la même importance</a:t>
            </a:r>
            <a:r>
              <a:rPr lang="fr-FR" sz="2400" b="1" i="0" dirty="0">
                <a:solidFill>
                  <a:schemeClr val="accent4"/>
                </a:solidFill>
                <a:effectLst/>
                <a:latin typeface="Times New Roman" panose="02020603050405020304" pitchFamily="18" charset="0"/>
                <a:cs typeface="Times New Roman" panose="02020603050405020304" pitchFamily="18" charset="0"/>
              </a:rPr>
              <a:t>.</a:t>
            </a:r>
          </a:p>
          <a:p>
            <a:endParaRPr lang="fr-FR" sz="2400" b="1" dirty="0">
              <a:solidFill>
                <a:schemeClr val="accent4"/>
              </a:solidFill>
              <a:latin typeface="Times New Roman" panose="02020603050405020304" pitchFamily="18" charset="0"/>
              <a:cs typeface="Times New Roman" panose="02020603050405020304" pitchFamily="18" charset="0"/>
            </a:endParaRPr>
          </a:p>
          <a:p>
            <a:r>
              <a:rPr lang="fr-FR" sz="2400" i="0" dirty="0">
                <a:solidFill>
                  <a:schemeClr val="accent4"/>
                </a:solidFill>
                <a:effectLst/>
                <a:latin typeface="Times New Roman" panose="02020603050405020304" pitchFamily="18" charset="0"/>
                <a:cs typeface="Times New Roman" panose="02020603050405020304" pitchFamily="18" charset="0"/>
              </a:rPr>
              <a:t>                      -  </a:t>
            </a:r>
            <a:r>
              <a:rPr lang="fr-FR" sz="2400" dirty="0">
                <a:solidFill>
                  <a:schemeClr val="accent4"/>
                </a:solidFill>
                <a:latin typeface="Times New Roman" panose="02020603050405020304" pitchFamily="18" charset="0"/>
                <a:cs typeface="Times New Roman" panose="02020603050405020304" pitchFamily="18" charset="0"/>
              </a:rPr>
              <a:t>La projection isométrique </a:t>
            </a:r>
            <a:r>
              <a:rPr lang="fr-FR" sz="2400" i="0" dirty="0">
                <a:solidFill>
                  <a:schemeClr val="accent4"/>
                </a:solidFill>
                <a:effectLst/>
                <a:latin typeface="Times New Roman" panose="02020603050405020304" pitchFamily="18" charset="0"/>
                <a:cs typeface="Times New Roman" panose="02020603050405020304" pitchFamily="18" charset="0"/>
              </a:rPr>
              <a:t>est une représentation en perspective d'un objet, où les trois arêtes principales (qui correspondent aux trois dimensions de l'objet) forment des angles égaux de 120°. </a:t>
            </a:r>
          </a:p>
          <a:p>
            <a:endParaRPr lang="fr-FR" sz="2400" i="0" dirty="0">
              <a:solidFill>
                <a:schemeClr val="accent4"/>
              </a:solidFill>
              <a:effectLst/>
              <a:latin typeface="Times New Roman" panose="02020603050405020304" pitchFamily="18" charset="0"/>
              <a:cs typeface="Times New Roman" panose="02020603050405020304" pitchFamily="18" charset="0"/>
            </a:endParaRPr>
          </a:p>
          <a:p>
            <a:endParaRPr lang="fr-FR" sz="2400" dirty="0">
              <a:solidFill>
                <a:schemeClr val="accent4"/>
              </a:solidFill>
              <a:latin typeface="Times New Roman" panose="02020603050405020304" pitchFamily="18" charset="0"/>
              <a:cs typeface="Times New Roman" panose="02020603050405020304" pitchFamily="18" charset="0"/>
            </a:endParaRPr>
          </a:p>
          <a:p>
            <a:endParaRPr lang="fr-FR" sz="2400" dirty="0">
              <a:solidFill>
                <a:schemeClr val="accent4"/>
              </a:solidFill>
              <a:latin typeface="Times New Roman" panose="02020603050405020304" pitchFamily="18" charset="0"/>
              <a:cs typeface="Times New Roman" panose="02020603050405020304" pitchFamily="18" charset="0"/>
            </a:endParaRPr>
          </a:p>
          <a:p>
            <a:endParaRPr lang="fr-FR" sz="2400" dirty="0">
              <a:solidFill>
                <a:schemeClr val="accent4"/>
              </a:solidFill>
              <a:latin typeface="Times New Roman" panose="02020603050405020304" pitchFamily="18" charset="0"/>
              <a:cs typeface="Times New Roman" panose="02020603050405020304" pitchFamily="18" charset="0"/>
            </a:endParaRPr>
          </a:p>
          <a:p>
            <a:endParaRPr lang="fr-FR" sz="2400" dirty="0">
              <a:solidFill>
                <a:schemeClr val="accent4"/>
              </a:solidFill>
              <a:latin typeface="Times New Roman" panose="02020603050405020304" pitchFamily="18" charset="0"/>
              <a:cs typeface="Times New Roman" panose="02020603050405020304" pitchFamily="18" charset="0"/>
            </a:endParaRPr>
          </a:p>
          <a:p>
            <a:endParaRPr lang="fr-FR" sz="2400" i="0" dirty="0">
              <a:solidFill>
                <a:schemeClr val="accent4"/>
              </a:solidFill>
              <a:effectLst/>
              <a:latin typeface="Times New Roman" panose="02020603050405020304" pitchFamily="18" charset="0"/>
              <a:cs typeface="Times New Roman" panose="02020603050405020304" pitchFamily="18" charset="0"/>
            </a:endParaRPr>
          </a:p>
          <a:p>
            <a:pPr algn="ctr"/>
            <a:r>
              <a:rPr lang="fr-FR" sz="2400" b="1" dirty="0">
                <a:solidFill>
                  <a:schemeClr val="accent4"/>
                </a:solidFill>
                <a:latin typeface="Times New Roman" panose="02020603050405020304" pitchFamily="18" charset="0"/>
                <a:cs typeface="Times New Roman" panose="02020603050405020304" pitchFamily="18" charset="0"/>
              </a:rPr>
              <a:t>        </a:t>
            </a:r>
          </a:p>
          <a:p>
            <a:pPr algn="ctr"/>
            <a:r>
              <a:rPr lang="fr-FR" sz="2400" b="1" dirty="0">
                <a:solidFill>
                  <a:schemeClr val="accent4"/>
                </a:solidFill>
                <a:latin typeface="Times New Roman" panose="02020603050405020304" pitchFamily="18" charset="0"/>
                <a:cs typeface="Times New Roman" panose="02020603050405020304" pitchFamily="18" charset="0"/>
              </a:rPr>
              <a:t> </a:t>
            </a:r>
            <a:r>
              <a:rPr lang="fr-FR" sz="2400" b="1" u="sng" dirty="0">
                <a:latin typeface="Times New Roman" panose="02020603050405020304" pitchFamily="18" charset="0"/>
                <a:cs typeface="Times New Roman" panose="02020603050405020304" pitchFamily="18" charset="0"/>
              </a:rPr>
              <a:t>Exemple : </a:t>
            </a:r>
            <a:r>
              <a:rPr lang="fr-FR" sz="2400" b="1" dirty="0">
                <a:latin typeface="Times New Roman" panose="02020603050405020304" pitchFamily="18" charset="0"/>
                <a:cs typeface="Times New Roman" panose="02020603050405020304" pitchFamily="18" charset="0"/>
              </a:rPr>
              <a:t>Un triangle isométrique est un triangle dont les trois dimensions                       sont égaux </a:t>
            </a:r>
            <a:endParaRPr lang="fr-FR" sz="2400" b="1" i="0" dirty="0">
              <a:effectLst/>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endParaRPr lang="fr-FR" sz="2400" b="1" i="0" dirty="0">
              <a:solidFill>
                <a:schemeClr val="accent4"/>
              </a:solidFill>
              <a:effectLst/>
              <a:latin typeface="Times New Roman" panose="02020603050405020304" pitchFamily="18" charset="0"/>
              <a:cs typeface="Times New Roman" panose="02020603050405020304" pitchFamily="18" charset="0"/>
            </a:endParaRPr>
          </a:p>
          <a:p>
            <a:endParaRPr lang="fr-FR" sz="1400" dirty="0">
              <a:latin typeface="F35"/>
            </a:endParaRPr>
          </a:p>
          <a:p>
            <a:endParaRPr lang="fr-FR" sz="1400" dirty="0">
              <a:latin typeface="F35"/>
            </a:endParaRPr>
          </a:p>
          <a:p>
            <a:endParaRPr lang="fr-FR" sz="1400" dirty="0">
              <a:latin typeface="F35"/>
            </a:endParaRPr>
          </a:p>
          <a:p>
            <a:endParaRPr lang="fr-FR" sz="1400" dirty="0">
              <a:latin typeface="F35"/>
            </a:endParaRPr>
          </a:p>
          <a:p>
            <a:endParaRPr lang="fr-FR" sz="1400" dirty="0">
              <a:latin typeface="F35"/>
            </a:endParaRPr>
          </a:p>
          <a:p>
            <a:endParaRPr lang="fr-FR" sz="1400" dirty="0">
              <a:latin typeface="F35"/>
            </a:endParaRPr>
          </a:p>
          <a:p>
            <a:endParaRPr lang="fr-FR" sz="1400" dirty="0">
              <a:latin typeface="F35"/>
            </a:endParaRPr>
          </a:p>
          <a:p>
            <a:r>
              <a:rPr lang="fr-FR" sz="1400" b="1" dirty="0">
                <a:latin typeface="F35"/>
              </a:rPr>
              <a:t>2.1.1.1.2 Les vues axonométriques </a:t>
            </a:r>
          </a:p>
          <a:p>
            <a:r>
              <a:rPr lang="fr-FR" sz="1400" dirty="0">
                <a:latin typeface="F15"/>
              </a:rPr>
              <a:t>Elles sont constituées d'une projection unique. Ce sont les perspectives isométriques, dimétriques et anisomé-triques.</a:t>
            </a:r>
          </a:p>
          <a:p>
            <a:endParaRPr lang="fr-FR" sz="1400" dirty="0">
              <a:latin typeface="F35"/>
            </a:endParaRPr>
          </a:p>
        </p:txBody>
      </p:sp>
      <p:pic>
        <p:nvPicPr>
          <p:cNvPr id="8" name="Image 7" descr="Une image contenant croquis, ligne, diagramme, origami&#10;&#10;Description générée automatiquement">
            <a:extLst>
              <a:ext uri="{FF2B5EF4-FFF2-40B4-BE49-F238E27FC236}">
                <a16:creationId xmlns:a16="http://schemas.microsoft.com/office/drawing/2014/main" id="{8072E0A2-FFC3-4517-B1EE-B6DF3FF3FBDC}"/>
              </a:ext>
            </a:extLst>
          </p:cNvPr>
          <p:cNvPicPr>
            <a:picLocks noChangeAspect="1"/>
          </p:cNvPicPr>
          <p:nvPr/>
        </p:nvPicPr>
        <p:blipFill>
          <a:blip r:embed="rId2"/>
          <a:stretch>
            <a:fillRect/>
          </a:stretch>
        </p:blipFill>
        <p:spPr>
          <a:xfrm>
            <a:off x="4234069" y="3319669"/>
            <a:ext cx="5064227" cy="2126975"/>
          </a:xfrm>
          <a:prstGeom prst="rect">
            <a:avLst/>
          </a:prstGeom>
        </p:spPr>
      </p:pic>
    </p:spTree>
    <p:extLst>
      <p:ext uri="{BB962C8B-B14F-4D97-AF65-F5344CB8AC3E}">
        <p14:creationId xmlns:p14="http://schemas.microsoft.com/office/powerpoint/2010/main" val="27059449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 7" descr="Une image contenant texte, capture d’écran, lettre, cercle&#10;&#10;Description générée automatiquement">
            <a:extLst>
              <a:ext uri="{FF2B5EF4-FFF2-40B4-BE49-F238E27FC236}">
                <a16:creationId xmlns:a16="http://schemas.microsoft.com/office/drawing/2014/main" id="{A4015808-0177-4435-A0B2-01FA6FD1DC49}"/>
              </a:ext>
            </a:extLst>
          </p:cNvPr>
          <p:cNvPicPr>
            <a:picLocks noChangeAspect="1"/>
          </p:cNvPicPr>
          <p:nvPr/>
        </p:nvPicPr>
        <p:blipFill>
          <a:blip r:embed="rId2"/>
          <a:stretch>
            <a:fillRect/>
          </a:stretch>
        </p:blipFill>
        <p:spPr>
          <a:xfrm>
            <a:off x="8136244" y="244469"/>
            <a:ext cx="3784083" cy="2838062"/>
          </a:xfrm>
          <a:prstGeom prst="rect">
            <a:avLst/>
          </a:prstGeom>
        </p:spPr>
      </p:pic>
      <p:sp>
        <p:nvSpPr>
          <p:cNvPr id="2" name="Rectangle 1"/>
          <p:cNvSpPr/>
          <p:nvPr/>
        </p:nvSpPr>
        <p:spPr>
          <a:xfrm>
            <a:off x="4152872" y="181001"/>
            <a:ext cx="6853727" cy="6432530"/>
          </a:xfrm>
          <a:prstGeom prst="rect">
            <a:avLst/>
          </a:prstGeom>
        </p:spPr>
        <p:txBody>
          <a:bodyPr wrap="square">
            <a:spAutoFit/>
          </a:bodyPr>
          <a:lstStyle/>
          <a:p>
            <a:r>
              <a:rPr lang="fr-FR" b="1" dirty="0">
                <a:latin typeface="F35"/>
              </a:rPr>
              <a:t>2.1.1.1.3 Les plans cotés</a:t>
            </a:r>
          </a:p>
          <a:p>
            <a:r>
              <a:rPr lang="fr-FR" sz="1400" dirty="0">
                <a:latin typeface="F15"/>
              </a:rPr>
              <a:t>Ils sont constitués d'une seule projection en plan avec l'indication des altitudes.</a:t>
            </a:r>
          </a:p>
          <a:p>
            <a:r>
              <a:rPr lang="fr-FR" sz="1400" dirty="0">
                <a:latin typeface="F15"/>
              </a:rPr>
              <a:t>Exemple type : les cartes topographiques type IGN.</a:t>
            </a:r>
          </a:p>
          <a:p>
            <a:endParaRPr lang="fr-FR" b="1" dirty="0">
              <a:latin typeface="F15"/>
            </a:endParaRPr>
          </a:p>
          <a:p>
            <a:endParaRPr lang="fr-FR" b="1" dirty="0">
              <a:latin typeface="F15"/>
            </a:endParaRPr>
          </a:p>
          <a:p>
            <a:endParaRPr lang="fr-FR" b="1" dirty="0">
              <a:latin typeface="F15"/>
            </a:endParaRPr>
          </a:p>
          <a:p>
            <a:endParaRPr lang="fr-FR" b="1" dirty="0">
              <a:latin typeface="F15"/>
            </a:endParaRPr>
          </a:p>
          <a:p>
            <a:endParaRPr lang="fr-FR" b="1" dirty="0">
              <a:latin typeface="F15"/>
            </a:endParaRPr>
          </a:p>
          <a:p>
            <a:r>
              <a:rPr lang="fr-FR" b="1" dirty="0">
                <a:latin typeface="F25"/>
              </a:rPr>
              <a:t>2.1.2 </a:t>
            </a:r>
            <a:r>
              <a:rPr lang="fr-FR" b="1" u="sng" dirty="0">
                <a:latin typeface="F25"/>
              </a:rPr>
              <a:t>Les projections obliques</a:t>
            </a:r>
          </a:p>
          <a:p>
            <a:r>
              <a:rPr lang="fr-FR" sz="1400" dirty="0">
                <a:latin typeface="F15"/>
              </a:rPr>
              <a:t>Conditions : les projetantes sont obliques par rapport au plan de projection</a:t>
            </a:r>
            <a:endParaRPr lang="fr-FR" dirty="0">
              <a:latin typeface="F35"/>
            </a:endParaRPr>
          </a:p>
          <a:p>
            <a:endParaRPr lang="fr-FR" dirty="0">
              <a:latin typeface="F35"/>
            </a:endParaRPr>
          </a:p>
          <a:p>
            <a:endParaRPr lang="fr-FR" dirty="0">
              <a:latin typeface="F35"/>
            </a:endParaRPr>
          </a:p>
          <a:p>
            <a:endParaRPr lang="fr-FR" dirty="0">
              <a:latin typeface="F35"/>
            </a:endParaRPr>
          </a:p>
          <a:p>
            <a:endParaRPr lang="fr-FR" dirty="0">
              <a:latin typeface="F35"/>
            </a:endParaRPr>
          </a:p>
          <a:p>
            <a:r>
              <a:rPr lang="fr-FR" b="1" dirty="0">
                <a:latin typeface="F35"/>
              </a:rPr>
              <a:t>2.1.2.1 Les perspectives cavalières</a:t>
            </a:r>
          </a:p>
          <a:p>
            <a:r>
              <a:rPr lang="fr-FR" b="1" i="0" dirty="0">
                <a:solidFill>
                  <a:schemeClr val="accent4"/>
                </a:solidFill>
                <a:effectLst/>
                <a:latin typeface="Times New Roman" panose="02020603050405020304" pitchFamily="18" charset="0"/>
                <a:cs typeface="Times New Roman" panose="02020603050405020304" pitchFamily="18" charset="0"/>
              </a:rPr>
              <a:t>Dans un plan, une représentation en perspective cavalière conserve le parallélisme et l'alignement mais ne conserve pas les angles. Les arêtes qui joignent deux faces parallèles sont parallèles et de même longueur. Les éléments visibles sont représentés en traits pleins ; les éléments cachés en pointillé.</a:t>
            </a:r>
            <a:endParaRPr lang="fr-FR" b="1" dirty="0">
              <a:solidFill>
                <a:schemeClr val="accent4"/>
              </a:solidFill>
              <a:latin typeface="Times New Roman" panose="02020603050405020304" pitchFamily="18" charset="0"/>
              <a:cs typeface="Times New Roman" panose="02020603050405020304" pitchFamily="18" charset="0"/>
            </a:endParaRPr>
          </a:p>
          <a:p>
            <a:endParaRPr lang="fr-FR" b="1" dirty="0">
              <a:latin typeface="F35"/>
            </a:endParaRPr>
          </a:p>
          <a:p>
            <a:r>
              <a:rPr lang="fr-FR" b="1" dirty="0">
                <a:latin typeface="F35"/>
              </a:rPr>
              <a:t>2.1.2.2 Le tracé des ombres</a:t>
            </a:r>
          </a:p>
          <a:p>
            <a:r>
              <a:rPr lang="fr-FR" sz="1400" dirty="0">
                <a:latin typeface="F15"/>
              </a:rPr>
              <a:t>dit au soleil en tenant compte du temps sidéral à un endroit précis de notre terre (latitude, longitude, altitude).</a:t>
            </a:r>
            <a:endParaRPr lang="fr-FR" sz="1400" dirty="0"/>
          </a:p>
        </p:txBody>
      </p:sp>
      <p:pic>
        <p:nvPicPr>
          <p:cNvPr id="3" name="Image 2"/>
          <p:cNvPicPr>
            <a:picLocks noChangeAspect="1"/>
          </p:cNvPicPr>
          <p:nvPr/>
        </p:nvPicPr>
        <p:blipFill>
          <a:blip r:embed="rId3"/>
          <a:stretch>
            <a:fillRect/>
          </a:stretch>
        </p:blipFill>
        <p:spPr>
          <a:xfrm>
            <a:off x="1956988" y="76912"/>
            <a:ext cx="2195884" cy="1709159"/>
          </a:xfrm>
          <a:prstGeom prst="rect">
            <a:avLst/>
          </a:prstGeom>
        </p:spPr>
      </p:pic>
      <p:pic>
        <p:nvPicPr>
          <p:cNvPr id="4" name="Image 3"/>
          <p:cNvPicPr>
            <a:picLocks noChangeAspect="1"/>
          </p:cNvPicPr>
          <p:nvPr/>
        </p:nvPicPr>
        <p:blipFill>
          <a:blip r:embed="rId4"/>
          <a:stretch>
            <a:fillRect/>
          </a:stretch>
        </p:blipFill>
        <p:spPr>
          <a:xfrm>
            <a:off x="1956988" y="1866347"/>
            <a:ext cx="2195884" cy="1717434"/>
          </a:xfrm>
          <a:prstGeom prst="rect">
            <a:avLst/>
          </a:prstGeom>
        </p:spPr>
      </p:pic>
      <p:pic>
        <p:nvPicPr>
          <p:cNvPr id="5" name="Image 4"/>
          <p:cNvPicPr>
            <a:picLocks noChangeAspect="1"/>
          </p:cNvPicPr>
          <p:nvPr/>
        </p:nvPicPr>
        <p:blipFill>
          <a:blip r:embed="rId5"/>
          <a:stretch>
            <a:fillRect/>
          </a:stretch>
        </p:blipFill>
        <p:spPr>
          <a:xfrm>
            <a:off x="59437" y="3664057"/>
            <a:ext cx="4093435" cy="1564150"/>
          </a:xfrm>
          <a:prstGeom prst="rect">
            <a:avLst/>
          </a:prstGeom>
        </p:spPr>
      </p:pic>
      <p:pic>
        <p:nvPicPr>
          <p:cNvPr id="6" name="Image 5"/>
          <p:cNvPicPr>
            <a:picLocks noChangeAspect="1"/>
          </p:cNvPicPr>
          <p:nvPr/>
        </p:nvPicPr>
        <p:blipFill>
          <a:blip r:embed="rId6"/>
          <a:stretch>
            <a:fillRect/>
          </a:stretch>
        </p:blipFill>
        <p:spPr>
          <a:xfrm>
            <a:off x="1490252" y="5308483"/>
            <a:ext cx="2662620" cy="1484515"/>
          </a:xfrm>
          <a:prstGeom prst="rect">
            <a:avLst/>
          </a:prstGeom>
        </p:spPr>
      </p:pic>
    </p:spTree>
    <p:extLst>
      <p:ext uri="{BB962C8B-B14F-4D97-AF65-F5344CB8AC3E}">
        <p14:creationId xmlns:p14="http://schemas.microsoft.com/office/powerpoint/2010/main" val="42629905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2948879" y="98642"/>
            <a:ext cx="1555091" cy="1525060"/>
          </a:xfrm>
          <a:prstGeom prst="rect">
            <a:avLst/>
          </a:prstGeom>
        </p:spPr>
      </p:pic>
      <p:pic>
        <p:nvPicPr>
          <p:cNvPr id="3" name="Image 2"/>
          <p:cNvPicPr>
            <a:picLocks noChangeAspect="1"/>
          </p:cNvPicPr>
          <p:nvPr/>
        </p:nvPicPr>
        <p:blipFill>
          <a:blip r:embed="rId3"/>
          <a:stretch>
            <a:fillRect/>
          </a:stretch>
        </p:blipFill>
        <p:spPr>
          <a:xfrm>
            <a:off x="2714072" y="1673023"/>
            <a:ext cx="1789898" cy="1267398"/>
          </a:xfrm>
          <a:prstGeom prst="rect">
            <a:avLst/>
          </a:prstGeom>
        </p:spPr>
      </p:pic>
      <p:pic>
        <p:nvPicPr>
          <p:cNvPr id="4" name="Image 3"/>
          <p:cNvPicPr>
            <a:picLocks noChangeAspect="1"/>
          </p:cNvPicPr>
          <p:nvPr/>
        </p:nvPicPr>
        <p:blipFill>
          <a:blip r:embed="rId4"/>
          <a:stretch>
            <a:fillRect/>
          </a:stretch>
        </p:blipFill>
        <p:spPr>
          <a:xfrm>
            <a:off x="247733" y="2989742"/>
            <a:ext cx="4256237" cy="1274346"/>
          </a:xfrm>
          <a:prstGeom prst="rect">
            <a:avLst/>
          </a:prstGeom>
        </p:spPr>
      </p:pic>
      <p:pic>
        <p:nvPicPr>
          <p:cNvPr id="5" name="Image 4"/>
          <p:cNvPicPr>
            <a:picLocks noChangeAspect="1"/>
          </p:cNvPicPr>
          <p:nvPr/>
        </p:nvPicPr>
        <p:blipFill>
          <a:blip r:embed="rId5"/>
          <a:stretch>
            <a:fillRect/>
          </a:stretch>
        </p:blipFill>
        <p:spPr>
          <a:xfrm>
            <a:off x="2775308" y="4313409"/>
            <a:ext cx="1728662" cy="1290436"/>
          </a:xfrm>
          <a:prstGeom prst="rect">
            <a:avLst/>
          </a:prstGeom>
        </p:spPr>
      </p:pic>
      <p:pic>
        <p:nvPicPr>
          <p:cNvPr id="6" name="Image 5"/>
          <p:cNvPicPr>
            <a:picLocks noChangeAspect="1"/>
          </p:cNvPicPr>
          <p:nvPr/>
        </p:nvPicPr>
        <p:blipFill>
          <a:blip r:embed="rId6"/>
          <a:stretch>
            <a:fillRect/>
          </a:stretch>
        </p:blipFill>
        <p:spPr>
          <a:xfrm>
            <a:off x="1349813" y="5683188"/>
            <a:ext cx="3154157" cy="1174812"/>
          </a:xfrm>
          <a:prstGeom prst="rect">
            <a:avLst/>
          </a:prstGeom>
        </p:spPr>
      </p:pic>
      <p:sp>
        <p:nvSpPr>
          <p:cNvPr id="7" name="Rectangle 6"/>
          <p:cNvSpPr/>
          <p:nvPr/>
        </p:nvSpPr>
        <p:spPr>
          <a:xfrm>
            <a:off x="4714429" y="98642"/>
            <a:ext cx="6096000" cy="5909310"/>
          </a:xfrm>
          <a:prstGeom prst="rect">
            <a:avLst/>
          </a:prstGeom>
        </p:spPr>
        <p:txBody>
          <a:bodyPr>
            <a:spAutoFit/>
          </a:bodyPr>
          <a:lstStyle/>
          <a:p>
            <a:r>
              <a:rPr lang="fr-FR" dirty="0">
                <a:latin typeface="F35"/>
              </a:rPr>
              <a:t>2.1.2.3 Les projections coniques sur un plan horizontal</a:t>
            </a:r>
          </a:p>
          <a:p>
            <a:r>
              <a:rPr lang="fr-FR" dirty="0">
                <a:latin typeface="F35"/>
              </a:rPr>
              <a:t>ou vertical</a:t>
            </a:r>
          </a:p>
          <a:p>
            <a:r>
              <a:rPr lang="fr-FR" dirty="0">
                <a:latin typeface="F15"/>
              </a:rPr>
              <a:t>les perspectives frontales ou sur angle, le tracé des ombres dit au flambeau</a:t>
            </a:r>
          </a:p>
          <a:p>
            <a:endParaRPr lang="fr-FR" dirty="0">
              <a:latin typeface="F15"/>
            </a:endParaRPr>
          </a:p>
          <a:p>
            <a:endParaRPr lang="fr-FR" dirty="0">
              <a:latin typeface="F15"/>
            </a:endParaRPr>
          </a:p>
          <a:p>
            <a:endParaRPr lang="fr-FR" dirty="0">
              <a:latin typeface="F15"/>
            </a:endParaRPr>
          </a:p>
          <a:p>
            <a:r>
              <a:rPr lang="fr-FR" dirty="0">
                <a:latin typeface="F15"/>
              </a:rPr>
              <a:t>Les projections coniques sur un plan horizontal ou vertical</a:t>
            </a:r>
          </a:p>
          <a:p>
            <a:endParaRPr lang="fr-FR" dirty="0">
              <a:latin typeface="F15"/>
            </a:endParaRPr>
          </a:p>
          <a:p>
            <a:endParaRPr lang="fr-FR" dirty="0">
              <a:latin typeface="F35"/>
            </a:endParaRPr>
          </a:p>
          <a:p>
            <a:endParaRPr lang="fr-FR" dirty="0">
              <a:latin typeface="F35"/>
            </a:endParaRPr>
          </a:p>
          <a:p>
            <a:endParaRPr lang="fr-FR" dirty="0">
              <a:latin typeface="F35"/>
            </a:endParaRPr>
          </a:p>
          <a:p>
            <a:r>
              <a:rPr lang="fr-FR" dirty="0">
                <a:latin typeface="F35"/>
              </a:rPr>
              <a:t>2.1.2.4 Les perspectives coniques, le tracé des ombres</a:t>
            </a:r>
          </a:p>
          <a:p>
            <a:r>
              <a:rPr lang="fr-FR" dirty="0">
                <a:latin typeface="F35"/>
              </a:rPr>
              <a:t>dit au flambeau (source ponctuelle).</a:t>
            </a:r>
          </a:p>
          <a:p>
            <a:endParaRPr lang="fr-FR" dirty="0">
              <a:latin typeface="F35"/>
            </a:endParaRPr>
          </a:p>
          <a:p>
            <a:endParaRPr lang="fr-FR" dirty="0">
              <a:latin typeface="F35"/>
            </a:endParaRPr>
          </a:p>
          <a:p>
            <a:endParaRPr lang="fr-FR" dirty="0">
              <a:latin typeface="F35"/>
            </a:endParaRPr>
          </a:p>
          <a:p>
            <a:endParaRPr lang="fr-FR" dirty="0">
              <a:latin typeface="F35"/>
            </a:endParaRPr>
          </a:p>
          <a:p>
            <a:endParaRPr lang="fr-FR" dirty="0">
              <a:latin typeface="F35"/>
            </a:endParaRPr>
          </a:p>
          <a:p>
            <a:r>
              <a:rPr lang="fr-FR" dirty="0">
                <a:latin typeface="F35"/>
              </a:rPr>
              <a:t>2.1.2.5 Les perspectives coniques sur un plan incliné</a:t>
            </a:r>
          </a:p>
          <a:p>
            <a:r>
              <a:rPr lang="fr-FR" dirty="0">
                <a:latin typeface="F15"/>
              </a:rPr>
              <a:t>Les perspectives plongeantes ou plafonnantes.</a:t>
            </a:r>
            <a:endParaRPr lang="fr-FR" dirty="0"/>
          </a:p>
        </p:txBody>
      </p:sp>
    </p:spTree>
    <p:extLst>
      <p:ext uri="{BB962C8B-B14F-4D97-AF65-F5344CB8AC3E}">
        <p14:creationId xmlns:p14="http://schemas.microsoft.com/office/powerpoint/2010/main" val="35815505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1632689" y="106689"/>
            <a:ext cx="8911744" cy="6622030"/>
          </a:xfrm>
          <a:prstGeom prst="rect">
            <a:avLst/>
          </a:prstGeom>
        </p:spPr>
      </p:pic>
    </p:spTree>
    <p:extLst>
      <p:ext uri="{BB962C8B-B14F-4D97-AF65-F5344CB8AC3E}">
        <p14:creationId xmlns:p14="http://schemas.microsoft.com/office/powerpoint/2010/main" val="9032690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963747" y="1047544"/>
            <a:ext cx="7084540" cy="5909310"/>
          </a:xfrm>
          <a:prstGeom prst="rect">
            <a:avLst/>
          </a:prstGeom>
        </p:spPr>
        <p:txBody>
          <a:bodyPr wrap="square">
            <a:spAutoFit/>
          </a:bodyPr>
          <a:lstStyle/>
          <a:p>
            <a:pPr algn="just"/>
            <a:r>
              <a:rPr lang="fr-FR" dirty="0">
                <a:latin typeface="F15"/>
              </a:rPr>
              <a:t>La projection orthogonale d'une gure sur un plan est formée</a:t>
            </a:r>
          </a:p>
          <a:p>
            <a:pPr algn="just"/>
            <a:r>
              <a:rPr lang="fr-FR" dirty="0">
                <a:latin typeface="F15"/>
              </a:rPr>
              <a:t>par la rencontre avec le plan des perpendiculaires abaissées des</a:t>
            </a:r>
          </a:p>
          <a:p>
            <a:pPr algn="just"/>
            <a:r>
              <a:rPr lang="fr-FR" dirty="0">
                <a:latin typeface="F15"/>
              </a:rPr>
              <a:t>diérents points de la gure sur ce plan. Une seule projection ne</a:t>
            </a:r>
          </a:p>
          <a:p>
            <a:pPr algn="just"/>
            <a:r>
              <a:rPr lang="fr-FR" dirty="0">
                <a:latin typeface="F15"/>
              </a:rPr>
              <a:t>sut pas pour représenter complètement un objet de l'espace.</a:t>
            </a:r>
          </a:p>
          <a:p>
            <a:pPr algn="just"/>
            <a:r>
              <a:rPr lang="fr-FR" dirty="0">
                <a:latin typeface="F15"/>
              </a:rPr>
              <a:t>En principe, tous les problèmes peuvent être résolus grâce à</a:t>
            </a:r>
          </a:p>
          <a:p>
            <a:pPr algn="just"/>
            <a:r>
              <a:rPr lang="fr-FR" dirty="0">
                <a:latin typeface="F15"/>
              </a:rPr>
              <a:t>deux projections orthogonales.</a:t>
            </a:r>
          </a:p>
          <a:p>
            <a:pPr algn="just"/>
            <a:r>
              <a:rPr lang="fr-FR" dirty="0">
                <a:latin typeface="F15"/>
              </a:rPr>
              <a:t>Pour représenter un objet dans ses formes et ses dimensions,</a:t>
            </a:r>
          </a:p>
          <a:p>
            <a:pPr algn="just"/>
            <a:r>
              <a:rPr lang="fr-FR" dirty="0">
                <a:latin typeface="F15"/>
              </a:rPr>
              <a:t>il est nécessaire d'avoir plus de deux projections sur des plans</a:t>
            </a:r>
          </a:p>
          <a:p>
            <a:pPr algn="just"/>
            <a:r>
              <a:rPr lang="fr-FR" dirty="0">
                <a:latin typeface="F15"/>
              </a:rPr>
              <a:t>coordonnés.</a:t>
            </a:r>
          </a:p>
          <a:p>
            <a:pPr algn="just"/>
            <a:r>
              <a:rPr lang="fr-FR" dirty="0">
                <a:latin typeface="F15"/>
              </a:rPr>
              <a:t>Pour le dessinateur, une vue d'un objet, c'est l'objet lui-même</a:t>
            </a:r>
          </a:p>
          <a:p>
            <a:pPr algn="just"/>
            <a:r>
              <a:rPr lang="fr-FR" dirty="0">
                <a:latin typeface="F15"/>
              </a:rPr>
              <a:t>aperçu directement, en dehors de toute considération de plan</a:t>
            </a:r>
          </a:p>
          <a:p>
            <a:pPr algn="just"/>
            <a:r>
              <a:rPr lang="fr-FR" dirty="0">
                <a:latin typeface="F15"/>
              </a:rPr>
              <a:t>de projection. S'il passe d'une vue à une autre, il n'imagine</a:t>
            </a:r>
          </a:p>
          <a:p>
            <a:pPr algn="just"/>
            <a:r>
              <a:rPr lang="fr-FR" dirty="0">
                <a:latin typeface="F15"/>
              </a:rPr>
              <a:t>pas un changement de plan de projection mais un changement</a:t>
            </a:r>
          </a:p>
          <a:p>
            <a:pPr algn="just"/>
            <a:r>
              <a:rPr lang="fr-FR" dirty="0">
                <a:latin typeface="F15"/>
              </a:rPr>
              <a:t>de position de l'observateur. Ainsi, quand il construit une vue</a:t>
            </a:r>
          </a:p>
          <a:p>
            <a:pPr algn="just"/>
            <a:r>
              <a:rPr lang="fr-FR" dirty="0">
                <a:latin typeface="F15"/>
              </a:rPr>
              <a:t>de face, il pense qu'il occupe une position face à l'objet, il fait</a:t>
            </a:r>
          </a:p>
          <a:p>
            <a:pPr algn="just"/>
            <a:r>
              <a:rPr lang="fr-FR" dirty="0">
                <a:latin typeface="F15"/>
              </a:rPr>
              <a:t>mentalement le changement de position qui donne à ses regards</a:t>
            </a:r>
          </a:p>
          <a:p>
            <a:pPr algn="just"/>
            <a:r>
              <a:rPr lang="fr-FR" dirty="0">
                <a:latin typeface="F15"/>
              </a:rPr>
              <a:t>la direction convenable. En architecture nous n'utilisons jamais</a:t>
            </a:r>
          </a:p>
          <a:p>
            <a:pPr algn="just"/>
            <a:r>
              <a:rPr lang="fr-FR" dirty="0">
                <a:latin typeface="F15"/>
              </a:rPr>
              <a:t>une vue de dessous contrairement aux mécaniciens, mais nous</a:t>
            </a:r>
          </a:p>
          <a:p>
            <a:pPr algn="just"/>
            <a:r>
              <a:rPr lang="fr-FR" dirty="0">
                <a:latin typeface="F15"/>
              </a:rPr>
              <a:t>utilisons un plan de coupe, de même pour représenter des éléments de structure comme des poutres, elles seront dessinées</a:t>
            </a:r>
          </a:p>
          <a:p>
            <a:pPr algn="just"/>
            <a:r>
              <a:rPr lang="fr-FR" dirty="0">
                <a:latin typeface="F15"/>
              </a:rPr>
              <a:t>en pointillé (pour nous ce sont des obstacles).</a:t>
            </a:r>
            <a:endParaRPr lang="fr-FR" dirty="0"/>
          </a:p>
        </p:txBody>
      </p:sp>
      <p:sp>
        <p:nvSpPr>
          <p:cNvPr id="3" name="Rectangle 2"/>
          <p:cNvSpPr/>
          <p:nvPr/>
        </p:nvSpPr>
        <p:spPr>
          <a:xfrm>
            <a:off x="2367701" y="72767"/>
            <a:ext cx="3801041" cy="369332"/>
          </a:xfrm>
          <a:prstGeom prst="rect">
            <a:avLst/>
          </a:prstGeom>
        </p:spPr>
        <p:txBody>
          <a:bodyPr wrap="none">
            <a:spAutoFit/>
          </a:bodyPr>
          <a:lstStyle/>
          <a:p>
            <a:r>
              <a:rPr lang="fr-FR" b="1" dirty="0">
                <a:latin typeface="F38"/>
              </a:rPr>
              <a:t>2.2 </a:t>
            </a:r>
            <a:r>
              <a:rPr lang="fr-FR" b="1" u="sng" dirty="0">
                <a:latin typeface="F38"/>
              </a:rPr>
              <a:t>Les projections orthogonales</a:t>
            </a:r>
            <a:endParaRPr lang="fr-FR" b="1" u="sng" dirty="0"/>
          </a:p>
        </p:txBody>
      </p:sp>
      <p:pic>
        <p:nvPicPr>
          <p:cNvPr id="4" name="Image 3"/>
          <p:cNvPicPr>
            <a:picLocks noChangeAspect="1"/>
          </p:cNvPicPr>
          <p:nvPr/>
        </p:nvPicPr>
        <p:blipFill>
          <a:blip r:embed="rId2"/>
          <a:stretch>
            <a:fillRect/>
          </a:stretch>
        </p:blipFill>
        <p:spPr>
          <a:xfrm>
            <a:off x="0" y="1227438"/>
            <a:ext cx="4963747" cy="1628260"/>
          </a:xfrm>
          <a:prstGeom prst="rect">
            <a:avLst/>
          </a:prstGeom>
        </p:spPr>
      </p:pic>
      <p:pic>
        <p:nvPicPr>
          <p:cNvPr id="5" name="Image 4"/>
          <p:cNvPicPr>
            <a:picLocks noChangeAspect="1"/>
          </p:cNvPicPr>
          <p:nvPr/>
        </p:nvPicPr>
        <p:blipFill>
          <a:blip r:embed="rId3"/>
          <a:stretch>
            <a:fillRect/>
          </a:stretch>
        </p:blipFill>
        <p:spPr>
          <a:xfrm>
            <a:off x="393840" y="2855698"/>
            <a:ext cx="3947721" cy="3857096"/>
          </a:xfrm>
          <a:prstGeom prst="rect">
            <a:avLst/>
          </a:prstGeom>
        </p:spPr>
      </p:pic>
    </p:spTree>
    <p:extLst>
      <p:ext uri="{BB962C8B-B14F-4D97-AF65-F5344CB8AC3E}">
        <p14:creationId xmlns:p14="http://schemas.microsoft.com/office/powerpoint/2010/main" val="6526504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3697" y="0"/>
            <a:ext cx="10239632" cy="2492990"/>
          </a:xfrm>
          <a:prstGeom prst="rect">
            <a:avLst/>
          </a:prstGeom>
        </p:spPr>
        <p:txBody>
          <a:bodyPr wrap="square">
            <a:spAutoFit/>
          </a:bodyPr>
          <a:lstStyle/>
          <a:p>
            <a:r>
              <a:rPr lang="fr-FR" b="1" dirty="0">
                <a:latin typeface="F26"/>
              </a:rPr>
              <a:t>Ces notes de cours sont orientées architecture</a:t>
            </a:r>
            <a:r>
              <a:rPr lang="fr-FR" sz="2800" dirty="0">
                <a:latin typeface="F26"/>
              </a:rPr>
              <a:t>.</a:t>
            </a:r>
          </a:p>
          <a:p>
            <a:r>
              <a:rPr lang="fr-FR" sz="1600" dirty="0">
                <a:latin typeface="F15"/>
              </a:rPr>
              <a:t>L'ingénieur en stabilité dessinera les poutres de l'étage inférieur (descente de charge), l'architecte</a:t>
            </a:r>
          </a:p>
          <a:p>
            <a:r>
              <a:rPr lang="fr-FR" sz="1600" dirty="0">
                <a:latin typeface="F15"/>
              </a:rPr>
              <a:t>dessinera les poutres qui supportent l'étage supérieur.</a:t>
            </a:r>
          </a:p>
          <a:p>
            <a:r>
              <a:rPr lang="fr-FR" sz="1600" dirty="0">
                <a:latin typeface="F15"/>
              </a:rPr>
              <a:t>En représentation graphique architecturale, nous dérogeons à plusieurs reprises aux les règles classiques</a:t>
            </a:r>
          </a:p>
          <a:p>
            <a:r>
              <a:rPr lang="fr-FR" sz="1600" dirty="0">
                <a:latin typeface="F15"/>
              </a:rPr>
              <a:t>de la géométrie descriptive.</a:t>
            </a:r>
          </a:p>
          <a:p>
            <a:r>
              <a:rPr lang="fr-FR" sz="1600" dirty="0">
                <a:latin typeface="F15"/>
              </a:rPr>
              <a:t>Pour ces raisons nous ne noterons pas les axes X, Y, Z, mais nous idenerons les plans de projection</a:t>
            </a:r>
          </a:p>
          <a:p>
            <a:r>
              <a:rPr lang="fr-FR" sz="1600" dirty="0">
                <a:latin typeface="F15"/>
              </a:rPr>
              <a:t>représentés.</a:t>
            </a:r>
          </a:p>
          <a:p>
            <a:endParaRPr lang="fr-FR" sz="1600" dirty="0">
              <a:latin typeface="F15"/>
            </a:endParaRPr>
          </a:p>
          <a:p>
            <a:r>
              <a:rPr lang="fr-FR" sz="1600" b="1" dirty="0">
                <a:latin typeface="F15"/>
              </a:rPr>
              <a:t>                                   archi à présenter</a:t>
            </a:r>
            <a:endParaRPr lang="fr-FR" sz="1600" b="1" dirty="0"/>
          </a:p>
        </p:txBody>
      </p:sp>
      <p:pic>
        <p:nvPicPr>
          <p:cNvPr id="3" name="Image 2"/>
          <p:cNvPicPr>
            <a:picLocks noChangeAspect="1"/>
          </p:cNvPicPr>
          <p:nvPr/>
        </p:nvPicPr>
        <p:blipFill>
          <a:blip r:embed="rId2"/>
          <a:stretch>
            <a:fillRect/>
          </a:stretch>
        </p:blipFill>
        <p:spPr>
          <a:xfrm>
            <a:off x="1458099" y="2492990"/>
            <a:ext cx="3995350" cy="4225078"/>
          </a:xfrm>
          <a:prstGeom prst="rect">
            <a:avLst/>
          </a:prstGeom>
        </p:spPr>
      </p:pic>
      <p:sp>
        <p:nvSpPr>
          <p:cNvPr id="4" name="Rectangle 3"/>
          <p:cNvSpPr/>
          <p:nvPr/>
        </p:nvSpPr>
        <p:spPr>
          <a:xfrm>
            <a:off x="5453449" y="3131573"/>
            <a:ext cx="6417275" cy="1569660"/>
          </a:xfrm>
          <a:prstGeom prst="rect">
            <a:avLst/>
          </a:prstGeom>
        </p:spPr>
        <p:txBody>
          <a:bodyPr wrap="square">
            <a:spAutoFit/>
          </a:bodyPr>
          <a:lstStyle/>
          <a:p>
            <a:r>
              <a:rPr lang="fr-FR" sz="1600" dirty="0">
                <a:latin typeface="F15"/>
              </a:rPr>
              <a:t>La vue en élévation et la vue en plan respectent la règle générale des projections,</a:t>
            </a:r>
          </a:p>
          <a:p>
            <a:r>
              <a:rPr lang="fr-FR" sz="1600" dirty="0">
                <a:latin typeface="F15"/>
              </a:rPr>
              <a:t>la vue arrière est une projection en transparence de la vue de face.</a:t>
            </a:r>
          </a:p>
          <a:p>
            <a:r>
              <a:rPr lang="fr-FR" sz="1600" dirty="0">
                <a:latin typeface="F15"/>
              </a:rPr>
              <a:t>Ce qui est contraire à notre mode de représentation en architecture.</a:t>
            </a:r>
          </a:p>
          <a:p>
            <a:r>
              <a:rPr lang="fr-FR" sz="1600" dirty="0">
                <a:latin typeface="F15"/>
              </a:rPr>
              <a:t>(émetteur / récepteur de marque</a:t>
            </a:r>
          </a:p>
          <a:p>
            <a:r>
              <a:rPr lang="fr-FR" sz="1600" dirty="0">
                <a:latin typeface="F15"/>
              </a:rPr>
              <a:t>Racal - modèle 320)</a:t>
            </a:r>
            <a:endParaRPr lang="fr-FR" sz="1600" dirty="0"/>
          </a:p>
        </p:txBody>
      </p:sp>
    </p:spTree>
    <p:extLst>
      <p:ext uri="{BB962C8B-B14F-4D97-AF65-F5344CB8AC3E}">
        <p14:creationId xmlns:p14="http://schemas.microsoft.com/office/powerpoint/2010/main" val="17568582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1805" y="131805"/>
            <a:ext cx="10668000" cy="1754326"/>
          </a:xfrm>
          <a:prstGeom prst="rect">
            <a:avLst/>
          </a:prstGeom>
        </p:spPr>
        <p:txBody>
          <a:bodyPr wrap="square">
            <a:spAutoFit/>
          </a:bodyPr>
          <a:lstStyle/>
          <a:p>
            <a:r>
              <a:rPr lang="fr-FR" dirty="0">
                <a:latin typeface="F15"/>
              </a:rPr>
              <a:t>Actuellement, il peut sembler qu'il existe deux géométries descriptives.</a:t>
            </a:r>
          </a:p>
          <a:p>
            <a:r>
              <a:rPr lang="fr-FR" dirty="0">
                <a:latin typeface="F15"/>
              </a:rPr>
              <a:t>L'une considérée comme une branche des mathématiques (programmes informatiques), l'autre considérée comme le fondement du dessin technique et de la représentation spatiale. Les deux sont complémentaires en architecture, nous concevons la volumétrie mentalement ; par des croquis, par notre côté sensible, ... c'est à dire avec une très grande souplesse, et nous dessinons de plus en plus en 3D grâce à l'outil informatique qui est pluridisciplinaire orienté technique (stabilité, bilan énergie, ...)</a:t>
            </a:r>
            <a:endParaRPr lang="fr-FR" dirty="0"/>
          </a:p>
        </p:txBody>
      </p:sp>
      <p:sp>
        <p:nvSpPr>
          <p:cNvPr id="3" name="Rectangle 2"/>
          <p:cNvSpPr/>
          <p:nvPr/>
        </p:nvSpPr>
        <p:spPr>
          <a:xfrm>
            <a:off x="5988908" y="2141503"/>
            <a:ext cx="6096000" cy="3693319"/>
          </a:xfrm>
          <a:prstGeom prst="rect">
            <a:avLst/>
          </a:prstGeom>
        </p:spPr>
        <p:txBody>
          <a:bodyPr>
            <a:spAutoFit/>
          </a:bodyPr>
          <a:lstStyle/>
          <a:p>
            <a:r>
              <a:rPr lang="fr-FR" dirty="0">
                <a:latin typeface="F15"/>
              </a:rPr>
              <a:t>Le but est de décrire les formes de façon précise et économique.</a:t>
            </a:r>
          </a:p>
          <a:p>
            <a:r>
              <a:rPr lang="fr-FR" dirty="0">
                <a:latin typeface="F15"/>
              </a:rPr>
              <a:t>La représentation ira de deux à plusieurs vues ; en général, trois vues sont nécessaires pour définir complètement un objet – projection verticale, projection horizontale, projection de profil.</a:t>
            </a:r>
          </a:p>
          <a:p>
            <a:r>
              <a:rPr lang="fr-FR" dirty="0">
                <a:latin typeface="F15"/>
              </a:rPr>
              <a:t>Parfois une quatrième vue, le second profil est fourni pour faciliter la lecture.</a:t>
            </a:r>
          </a:p>
          <a:p>
            <a:r>
              <a:rPr lang="fr-FR" dirty="0">
                <a:latin typeface="F15"/>
              </a:rPr>
              <a:t>Quand ces vues ne donnent pas tous les renseignements, la méthode se complète de vues complémentaires, coupes, détails, tandis que des constructions géométriques permettent d'avoir les vraies grandeurs, vraies formes qui ne sont pas données directement.</a:t>
            </a:r>
            <a:endParaRPr lang="fr-FR" dirty="0"/>
          </a:p>
        </p:txBody>
      </p:sp>
      <p:pic>
        <p:nvPicPr>
          <p:cNvPr id="4" name="Image 3"/>
          <p:cNvPicPr>
            <a:picLocks noChangeAspect="1"/>
          </p:cNvPicPr>
          <p:nvPr/>
        </p:nvPicPr>
        <p:blipFill>
          <a:blip r:embed="rId2"/>
          <a:stretch>
            <a:fillRect/>
          </a:stretch>
        </p:blipFill>
        <p:spPr>
          <a:xfrm>
            <a:off x="939504" y="2158312"/>
            <a:ext cx="4633782" cy="3588073"/>
          </a:xfrm>
          <a:prstGeom prst="rect">
            <a:avLst/>
          </a:prstGeom>
        </p:spPr>
      </p:pic>
    </p:spTree>
    <p:extLst>
      <p:ext uri="{BB962C8B-B14F-4D97-AF65-F5344CB8AC3E}">
        <p14:creationId xmlns:p14="http://schemas.microsoft.com/office/powerpoint/2010/main" val="1192449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707027" y="137633"/>
            <a:ext cx="7183394" cy="2031325"/>
          </a:xfrm>
          <a:prstGeom prst="rect">
            <a:avLst/>
          </a:prstGeom>
        </p:spPr>
        <p:txBody>
          <a:bodyPr wrap="square">
            <a:spAutoFit/>
          </a:bodyPr>
          <a:lstStyle/>
          <a:p>
            <a:r>
              <a:rPr lang="fr-FR" dirty="0">
                <a:latin typeface="F15"/>
              </a:rPr>
              <a:t>Les objets sont placés dans le premier dièdre mais peuvent l'être</a:t>
            </a:r>
          </a:p>
          <a:p>
            <a:r>
              <a:rPr lang="fr-FR" dirty="0">
                <a:latin typeface="F15"/>
              </a:rPr>
              <a:t>dans toutes les positions possibles.</a:t>
            </a:r>
          </a:p>
          <a:p>
            <a:r>
              <a:rPr lang="fr-FR" dirty="0">
                <a:latin typeface="F15"/>
              </a:rPr>
              <a:t>L'espace est divisé en quatre dièdres</a:t>
            </a:r>
          </a:p>
          <a:p>
            <a:r>
              <a:rPr lang="fr-FR" dirty="0">
                <a:latin typeface="F15"/>
              </a:rPr>
              <a:t>On choisira cependant celui qui dispose les faces principales</a:t>
            </a:r>
          </a:p>
          <a:p>
            <a:r>
              <a:rPr lang="fr-FR" dirty="0">
                <a:latin typeface="F15"/>
              </a:rPr>
              <a:t>parallèlement aux plans de projections pour obtenir ces faces</a:t>
            </a:r>
          </a:p>
          <a:p>
            <a:r>
              <a:rPr lang="fr-FR" dirty="0">
                <a:latin typeface="F15"/>
              </a:rPr>
              <a:t>en vraie grandeur. Ou bien l'objet sera orienté dans une position</a:t>
            </a:r>
          </a:p>
          <a:p>
            <a:r>
              <a:rPr lang="fr-FR" dirty="0">
                <a:latin typeface="F15"/>
              </a:rPr>
              <a:t>favorable pour améliorer sa compréhension.</a:t>
            </a:r>
            <a:endParaRPr lang="fr-FR" dirty="0"/>
          </a:p>
        </p:txBody>
      </p:sp>
      <p:pic>
        <p:nvPicPr>
          <p:cNvPr id="3" name="Image 2"/>
          <p:cNvPicPr>
            <a:picLocks noChangeAspect="1"/>
          </p:cNvPicPr>
          <p:nvPr/>
        </p:nvPicPr>
        <p:blipFill>
          <a:blip r:embed="rId2"/>
          <a:stretch>
            <a:fillRect/>
          </a:stretch>
        </p:blipFill>
        <p:spPr>
          <a:xfrm>
            <a:off x="714200" y="0"/>
            <a:ext cx="2630364" cy="3901151"/>
          </a:xfrm>
          <a:prstGeom prst="rect">
            <a:avLst/>
          </a:prstGeom>
        </p:spPr>
      </p:pic>
      <p:sp>
        <p:nvSpPr>
          <p:cNvPr id="4" name="Rectangle 3"/>
          <p:cNvSpPr/>
          <p:nvPr/>
        </p:nvSpPr>
        <p:spPr>
          <a:xfrm>
            <a:off x="3707027" y="4484071"/>
            <a:ext cx="6507892" cy="1754326"/>
          </a:xfrm>
          <a:prstGeom prst="rect">
            <a:avLst/>
          </a:prstGeom>
        </p:spPr>
        <p:txBody>
          <a:bodyPr wrap="square">
            <a:spAutoFit/>
          </a:bodyPr>
          <a:lstStyle/>
          <a:p>
            <a:r>
              <a:rPr lang="fr-FR" dirty="0">
                <a:latin typeface="F15"/>
              </a:rPr>
              <a:t>On nomme épure, la représentation d'une figure de l'espace par ses projections. Les plans de projection sont rabattus sur le plan de référence, en architecture le PF reste fixe et est la  référence, les autres plans de projection sont rabattus dans son plan.</a:t>
            </a:r>
          </a:p>
          <a:p>
            <a:r>
              <a:rPr lang="fr-FR" dirty="0">
                <a:latin typeface="F15"/>
              </a:rPr>
              <a:t>Ce concept caractérise la géométrie orientée architecture.</a:t>
            </a:r>
            <a:endParaRPr lang="fr-FR" dirty="0"/>
          </a:p>
        </p:txBody>
      </p:sp>
      <p:pic>
        <p:nvPicPr>
          <p:cNvPr id="5" name="Image 4"/>
          <p:cNvPicPr>
            <a:picLocks noChangeAspect="1"/>
          </p:cNvPicPr>
          <p:nvPr/>
        </p:nvPicPr>
        <p:blipFill>
          <a:blip r:embed="rId3"/>
          <a:stretch>
            <a:fillRect/>
          </a:stretch>
        </p:blipFill>
        <p:spPr>
          <a:xfrm>
            <a:off x="401806" y="4377644"/>
            <a:ext cx="2942758" cy="1967181"/>
          </a:xfrm>
          <a:prstGeom prst="rect">
            <a:avLst/>
          </a:prstGeom>
        </p:spPr>
      </p:pic>
    </p:spTree>
    <p:extLst>
      <p:ext uri="{BB962C8B-B14F-4D97-AF65-F5344CB8AC3E}">
        <p14:creationId xmlns:p14="http://schemas.microsoft.com/office/powerpoint/2010/main" val="26013512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07092"/>
            <a:ext cx="10536195" cy="3139321"/>
          </a:xfrm>
          <a:prstGeom prst="rect">
            <a:avLst/>
          </a:prstGeom>
        </p:spPr>
        <p:txBody>
          <a:bodyPr wrap="square">
            <a:spAutoFit/>
          </a:bodyPr>
          <a:lstStyle/>
          <a:p>
            <a:r>
              <a:rPr lang="fr-FR" b="1" dirty="0">
                <a:latin typeface="F35"/>
              </a:rPr>
              <a:t>Les lignes</a:t>
            </a:r>
          </a:p>
          <a:p>
            <a:pPr algn="just"/>
            <a:r>
              <a:rPr lang="fr-FR" dirty="0">
                <a:latin typeface="F15"/>
              </a:rPr>
              <a:t>Dans une vue, une ligne représente soit une ligne d'intersection de deux surfaces soit une limite de</a:t>
            </a:r>
          </a:p>
          <a:p>
            <a:pPr algn="just"/>
            <a:r>
              <a:rPr lang="fr-FR" dirty="0">
                <a:latin typeface="F15"/>
              </a:rPr>
              <a:t>contour apparent de surface courbe.</a:t>
            </a:r>
          </a:p>
          <a:p>
            <a:pPr algn="just"/>
            <a:r>
              <a:rPr lang="fr-FR" dirty="0">
                <a:latin typeface="F15"/>
              </a:rPr>
              <a:t>Dans chaque projection ou vue, il y aura des parties cachées par d'autres interposées, ces lignes cachées seront représentées par un trait interrompu.</a:t>
            </a:r>
          </a:p>
          <a:p>
            <a:pPr algn="just"/>
            <a:r>
              <a:rPr lang="fr-FR" dirty="0">
                <a:latin typeface="F15"/>
              </a:rPr>
              <a:t>En dessin technique, les différentes vues ou projections ne sont pas reliées par des lignes de rappel</a:t>
            </a:r>
          </a:p>
          <a:p>
            <a:pPr algn="just"/>
            <a:r>
              <a:rPr lang="fr-FR" dirty="0">
                <a:latin typeface="F15"/>
              </a:rPr>
              <a:t>comme en géométrie descriptive, leur direction est connue du lecteur.</a:t>
            </a:r>
          </a:p>
          <a:p>
            <a:pPr algn="just"/>
            <a:r>
              <a:rPr lang="fr-FR" dirty="0">
                <a:latin typeface="F15"/>
              </a:rPr>
              <a:t>Dans les vues, des arêtes cachées d'objets peuvent coïncider avec des arêtes visibles d'où une lecture plus difficile.</a:t>
            </a:r>
          </a:p>
          <a:p>
            <a:pPr algn="just"/>
            <a:r>
              <a:rPr lang="fr-FR" dirty="0">
                <a:latin typeface="F15"/>
              </a:rPr>
              <a:t>La préséance est donnée à la ligne qui est la plus importante ainsi les traits continus ont la préséance</a:t>
            </a:r>
          </a:p>
          <a:p>
            <a:pPr algn="just"/>
            <a:r>
              <a:rPr lang="fr-FR" dirty="0">
                <a:latin typeface="F15"/>
              </a:rPr>
              <a:t>sur tous les autres types de traits.</a:t>
            </a:r>
            <a:endParaRPr lang="fr-FR" dirty="0"/>
          </a:p>
        </p:txBody>
      </p:sp>
      <p:sp>
        <p:nvSpPr>
          <p:cNvPr id="3" name="Rectangle 2"/>
          <p:cNvSpPr/>
          <p:nvPr/>
        </p:nvSpPr>
        <p:spPr>
          <a:xfrm>
            <a:off x="-1" y="3230642"/>
            <a:ext cx="10536196" cy="3693319"/>
          </a:xfrm>
          <a:prstGeom prst="rect">
            <a:avLst/>
          </a:prstGeom>
        </p:spPr>
        <p:txBody>
          <a:bodyPr wrap="square">
            <a:spAutoFit/>
          </a:bodyPr>
          <a:lstStyle/>
          <a:p>
            <a:r>
              <a:rPr lang="fr-FR" b="1" dirty="0">
                <a:latin typeface="F35"/>
              </a:rPr>
              <a:t>Lecture des vues</a:t>
            </a:r>
          </a:p>
          <a:p>
            <a:pPr algn="just"/>
            <a:r>
              <a:rPr lang="fr-FR" dirty="0">
                <a:latin typeface="F15"/>
              </a:rPr>
              <a:t>Un plan se lit progressivement, on ne peut pas déduire la forme d'un objet d'une partie de ses</a:t>
            </a:r>
          </a:p>
          <a:p>
            <a:pPr algn="just"/>
            <a:r>
              <a:rPr lang="fr-FR" dirty="0">
                <a:latin typeface="F15"/>
              </a:rPr>
              <a:t>projections ou vues.</a:t>
            </a:r>
          </a:p>
          <a:p>
            <a:pPr algn="just"/>
            <a:r>
              <a:rPr lang="fr-FR" dirty="0">
                <a:latin typeface="F15"/>
              </a:rPr>
              <a:t>Ainsi chaque ligne doit être examinée sur plusieurs vues.</a:t>
            </a:r>
          </a:p>
          <a:p>
            <a:pPr algn="just"/>
            <a:r>
              <a:rPr lang="fr-FR" dirty="0">
                <a:latin typeface="F15"/>
              </a:rPr>
              <a:t>Chaque détail doit avoir sa projection sur chaque vue et toutes les vues sont nécessaires pour connaître l'objet.</a:t>
            </a:r>
          </a:p>
          <a:p>
            <a:pPr algn="just"/>
            <a:r>
              <a:rPr lang="fr-FR" dirty="0">
                <a:latin typeface="F15"/>
              </a:rPr>
              <a:t>Le dessin est une langue expressive, claire, concise, de caractère international.</a:t>
            </a:r>
          </a:p>
          <a:p>
            <a:pPr algn="just"/>
            <a:r>
              <a:rPr lang="fr-FR" dirty="0">
                <a:latin typeface="F15"/>
              </a:rPr>
              <a:t>Il faut savoir que dans l'industrie, tout est subordonné à l'exactitude rigoureuse, à la rapidité d'exécution.</a:t>
            </a:r>
          </a:p>
          <a:p>
            <a:pPr algn="just"/>
            <a:r>
              <a:rPr lang="fr-FR" dirty="0">
                <a:latin typeface="F15"/>
              </a:rPr>
              <a:t>Il faut acquérir les notions théoriques par l'étude de la géométrie descriptive.</a:t>
            </a:r>
          </a:p>
          <a:p>
            <a:pPr algn="just"/>
            <a:r>
              <a:rPr lang="fr-FR" dirty="0">
                <a:latin typeface="F15"/>
              </a:rPr>
              <a:t>La lecture d'une épure s'acquiert par l'expérience, le dessin par l'exercice.</a:t>
            </a:r>
          </a:p>
          <a:p>
            <a:pPr algn="just"/>
            <a:r>
              <a:rPr lang="fr-FR" dirty="0">
                <a:latin typeface="F15"/>
              </a:rPr>
              <a:t>Voir dans l'espace est une conséquence et non un préalable à l'apprentissage de la géométrie descriptive.</a:t>
            </a:r>
            <a:endParaRPr lang="fr-FR" dirty="0"/>
          </a:p>
        </p:txBody>
      </p:sp>
    </p:spTree>
    <p:extLst>
      <p:ext uri="{BB962C8B-B14F-4D97-AF65-F5344CB8AC3E}">
        <p14:creationId xmlns:p14="http://schemas.microsoft.com/office/powerpoint/2010/main" val="25003380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65189" y="0"/>
            <a:ext cx="6096000" cy="646331"/>
          </a:xfrm>
          <a:prstGeom prst="rect">
            <a:avLst/>
          </a:prstGeom>
        </p:spPr>
        <p:txBody>
          <a:bodyPr>
            <a:spAutoFit/>
          </a:bodyPr>
          <a:lstStyle/>
          <a:p>
            <a:r>
              <a:rPr lang="fr-FR" b="1" dirty="0">
                <a:latin typeface="F35"/>
              </a:rPr>
              <a:t>Exemple</a:t>
            </a:r>
            <a:r>
              <a:rPr lang="fr-FR" dirty="0">
                <a:latin typeface="F35"/>
              </a:rPr>
              <a:t> :</a:t>
            </a:r>
          </a:p>
          <a:p>
            <a:r>
              <a:rPr lang="fr-FR" dirty="0">
                <a:latin typeface="F35"/>
              </a:rPr>
              <a:t>Représentation d'objets en projections orthogonales</a:t>
            </a:r>
            <a:endParaRPr lang="fr-FR" dirty="0"/>
          </a:p>
        </p:txBody>
      </p:sp>
      <p:pic>
        <p:nvPicPr>
          <p:cNvPr id="3" name="Image 2"/>
          <p:cNvPicPr>
            <a:picLocks noChangeAspect="1"/>
          </p:cNvPicPr>
          <p:nvPr/>
        </p:nvPicPr>
        <p:blipFill>
          <a:blip r:embed="rId2"/>
          <a:stretch>
            <a:fillRect/>
          </a:stretch>
        </p:blipFill>
        <p:spPr>
          <a:xfrm>
            <a:off x="1565189" y="771407"/>
            <a:ext cx="10173297" cy="5884765"/>
          </a:xfrm>
          <a:prstGeom prst="rect">
            <a:avLst/>
          </a:prstGeom>
        </p:spPr>
      </p:pic>
    </p:spTree>
    <p:extLst>
      <p:ext uri="{BB962C8B-B14F-4D97-AF65-F5344CB8AC3E}">
        <p14:creationId xmlns:p14="http://schemas.microsoft.com/office/powerpoint/2010/main" val="2046350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1830372" y="569941"/>
            <a:ext cx="7354817" cy="3168426"/>
          </a:xfrm>
          <a:prstGeom prst="rect">
            <a:avLst/>
          </a:prstGeom>
        </p:spPr>
      </p:pic>
      <p:pic>
        <p:nvPicPr>
          <p:cNvPr id="3" name="Image 2"/>
          <p:cNvPicPr>
            <a:picLocks noChangeAspect="1"/>
          </p:cNvPicPr>
          <p:nvPr/>
        </p:nvPicPr>
        <p:blipFill>
          <a:blip r:embed="rId3"/>
          <a:stretch>
            <a:fillRect/>
          </a:stretch>
        </p:blipFill>
        <p:spPr>
          <a:xfrm>
            <a:off x="1830372" y="3949935"/>
            <a:ext cx="7352899" cy="2846094"/>
          </a:xfrm>
          <a:prstGeom prst="rect">
            <a:avLst/>
          </a:prstGeom>
        </p:spPr>
      </p:pic>
      <p:sp>
        <p:nvSpPr>
          <p:cNvPr id="4" name="Rectangle 3"/>
          <p:cNvSpPr/>
          <p:nvPr/>
        </p:nvSpPr>
        <p:spPr>
          <a:xfrm>
            <a:off x="1830372" y="122193"/>
            <a:ext cx="3621504" cy="369332"/>
          </a:xfrm>
          <a:prstGeom prst="rect">
            <a:avLst/>
          </a:prstGeom>
        </p:spPr>
        <p:txBody>
          <a:bodyPr wrap="none">
            <a:spAutoFit/>
          </a:bodyPr>
          <a:lstStyle/>
          <a:p>
            <a:r>
              <a:rPr lang="fr-FR" dirty="0">
                <a:latin typeface="F15"/>
              </a:rPr>
              <a:t>Les mêmes objets en perspective</a:t>
            </a:r>
            <a:endParaRPr lang="fr-FR" dirty="0"/>
          </a:p>
        </p:txBody>
      </p:sp>
    </p:spTree>
    <p:extLst>
      <p:ext uri="{BB962C8B-B14F-4D97-AF65-F5344CB8AC3E}">
        <p14:creationId xmlns:p14="http://schemas.microsoft.com/office/powerpoint/2010/main" val="35294356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4757" y="16476"/>
            <a:ext cx="10470292" cy="1754326"/>
          </a:xfrm>
          <a:prstGeom prst="rect">
            <a:avLst/>
          </a:prstGeom>
        </p:spPr>
        <p:txBody>
          <a:bodyPr wrap="square">
            <a:spAutoFit/>
          </a:bodyPr>
          <a:lstStyle/>
          <a:p>
            <a:r>
              <a:rPr lang="fr-FR" b="1" dirty="0">
                <a:latin typeface="F38"/>
              </a:rPr>
              <a:t>2.3 </a:t>
            </a:r>
            <a:r>
              <a:rPr lang="fr-FR" b="1" u="sng" dirty="0">
                <a:latin typeface="F38"/>
              </a:rPr>
              <a:t>Perspectives parallèles</a:t>
            </a:r>
          </a:p>
          <a:p>
            <a:r>
              <a:rPr lang="fr-FR" b="1" dirty="0">
                <a:latin typeface="F38"/>
              </a:rPr>
              <a:t>2.4 </a:t>
            </a:r>
            <a:r>
              <a:rPr lang="fr-FR" b="1" u="sng" dirty="0">
                <a:latin typeface="F38"/>
              </a:rPr>
              <a:t>Les perspectives parallèles ou orthogonales</a:t>
            </a:r>
            <a:r>
              <a:rPr lang="fr-FR" b="1" dirty="0">
                <a:latin typeface="F38"/>
              </a:rPr>
              <a:t>.</a:t>
            </a:r>
          </a:p>
          <a:p>
            <a:r>
              <a:rPr lang="fr-FR" dirty="0">
                <a:latin typeface="F15"/>
              </a:rPr>
              <a:t>Les perspectives parallèles aussi appelées orthogonales ou AXONOMETRIQUES comprennent les</a:t>
            </a:r>
          </a:p>
          <a:p>
            <a:r>
              <a:rPr lang="fr-FR" dirty="0">
                <a:latin typeface="F15"/>
              </a:rPr>
              <a:t>perspectives isométriques – dimétriques et anisométriques. Les perspectives cavalières et iso cavalières sont des projections parallèles ou axonométriques mais non orthogonales.</a:t>
            </a:r>
          </a:p>
          <a:p>
            <a:r>
              <a:rPr lang="fr-FR" b="1" dirty="0">
                <a:latin typeface="F25"/>
              </a:rPr>
              <a:t>2.4.1 </a:t>
            </a:r>
            <a:r>
              <a:rPr lang="fr-FR" b="1" u="sng" dirty="0">
                <a:latin typeface="F25"/>
              </a:rPr>
              <a:t>Comparaison entre le géométral et les 2 grandes familles de perspectives</a:t>
            </a:r>
            <a:r>
              <a:rPr lang="fr-FR" b="1" dirty="0">
                <a:latin typeface="F25"/>
              </a:rPr>
              <a:t>.</a:t>
            </a:r>
            <a:endParaRPr lang="fr-FR" b="1" dirty="0"/>
          </a:p>
        </p:txBody>
      </p:sp>
      <p:pic>
        <p:nvPicPr>
          <p:cNvPr id="3" name="Image 2"/>
          <p:cNvPicPr>
            <a:picLocks noChangeAspect="1"/>
          </p:cNvPicPr>
          <p:nvPr/>
        </p:nvPicPr>
        <p:blipFill>
          <a:blip r:embed="rId2"/>
          <a:stretch>
            <a:fillRect/>
          </a:stretch>
        </p:blipFill>
        <p:spPr>
          <a:xfrm>
            <a:off x="1092517" y="1754326"/>
            <a:ext cx="2622748" cy="1503230"/>
          </a:xfrm>
          <a:prstGeom prst="rect">
            <a:avLst/>
          </a:prstGeom>
        </p:spPr>
      </p:pic>
      <p:pic>
        <p:nvPicPr>
          <p:cNvPr id="4" name="Image 3"/>
          <p:cNvPicPr>
            <a:picLocks noChangeAspect="1"/>
          </p:cNvPicPr>
          <p:nvPr/>
        </p:nvPicPr>
        <p:blipFill>
          <a:blip r:embed="rId3"/>
          <a:stretch>
            <a:fillRect/>
          </a:stretch>
        </p:blipFill>
        <p:spPr>
          <a:xfrm>
            <a:off x="1092517" y="3323445"/>
            <a:ext cx="2622748" cy="1533662"/>
          </a:xfrm>
          <a:prstGeom prst="rect">
            <a:avLst/>
          </a:prstGeom>
        </p:spPr>
      </p:pic>
      <p:pic>
        <p:nvPicPr>
          <p:cNvPr id="5" name="Image 4"/>
          <p:cNvPicPr>
            <a:picLocks noChangeAspect="1"/>
          </p:cNvPicPr>
          <p:nvPr/>
        </p:nvPicPr>
        <p:blipFill>
          <a:blip r:embed="rId4"/>
          <a:stretch>
            <a:fillRect/>
          </a:stretch>
        </p:blipFill>
        <p:spPr>
          <a:xfrm>
            <a:off x="4889216" y="1754326"/>
            <a:ext cx="2122576" cy="2028148"/>
          </a:xfrm>
          <a:prstGeom prst="rect">
            <a:avLst/>
          </a:prstGeom>
        </p:spPr>
      </p:pic>
      <p:sp>
        <p:nvSpPr>
          <p:cNvPr id="6" name="Rectangle 5"/>
          <p:cNvSpPr/>
          <p:nvPr/>
        </p:nvSpPr>
        <p:spPr>
          <a:xfrm>
            <a:off x="164757" y="4826675"/>
            <a:ext cx="11870723" cy="2031325"/>
          </a:xfrm>
          <a:prstGeom prst="rect">
            <a:avLst/>
          </a:prstGeom>
        </p:spPr>
        <p:txBody>
          <a:bodyPr wrap="square">
            <a:spAutoFit/>
          </a:bodyPr>
          <a:lstStyle/>
          <a:p>
            <a:r>
              <a:rPr lang="fr-FR" dirty="0">
                <a:latin typeface="F15"/>
              </a:rPr>
              <a:t>Les projections orthogonales sur le PF - PH - PP sont conventionnelles et abstraites et même insuffisamment parlantes pour certains techniciens, on connaît les croquis perspectifs utilisés dans les ateliers de</a:t>
            </a:r>
          </a:p>
          <a:p>
            <a:r>
              <a:rPr lang="fr-FR" dirty="0">
                <a:latin typeface="F15"/>
              </a:rPr>
              <a:t>construction. Les croquis perspectifs illustrent les cours de géométrie descriptive. Ces croquis pourraient</a:t>
            </a:r>
          </a:p>
          <a:p>
            <a:r>
              <a:rPr lang="fr-FR" dirty="0">
                <a:latin typeface="F15"/>
              </a:rPr>
              <a:t>être dessinés rigoureusement et remplacer le géométral. Car une perspective axonométrique dessinée scientifiquement présente les avantages suivants : une seule image suggestive, rigoureuse tandis que l'épure de</a:t>
            </a:r>
          </a:p>
          <a:p>
            <a:r>
              <a:rPr lang="fr-FR" dirty="0">
                <a:latin typeface="F15"/>
              </a:rPr>
              <a:t>géométrie descriptive présente chaque point de l'espace par trois points (projections), se trouvant souvent</a:t>
            </a:r>
          </a:p>
          <a:p>
            <a:r>
              <a:rPr lang="fr-FR" dirty="0">
                <a:latin typeface="F15"/>
              </a:rPr>
              <a:t>superposés et d'une lecture difficile.</a:t>
            </a:r>
            <a:endParaRPr lang="fr-FR" dirty="0"/>
          </a:p>
        </p:txBody>
      </p:sp>
    </p:spTree>
    <p:extLst>
      <p:ext uri="{BB962C8B-B14F-4D97-AF65-F5344CB8AC3E}">
        <p14:creationId xmlns:p14="http://schemas.microsoft.com/office/powerpoint/2010/main" val="19411132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632885" y="53331"/>
            <a:ext cx="7092780" cy="6763691"/>
          </a:xfrm>
          <a:prstGeom prst="rect">
            <a:avLst/>
          </a:prstGeom>
        </p:spPr>
        <p:txBody>
          <a:bodyPr wrap="square">
            <a:spAutoFit/>
          </a:bodyPr>
          <a:lstStyle/>
          <a:p>
            <a:r>
              <a:rPr lang="fr-FR" b="1" dirty="0">
                <a:latin typeface="F25"/>
              </a:rPr>
              <a:t>2.4.2 </a:t>
            </a:r>
            <a:r>
              <a:rPr lang="fr-FR" b="1" u="sng" dirty="0">
                <a:latin typeface="F25"/>
              </a:rPr>
              <a:t>Perspective (projection) conique</a:t>
            </a:r>
          </a:p>
          <a:p>
            <a:r>
              <a:rPr lang="fr-FR" b="1" dirty="0">
                <a:latin typeface="F35"/>
              </a:rPr>
              <a:t>La perspective (projection) conique </a:t>
            </a:r>
            <a:r>
              <a:rPr lang="fr-FR" dirty="0">
                <a:latin typeface="F15"/>
              </a:rPr>
              <a:t>= photographie (3</a:t>
            </a:r>
          </a:p>
          <a:p>
            <a:r>
              <a:rPr lang="fr-FR" dirty="0">
                <a:latin typeface="F15"/>
              </a:rPr>
              <a:t>points de fuite dans l'exemple suivant), les fuyantes comme par</a:t>
            </a:r>
          </a:p>
          <a:p>
            <a:r>
              <a:rPr lang="fr-FR" dirty="0">
                <a:latin typeface="F15"/>
              </a:rPr>
              <a:t>exemple les droites horizontales parallèles d'un même plan ne</a:t>
            </a:r>
          </a:p>
          <a:p>
            <a:r>
              <a:rPr lang="fr-FR" dirty="0">
                <a:latin typeface="F15"/>
              </a:rPr>
              <a:t>sont plus parallèles dans ce type de projection.</a:t>
            </a:r>
          </a:p>
          <a:p>
            <a:r>
              <a:rPr lang="fr-FR" dirty="0">
                <a:latin typeface="F15"/>
              </a:rPr>
              <a:t>Les perspectives coniques seront étudiées dans un chapitre particulier.</a:t>
            </a:r>
          </a:p>
          <a:p>
            <a:endParaRPr lang="fr-FR" dirty="0">
              <a:latin typeface="F15"/>
            </a:endParaRPr>
          </a:p>
          <a:p>
            <a:endParaRPr lang="fr-FR" dirty="0">
              <a:latin typeface="F15"/>
            </a:endParaRPr>
          </a:p>
          <a:p>
            <a:endParaRPr lang="fr-FR" dirty="0">
              <a:latin typeface="F15"/>
            </a:endParaRPr>
          </a:p>
          <a:p>
            <a:endParaRPr lang="fr-FR" dirty="0">
              <a:latin typeface="F15"/>
            </a:endParaRPr>
          </a:p>
          <a:p>
            <a:endParaRPr lang="fr-FR" dirty="0">
              <a:latin typeface="F15"/>
            </a:endParaRPr>
          </a:p>
          <a:p>
            <a:endParaRPr lang="fr-FR" dirty="0">
              <a:latin typeface="F15"/>
            </a:endParaRPr>
          </a:p>
          <a:p>
            <a:endParaRPr lang="fr-FR" dirty="0">
              <a:latin typeface="F15"/>
            </a:endParaRPr>
          </a:p>
          <a:p>
            <a:r>
              <a:rPr lang="fr-FR" b="1" dirty="0">
                <a:latin typeface="F25"/>
              </a:rPr>
              <a:t>2.4.3 </a:t>
            </a:r>
            <a:r>
              <a:rPr lang="fr-FR" b="1" u="sng" dirty="0">
                <a:latin typeface="F25"/>
              </a:rPr>
              <a:t>La perspective axonométrique (projection parallèle) présente quelques avantages par rapport à la projection conique</a:t>
            </a:r>
            <a:r>
              <a:rPr lang="fr-FR" b="1" dirty="0">
                <a:latin typeface="F25"/>
              </a:rPr>
              <a:t>.</a:t>
            </a:r>
          </a:p>
          <a:p>
            <a:r>
              <a:rPr lang="fr-FR" dirty="0">
                <a:latin typeface="F15"/>
              </a:rPr>
              <a:t>Elle se construit plus facilement - elle permet la mesure des dimensions. </a:t>
            </a:r>
          </a:p>
          <a:p>
            <a:r>
              <a:rPr lang="fr-FR" dirty="0">
                <a:latin typeface="F15"/>
              </a:rPr>
              <a:t>Si elle ne donne pas une image spatiale conforme à notre perception visuelle, elle donne cependant une vue suffisamment correcte pour les petits objets (les objets éloignés, les surfaces courbes, ... ), il n'y a pas d'effet de raccourcissement en fonction de la distance des objets.</a:t>
            </a:r>
            <a:endParaRPr lang="fr-FR" dirty="0"/>
          </a:p>
        </p:txBody>
      </p:sp>
      <p:pic>
        <p:nvPicPr>
          <p:cNvPr id="3" name="Image 2"/>
          <p:cNvPicPr>
            <a:picLocks noChangeAspect="1"/>
          </p:cNvPicPr>
          <p:nvPr/>
        </p:nvPicPr>
        <p:blipFill>
          <a:blip r:embed="rId2"/>
          <a:stretch>
            <a:fillRect/>
          </a:stretch>
        </p:blipFill>
        <p:spPr>
          <a:xfrm>
            <a:off x="185283" y="53331"/>
            <a:ext cx="3447602" cy="3232183"/>
          </a:xfrm>
          <a:prstGeom prst="rect">
            <a:avLst/>
          </a:prstGeom>
        </p:spPr>
      </p:pic>
      <p:pic>
        <p:nvPicPr>
          <p:cNvPr id="5" name="Image 4"/>
          <p:cNvPicPr>
            <a:picLocks noChangeAspect="1"/>
          </p:cNvPicPr>
          <p:nvPr/>
        </p:nvPicPr>
        <p:blipFill>
          <a:blip r:embed="rId3"/>
          <a:stretch>
            <a:fillRect/>
          </a:stretch>
        </p:blipFill>
        <p:spPr>
          <a:xfrm>
            <a:off x="157604" y="3285514"/>
            <a:ext cx="3475281" cy="3270849"/>
          </a:xfrm>
          <a:prstGeom prst="rect">
            <a:avLst/>
          </a:prstGeom>
        </p:spPr>
      </p:pic>
    </p:spTree>
    <p:extLst>
      <p:ext uri="{BB962C8B-B14F-4D97-AF65-F5344CB8AC3E}">
        <p14:creationId xmlns:p14="http://schemas.microsoft.com/office/powerpoint/2010/main" val="35726883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44843" y="146780"/>
            <a:ext cx="9144000" cy="1477328"/>
          </a:xfrm>
          <a:prstGeom prst="rect">
            <a:avLst/>
          </a:prstGeom>
        </p:spPr>
        <p:txBody>
          <a:bodyPr wrap="square">
            <a:spAutoFit/>
          </a:bodyPr>
          <a:lstStyle/>
          <a:p>
            <a:r>
              <a:rPr lang="fr-FR" b="1" dirty="0">
                <a:latin typeface="F35"/>
              </a:rPr>
              <a:t>2.4.3.1 </a:t>
            </a:r>
            <a:r>
              <a:rPr lang="fr-FR" b="1" u="sng" dirty="0">
                <a:latin typeface="F35"/>
              </a:rPr>
              <a:t>Les perspectives parallèles - constructions des perspectives axonométriques - cavalières et iso cavalières</a:t>
            </a:r>
          </a:p>
          <a:p>
            <a:endParaRPr lang="fr-FR" b="1" u="sng" dirty="0">
              <a:latin typeface="F35"/>
            </a:endParaRPr>
          </a:p>
          <a:p>
            <a:r>
              <a:rPr lang="fr-FR" dirty="0">
                <a:latin typeface="F15"/>
              </a:rPr>
              <a:t>Tous les volumes représentés sont mesurables en appliquant le ( ou les) facteur(s) de réduction.</a:t>
            </a:r>
            <a:endParaRPr lang="fr-FR" dirty="0"/>
          </a:p>
        </p:txBody>
      </p:sp>
      <p:pic>
        <p:nvPicPr>
          <p:cNvPr id="3" name="Image 2"/>
          <p:cNvPicPr>
            <a:picLocks noChangeAspect="1"/>
          </p:cNvPicPr>
          <p:nvPr/>
        </p:nvPicPr>
        <p:blipFill>
          <a:blip r:embed="rId2"/>
          <a:stretch>
            <a:fillRect/>
          </a:stretch>
        </p:blipFill>
        <p:spPr>
          <a:xfrm>
            <a:off x="199260" y="1624108"/>
            <a:ext cx="6759712" cy="1594650"/>
          </a:xfrm>
          <a:prstGeom prst="rect">
            <a:avLst/>
          </a:prstGeom>
        </p:spPr>
      </p:pic>
      <p:pic>
        <p:nvPicPr>
          <p:cNvPr id="4" name="Image 3"/>
          <p:cNvPicPr>
            <a:picLocks noChangeAspect="1"/>
          </p:cNvPicPr>
          <p:nvPr/>
        </p:nvPicPr>
        <p:blipFill>
          <a:blip r:embed="rId3"/>
          <a:stretch>
            <a:fillRect/>
          </a:stretch>
        </p:blipFill>
        <p:spPr>
          <a:xfrm>
            <a:off x="199261" y="4643718"/>
            <a:ext cx="6819378" cy="1452281"/>
          </a:xfrm>
          <a:prstGeom prst="rect">
            <a:avLst/>
          </a:prstGeom>
        </p:spPr>
      </p:pic>
      <p:sp>
        <p:nvSpPr>
          <p:cNvPr id="5" name="Rectangle 4"/>
          <p:cNvSpPr/>
          <p:nvPr/>
        </p:nvSpPr>
        <p:spPr>
          <a:xfrm>
            <a:off x="7158681" y="2052486"/>
            <a:ext cx="5033319" cy="923330"/>
          </a:xfrm>
          <a:prstGeom prst="rect">
            <a:avLst/>
          </a:prstGeom>
        </p:spPr>
        <p:txBody>
          <a:bodyPr wrap="square">
            <a:spAutoFit/>
          </a:bodyPr>
          <a:lstStyle/>
          <a:p>
            <a:r>
              <a:rPr lang="fr-FR" dirty="0">
                <a:latin typeface="F15"/>
              </a:rPr>
              <a:t>Projections axonométriques :</a:t>
            </a:r>
          </a:p>
          <a:p>
            <a:r>
              <a:rPr lang="fr-FR" dirty="0">
                <a:latin typeface="F15"/>
              </a:rPr>
              <a:t>Ces types de projections seront étudiés ultérieurement.</a:t>
            </a:r>
            <a:endParaRPr lang="fr-FR" dirty="0"/>
          </a:p>
        </p:txBody>
      </p:sp>
      <p:sp>
        <p:nvSpPr>
          <p:cNvPr id="6" name="Rectangle 5"/>
          <p:cNvSpPr/>
          <p:nvPr/>
        </p:nvSpPr>
        <p:spPr>
          <a:xfrm>
            <a:off x="7158681" y="5185192"/>
            <a:ext cx="4358985" cy="369332"/>
          </a:xfrm>
          <a:prstGeom prst="rect">
            <a:avLst/>
          </a:prstGeom>
        </p:spPr>
        <p:txBody>
          <a:bodyPr wrap="square">
            <a:spAutoFit/>
          </a:bodyPr>
          <a:lstStyle/>
          <a:p>
            <a:r>
              <a:rPr lang="fr-FR" dirty="0">
                <a:latin typeface="F15"/>
              </a:rPr>
              <a:t>Projections cavalières et iso cavalières</a:t>
            </a:r>
            <a:endParaRPr lang="fr-FR" dirty="0"/>
          </a:p>
        </p:txBody>
      </p:sp>
    </p:spTree>
    <p:extLst>
      <p:ext uri="{BB962C8B-B14F-4D97-AF65-F5344CB8AC3E}">
        <p14:creationId xmlns:p14="http://schemas.microsoft.com/office/powerpoint/2010/main" val="23708743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2254775" y="1210963"/>
            <a:ext cx="7144909" cy="2899746"/>
          </a:xfrm>
          <a:prstGeom prst="rect">
            <a:avLst/>
          </a:prstGeom>
        </p:spPr>
      </p:pic>
      <p:sp>
        <p:nvSpPr>
          <p:cNvPr id="3" name="Rectangle 2"/>
          <p:cNvSpPr/>
          <p:nvPr/>
        </p:nvSpPr>
        <p:spPr>
          <a:xfrm>
            <a:off x="1540474" y="4618290"/>
            <a:ext cx="9209903" cy="1754326"/>
          </a:xfrm>
          <a:prstGeom prst="rect">
            <a:avLst/>
          </a:prstGeom>
        </p:spPr>
        <p:txBody>
          <a:bodyPr wrap="square">
            <a:spAutoFit/>
          </a:bodyPr>
          <a:lstStyle/>
          <a:p>
            <a:r>
              <a:rPr lang="fr-FR" dirty="0">
                <a:latin typeface="F15"/>
              </a:rPr>
              <a:t>Ses avantages sont de conserver les images frontales en vraie grandeur notamment les courbes – de travailler sur les trois axes en vraie grandeur</a:t>
            </a:r>
          </a:p>
          <a:p>
            <a:r>
              <a:rPr lang="fr-FR" dirty="0">
                <a:latin typeface="F15"/>
              </a:rPr>
              <a:t>On dessine la face en vraie grandeur sur le plan du trièdre. Puis par chaque sommet on trace les fuyantes parallèles à 45</a:t>
            </a:r>
            <a:r>
              <a:rPr lang="fr-FR" dirty="0">
                <a:latin typeface="F39"/>
              </a:rPr>
              <a:t>°</a:t>
            </a:r>
            <a:r>
              <a:rPr lang="fr-FR" dirty="0">
                <a:latin typeface="F15"/>
              </a:rPr>
              <a:t>. </a:t>
            </a:r>
          </a:p>
          <a:p>
            <a:r>
              <a:rPr lang="fr-FR" dirty="0">
                <a:latin typeface="F15"/>
              </a:rPr>
              <a:t>On porte sur les fuyantes la vraie grandeur des côtés ou suivant le facteur de réduction imposé.</a:t>
            </a:r>
            <a:endParaRPr lang="fr-FR" dirty="0"/>
          </a:p>
        </p:txBody>
      </p:sp>
      <p:sp>
        <p:nvSpPr>
          <p:cNvPr id="4" name="Rectangle 3"/>
          <p:cNvSpPr/>
          <p:nvPr/>
        </p:nvSpPr>
        <p:spPr>
          <a:xfrm>
            <a:off x="2437358" y="334050"/>
            <a:ext cx="6779741" cy="369332"/>
          </a:xfrm>
          <a:prstGeom prst="rect">
            <a:avLst/>
          </a:prstGeom>
        </p:spPr>
        <p:txBody>
          <a:bodyPr wrap="square">
            <a:spAutoFit/>
          </a:bodyPr>
          <a:lstStyle/>
          <a:p>
            <a:r>
              <a:rPr lang="fr-FR" dirty="0">
                <a:latin typeface="F15"/>
              </a:rPr>
              <a:t>La perspective cavalière d'un cube - réduction des profondeurs -</a:t>
            </a:r>
            <a:endParaRPr lang="fr-FR" dirty="0"/>
          </a:p>
        </p:txBody>
      </p:sp>
    </p:spTree>
    <p:extLst>
      <p:ext uri="{BB962C8B-B14F-4D97-AF65-F5344CB8AC3E}">
        <p14:creationId xmlns:p14="http://schemas.microsoft.com/office/powerpoint/2010/main" val="4132789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93124" y="275092"/>
            <a:ext cx="9382898" cy="4524315"/>
          </a:xfrm>
          <a:prstGeom prst="rect">
            <a:avLst/>
          </a:prstGeom>
        </p:spPr>
        <p:txBody>
          <a:bodyPr wrap="square">
            <a:spAutoFit/>
          </a:bodyPr>
          <a:lstStyle/>
          <a:p>
            <a:r>
              <a:rPr lang="fr-FR" b="1" dirty="0">
                <a:latin typeface="F35"/>
              </a:rPr>
              <a:t>Réduction à appliquer pour les perspectives isométriques, dimétriques, anisométriques.</a:t>
            </a:r>
          </a:p>
          <a:p>
            <a:r>
              <a:rPr lang="fr-FR" dirty="0">
                <a:latin typeface="F15"/>
              </a:rPr>
              <a:t>Les démonstrations des différents facteurs de réduction seront expliquées en détails après avoir vu le</a:t>
            </a:r>
          </a:p>
          <a:p>
            <a:r>
              <a:rPr lang="fr-FR" dirty="0">
                <a:latin typeface="F15"/>
              </a:rPr>
              <a:t>chapitre des rabattements.</a:t>
            </a:r>
          </a:p>
          <a:p>
            <a:endParaRPr lang="fr-FR" dirty="0">
              <a:latin typeface="F15"/>
            </a:endParaRPr>
          </a:p>
          <a:p>
            <a:r>
              <a:rPr lang="fr-FR" b="1" dirty="0">
                <a:latin typeface="F35"/>
              </a:rPr>
              <a:t>Utilisation des échelles de réduction.</a:t>
            </a:r>
            <a:r>
              <a:rPr lang="fr-FR" dirty="0">
                <a:latin typeface="F35"/>
              </a:rPr>
              <a:t> </a:t>
            </a:r>
          </a:p>
          <a:p>
            <a:r>
              <a:rPr lang="fr-FR" dirty="0">
                <a:latin typeface="F15"/>
              </a:rPr>
              <a:t>On peut s'imposer un choix d'axes en fonction des facilités du tracé, tel l'emploi d'équerres courantes ou l'aspect du cube en perspective, puis calculer graphiquement les échelles de réduction.</a:t>
            </a:r>
          </a:p>
          <a:p>
            <a:r>
              <a:rPr lang="fr-FR" dirty="0">
                <a:latin typeface="F15"/>
              </a:rPr>
              <a:t>On simplifie ensuite le résultat pour obtenir des échelles de réduction faciles à calculer.</a:t>
            </a:r>
          </a:p>
          <a:p>
            <a:r>
              <a:rPr lang="fr-FR" dirty="0">
                <a:latin typeface="F15"/>
              </a:rPr>
              <a:t>Pour </a:t>
            </a:r>
            <a:r>
              <a:rPr lang="fr-FR" b="1" dirty="0">
                <a:latin typeface="F15"/>
              </a:rPr>
              <a:t>l'</a:t>
            </a:r>
            <a:r>
              <a:rPr lang="fr-FR" b="1" dirty="0">
                <a:latin typeface="F35"/>
              </a:rPr>
              <a:t>isométrie</a:t>
            </a:r>
            <a:r>
              <a:rPr lang="fr-FR" dirty="0">
                <a:latin typeface="F15"/>
              </a:rPr>
              <a:t>, le calcul des échelles de réduction donne 0,816 pour chacun des axes et par simplification on adopte la vraie grandeur pour les 3 axes. (convention ?)</a:t>
            </a:r>
          </a:p>
          <a:p>
            <a:r>
              <a:rPr lang="fr-FR" dirty="0">
                <a:latin typeface="F15"/>
              </a:rPr>
              <a:t>Pour les </a:t>
            </a:r>
            <a:r>
              <a:rPr lang="fr-FR" b="1" dirty="0">
                <a:latin typeface="F35"/>
              </a:rPr>
              <a:t>dimétries</a:t>
            </a:r>
            <a:r>
              <a:rPr lang="fr-FR" dirty="0">
                <a:latin typeface="F35"/>
              </a:rPr>
              <a:t> </a:t>
            </a:r>
            <a:r>
              <a:rPr lang="fr-FR" dirty="0">
                <a:latin typeface="F15"/>
              </a:rPr>
              <a:t>(2 angles égaux) et </a:t>
            </a:r>
            <a:r>
              <a:rPr lang="fr-FR" b="1" dirty="0">
                <a:latin typeface="F35"/>
              </a:rPr>
              <a:t>anisométries</a:t>
            </a:r>
            <a:r>
              <a:rPr lang="fr-FR" dirty="0">
                <a:latin typeface="F35"/>
              </a:rPr>
              <a:t> </a:t>
            </a:r>
            <a:r>
              <a:rPr lang="fr-FR" dirty="0">
                <a:latin typeface="F15"/>
              </a:rPr>
              <a:t>(3 angles différents), on calcule les échelles de réduction suivant les axes et on simplifie les échelles.</a:t>
            </a:r>
          </a:p>
          <a:p>
            <a:r>
              <a:rPr lang="fr-FR" dirty="0">
                <a:latin typeface="F15"/>
              </a:rPr>
              <a:t>L'utilisation d'un canevas facilitera grandement les épures.</a:t>
            </a:r>
            <a:endParaRPr lang="fr-FR" dirty="0"/>
          </a:p>
        </p:txBody>
      </p:sp>
    </p:spTree>
    <p:extLst>
      <p:ext uri="{BB962C8B-B14F-4D97-AF65-F5344CB8AC3E}">
        <p14:creationId xmlns:p14="http://schemas.microsoft.com/office/powerpoint/2010/main" val="35341142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1661997" y="82378"/>
            <a:ext cx="8437591" cy="6656173"/>
          </a:xfrm>
          <a:prstGeom prst="rect">
            <a:avLst/>
          </a:prstGeom>
        </p:spPr>
      </p:pic>
    </p:spTree>
    <p:extLst>
      <p:ext uri="{BB962C8B-B14F-4D97-AF65-F5344CB8AC3E}">
        <p14:creationId xmlns:p14="http://schemas.microsoft.com/office/powerpoint/2010/main" val="22271193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2195140" y="96637"/>
            <a:ext cx="6298071" cy="5196856"/>
          </a:xfrm>
          <a:prstGeom prst="rect">
            <a:avLst/>
          </a:prstGeom>
        </p:spPr>
      </p:pic>
      <p:sp>
        <p:nvSpPr>
          <p:cNvPr id="3" name="Rectangle 2"/>
          <p:cNvSpPr/>
          <p:nvPr/>
        </p:nvSpPr>
        <p:spPr>
          <a:xfrm>
            <a:off x="2195140" y="5293493"/>
            <a:ext cx="6096000" cy="1477328"/>
          </a:xfrm>
          <a:prstGeom prst="rect">
            <a:avLst/>
          </a:prstGeom>
        </p:spPr>
        <p:txBody>
          <a:bodyPr>
            <a:spAutoFit/>
          </a:bodyPr>
          <a:lstStyle/>
          <a:p>
            <a:r>
              <a:rPr lang="fr-FR" dirty="0">
                <a:latin typeface="F15"/>
              </a:rPr>
              <a:t>Méthode graphique pour déterminer les facteurs de réduction à appliquer aux axes (suivant le point de vue de l'observateur).</a:t>
            </a:r>
          </a:p>
          <a:p>
            <a:r>
              <a:rPr lang="fr-FR" dirty="0">
                <a:latin typeface="F15"/>
              </a:rPr>
              <a:t>Le chapitre des rabattements nous permettra de vérifier l'exactitude de cette méthode.</a:t>
            </a:r>
            <a:endParaRPr lang="fr-FR" dirty="0"/>
          </a:p>
        </p:txBody>
      </p:sp>
    </p:spTree>
    <p:extLst>
      <p:ext uri="{BB962C8B-B14F-4D97-AF65-F5344CB8AC3E}">
        <p14:creationId xmlns:p14="http://schemas.microsoft.com/office/powerpoint/2010/main" val="3361291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31689" y="0"/>
            <a:ext cx="3980577" cy="369332"/>
          </a:xfrm>
          <a:prstGeom prst="rect">
            <a:avLst/>
          </a:prstGeom>
        </p:spPr>
        <p:txBody>
          <a:bodyPr wrap="none">
            <a:spAutoFit/>
          </a:bodyPr>
          <a:lstStyle/>
          <a:p>
            <a:r>
              <a:rPr lang="fr-FR" b="1" dirty="0">
                <a:latin typeface="F38"/>
              </a:rPr>
              <a:t>2.5 </a:t>
            </a:r>
            <a:r>
              <a:rPr lang="fr-FR" b="1" u="sng" dirty="0">
                <a:latin typeface="F38"/>
              </a:rPr>
              <a:t>Importance des vus et cachés </a:t>
            </a:r>
            <a:r>
              <a:rPr lang="fr-FR" dirty="0">
                <a:latin typeface="F38"/>
              </a:rPr>
              <a:t>:</a:t>
            </a:r>
            <a:endParaRPr lang="fr-FR" dirty="0"/>
          </a:p>
        </p:txBody>
      </p:sp>
      <p:pic>
        <p:nvPicPr>
          <p:cNvPr id="3" name="Image 2"/>
          <p:cNvPicPr>
            <a:picLocks noChangeAspect="1"/>
          </p:cNvPicPr>
          <p:nvPr/>
        </p:nvPicPr>
        <p:blipFill>
          <a:blip r:embed="rId2"/>
          <a:stretch>
            <a:fillRect/>
          </a:stretch>
        </p:blipFill>
        <p:spPr>
          <a:xfrm>
            <a:off x="1593134" y="879759"/>
            <a:ext cx="3252915" cy="3085112"/>
          </a:xfrm>
          <a:prstGeom prst="rect">
            <a:avLst/>
          </a:prstGeom>
        </p:spPr>
      </p:pic>
      <p:pic>
        <p:nvPicPr>
          <p:cNvPr id="4" name="Image 3"/>
          <p:cNvPicPr>
            <a:picLocks noChangeAspect="1"/>
          </p:cNvPicPr>
          <p:nvPr/>
        </p:nvPicPr>
        <p:blipFill>
          <a:blip r:embed="rId3"/>
          <a:stretch>
            <a:fillRect/>
          </a:stretch>
        </p:blipFill>
        <p:spPr>
          <a:xfrm>
            <a:off x="5181757" y="879759"/>
            <a:ext cx="3132788" cy="3085112"/>
          </a:xfrm>
          <a:prstGeom prst="rect">
            <a:avLst/>
          </a:prstGeom>
        </p:spPr>
      </p:pic>
      <p:pic>
        <p:nvPicPr>
          <p:cNvPr id="5" name="Image 4"/>
          <p:cNvPicPr>
            <a:picLocks noChangeAspect="1"/>
          </p:cNvPicPr>
          <p:nvPr/>
        </p:nvPicPr>
        <p:blipFill>
          <a:blip r:embed="rId4"/>
          <a:stretch>
            <a:fillRect/>
          </a:stretch>
        </p:blipFill>
        <p:spPr>
          <a:xfrm>
            <a:off x="8669439" y="885526"/>
            <a:ext cx="3087267" cy="3079345"/>
          </a:xfrm>
          <a:prstGeom prst="rect">
            <a:avLst/>
          </a:prstGeom>
        </p:spPr>
      </p:pic>
      <p:sp>
        <p:nvSpPr>
          <p:cNvPr id="6" name="Rectangle 5"/>
          <p:cNvSpPr/>
          <p:nvPr/>
        </p:nvSpPr>
        <p:spPr>
          <a:xfrm>
            <a:off x="660329" y="4363306"/>
            <a:ext cx="10885105" cy="923330"/>
          </a:xfrm>
          <a:prstGeom prst="rect">
            <a:avLst/>
          </a:prstGeom>
        </p:spPr>
        <p:txBody>
          <a:bodyPr wrap="square">
            <a:spAutoFit/>
          </a:bodyPr>
          <a:lstStyle/>
          <a:p>
            <a:r>
              <a:rPr lang="fr-FR" dirty="0">
                <a:latin typeface="F15"/>
              </a:rPr>
              <a:t>représentation filaire = comment lire l'objet ?            1 : vue de dessous                            2 : vue dessus</a:t>
            </a:r>
          </a:p>
          <a:p>
            <a:endParaRPr lang="fr-FR" dirty="0">
              <a:latin typeface="F15"/>
            </a:endParaRPr>
          </a:p>
          <a:p>
            <a:r>
              <a:rPr lang="fr-FR" dirty="0">
                <a:latin typeface="F15"/>
              </a:rPr>
              <a:t>On obtient une vue plongeante ou plafonnante par le simple choix des arêtes vues .</a:t>
            </a:r>
            <a:endParaRPr lang="fr-FR" dirty="0"/>
          </a:p>
        </p:txBody>
      </p:sp>
    </p:spTree>
    <p:extLst>
      <p:ext uri="{BB962C8B-B14F-4D97-AF65-F5344CB8AC3E}">
        <p14:creationId xmlns:p14="http://schemas.microsoft.com/office/powerpoint/2010/main" val="10343500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7180" y="123568"/>
            <a:ext cx="10668000" cy="1477328"/>
          </a:xfrm>
          <a:prstGeom prst="rect">
            <a:avLst/>
          </a:prstGeom>
        </p:spPr>
        <p:txBody>
          <a:bodyPr wrap="square">
            <a:spAutoFit/>
          </a:bodyPr>
          <a:lstStyle/>
          <a:p>
            <a:r>
              <a:rPr lang="fr-FR" b="1" dirty="0">
                <a:latin typeface="F15"/>
              </a:rPr>
              <a:t>Application n</a:t>
            </a:r>
            <a:r>
              <a:rPr lang="fr-FR" b="1" dirty="0">
                <a:latin typeface="F39"/>
              </a:rPr>
              <a:t>°</a:t>
            </a:r>
            <a:r>
              <a:rPr lang="fr-FR" b="1" dirty="0">
                <a:latin typeface="F15"/>
              </a:rPr>
              <a:t>1</a:t>
            </a:r>
          </a:p>
          <a:p>
            <a:r>
              <a:rPr lang="fr-FR" dirty="0">
                <a:latin typeface="F15"/>
              </a:rPr>
              <a:t>Complétez les vus et cachés (représentations filaires) des 4 projections ainsi que ceux de la perspective.</a:t>
            </a:r>
          </a:p>
          <a:p>
            <a:r>
              <a:rPr lang="fr-FR" dirty="0">
                <a:latin typeface="F15"/>
              </a:rPr>
              <a:t>Les lignes cachées doivent être représentées en pointillé (trait interrompu) </a:t>
            </a:r>
            <a:r>
              <a:rPr lang="fr-FR" dirty="0">
                <a:latin typeface="F35"/>
              </a:rPr>
              <a:t>- - - - - - - -</a:t>
            </a:r>
            <a:r>
              <a:rPr lang="fr-FR" dirty="0">
                <a:latin typeface="F15"/>
              </a:rPr>
              <a:t>, les arêtes</a:t>
            </a:r>
          </a:p>
          <a:p>
            <a:r>
              <a:rPr lang="fr-FR" dirty="0">
                <a:latin typeface="F15"/>
              </a:rPr>
              <a:t>vues en trait plein.</a:t>
            </a:r>
            <a:endParaRPr lang="fr-FR" dirty="0"/>
          </a:p>
        </p:txBody>
      </p:sp>
      <p:pic>
        <p:nvPicPr>
          <p:cNvPr id="3" name="Image 2"/>
          <p:cNvPicPr>
            <a:picLocks noChangeAspect="1"/>
          </p:cNvPicPr>
          <p:nvPr/>
        </p:nvPicPr>
        <p:blipFill>
          <a:blip r:embed="rId2"/>
          <a:stretch>
            <a:fillRect/>
          </a:stretch>
        </p:blipFill>
        <p:spPr>
          <a:xfrm>
            <a:off x="241253" y="1699750"/>
            <a:ext cx="6736195" cy="3826588"/>
          </a:xfrm>
          <a:prstGeom prst="rect">
            <a:avLst/>
          </a:prstGeom>
        </p:spPr>
      </p:pic>
      <p:pic>
        <p:nvPicPr>
          <p:cNvPr id="4" name="Image 3"/>
          <p:cNvPicPr>
            <a:picLocks noChangeAspect="1"/>
          </p:cNvPicPr>
          <p:nvPr/>
        </p:nvPicPr>
        <p:blipFill>
          <a:blip r:embed="rId3"/>
          <a:stretch>
            <a:fillRect/>
          </a:stretch>
        </p:blipFill>
        <p:spPr>
          <a:xfrm>
            <a:off x="7742162" y="1699750"/>
            <a:ext cx="4449839" cy="3952300"/>
          </a:xfrm>
          <a:prstGeom prst="rect">
            <a:avLst/>
          </a:prstGeom>
        </p:spPr>
      </p:pic>
    </p:spTree>
    <p:extLst>
      <p:ext uri="{BB962C8B-B14F-4D97-AF65-F5344CB8AC3E}">
        <p14:creationId xmlns:p14="http://schemas.microsoft.com/office/powerpoint/2010/main" val="32024724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7698" y="89243"/>
            <a:ext cx="2287806" cy="369332"/>
          </a:xfrm>
          <a:prstGeom prst="rect">
            <a:avLst/>
          </a:prstGeom>
        </p:spPr>
        <p:txBody>
          <a:bodyPr wrap="none">
            <a:spAutoFit/>
          </a:bodyPr>
          <a:lstStyle/>
          <a:p>
            <a:r>
              <a:rPr lang="fr-FR" b="1" dirty="0">
                <a:latin typeface="F15"/>
              </a:rPr>
              <a:t>Exemple de lecture</a:t>
            </a:r>
            <a:endParaRPr lang="fr-FR" b="1" dirty="0"/>
          </a:p>
        </p:txBody>
      </p:sp>
      <p:pic>
        <p:nvPicPr>
          <p:cNvPr id="3" name="Image 2"/>
          <p:cNvPicPr>
            <a:picLocks noChangeAspect="1"/>
          </p:cNvPicPr>
          <p:nvPr/>
        </p:nvPicPr>
        <p:blipFill>
          <a:blip r:embed="rId2"/>
          <a:stretch>
            <a:fillRect/>
          </a:stretch>
        </p:blipFill>
        <p:spPr>
          <a:xfrm>
            <a:off x="2537880" y="89243"/>
            <a:ext cx="2317500" cy="2018333"/>
          </a:xfrm>
          <a:prstGeom prst="rect">
            <a:avLst/>
          </a:prstGeom>
        </p:spPr>
      </p:pic>
      <p:pic>
        <p:nvPicPr>
          <p:cNvPr id="4" name="Image 3"/>
          <p:cNvPicPr>
            <a:picLocks noChangeAspect="1"/>
          </p:cNvPicPr>
          <p:nvPr/>
        </p:nvPicPr>
        <p:blipFill>
          <a:blip r:embed="rId3"/>
          <a:stretch>
            <a:fillRect/>
          </a:stretch>
        </p:blipFill>
        <p:spPr>
          <a:xfrm>
            <a:off x="5823524" y="89243"/>
            <a:ext cx="3131005" cy="2121635"/>
          </a:xfrm>
          <a:prstGeom prst="rect">
            <a:avLst/>
          </a:prstGeom>
        </p:spPr>
      </p:pic>
      <p:pic>
        <p:nvPicPr>
          <p:cNvPr id="5" name="Image 4"/>
          <p:cNvPicPr>
            <a:picLocks noChangeAspect="1"/>
          </p:cNvPicPr>
          <p:nvPr/>
        </p:nvPicPr>
        <p:blipFill>
          <a:blip r:embed="rId4"/>
          <a:stretch>
            <a:fillRect/>
          </a:stretch>
        </p:blipFill>
        <p:spPr>
          <a:xfrm>
            <a:off x="287071" y="2430163"/>
            <a:ext cx="3185206" cy="2127061"/>
          </a:xfrm>
          <a:prstGeom prst="rect">
            <a:avLst/>
          </a:prstGeom>
        </p:spPr>
      </p:pic>
      <p:pic>
        <p:nvPicPr>
          <p:cNvPr id="6" name="Image 5"/>
          <p:cNvPicPr>
            <a:picLocks noChangeAspect="1"/>
          </p:cNvPicPr>
          <p:nvPr/>
        </p:nvPicPr>
        <p:blipFill>
          <a:blip r:embed="rId5"/>
          <a:stretch>
            <a:fillRect/>
          </a:stretch>
        </p:blipFill>
        <p:spPr>
          <a:xfrm>
            <a:off x="4238730" y="2430163"/>
            <a:ext cx="3416828" cy="2121635"/>
          </a:xfrm>
          <a:prstGeom prst="rect">
            <a:avLst/>
          </a:prstGeom>
        </p:spPr>
      </p:pic>
      <p:pic>
        <p:nvPicPr>
          <p:cNvPr id="7" name="Image 6"/>
          <p:cNvPicPr>
            <a:picLocks noChangeAspect="1"/>
          </p:cNvPicPr>
          <p:nvPr/>
        </p:nvPicPr>
        <p:blipFill>
          <a:blip r:embed="rId6"/>
          <a:stretch>
            <a:fillRect/>
          </a:stretch>
        </p:blipFill>
        <p:spPr>
          <a:xfrm>
            <a:off x="8422011" y="2430163"/>
            <a:ext cx="3399287" cy="2122383"/>
          </a:xfrm>
          <a:prstGeom prst="rect">
            <a:avLst/>
          </a:prstGeom>
        </p:spPr>
      </p:pic>
      <p:pic>
        <p:nvPicPr>
          <p:cNvPr id="8" name="Image 7"/>
          <p:cNvPicPr>
            <a:picLocks noChangeAspect="1"/>
          </p:cNvPicPr>
          <p:nvPr/>
        </p:nvPicPr>
        <p:blipFill>
          <a:blip r:embed="rId7"/>
          <a:stretch>
            <a:fillRect/>
          </a:stretch>
        </p:blipFill>
        <p:spPr>
          <a:xfrm>
            <a:off x="287071" y="4750832"/>
            <a:ext cx="3185833" cy="1992747"/>
          </a:xfrm>
          <a:prstGeom prst="rect">
            <a:avLst/>
          </a:prstGeom>
        </p:spPr>
      </p:pic>
      <p:pic>
        <p:nvPicPr>
          <p:cNvPr id="9" name="Image 8"/>
          <p:cNvPicPr>
            <a:picLocks noChangeAspect="1"/>
          </p:cNvPicPr>
          <p:nvPr/>
        </p:nvPicPr>
        <p:blipFill>
          <a:blip r:embed="rId8"/>
          <a:stretch>
            <a:fillRect/>
          </a:stretch>
        </p:blipFill>
        <p:spPr>
          <a:xfrm>
            <a:off x="4367720" y="4771083"/>
            <a:ext cx="3158848" cy="2001107"/>
          </a:xfrm>
          <a:prstGeom prst="rect">
            <a:avLst/>
          </a:prstGeom>
        </p:spPr>
      </p:pic>
      <p:pic>
        <p:nvPicPr>
          <p:cNvPr id="10" name="Image 9"/>
          <p:cNvPicPr>
            <a:picLocks noChangeAspect="1"/>
          </p:cNvPicPr>
          <p:nvPr/>
        </p:nvPicPr>
        <p:blipFill>
          <a:blip r:embed="rId9"/>
          <a:stretch>
            <a:fillRect/>
          </a:stretch>
        </p:blipFill>
        <p:spPr>
          <a:xfrm>
            <a:off x="8528476" y="4771083"/>
            <a:ext cx="3185730" cy="1998212"/>
          </a:xfrm>
          <a:prstGeom prst="rect">
            <a:avLst/>
          </a:prstGeom>
        </p:spPr>
      </p:pic>
    </p:spTree>
    <p:extLst>
      <p:ext uri="{BB962C8B-B14F-4D97-AF65-F5344CB8AC3E}">
        <p14:creationId xmlns:p14="http://schemas.microsoft.com/office/powerpoint/2010/main" val="30581945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22854" y="2726724"/>
            <a:ext cx="9275805" cy="11121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rPr>
              <a:t>CHAPITRE 3</a:t>
            </a:r>
          </a:p>
          <a:p>
            <a:pPr algn="ctr"/>
            <a:r>
              <a:rPr lang="fr-FR" sz="2800" b="1" dirty="0">
                <a:solidFill>
                  <a:schemeClr val="bg1"/>
                </a:solidFill>
              </a:rPr>
              <a:t>Point, Droit, Plan</a:t>
            </a:r>
          </a:p>
        </p:txBody>
      </p:sp>
    </p:spTree>
    <p:extLst>
      <p:ext uri="{BB962C8B-B14F-4D97-AF65-F5344CB8AC3E}">
        <p14:creationId xmlns:p14="http://schemas.microsoft.com/office/powerpoint/2010/main" val="37754632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48712" y="0"/>
            <a:ext cx="10643287" cy="369332"/>
          </a:xfrm>
          <a:prstGeom prst="rect">
            <a:avLst/>
          </a:prstGeom>
        </p:spPr>
        <p:txBody>
          <a:bodyPr wrap="square">
            <a:spAutoFit/>
          </a:bodyPr>
          <a:lstStyle/>
          <a:p>
            <a:r>
              <a:rPr lang="fr-FR" b="1" dirty="0">
                <a:latin typeface="F38"/>
              </a:rPr>
              <a:t>3.1 </a:t>
            </a:r>
            <a:r>
              <a:rPr lang="fr-FR" b="1" u="sng" dirty="0">
                <a:latin typeface="F38"/>
              </a:rPr>
              <a:t>Le point</a:t>
            </a:r>
          </a:p>
        </p:txBody>
      </p:sp>
      <p:pic>
        <p:nvPicPr>
          <p:cNvPr id="3" name="Image 2"/>
          <p:cNvPicPr>
            <a:picLocks noChangeAspect="1"/>
          </p:cNvPicPr>
          <p:nvPr/>
        </p:nvPicPr>
        <p:blipFill>
          <a:blip r:embed="rId2"/>
          <a:stretch>
            <a:fillRect/>
          </a:stretch>
        </p:blipFill>
        <p:spPr>
          <a:xfrm>
            <a:off x="1714457" y="395250"/>
            <a:ext cx="2124375" cy="2358927"/>
          </a:xfrm>
          <a:prstGeom prst="rect">
            <a:avLst/>
          </a:prstGeom>
        </p:spPr>
      </p:pic>
      <p:sp>
        <p:nvSpPr>
          <p:cNvPr id="4" name="Rectangle 3"/>
          <p:cNvSpPr/>
          <p:nvPr/>
        </p:nvSpPr>
        <p:spPr>
          <a:xfrm>
            <a:off x="4227000" y="671751"/>
            <a:ext cx="6096000" cy="923330"/>
          </a:xfrm>
          <a:prstGeom prst="rect">
            <a:avLst/>
          </a:prstGeom>
        </p:spPr>
        <p:txBody>
          <a:bodyPr>
            <a:spAutoFit/>
          </a:bodyPr>
          <a:lstStyle/>
          <a:p>
            <a:r>
              <a:rPr lang="fr-FR" dirty="0">
                <a:latin typeface="F15"/>
              </a:rPr>
              <a:t>On projette le point de l'espace " A " perpendiculairement aux plans de projection.</a:t>
            </a:r>
          </a:p>
          <a:p>
            <a:r>
              <a:rPr lang="fr-FR" dirty="0">
                <a:latin typeface="F15"/>
              </a:rPr>
              <a:t>Les projections de A sont : a et a' .</a:t>
            </a:r>
            <a:endParaRPr lang="fr-FR" dirty="0"/>
          </a:p>
        </p:txBody>
      </p:sp>
      <p:pic>
        <p:nvPicPr>
          <p:cNvPr id="5" name="Image 4"/>
          <p:cNvPicPr>
            <a:picLocks noChangeAspect="1"/>
          </p:cNvPicPr>
          <p:nvPr/>
        </p:nvPicPr>
        <p:blipFill>
          <a:blip r:embed="rId3"/>
          <a:stretch>
            <a:fillRect/>
          </a:stretch>
        </p:blipFill>
        <p:spPr>
          <a:xfrm>
            <a:off x="1069965" y="2820831"/>
            <a:ext cx="2768867" cy="2049366"/>
          </a:xfrm>
          <a:prstGeom prst="rect">
            <a:avLst/>
          </a:prstGeom>
        </p:spPr>
      </p:pic>
      <p:pic>
        <p:nvPicPr>
          <p:cNvPr id="6" name="Image 5"/>
          <p:cNvPicPr>
            <a:picLocks noChangeAspect="1"/>
          </p:cNvPicPr>
          <p:nvPr/>
        </p:nvPicPr>
        <p:blipFill>
          <a:blip r:embed="rId4"/>
          <a:stretch>
            <a:fillRect/>
          </a:stretch>
        </p:blipFill>
        <p:spPr>
          <a:xfrm>
            <a:off x="1292386" y="4936851"/>
            <a:ext cx="2324024" cy="1863659"/>
          </a:xfrm>
          <a:prstGeom prst="rect">
            <a:avLst/>
          </a:prstGeom>
        </p:spPr>
      </p:pic>
      <p:sp>
        <p:nvSpPr>
          <p:cNvPr id="7" name="Rectangle 6"/>
          <p:cNvSpPr/>
          <p:nvPr/>
        </p:nvSpPr>
        <p:spPr>
          <a:xfrm>
            <a:off x="4227000" y="2754177"/>
            <a:ext cx="8336693" cy="3970318"/>
          </a:xfrm>
          <a:prstGeom prst="rect">
            <a:avLst/>
          </a:prstGeom>
        </p:spPr>
        <p:txBody>
          <a:bodyPr wrap="square">
            <a:spAutoFit/>
          </a:bodyPr>
          <a:lstStyle/>
          <a:p>
            <a:r>
              <a:rPr lang="fr-FR" dirty="0">
                <a:latin typeface="F15"/>
              </a:rPr>
              <a:t>CONVENTIONS </a:t>
            </a:r>
          </a:p>
          <a:p>
            <a:r>
              <a:rPr lang="fr-FR" dirty="0">
                <a:latin typeface="F15"/>
              </a:rPr>
              <a:t>LT = ligne d'intersection entre le PH et le PF = ligne de</a:t>
            </a:r>
          </a:p>
          <a:p>
            <a:r>
              <a:rPr lang="fr-FR" dirty="0">
                <a:latin typeface="F15"/>
              </a:rPr>
              <a:t>terre, celle-ci servira de charnière pour rabattre le PH dans le</a:t>
            </a:r>
          </a:p>
          <a:p>
            <a:r>
              <a:rPr lang="fr-FR" dirty="0">
                <a:latin typeface="F15"/>
              </a:rPr>
              <a:t>prolongement du PF . </a:t>
            </a:r>
          </a:p>
          <a:p>
            <a:r>
              <a:rPr lang="fr-FR" dirty="0">
                <a:latin typeface="F15"/>
              </a:rPr>
              <a:t>a' = projection sur le plan frontal (PF) du point " A "</a:t>
            </a:r>
          </a:p>
          <a:p>
            <a:r>
              <a:rPr lang="fr-FR" dirty="0">
                <a:latin typeface="F15"/>
              </a:rPr>
              <a:t>cette projection donne la cote </a:t>
            </a:r>
            <a:r>
              <a:rPr lang="fr-FR" dirty="0" err="1">
                <a:latin typeface="F15"/>
              </a:rPr>
              <a:t>càd</a:t>
            </a:r>
            <a:r>
              <a:rPr lang="fr-FR" dirty="0">
                <a:latin typeface="F15"/>
              </a:rPr>
              <a:t> la hauteur ou l'altitude du</a:t>
            </a:r>
          </a:p>
          <a:p>
            <a:r>
              <a:rPr lang="fr-FR" dirty="0">
                <a:latin typeface="F15"/>
              </a:rPr>
              <a:t>point par rapport à la surface de référence qui est ici le plan</a:t>
            </a:r>
          </a:p>
          <a:p>
            <a:r>
              <a:rPr lang="fr-FR" dirty="0">
                <a:latin typeface="F15"/>
              </a:rPr>
              <a:t>Horizontal.</a:t>
            </a:r>
          </a:p>
          <a:p>
            <a:r>
              <a:rPr lang="fr-FR" dirty="0">
                <a:latin typeface="F15"/>
              </a:rPr>
              <a:t>a = projection sur le plan horizontal (PH) du point " A"</a:t>
            </a:r>
          </a:p>
          <a:p>
            <a:r>
              <a:rPr lang="fr-FR" dirty="0">
                <a:latin typeface="F15"/>
              </a:rPr>
              <a:t>cette projection donne l'éloignement du point au plan frontal</a:t>
            </a:r>
          </a:p>
          <a:p>
            <a:r>
              <a:rPr lang="fr-FR" dirty="0">
                <a:latin typeface="F15"/>
              </a:rPr>
              <a:t>de référence.</a:t>
            </a:r>
          </a:p>
          <a:p>
            <a:r>
              <a:rPr lang="fr-FR" dirty="0">
                <a:latin typeface="F15"/>
              </a:rPr>
              <a:t>Lire une épure c'est ramener par la pensée les deux plans de</a:t>
            </a:r>
          </a:p>
          <a:p>
            <a:r>
              <a:rPr lang="fr-FR" dirty="0">
                <a:latin typeface="F15"/>
              </a:rPr>
              <a:t>projection à être perpendiculaire l'un à l'autre et a se rendre</a:t>
            </a:r>
          </a:p>
          <a:p>
            <a:r>
              <a:rPr lang="fr-FR" dirty="0">
                <a:latin typeface="F15"/>
              </a:rPr>
              <a:t>compte de la </a:t>
            </a:r>
            <a:r>
              <a:rPr lang="fr-FR" dirty="0" err="1">
                <a:latin typeface="F15"/>
              </a:rPr>
              <a:t>gure</a:t>
            </a:r>
            <a:r>
              <a:rPr lang="fr-FR" dirty="0">
                <a:latin typeface="F15"/>
              </a:rPr>
              <a:t> de l'espace représentée par ses projections.</a:t>
            </a:r>
            <a:endParaRPr lang="fr-FR" dirty="0"/>
          </a:p>
        </p:txBody>
      </p:sp>
    </p:spTree>
    <p:extLst>
      <p:ext uri="{BB962C8B-B14F-4D97-AF65-F5344CB8AC3E}">
        <p14:creationId xmlns:p14="http://schemas.microsoft.com/office/powerpoint/2010/main" val="23755882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1006614" y="177692"/>
            <a:ext cx="3522600" cy="2595000"/>
          </a:xfrm>
          <a:prstGeom prst="rect">
            <a:avLst/>
          </a:prstGeom>
        </p:spPr>
      </p:pic>
      <p:sp>
        <p:nvSpPr>
          <p:cNvPr id="3" name="Rectangle 2"/>
          <p:cNvSpPr/>
          <p:nvPr/>
        </p:nvSpPr>
        <p:spPr>
          <a:xfrm>
            <a:off x="4529214" y="175591"/>
            <a:ext cx="6096000" cy="2585323"/>
          </a:xfrm>
          <a:prstGeom prst="rect">
            <a:avLst/>
          </a:prstGeom>
        </p:spPr>
        <p:txBody>
          <a:bodyPr>
            <a:spAutoFit/>
          </a:bodyPr>
          <a:lstStyle/>
          <a:p>
            <a:r>
              <a:rPr lang="fr-FR" dirty="0">
                <a:latin typeface="F15"/>
              </a:rPr>
              <a:t>Tous les problèmes de l'espace ne peuvent pas être résolus en faisant appel à deux plans de projection. Il est parfois utile d'utiliser un troisième plan de projection.</a:t>
            </a:r>
          </a:p>
          <a:p>
            <a:r>
              <a:rPr lang="fr-FR" dirty="0">
                <a:latin typeface="F15"/>
              </a:rPr>
              <a:t>On emploie un troisième plan de projection perpendiculaire aux deux premiers que l'on appelle plan de profil (PP).</a:t>
            </a:r>
          </a:p>
          <a:p>
            <a:r>
              <a:rPr lang="fr-FR" dirty="0">
                <a:latin typeface="F15"/>
              </a:rPr>
              <a:t>Il y a donc deux possibilités de dessiner un plan de profil : le profil gauche et le profil droit. Dans l'illustration c'est le profil gauche qui est représenté.</a:t>
            </a:r>
            <a:endParaRPr lang="fr-FR" dirty="0"/>
          </a:p>
        </p:txBody>
      </p:sp>
      <p:pic>
        <p:nvPicPr>
          <p:cNvPr id="4" name="Image 3"/>
          <p:cNvPicPr>
            <a:picLocks noChangeAspect="1"/>
          </p:cNvPicPr>
          <p:nvPr/>
        </p:nvPicPr>
        <p:blipFill>
          <a:blip r:embed="rId3"/>
          <a:stretch>
            <a:fillRect/>
          </a:stretch>
        </p:blipFill>
        <p:spPr>
          <a:xfrm>
            <a:off x="3329762" y="3484500"/>
            <a:ext cx="4889926" cy="3373500"/>
          </a:xfrm>
          <a:prstGeom prst="rect">
            <a:avLst/>
          </a:prstGeom>
        </p:spPr>
      </p:pic>
      <p:sp>
        <p:nvSpPr>
          <p:cNvPr id="5" name="Rectangle 4"/>
          <p:cNvSpPr/>
          <p:nvPr/>
        </p:nvSpPr>
        <p:spPr>
          <a:xfrm>
            <a:off x="3957561" y="2943930"/>
            <a:ext cx="4083169" cy="369332"/>
          </a:xfrm>
          <a:prstGeom prst="rect">
            <a:avLst/>
          </a:prstGeom>
        </p:spPr>
        <p:txBody>
          <a:bodyPr wrap="none">
            <a:spAutoFit/>
          </a:bodyPr>
          <a:lstStyle/>
          <a:p>
            <a:r>
              <a:rPr lang="fr-FR" b="1" dirty="0">
                <a:latin typeface="F15"/>
              </a:rPr>
              <a:t>Représentations et simplifications !</a:t>
            </a:r>
            <a:endParaRPr lang="fr-FR" b="1" dirty="0"/>
          </a:p>
        </p:txBody>
      </p:sp>
    </p:spTree>
    <p:extLst>
      <p:ext uri="{BB962C8B-B14F-4D97-AF65-F5344CB8AC3E}">
        <p14:creationId xmlns:p14="http://schemas.microsoft.com/office/powerpoint/2010/main" val="36305079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875625" y="433634"/>
            <a:ext cx="3174975" cy="5628267"/>
          </a:xfrm>
          <a:prstGeom prst="rect">
            <a:avLst/>
          </a:prstGeom>
        </p:spPr>
      </p:pic>
      <p:sp>
        <p:nvSpPr>
          <p:cNvPr id="3" name="Rectangle 2"/>
          <p:cNvSpPr/>
          <p:nvPr/>
        </p:nvSpPr>
        <p:spPr>
          <a:xfrm>
            <a:off x="4333103" y="548964"/>
            <a:ext cx="6096000" cy="4801314"/>
          </a:xfrm>
          <a:prstGeom prst="rect">
            <a:avLst/>
          </a:prstGeom>
        </p:spPr>
        <p:txBody>
          <a:bodyPr>
            <a:spAutoFit/>
          </a:bodyPr>
          <a:lstStyle/>
          <a:p>
            <a:endParaRPr lang="fr-FR" dirty="0">
              <a:latin typeface="F15"/>
            </a:endParaRPr>
          </a:p>
          <a:p>
            <a:r>
              <a:rPr lang="fr-FR" dirty="0">
                <a:latin typeface="F15"/>
              </a:rPr>
              <a:t>On amène le plan de profil dans le prolongement du plan frontal en le faisant tourner autour de son intersection avec le plan frontal (PF).</a:t>
            </a:r>
          </a:p>
          <a:p>
            <a:r>
              <a:rPr lang="fr-FR" dirty="0">
                <a:latin typeface="F15"/>
              </a:rPr>
              <a:t>Dans l'exemple présenté, on a représenté le plan de profil dans le prolongement du PF, mais on aurait pu le rabattre sur le PF ce qui aurait mélangé les deux projections.</a:t>
            </a:r>
          </a:p>
          <a:p>
            <a:endParaRPr lang="fr-FR" dirty="0">
              <a:latin typeface="F15"/>
            </a:endParaRPr>
          </a:p>
          <a:p>
            <a:endParaRPr lang="fr-FR" dirty="0">
              <a:latin typeface="F15"/>
            </a:endParaRPr>
          </a:p>
          <a:p>
            <a:endParaRPr lang="fr-FR" dirty="0">
              <a:latin typeface="F15"/>
            </a:endParaRPr>
          </a:p>
          <a:p>
            <a:endParaRPr lang="fr-FR" dirty="0">
              <a:latin typeface="F15"/>
            </a:endParaRPr>
          </a:p>
          <a:p>
            <a:endParaRPr lang="fr-FR" dirty="0">
              <a:latin typeface="F15"/>
            </a:endParaRPr>
          </a:p>
          <a:p>
            <a:endParaRPr lang="fr-FR" dirty="0">
              <a:latin typeface="F15"/>
            </a:endParaRPr>
          </a:p>
          <a:p>
            <a:endParaRPr lang="fr-FR" dirty="0">
              <a:latin typeface="F15"/>
            </a:endParaRPr>
          </a:p>
          <a:p>
            <a:endParaRPr lang="fr-FR" dirty="0">
              <a:latin typeface="F15"/>
            </a:endParaRPr>
          </a:p>
          <a:p>
            <a:r>
              <a:rPr lang="fr-FR" dirty="0">
                <a:latin typeface="F15"/>
              </a:rPr>
              <a:t>Ici représentation d'un point du raccord entre le bas de</a:t>
            </a:r>
          </a:p>
          <a:p>
            <a:r>
              <a:rPr lang="fr-FR" dirty="0">
                <a:latin typeface="F15"/>
              </a:rPr>
              <a:t>versant d'une toiture et un mur vertical (gouttière, ...)</a:t>
            </a:r>
            <a:endParaRPr lang="fr-FR" dirty="0"/>
          </a:p>
        </p:txBody>
      </p:sp>
    </p:spTree>
    <p:extLst>
      <p:ext uri="{BB962C8B-B14F-4D97-AF65-F5344CB8AC3E}">
        <p14:creationId xmlns:p14="http://schemas.microsoft.com/office/powerpoint/2010/main" val="13677688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834789" y="0"/>
            <a:ext cx="3351748" cy="2069605"/>
          </a:xfrm>
          <a:prstGeom prst="rect">
            <a:avLst/>
          </a:prstGeom>
        </p:spPr>
      </p:pic>
      <p:pic>
        <p:nvPicPr>
          <p:cNvPr id="3" name="Image 2"/>
          <p:cNvPicPr>
            <a:picLocks noChangeAspect="1"/>
          </p:cNvPicPr>
          <p:nvPr/>
        </p:nvPicPr>
        <p:blipFill>
          <a:blip r:embed="rId3"/>
          <a:stretch>
            <a:fillRect/>
          </a:stretch>
        </p:blipFill>
        <p:spPr>
          <a:xfrm>
            <a:off x="1204634" y="2254002"/>
            <a:ext cx="2612058" cy="4158780"/>
          </a:xfrm>
          <a:prstGeom prst="rect">
            <a:avLst/>
          </a:prstGeom>
        </p:spPr>
      </p:pic>
      <p:sp>
        <p:nvSpPr>
          <p:cNvPr id="4" name="Rectangle 3"/>
          <p:cNvSpPr/>
          <p:nvPr/>
        </p:nvSpPr>
        <p:spPr>
          <a:xfrm>
            <a:off x="4316628" y="238896"/>
            <a:ext cx="6096000" cy="646331"/>
          </a:xfrm>
          <a:prstGeom prst="rect">
            <a:avLst/>
          </a:prstGeom>
        </p:spPr>
        <p:txBody>
          <a:bodyPr>
            <a:spAutoFit/>
          </a:bodyPr>
          <a:lstStyle/>
          <a:p>
            <a:r>
              <a:rPr lang="fr-FR" dirty="0">
                <a:latin typeface="F15"/>
              </a:rPr>
              <a:t>Suivant convention particulière, le plan de profil peut très bien être rabattu sur le PH et non sur le PF</a:t>
            </a:r>
            <a:endParaRPr lang="fr-FR" dirty="0"/>
          </a:p>
        </p:txBody>
      </p:sp>
      <p:sp>
        <p:nvSpPr>
          <p:cNvPr id="5" name="Rectangle 4"/>
          <p:cNvSpPr/>
          <p:nvPr/>
        </p:nvSpPr>
        <p:spPr>
          <a:xfrm>
            <a:off x="4316628" y="2763731"/>
            <a:ext cx="6096000" cy="3139321"/>
          </a:xfrm>
          <a:prstGeom prst="rect">
            <a:avLst/>
          </a:prstGeom>
        </p:spPr>
        <p:txBody>
          <a:bodyPr>
            <a:spAutoFit/>
          </a:bodyPr>
          <a:lstStyle/>
          <a:p>
            <a:r>
              <a:rPr lang="fr-FR" dirty="0">
                <a:latin typeface="F15"/>
              </a:rPr>
              <a:t>Pour le dessinateur, une vue d'un objet, c'est l'objet lui même aperçu directement, en dehors de toutes considération de plan de projection. </a:t>
            </a:r>
          </a:p>
          <a:p>
            <a:r>
              <a:rPr lang="fr-FR" dirty="0">
                <a:latin typeface="F15"/>
              </a:rPr>
              <a:t>S'il passe d'une vue à une autre, il n'imagine pas un changement de plan de projection mais un changement de position de l'observateur. </a:t>
            </a:r>
          </a:p>
          <a:p>
            <a:r>
              <a:rPr lang="fr-FR" dirty="0">
                <a:latin typeface="F15"/>
              </a:rPr>
              <a:t>Ainsi, quand il construit une vue de face, il pense qu'il occupe une position face à l'objet. S'il construit ensuite une vue latérale, il fait mentalement le changement de position qui donne à ses regards la direction convenable, c'est à dire un des deux plans de profils.</a:t>
            </a:r>
            <a:endParaRPr lang="fr-FR" dirty="0"/>
          </a:p>
        </p:txBody>
      </p:sp>
    </p:spTree>
    <p:extLst>
      <p:ext uri="{BB962C8B-B14F-4D97-AF65-F5344CB8AC3E}">
        <p14:creationId xmlns:p14="http://schemas.microsoft.com/office/powerpoint/2010/main" val="21605617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1899787" y="65903"/>
            <a:ext cx="8240992" cy="6151851"/>
          </a:xfrm>
          <a:prstGeom prst="rect">
            <a:avLst/>
          </a:prstGeom>
        </p:spPr>
      </p:pic>
      <p:sp>
        <p:nvSpPr>
          <p:cNvPr id="3" name="Rectangle 2"/>
          <p:cNvSpPr/>
          <p:nvPr/>
        </p:nvSpPr>
        <p:spPr>
          <a:xfrm>
            <a:off x="2704553" y="6201618"/>
            <a:ext cx="6631459" cy="646331"/>
          </a:xfrm>
          <a:prstGeom prst="rect">
            <a:avLst/>
          </a:prstGeom>
        </p:spPr>
        <p:txBody>
          <a:bodyPr wrap="square">
            <a:spAutoFit/>
          </a:bodyPr>
          <a:lstStyle/>
          <a:p>
            <a:r>
              <a:rPr lang="fr-FR" dirty="0">
                <a:latin typeface="F15"/>
              </a:rPr>
              <a:t>Projection d'un point A sur le PH (plan), PF(élévation) et PP</a:t>
            </a:r>
          </a:p>
          <a:p>
            <a:r>
              <a:rPr lang="fr-FR" dirty="0">
                <a:latin typeface="F15"/>
              </a:rPr>
              <a:t>(profil droit représenté à gauche) + isométrie</a:t>
            </a:r>
            <a:endParaRPr lang="fr-FR" dirty="0"/>
          </a:p>
        </p:txBody>
      </p:sp>
    </p:spTree>
    <p:extLst>
      <p:ext uri="{BB962C8B-B14F-4D97-AF65-F5344CB8AC3E}">
        <p14:creationId xmlns:p14="http://schemas.microsoft.com/office/powerpoint/2010/main" val="143106345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1809169" y="59627"/>
            <a:ext cx="8343001" cy="6228000"/>
          </a:xfrm>
          <a:prstGeom prst="rect">
            <a:avLst/>
          </a:prstGeom>
        </p:spPr>
      </p:pic>
      <p:sp>
        <p:nvSpPr>
          <p:cNvPr id="3" name="Rectangle 2"/>
          <p:cNvSpPr/>
          <p:nvPr/>
        </p:nvSpPr>
        <p:spPr>
          <a:xfrm>
            <a:off x="2664939" y="6211669"/>
            <a:ext cx="6631459" cy="646331"/>
          </a:xfrm>
          <a:prstGeom prst="rect">
            <a:avLst/>
          </a:prstGeom>
        </p:spPr>
        <p:txBody>
          <a:bodyPr wrap="square">
            <a:spAutoFit/>
          </a:bodyPr>
          <a:lstStyle/>
          <a:p>
            <a:r>
              <a:rPr lang="fr-FR" dirty="0">
                <a:latin typeface="F15"/>
              </a:rPr>
              <a:t>Projection d'un point B sur le PH (plan), PF(élévation) et PP</a:t>
            </a:r>
          </a:p>
          <a:p>
            <a:r>
              <a:rPr lang="fr-FR" dirty="0">
                <a:latin typeface="F15"/>
              </a:rPr>
              <a:t>(profil gauche représenté à droite) + isométrie</a:t>
            </a:r>
            <a:endParaRPr lang="fr-FR" dirty="0"/>
          </a:p>
        </p:txBody>
      </p:sp>
    </p:spTree>
    <p:extLst>
      <p:ext uri="{BB962C8B-B14F-4D97-AF65-F5344CB8AC3E}">
        <p14:creationId xmlns:p14="http://schemas.microsoft.com/office/powerpoint/2010/main" val="24155473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88756" y="0"/>
            <a:ext cx="6096000" cy="646331"/>
          </a:xfrm>
          <a:prstGeom prst="rect">
            <a:avLst/>
          </a:prstGeom>
        </p:spPr>
        <p:txBody>
          <a:bodyPr>
            <a:spAutoFit/>
          </a:bodyPr>
          <a:lstStyle/>
          <a:p>
            <a:r>
              <a:rPr lang="fr-FR" b="1" dirty="0">
                <a:latin typeface="F38"/>
              </a:rPr>
              <a:t>3.2 </a:t>
            </a:r>
            <a:r>
              <a:rPr lang="fr-FR" b="1" u="sng" dirty="0">
                <a:latin typeface="F38"/>
              </a:rPr>
              <a:t>La droite</a:t>
            </a:r>
          </a:p>
          <a:p>
            <a:r>
              <a:rPr lang="fr-FR" b="1" dirty="0">
                <a:latin typeface="F25"/>
              </a:rPr>
              <a:t>3.2.1 </a:t>
            </a:r>
            <a:r>
              <a:rPr lang="fr-FR" b="1" u="sng" dirty="0">
                <a:latin typeface="F25"/>
              </a:rPr>
              <a:t>La droite quelconque</a:t>
            </a:r>
            <a:endParaRPr lang="fr-FR" b="1" u="sng" dirty="0"/>
          </a:p>
        </p:txBody>
      </p:sp>
      <p:pic>
        <p:nvPicPr>
          <p:cNvPr id="3" name="Image 2"/>
          <p:cNvPicPr>
            <a:picLocks noChangeAspect="1"/>
          </p:cNvPicPr>
          <p:nvPr/>
        </p:nvPicPr>
        <p:blipFill>
          <a:blip r:embed="rId2"/>
          <a:stretch>
            <a:fillRect/>
          </a:stretch>
        </p:blipFill>
        <p:spPr>
          <a:xfrm>
            <a:off x="1688756" y="753727"/>
            <a:ext cx="4241025" cy="2220167"/>
          </a:xfrm>
          <a:prstGeom prst="rect">
            <a:avLst/>
          </a:prstGeom>
        </p:spPr>
      </p:pic>
      <p:pic>
        <p:nvPicPr>
          <p:cNvPr id="4" name="Image 3"/>
          <p:cNvPicPr>
            <a:picLocks noChangeAspect="1"/>
          </p:cNvPicPr>
          <p:nvPr/>
        </p:nvPicPr>
        <p:blipFill>
          <a:blip r:embed="rId3"/>
          <a:stretch>
            <a:fillRect/>
          </a:stretch>
        </p:blipFill>
        <p:spPr>
          <a:xfrm>
            <a:off x="1040171" y="3146855"/>
            <a:ext cx="4889610" cy="3398172"/>
          </a:xfrm>
          <a:prstGeom prst="rect">
            <a:avLst/>
          </a:prstGeom>
        </p:spPr>
      </p:pic>
      <p:sp>
        <p:nvSpPr>
          <p:cNvPr id="5" name="Rectangle 4"/>
          <p:cNvSpPr/>
          <p:nvPr/>
        </p:nvSpPr>
        <p:spPr>
          <a:xfrm>
            <a:off x="5929781" y="1099412"/>
            <a:ext cx="6096000" cy="1200329"/>
          </a:xfrm>
          <a:prstGeom prst="rect">
            <a:avLst/>
          </a:prstGeom>
        </p:spPr>
        <p:txBody>
          <a:bodyPr>
            <a:spAutoFit/>
          </a:bodyPr>
          <a:lstStyle/>
          <a:p>
            <a:r>
              <a:rPr lang="fr-FR" dirty="0">
                <a:latin typeface="F15"/>
              </a:rPr>
              <a:t>La projection d'une droite sur un plan est une droite. C'est la projection de tous les points de la droite sur le plan.</a:t>
            </a:r>
          </a:p>
          <a:p>
            <a:r>
              <a:rPr lang="fr-FR" dirty="0">
                <a:latin typeface="F15"/>
              </a:rPr>
              <a:t>Lorsque la droite est perpendiculaire au plan de projection sa projection se réduit à un point.</a:t>
            </a:r>
            <a:endParaRPr lang="fr-FR" dirty="0"/>
          </a:p>
        </p:txBody>
      </p:sp>
      <p:sp>
        <p:nvSpPr>
          <p:cNvPr id="6" name="Rectangle 5"/>
          <p:cNvSpPr/>
          <p:nvPr/>
        </p:nvSpPr>
        <p:spPr>
          <a:xfrm>
            <a:off x="5929781" y="3691779"/>
            <a:ext cx="6096000" cy="2308324"/>
          </a:xfrm>
          <a:prstGeom prst="rect">
            <a:avLst/>
          </a:prstGeom>
        </p:spPr>
        <p:txBody>
          <a:bodyPr>
            <a:spAutoFit/>
          </a:bodyPr>
          <a:lstStyle/>
          <a:p>
            <a:r>
              <a:rPr lang="fr-FR" dirty="0">
                <a:latin typeface="F15"/>
              </a:rPr>
              <a:t>Il sut de projeter deux de ses points et de joindre leurs projections.</a:t>
            </a:r>
          </a:p>
          <a:p>
            <a:r>
              <a:rPr lang="fr-FR" b="1" dirty="0">
                <a:latin typeface="F15"/>
              </a:rPr>
              <a:t>Remarques :</a:t>
            </a:r>
          </a:p>
          <a:p>
            <a:r>
              <a:rPr lang="fr-FR" dirty="0">
                <a:latin typeface="F15"/>
              </a:rPr>
              <a:t>Un point appartient à une droite lorsque les projections de ce point sont sur les projections correspondantes de la droite.</a:t>
            </a:r>
          </a:p>
          <a:p>
            <a:r>
              <a:rPr lang="fr-FR" dirty="0">
                <a:latin typeface="F15"/>
              </a:rPr>
              <a:t>Une droite est toujours considérée comme illimitée, elle percera les plans de projections (traces de la droite).</a:t>
            </a:r>
            <a:endParaRPr lang="fr-FR" dirty="0"/>
          </a:p>
        </p:txBody>
      </p:sp>
    </p:spTree>
    <p:extLst>
      <p:ext uri="{BB962C8B-B14F-4D97-AF65-F5344CB8AC3E}">
        <p14:creationId xmlns:p14="http://schemas.microsoft.com/office/powerpoint/2010/main" val="22720101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194554" y="1420605"/>
            <a:ext cx="5926160" cy="4423843"/>
          </a:xfrm>
          <a:prstGeom prst="rect">
            <a:avLst/>
          </a:prstGeom>
        </p:spPr>
      </p:pic>
      <p:pic>
        <p:nvPicPr>
          <p:cNvPr id="3" name="Image 2"/>
          <p:cNvPicPr>
            <a:picLocks noChangeAspect="1"/>
          </p:cNvPicPr>
          <p:nvPr/>
        </p:nvPicPr>
        <p:blipFill>
          <a:blip r:embed="rId3"/>
          <a:stretch>
            <a:fillRect/>
          </a:stretch>
        </p:blipFill>
        <p:spPr>
          <a:xfrm>
            <a:off x="6265839" y="1420605"/>
            <a:ext cx="5926161" cy="4423843"/>
          </a:xfrm>
          <a:prstGeom prst="rect">
            <a:avLst/>
          </a:prstGeom>
        </p:spPr>
      </p:pic>
    </p:spTree>
    <p:extLst>
      <p:ext uri="{BB962C8B-B14F-4D97-AF65-F5344CB8AC3E}">
        <p14:creationId xmlns:p14="http://schemas.microsoft.com/office/powerpoint/2010/main" val="152515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130774" y="0"/>
            <a:ext cx="3202392" cy="2381192"/>
          </a:xfrm>
          <a:prstGeom prst="rect">
            <a:avLst/>
          </a:prstGeom>
        </p:spPr>
      </p:pic>
      <p:sp>
        <p:nvSpPr>
          <p:cNvPr id="3" name="Rectangle 2"/>
          <p:cNvSpPr/>
          <p:nvPr/>
        </p:nvSpPr>
        <p:spPr>
          <a:xfrm>
            <a:off x="4168347" y="317320"/>
            <a:ext cx="6096000" cy="2308324"/>
          </a:xfrm>
          <a:prstGeom prst="rect">
            <a:avLst/>
          </a:prstGeom>
        </p:spPr>
        <p:txBody>
          <a:bodyPr>
            <a:spAutoFit/>
          </a:bodyPr>
          <a:lstStyle/>
          <a:p>
            <a:r>
              <a:rPr lang="fr-FR" dirty="0">
                <a:latin typeface="F15"/>
              </a:rPr>
              <a:t>On appelle traces d'une droite, les points de percée de la droite dans les plans de projection.</a:t>
            </a:r>
          </a:p>
          <a:p>
            <a:r>
              <a:rPr lang="fr-FR" dirty="0">
                <a:latin typeface="F15"/>
              </a:rPr>
              <a:t>- trace verticale dans le plan frontal de projection.</a:t>
            </a:r>
          </a:p>
          <a:p>
            <a:r>
              <a:rPr lang="fr-FR" dirty="0">
                <a:latin typeface="F15"/>
              </a:rPr>
              <a:t>- trace horizontale dans le plan horizontal de projection.</a:t>
            </a:r>
          </a:p>
          <a:p>
            <a:r>
              <a:rPr lang="fr-FR" dirty="0">
                <a:latin typeface="F15"/>
              </a:rPr>
              <a:t>Pour déterminer les traces d'une droite, il sut de prolonger</a:t>
            </a:r>
          </a:p>
          <a:p>
            <a:r>
              <a:rPr lang="fr-FR" dirty="0">
                <a:latin typeface="F15"/>
              </a:rPr>
              <a:t>la droite pour qu'elle rencontre les plans de projection. On</a:t>
            </a:r>
          </a:p>
          <a:p>
            <a:r>
              <a:rPr lang="fr-FR" dirty="0">
                <a:latin typeface="F15"/>
              </a:rPr>
              <a:t>obtient ainsi le point de percée de la droite dans les plans de projection.</a:t>
            </a:r>
            <a:endParaRPr lang="fr-FR" dirty="0"/>
          </a:p>
        </p:txBody>
      </p:sp>
      <p:pic>
        <p:nvPicPr>
          <p:cNvPr id="4" name="Image 3"/>
          <p:cNvPicPr>
            <a:picLocks noChangeAspect="1"/>
          </p:cNvPicPr>
          <p:nvPr/>
        </p:nvPicPr>
        <p:blipFill>
          <a:blip r:embed="rId3"/>
          <a:stretch>
            <a:fillRect/>
          </a:stretch>
        </p:blipFill>
        <p:spPr>
          <a:xfrm>
            <a:off x="644866" y="2993173"/>
            <a:ext cx="2688300" cy="2848733"/>
          </a:xfrm>
          <a:prstGeom prst="rect">
            <a:avLst/>
          </a:prstGeom>
        </p:spPr>
      </p:pic>
    </p:spTree>
    <p:extLst>
      <p:ext uri="{BB962C8B-B14F-4D97-AF65-F5344CB8AC3E}">
        <p14:creationId xmlns:p14="http://schemas.microsoft.com/office/powerpoint/2010/main" val="29443971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449789" y="0"/>
            <a:ext cx="3499425" cy="4117400"/>
          </a:xfrm>
          <a:prstGeom prst="rect">
            <a:avLst/>
          </a:prstGeom>
        </p:spPr>
      </p:pic>
      <p:sp>
        <p:nvSpPr>
          <p:cNvPr id="3" name="Rectangle 2"/>
          <p:cNvSpPr/>
          <p:nvPr/>
        </p:nvSpPr>
        <p:spPr>
          <a:xfrm>
            <a:off x="4399005" y="528935"/>
            <a:ext cx="6096000" cy="646331"/>
          </a:xfrm>
          <a:prstGeom prst="rect">
            <a:avLst/>
          </a:prstGeom>
        </p:spPr>
        <p:txBody>
          <a:bodyPr>
            <a:spAutoFit/>
          </a:bodyPr>
          <a:lstStyle/>
          <a:p>
            <a:r>
              <a:rPr lang="fr-FR" dirty="0">
                <a:latin typeface="F15"/>
              </a:rPr>
              <a:t>Dans ce second exemple la droite perce le plan horizontal du premier dièdre et le plan frontal du quatrième dièdre.</a:t>
            </a:r>
            <a:endParaRPr lang="fr-FR" dirty="0"/>
          </a:p>
        </p:txBody>
      </p:sp>
      <p:pic>
        <p:nvPicPr>
          <p:cNvPr id="4" name="Image 3"/>
          <p:cNvPicPr>
            <a:picLocks noChangeAspect="1"/>
          </p:cNvPicPr>
          <p:nvPr/>
        </p:nvPicPr>
        <p:blipFill>
          <a:blip r:embed="rId3"/>
          <a:stretch>
            <a:fillRect/>
          </a:stretch>
        </p:blipFill>
        <p:spPr>
          <a:xfrm>
            <a:off x="5339486" y="4117400"/>
            <a:ext cx="2250852" cy="2439682"/>
          </a:xfrm>
          <a:prstGeom prst="rect">
            <a:avLst/>
          </a:prstGeom>
        </p:spPr>
      </p:pic>
    </p:spTree>
    <p:extLst>
      <p:ext uri="{BB962C8B-B14F-4D97-AF65-F5344CB8AC3E}">
        <p14:creationId xmlns:p14="http://schemas.microsoft.com/office/powerpoint/2010/main" val="112027676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50789" y="71049"/>
            <a:ext cx="6096000" cy="646331"/>
          </a:xfrm>
          <a:prstGeom prst="rect">
            <a:avLst/>
          </a:prstGeom>
        </p:spPr>
        <p:txBody>
          <a:bodyPr>
            <a:spAutoFit/>
          </a:bodyPr>
          <a:lstStyle/>
          <a:p>
            <a:r>
              <a:rPr lang="fr-FR" b="1" dirty="0">
                <a:latin typeface="F25"/>
              </a:rPr>
              <a:t>3.2.2 </a:t>
            </a:r>
            <a:r>
              <a:rPr lang="fr-FR" b="1" u="sng" dirty="0">
                <a:latin typeface="F25"/>
              </a:rPr>
              <a:t>Positions relatives des droites</a:t>
            </a:r>
            <a:r>
              <a:rPr lang="fr-FR" b="1" dirty="0">
                <a:latin typeface="F25"/>
              </a:rPr>
              <a:t>.</a:t>
            </a:r>
          </a:p>
          <a:p>
            <a:r>
              <a:rPr lang="fr-FR" b="1" dirty="0">
                <a:latin typeface="F35"/>
              </a:rPr>
              <a:t>3.2.2.1 </a:t>
            </a:r>
            <a:r>
              <a:rPr lang="fr-FR" b="1" u="sng" dirty="0">
                <a:latin typeface="F35"/>
              </a:rPr>
              <a:t>Droites parallèles</a:t>
            </a:r>
            <a:endParaRPr lang="fr-FR" b="1" u="sng" dirty="0"/>
          </a:p>
        </p:txBody>
      </p:sp>
      <p:pic>
        <p:nvPicPr>
          <p:cNvPr id="3" name="Image 2"/>
          <p:cNvPicPr>
            <a:picLocks noChangeAspect="1"/>
          </p:cNvPicPr>
          <p:nvPr/>
        </p:nvPicPr>
        <p:blipFill>
          <a:blip r:embed="rId2"/>
          <a:stretch>
            <a:fillRect/>
          </a:stretch>
        </p:blipFill>
        <p:spPr>
          <a:xfrm>
            <a:off x="1644413" y="717380"/>
            <a:ext cx="8117425" cy="6059609"/>
          </a:xfrm>
          <a:prstGeom prst="rect">
            <a:avLst/>
          </a:prstGeom>
        </p:spPr>
      </p:pic>
    </p:spTree>
    <p:extLst>
      <p:ext uri="{BB962C8B-B14F-4D97-AF65-F5344CB8AC3E}">
        <p14:creationId xmlns:p14="http://schemas.microsoft.com/office/powerpoint/2010/main" val="297410262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287545" y="0"/>
            <a:ext cx="5932801" cy="2825667"/>
          </a:xfrm>
          <a:prstGeom prst="rect">
            <a:avLst/>
          </a:prstGeom>
        </p:spPr>
      </p:pic>
      <p:sp>
        <p:nvSpPr>
          <p:cNvPr id="3" name="Rectangle 2"/>
          <p:cNvSpPr/>
          <p:nvPr/>
        </p:nvSpPr>
        <p:spPr>
          <a:xfrm>
            <a:off x="6368627" y="715359"/>
            <a:ext cx="6096000" cy="1200329"/>
          </a:xfrm>
          <a:prstGeom prst="rect">
            <a:avLst/>
          </a:prstGeom>
        </p:spPr>
        <p:txBody>
          <a:bodyPr>
            <a:spAutoFit/>
          </a:bodyPr>
          <a:lstStyle/>
          <a:p>
            <a:r>
              <a:rPr lang="fr-FR" dirty="0">
                <a:latin typeface="F35"/>
              </a:rPr>
              <a:t>Droites parallèles.</a:t>
            </a:r>
          </a:p>
          <a:p>
            <a:r>
              <a:rPr lang="fr-FR" dirty="0">
                <a:latin typeface="F15"/>
              </a:rPr>
              <a:t>Les deux droites déterminent un plan.</a:t>
            </a:r>
          </a:p>
          <a:p>
            <a:r>
              <a:rPr lang="fr-FR" dirty="0">
                <a:latin typeface="F15"/>
              </a:rPr>
              <a:t>Il faut que dans au moins deux plans de projection les projections des droites soient parallèles.</a:t>
            </a:r>
            <a:endParaRPr lang="fr-FR" dirty="0"/>
          </a:p>
        </p:txBody>
      </p:sp>
      <p:sp>
        <p:nvSpPr>
          <p:cNvPr id="4" name="Rectangle 3"/>
          <p:cNvSpPr/>
          <p:nvPr/>
        </p:nvSpPr>
        <p:spPr>
          <a:xfrm>
            <a:off x="1005016" y="2998743"/>
            <a:ext cx="6096000" cy="646331"/>
          </a:xfrm>
          <a:prstGeom prst="rect">
            <a:avLst/>
          </a:prstGeom>
        </p:spPr>
        <p:txBody>
          <a:bodyPr>
            <a:spAutoFit/>
          </a:bodyPr>
          <a:lstStyle/>
          <a:p>
            <a:r>
              <a:rPr lang="fr-FR" b="1" dirty="0">
                <a:latin typeface="F15"/>
              </a:rPr>
              <a:t>Application </a:t>
            </a:r>
            <a:r>
              <a:rPr lang="fr-FR" dirty="0">
                <a:latin typeface="F15"/>
              </a:rPr>
              <a:t>:</a:t>
            </a:r>
          </a:p>
          <a:p>
            <a:r>
              <a:rPr lang="fr-FR" dirty="0">
                <a:latin typeface="F15"/>
              </a:rPr>
              <a:t>Complétez l'épure en dessinant un des profils.</a:t>
            </a:r>
            <a:endParaRPr lang="fr-FR" dirty="0"/>
          </a:p>
        </p:txBody>
      </p:sp>
      <p:pic>
        <p:nvPicPr>
          <p:cNvPr id="5" name="Image 4"/>
          <p:cNvPicPr>
            <a:picLocks noChangeAspect="1"/>
          </p:cNvPicPr>
          <p:nvPr/>
        </p:nvPicPr>
        <p:blipFill>
          <a:blip r:embed="rId3"/>
          <a:stretch>
            <a:fillRect/>
          </a:stretch>
        </p:blipFill>
        <p:spPr>
          <a:xfrm>
            <a:off x="1540513" y="3645074"/>
            <a:ext cx="3426864" cy="2890545"/>
          </a:xfrm>
          <a:prstGeom prst="rect">
            <a:avLst/>
          </a:prstGeom>
        </p:spPr>
      </p:pic>
    </p:spTree>
    <p:extLst>
      <p:ext uri="{BB962C8B-B14F-4D97-AF65-F5344CB8AC3E}">
        <p14:creationId xmlns:p14="http://schemas.microsoft.com/office/powerpoint/2010/main" val="216289740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1207808" y="736896"/>
            <a:ext cx="8199804" cy="6121104"/>
          </a:xfrm>
          <a:prstGeom prst="rect">
            <a:avLst/>
          </a:prstGeom>
        </p:spPr>
      </p:pic>
      <p:sp>
        <p:nvSpPr>
          <p:cNvPr id="3" name="Rectangle 2"/>
          <p:cNvSpPr/>
          <p:nvPr/>
        </p:nvSpPr>
        <p:spPr>
          <a:xfrm>
            <a:off x="1207808" y="64529"/>
            <a:ext cx="3659976" cy="369332"/>
          </a:xfrm>
          <a:prstGeom prst="rect">
            <a:avLst/>
          </a:prstGeom>
        </p:spPr>
        <p:txBody>
          <a:bodyPr wrap="none">
            <a:spAutoFit/>
          </a:bodyPr>
          <a:lstStyle/>
          <a:p>
            <a:r>
              <a:rPr lang="fr-FR" b="1" dirty="0">
                <a:latin typeface="F35"/>
              </a:rPr>
              <a:t>3.2.2.2 </a:t>
            </a:r>
            <a:r>
              <a:rPr lang="fr-FR" b="1" u="sng" dirty="0">
                <a:latin typeface="F35"/>
              </a:rPr>
              <a:t>Droites perpendiculaires</a:t>
            </a:r>
            <a:endParaRPr lang="fr-FR" b="1" u="sng" dirty="0"/>
          </a:p>
        </p:txBody>
      </p:sp>
    </p:spTree>
    <p:extLst>
      <p:ext uri="{BB962C8B-B14F-4D97-AF65-F5344CB8AC3E}">
        <p14:creationId xmlns:p14="http://schemas.microsoft.com/office/powerpoint/2010/main" val="206127215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191768" y="61279"/>
            <a:ext cx="3780987" cy="3719889"/>
          </a:xfrm>
          <a:prstGeom prst="rect">
            <a:avLst/>
          </a:prstGeom>
        </p:spPr>
      </p:pic>
      <p:sp>
        <p:nvSpPr>
          <p:cNvPr id="3" name="Rectangle 2"/>
          <p:cNvSpPr/>
          <p:nvPr/>
        </p:nvSpPr>
        <p:spPr>
          <a:xfrm>
            <a:off x="4030420" y="381081"/>
            <a:ext cx="6096000" cy="1477328"/>
          </a:xfrm>
          <a:prstGeom prst="rect">
            <a:avLst/>
          </a:prstGeom>
        </p:spPr>
        <p:txBody>
          <a:bodyPr>
            <a:spAutoFit/>
          </a:bodyPr>
          <a:lstStyle/>
          <a:p>
            <a:r>
              <a:rPr lang="fr-FR" b="1" dirty="0">
                <a:latin typeface="F35"/>
              </a:rPr>
              <a:t>Droites perpendiculaires</a:t>
            </a:r>
          </a:p>
          <a:p>
            <a:r>
              <a:rPr lang="fr-FR" dirty="0">
                <a:latin typeface="F15"/>
              </a:rPr>
              <a:t>La perpendicularité de deux droites ne se marque pas sur</a:t>
            </a:r>
          </a:p>
          <a:p>
            <a:r>
              <a:rPr lang="fr-FR" dirty="0">
                <a:latin typeface="F15"/>
              </a:rPr>
              <a:t>l'épure sauf si une des droites est particulière (parallèle à un plan de projection).</a:t>
            </a:r>
          </a:p>
          <a:p>
            <a:r>
              <a:rPr lang="fr-FR" dirty="0">
                <a:latin typeface="F15"/>
              </a:rPr>
              <a:t>Les deux droites déterminent un plan.</a:t>
            </a:r>
            <a:endParaRPr lang="fr-FR" dirty="0"/>
          </a:p>
        </p:txBody>
      </p:sp>
      <p:sp>
        <p:nvSpPr>
          <p:cNvPr id="4" name="Rectangle 3"/>
          <p:cNvSpPr/>
          <p:nvPr/>
        </p:nvSpPr>
        <p:spPr>
          <a:xfrm>
            <a:off x="1680519" y="3781168"/>
            <a:ext cx="6096000" cy="646331"/>
          </a:xfrm>
          <a:prstGeom prst="rect">
            <a:avLst/>
          </a:prstGeom>
        </p:spPr>
        <p:txBody>
          <a:bodyPr>
            <a:spAutoFit/>
          </a:bodyPr>
          <a:lstStyle/>
          <a:p>
            <a:r>
              <a:rPr lang="fr-FR" b="1" dirty="0">
                <a:latin typeface="F15"/>
              </a:rPr>
              <a:t>Application :</a:t>
            </a:r>
          </a:p>
          <a:p>
            <a:r>
              <a:rPr lang="fr-FR" dirty="0">
                <a:latin typeface="F15"/>
              </a:rPr>
              <a:t>Complétez l'épure en dessinant un des profils.</a:t>
            </a:r>
            <a:endParaRPr lang="fr-FR" dirty="0"/>
          </a:p>
        </p:txBody>
      </p:sp>
      <p:pic>
        <p:nvPicPr>
          <p:cNvPr id="5" name="Image 4"/>
          <p:cNvPicPr>
            <a:picLocks noChangeAspect="1"/>
          </p:cNvPicPr>
          <p:nvPr/>
        </p:nvPicPr>
        <p:blipFill>
          <a:blip r:embed="rId3"/>
          <a:stretch>
            <a:fillRect/>
          </a:stretch>
        </p:blipFill>
        <p:spPr>
          <a:xfrm>
            <a:off x="2551806" y="4379733"/>
            <a:ext cx="2841898" cy="2397129"/>
          </a:xfrm>
          <a:prstGeom prst="rect">
            <a:avLst/>
          </a:prstGeom>
        </p:spPr>
      </p:pic>
    </p:spTree>
    <p:extLst>
      <p:ext uri="{BB962C8B-B14F-4D97-AF65-F5344CB8AC3E}">
        <p14:creationId xmlns:p14="http://schemas.microsoft.com/office/powerpoint/2010/main" val="364040378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1735028" y="630000"/>
            <a:ext cx="8343001" cy="6228000"/>
          </a:xfrm>
          <a:prstGeom prst="rect">
            <a:avLst/>
          </a:prstGeom>
        </p:spPr>
      </p:pic>
      <p:sp>
        <p:nvSpPr>
          <p:cNvPr id="3" name="Rectangle 2"/>
          <p:cNvSpPr/>
          <p:nvPr/>
        </p:nvSpPr>
        <p:spPr>
          <a:xfrm>
            <a:off x="1349099" y="81004"/>
            <a:ext cx="3326552" cy="369332"/>
          </a:xfrm>
          <a:prstGeom prst="rect">
            <a:avLst/>
          </a:prstGeom>
        </p:spPr>
        <p:txBody>
          <a:bodyPr wrap="none">
            <a:spAutoFit/>
          </a:bodyPr>
          <a:lstStyle/>
          <a:p>
            <a:r>
              <a:rPr lang="fr-FR" b="1" dirty="0">
                <a:latin typeface="F35"/>
              </a:rPr>
              <a:t>3.2.2.3 </a:t>
            </a:r>
            <a:r>
              <a:rPr lang="fr-FR" b="1" u="sng" dirty="0">
                <a:latin typeface="F35"/>
              </a:rPr>
              <a:t>Droites concourantes</a:t>
            </a:r>
            <a:endParaRPr lang="fr-FR" b="1" u="sng" dirty="0"/>
          </a:p>
        </p:txBody>
      </p:sp>
    </p:spTree>
    <p:extLst>
      <p:ext uri="{BB962C8B-B14F-4D97-AF65-F5344CB8AC3E}">
        <p14:creationId xmlns:p14="http://schemas.microsoft.com/office/powerpoint/2010/main" val="36854994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0" y="0"/>
            <a:ext cx="5840101" cy="2842967"/>
          </a:xfrm>
          <a:prstGeom prst="rect">
            <a:avLst/>
          </a:prstGeom>
        </p:spPr>
      </p:pic>
      <p:sp>
        <p:nvSpPr>
          <p:cNvPr id="3" name="Rectangle 2"/>
          <p:cNvSpPr/>
          <p:nvPr/>
        </p:nvSpPr>
        <p:spPr>
          <a:xfrm>
            <a:off x="5898292" y="866686"/>
            <a:ext cx="6096000" cy="923330"/>
          </a:xfrm>
          <a:prstGeom prst="rect">
            <a:avLst/>
          </a:prstGeom>
        </p:spPr>
        <p:txBody>
          <a:bodyPr>
            <a:spAutoFit/>
          </a:bodyPr>
          <a:lstStyle/>
          <a:p>
            <a:r>
              <a:rPr lang="fr-FR" b="1" dirty="0">
                <a:latin typeface="F35"/>
              </a:rPr>
              <a:t>Droites concourantes</a:t>
            </a:r>
            <a:r>
              <a:rPr lang="fr-FR" dirty="0">
                <a:latin typeface="F35"/>
              </a:rPr>
              <a:t>.</a:t>
            </a:r>
          </a:p>
          <a:p>
            <a:r>
              <a:rPr lang="fr-FR" dirty="0">
                <a:latin typeface="F15"/>
              </a:rPr>
              <a:t>Point commun à deux droites concourantes (M).</a:t>
            </a:r>
          </a:p>
          <a:p>
            <a:r>
              <a:rPr lang="fr-FR" dirty="0">
                <a:latin typeface="F15"/>
              </a:rPr>
              <a:t>Les deux droites déterminent un plan.</a:t>
            </a:r>
            <a:endParaRPr lang="fr-FR" dirty="0"/>
          </a:p>
        </p:txBody>
      </p:sp>
      <p:sp>
        <p:nvSpPr>
          <p:cNvPr id="4" name="Rectangle 3"/>
          <p:cNvSpPr/>
          <p:nvPr/>
        </p:nvSpPr>
        <p:spPr>
          <a:xfrm>
            <a:off x="1359243" y="3072884"/>
            <a:ext cx="6096000" cy="646331"/>
          </a:xfrm>
          <a:prstGeom prst="rect">
            <a:avLst/>
          </a:prstGeom>
        </p:spPr>
        <p:txBody>
          <a:bodyPr>
            <a:spAutoFit/>
          </a:bodyPr>
          <a:lstStyle/>
          <a:p>
            <a:r>
              <a:rPr lang="fr-FR" b="1" dirty="0">
                <a:latin typeface="F15"/>
              </a:rPr>
              <a:t>Application </a:t>
            </a:r>
            <a:r>
              <a:rPr lang="fr-FR" dirty="0">
                <a:latin typeface="F15"/>
              </a:rPr>
              <a:t>:</a:t>
            </a:r>
          </a:p>
          <a:p>
            <a:r>
              <a:rPr lang="fr-FR" dirty="0">
                <a:latin typeface="F15"/>
              </a:rPr>
              <a:t>Complétez l'épure en dessinant un des profils.</a:t>
            </a:r>
            <a:endParaRPr lang="fr-FR" dirty="0"/>
          </a:p>
        </p:txBody>
      </p:sp>
      <p:pic>
        <p:nvPicPr>
          <p:cNvPr id="5" name="Image 4"/>
          <p:cNvPicPr>
            <a:picLocks noChangeAspect="1"/>
          </p:cNvPicPr>
          <p:nvPr/>
        </p:nvPicPr>
        <p:blipFill>
          <a:blip r:embed="rId3"/>
          <a:stretch>
            <a:fillRect/>
          </a:stretch>
        </p:blipFill>
        <p:spPr>
          <a:xfrm>
            <a:off x="1655882" y="3838873"/>
            <a:ext cx="3146777" cy="2654294"/>
          </a:xfrm>
          <a:prstGeom prst="rect">
            <a:avLst/>
          </a:prstGeom>
        </p:spPr>
      </p:pic>
    </p:spTree>
    <p:extLst>
      <p:ext uri="{BB962C8B-B14F-4D97-AF65-F5344CB8AC3E}">
        <p14:creationId xmlns:p14="http://schemas.microsoft.com/office/powerpoint/2010/main" val="198312984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1537321" y="669227"/>
            <a:ext cx="8290453" cy="6188773"/>
          </a:xfrm>
          <a:prstGeom prst="rect">
            <a:avLst/>
          </a:prstGeom>
        </p:spPr>
      </p:pic>
      <p:sp>
        <p:nvSpPr>
          <p:cNvPr id="3" name="Rectangle 2"/>
          <p:cNvSpPr/>
          <p:nvPr/>
        </p:nvSpPr>
        <p:spPr>
          <a:xfrm>
            <a:off x="1537321" y="0"/>
            <a:ext cx="2749471" cy="369332"/>
          </a:xfrm>
          <a:prstGeom prst="rect">
            <a:avLst/>
          </a:prstGeom>
        </p:spPr>
        <p:txBody>
          <a:bodyPr wrap="none">
            <a:spAutoFit/>
          </a:bodyPr>
          <a:lstStyle/>
          <a:p>
            <a:r>
              <a:rPr lang="fr-FR" b="1" dirty="0">
                <a:latin typeface="F35"/>
              </a:rPr>
              <a:t>3.2.2.4 </a:t>
            </a:r>
            <a:r>
              <a:rPr lang="fr-FR" b="1" u="sng" dirty="0">
                <a:latin typeface="F35"/>
              </a:rPr>
              <a:t>Droites gauches</a:t>
            </a:r>
            <a:endParaRPr lang="fr-FR" b="1" u="sng" dirty="0"/>
          </a:p>
        </p:txBody>
      </p:sp>
    </p:spTree>
    <p:extLst>
      <p:ext uri="{BB962C8B-B14F-4D97-AF65-F5344CB8AC3E}">
        <p14:creationId xmlns:p14="http://schemas.microsoft.com/office/powerpoint/2010/main" val="207456455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0" y="0"/>
            <a:ext cx="5793751" cy="2779533"/>
          </a:xfrm>
          <a:prstGeom prst="rect">
            <a:avLst/>
          </a:prstGeom>
        </p:spPr>
      </p:pic>
      <p:sp>
        <p:nvSpPr>
          <p:cNvPr id="3" name="Rectangle 2"/>
          <p:cNvSpPr/>
          <p:nvPr/>
        </p:nvSpPr>
        <p:spPr>
          <a:xfrm>
            <a:off x="5881816" y="548498"/>
            <a:ext cx="6096000" cy="1200329"/>
          </a:xfrm>
          <a:prstGeom prst="rect">
            <a:avLst/>
          </a:prstGeom>
        </p:spPr>
        <p:txBody>
          <a:bodyPr>
            <a:spAutoFit/>
          </a:bodyPr>
          <a:lstStyle/>
          <a:p>
            <a:r>
              <a:rPr lang="fr-FR" b="1" dirty="0">
                <a:latin typeface="F35"/>
              </a:rPr>
              <a:t>Droites gauches</a:t>
            </a:r>
            <a:r>
              <a:rPr lang="fr-FR" dirty="0">
                <a:latin typeface="F35"/>
              </a:rPr>
              <a:t>.</a:t>
            </a:r>
          </a:p>
          <a:p>
            <a:r>
              <a:rPr lang="fr-FR" dirty="0">
                <a:latin typeface="F15"/>
              </a:rPr>
              <a:t>Aucun point commun.</a:t>
            </a:r>
          </a:p>
          <a:p>
            <a:r>
              <a:rPr lang="fr-FR" dirty="0">
                <a:latin typeface="F15"/>
              </a:rPr>
              <a:t>Elles ne déterminent pas un plan mais peuvent représenter une infinité de surfaces gauches.</a:t>
            </a:r>
            <a:endParaRPr lang="fr-FR" dirty="0"/>
          </a:p>
        </p:txBody>
      </p:sp>
      <p:sp>
        <p:nvSpPr>
          <p:cNvPr id="4" name="Rectangle 3"/>
          <p:cNvSpPr/>
          <p:nvPr/>
        </p:nvSpPr>
        <p:spPr>
          <a:xfrm>
            <a:off x="551936" y="2858700"/>
            <a:ext cx="6096000" cy="646331"/>
          </a:xfrm>
          <a:prstGeom prst="rect">
            <a:avLst/>
          </a:prstGeom>
        </p:spPr>
        <p:txBody>
          <a:bodyPr>
            <a:spAutoFit/>
          </a:bodyPr>
          <a:lstStyle/>
          <a:p>
            <a:r>
              <a:rPr lang="fr-FR" b="1" dirty="0">
                <a:latin typeface="F15"/>
              </a:rPr>
              <a:t>Application :</a:t>
            </a:r>
          </a:p>
          <a:p>
            <a:r>
              <a:rPr lang="fr-FR" dirty="0">
                <a:latin typeface="F15"/>
              </a:rPr>
              <a:t>Complétez l'épure en dessinant un des profils.</a:t>
            </a:r>
            <a:endParaRPr lang="fr-FR" dirty="0"/>
          </a:p>
        </p:txBody>
      </p:sp>
      <p:pic>
        <p:nvPicPr>
          <p:cNvPr id="5" name="Image 4"/>
          <p:cNvPicPr>
            <a:picLocks noChangeAspect="1"/>
          </p:cNvPicPr>
          <p:nvPr/>
        </p:nvPicPr>
        <p:blipFill>
          <a:blip r:embed="rId3"/>
          <a:stretch>
            <a:fillRect/>
          </a:stretch>
        </p:blipFill>
        <p:spPr>
          <a:xfrm>
            <a:off x="1302893" y="3505031"/>
            <a:ext cx="3187964" cy="2689034"/>
          </a:xfrm>
          <a:prstGeom prst="rect">
            <a:avLst/>
          </a:prstGeom>
        </p:spPr>
      </p:pic>
    </p:spTree>
    <p:extLst>
      <p:ext uri="{BB962C8B-B14F-4D97-AF65-F5344CB8AC3E}">
        <p14:creationId xmlns:p14="http://schemas.microsoft.com/office/powerpoint/2010/main" val="345246476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68542" y="0"/>
            <a:ext cx="3429144" cy="369332"/>
          </a:xfrm>
          <a:prstGeom prst="rect">
            <a:avLst/>
          </a:prstGeom>
        </p:spPr>
        <p:txBody>
          <a:bodyPr wrap="none">
            <a:spAutoFit/>
          </a:bodyPr>
          <a:lstStyle/>
          <a:p>
            <a:r>
              <a:rPr lang="fr-FR" b="1" dirty="0">
                <a:latin typeface="F25"/>
              </a:rPr>
              <a:t>3.2.3 </a:t>
            </a:r>
            <a:r>
              <a:rPr lang="fr-FR" b="1" u="sng" dirty="0">
                <a:latin typeface="F25"/>
              </a:rPr>
              <a:t>Les droites particulières</a:t>
            </a:r>
            <a:endParaRPr lang="fr-FR" b="1" u="sng" dirty="0"/>
          </a:p>
        </p:txBody>
      </p:sp>
      <p:pic>
        <p:nvPicPr>
          <p:cNvPr id="3" name="Image 2"/>
          <p:cNvPicPr>
            <a:picLocks noChangeAspect="1"/>
          </p:cNvPicPr>
          <p:nvPr/>
        </p:nvPicPr>
        <p:blipFill>
          <a:blip r:embed="rId2"/>
          <a:stretch>
            <a:fillRect/>
          </a:stretch>
        </p:blipFill>
        <p:spPr>
          <a:xfrm>
            <a:off x="2183114" y="369332"/>
            <a:ext cx="6481654" cy="6551119"/>
          </a:xfrm>
          <a:prstGeom prst="rect">
            <a:avLst/>
          </a:prstGeom>
        </p:spPr>
      </p:pic>
    </p:spTree>
    <p:extLst>
      <p:ext uri="{BB962C8B-B14F-4D97-AF65-F5344CB8AC3E}">
        <p14:creationId xmlns:p14="http://schemas.microsoft.com/office/powerpoint/2010/main" val="36869316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6519" y="0"/>
            <a:ext cx="9753600" cy="1200329"/>
          </a:xfrm>
          <a:prstGeom prst="rect">
            <a:avLst/>
          </a:prstGeom>
        </p:spPr>
        <p:txBody>
          <a:bodyPr wrap="square">
            <a:spAutoFit/>
          </a:bodyPr>
          <a:lstStyle/>
          <a:p>
            <a:r>
              <a:rPr lang="fr-FR" dirty="0">
                <a:latin typeface="F15"/>
              </a:rPr>
              <a:t>Une droite est dite particulière lorsqu'elle est parallèle à au moins un des plans de projection. A ce moment une de ses projections au moins est représentée en vraie grandeur VG.</a:t>
            </a:r>
          </a:p>
          <a:p>
            <a:r>
              <a:rPr lang="fr-FR" dirty="0">
                <a:latin typeface="F15"/>
              </a:rPr>
              <a:t>Cette VG est très importante pour rechercher les dimensions exactes des éléments d'architecture.</a:t>
            </a:r>
            <a:endParaRPr lang="fr-FR" dirty="0"/>
          </a:p>
        </p:txBody>
      </p:sp>
      <p:pic>
        <p:nvPicPr>
          <p:cNvPr id="3" name="Image 2"/>
          <p:cNvPicPr>
            <a:picLocks noChangeAspect="1"/>
          </p:cNvPicPr>
          <p:nvPr/>
        </p:nvPicPr>
        <p:blipFill>
          <a:blip r:embed="rId2"/>
          <a:stretch>
            <a:fillRect/>
          </a:stretch>
        </p:blipFill>
        <p:spPr>
          <a:xfrm>
            <a:off x="2188111" y="881449"/>
            <a:ext cx="7211262" cy="5383164"/>
          </a:xfrm>
          <a:prstGeom prst="rect">
            <a:avLst/>
          </a:prstGeom>
        </p:spPr>
      </p:pic>
      <p:sp>
        <p:nvSpPr>
          <p:cNvPr id="4" name="Rectangle 3"/>
          <p:cNvSpPr/>
          <p:nvPr/>
        </p:nvSpPr>
        <p:spPr>
          <a:xfrm>
            <a:off x="354227" y="6211669"/>
            <a:ext cx="11936627" cy="646331"/>
          </a:xfrm>
          <a:prstGeom prst="rect">
            <a:avLst/>
          </a:prstGeom>
        </p:spPr>
        <p:txBody>
          <a:bodyPr wrap="square">
            <a:spAutoFit/>
          </a:bodyPr>
          <a:lstStyle/>
          <a:p>
            <a:r>
              <a:rPr lang="fr-FR" dirty="0">
                <a:latin typeface="F15"/>
              </a:rPr>
              <a:t>La notion de plans particuliers est intégrée à l'étude des droites particulières. Les plans particuliers</a:t>
            </a:r>
          </a:p>
          <a:p>
            <a:r>
              <a:rPr lang="fr-FR" dirty="0">
                <a:latin typeface="F15"/>
              </a:rPr>
              <a:t>seront étudiés au chapitre suivant.</a:t>
            </a:r>
            <a:endParaRPr lang="fr-FR" dirty="0"/>
          </a:p>
        </p:txBody>
      </p:sp>
    </p:spTree>
    <p:extLst>
      <p:ext uri="{BB962C8B-B14F-4D97-AF65-F5344CB8AC3E}">
        <p14:creationId xmlns:p14="http://schemas.microsoft.com/office/powerpoint/2010/main" val="279189678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7927" y="0"/>
            <a:ext cx="2980303" cy="369332"/>
          </a:xfrm>
          <a:prstGeom prst="rect">
            <a:avLst/>
          </a:prstGeom>
        </p:spPr>
        <p:txBody>
          <a:bodyPr wrap="none">
            <a:spAutoFit/>
          </a:bodyPr>
          <a:lstStyle/>
          <a:p>
            <a:r>
              <a:rPr lang="fr-FR" b="1" dirty="0">
                <a:latin typeface="F35"/>
              </a:rPr>
              <a:t>3.2.3.1 </a:t>
            </a:r>
            <a:r>
              <a:rPr lang="fr-FR" b="1" u="sng" dirty="0">
                <a:latin typeface="F35"/>
              </a:rPr>
              <a:t>Droite horizontale</a:t>
            </a:r>
            <a:r>
              <a:rPr lang="fr-FR" u="sng" dirty="0">
                <a:latin typeface="F35"/>
              </a:rPr>
              <a:t>.</a:t>
            </a:r>
            <a:endParaRPr lang="fr-FR" u="sng" dirty="0"/>
          </a:p>
        </p:txBody>
      </p:sp>
      <p:pic>
        <p:nvPicPr>
          <p:cNvPr id="3" name="Image 2"/>
          <p:cNvPicPr>
            <a:picLocks noChangeAspect="1"/>
          </p:cNvPicPr>
          <p:nvPr/>
        </p:nvPicPr>
        <p:blipFill>
          <a:blip r:embed="rId2"/>
          <a:stretch>
            <a:fillRect/>
          </a:stretch>
        </p:blipFill>
        <p:spPr>
          <a:xfrm>
            <a:off x="1133667" y="455043"/>
            <a:ext cx="8343001" cy="6228000"/>
          </a:xfrm>
          <a:prstGeom prst="rect">
            <a:avLst/>
          </a:prstGeom>
        </p:spPr>
      </p:pic>
    </p:spTree>
    <p:extLst>
      <p:ext uri="{BB962C8B-B14F-4D97-AF65-F5344CB8AC3E}">
        <p14:creationId xmlns:p14="http://schemas.microsoft.com/office/powerpoint/2010/main" val="274854190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221819" y="65904"/>
            <a:ext cx="6192820" cy="2929472"/>
          </a:xfrm>
          <a:prstGeom prst="rect">
            <a:avLst/>
          </a:prstGeom>
        </p:spPr>
      </p:pic>
      <p:sp>
        <p:nvSpPr>
          <p:cNvPr id="3" name="Rectangle 2"/>
          <p:cNvSpPr/>
          <p:nvPr/>
        </p:nvSpPr>
        <p:spPr>
          <a:xfrm>
            <a:off x="6582032" y="1145061"/>
            <a:ext cx="4959178" cy="1200329"/>
          </a:xfrm>
          <a:prstGeom prst="rect">
            <a:avLst/>
          </a:prstGeom>
        </p:spPr>
        <p:txBody>
          <a:bodyPr wrap="square">
            <a:spAutoFit/>
          </a:bodyPr>
          <a:lstStyle/>
          <a:p>
            <a:r>
              <a:rPr lang="fr-FR" dirty="0">
                <a:latin typeface="F15"/>
              </a:rPr>
              <a:t>Sa projection verticale est parallèle à la ligne de terre (LT).</a:t>
            </a:r>
          </a:p>
          <a:p>
            <a:r>
              <a:rPr lang="fr-FR" dirty="0">
                <a:latin typeface="F15"/>
              </a:rPr>
              <a:t>Sa projection horizontale est oblique au PF et donne la vraie grandeur de la droite.</a:t>
            </a:r>
            <a:endParaRPr lang="fr-FR" dirty="0"/>
          </a:p>
        </p:txBody>
      </p:sp>
      <p:sp>
        <p:nvSpPr>
          <p:cNvPr id="4" name="Rectangle 3"/>
          <p:cNvSpPr/>
          <p:nvPr/>
        </p:nvSpPr>
        <p:spPr>
          <a:xfrm>
            <a:off x="642550" y="3115616"/>
            <a:ext cx="9704173" cy="646331"/>
          </a:xfrm>
          <a:prstGeom prst="rect">
            <a:avLst/>
          </a:prstGeom>
        </p:spPr>
        <p:txBody>
          <a:bodyPr wrap="square">
            <a:spAutoFit/>
          </a:bodyPr>
          <a:lstStyle/>
          <a:p>
            <a:r>
              <a:rPr lang="fr-FR" b="1" dirty="0">
                <a:latin typeface="F15"/>
              </a:rPr>
              <a:t>Application :</a:t>
            </a:r>
          </a:p>
          <a:p>
            <a:r>
              <a:rPr lang="fr-FR" dirty="0">
                <a:latin typeface="F15"/>
              </a:rPr>
              <a:t>Complétez l'épure en dessinant un des profils. Notez la VG éventuelle sur chaque projection.</a:t>
            </a:r>
            <a:endParaRPr lang="fr-FR" dirty="0"/>
          </a:p>
        </p:txBody>
      </p:sp>
      <p:pic>
        <p:nvPicPr>
          <p:cNvPr id="5" name="Image 4"/>
          <p:cNvPicPr>
            <a:picLocks noChangeAspect="1"/>
          </p:cNvPicPr>
          <p:nvPr/>
        </p:nvPicPr>
        <p:blipFill>
          <a:blip r:embed="rId3"/>
          <a:stretch>
            <a:fillRect/>
          </a:stretch>
        </p:blipFill>
        <p:spPr>
          <a:xfrm>
            <a:off x="1757197" y="3761947"/>
            <a:ext cx="3122063" cy="2633447"/>
          </a:xfrm>
          <a:prstGeom prst="rect">
            <a:avLst/>
          </a:prstGeom>
        </p:spPr>
      </p:pic>
    </p:spTree>
    <p:extLst>
      <p:ext uri="{BB962C8B-B14F-4D97-AF65-F5344CB8AC3E}">
        <p14:creationId xmlns:p14="http://schemas.microsoft.com/office/powerpoint/2010/main" val="400651126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5043" y="105718"/>
            <a:ext cx="2595582" cy="369332"/>
          </a:xfrm>
          <a:prstGeom prst="rect">
            <a:avLst/>
          </a:prstGeom>
        </p:spPr>
        <p:txBody>
          <a:bodyPr wrap="none">
            <a:spAutoFit/>
          </a:bodyPr>
          <a:lstStyle/>
          <a:p>
            <a:r>
              <a:rPr lang="fr-FR" b="1" dirty="0">
                <a:latin typeface="F35"/>
              </a:rPr>
              <a:t>3.2.3.2 </a:t>
            </a:r>
            <a:r>
              <a:rPr lang="fr-FR" b="1" u="sng" dirty="0">
                <a:latin typeface="F35"/>
              </a:rPr>
              <a:t>Droite frontale</a:t>
            </a:r>
            <a:r>
              <a:rPr lang="fr-FR" b="1" dirty="0">
                <a:latin typeface="F35"/>
              </a:rPr>
              <a:t>.</a:t>
            </a:r>
            <a:endParaRPr lang="fr-FR" b="1" dirty="0"/>
          </a:p>
        </p:txBody>
      </p:sp>
      <p:pic>
        <p:nvPicPr>
          <p:cNvPr id="3" name="Image 2"/>
          <p:cNvPicPr>
            <a:picLocks noChangeAspect="1"/>
          </p:cNvPicPr>
          <p:nvPr/>
        </p:nvPicPr>
        <p:blipFill>
          <a:blip r:embed="rId2"/>
          <a:stretch>
            <a:fillRect/>
          </a:stretch>
        </p:blipFill>
        <p:spPr>
          <a:xfrm>
            <a:off x="1248996" y="475050"/>
            <a:ext cx="8343001" cy="6228000"/>
          </a:xfrm>
          <a:prstGeom prst="rect">
            <a:avLst/>
          </a:prstGeom>
        </p:spPr>
      </p:pic>
    </p:spTree>
    <p:extLst>
      <p:ext uri="{BB962C8B-B14F-4D97-AF65-F5344CB8AC3E}">
        <p14:creationId xmlns:p14="http://schemas.microsoft.com/office/powerpoint/2010/main" val="123612133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0" y="0"/>
            <a:ext cx="5211310" cy="2904303"/>
          </a:xfrm>
          <a:prstGeom prst="rect">
            <a:avLst/>
          </a:prstGeom>
        </p:spPr>
      </p:pic>
      <p:sp>
        <p:nvSpPr>
          <p:cNvPr id="3" name="Rectangle 2"/>
          <p:cNvSpPr/>
          <p:nvPr/>
        </p:nvSpPr>
        <p:spPr>
          <a:xfrm>
            <a:off x="5211310" y="1056157"/>
            <a:ext cx="6096000" cy="646331"/>
          </a:xfrm>
          <a:prstGeom prst="rect">
            <a:avLst/>
          </a:prstGeom>
        </p:spPr>
        <p:txBody>
          <a:bodyPr>
            <a:spAutoFit/>
          </a:bodyPr>
          <a:lstStyle/>
          <a:p>
            <a:r>
              <a:rPr lang="fr-FR" dirty="0">
                <a:latin typeface="F15"/>
              </a:rPr>
              <a:t>Sa projection horizontale est parallèle à LT. La vraie grandeur se marque dans le PF.</a:t>
            </a:r>
            <a:endParaRPr lang="fr-FR" dirty="0"/>
          </a:p>
        </p:txBody>
      </p:sp>
      <p:sp>
        <p:nvSpPr>
          <p:cNvPr id="4" name="Rectangle 3"/>
          <p:cNvSpPr/>
          <p:nvPr/>
        </p:nvSpPr>
        <p:spPr>
          <a:xfrm>
            <a:off x="243894" y="3099140"/>
            <a:ext cx="9934832" cy="646331"/>
          </a:xfrm>
          <a:prstGeom prst="rect">
            <a:avLst/>
          </a:prstGeom>
        </p:spPr>
        <p:txBody>
          <a:bodyPr wrap="square">
            <a:spAutoFit/>
          </a:bodyPr>
          <a:lstStyle/>
          <a:p>
            <a:r>
              <a:rPr lang="fr-FR" b="1" dirty="0">
                <a:latin typeface="F15"/>
              </a:rPr>
              <a:t>Application :</a:t>
            </a:r>
          </a:p>
          <a:p>
            <a:r>
              <a:rPr lang="fr-FR" dirty="0">
                <a:latin typeface="F15"/>
              </a:rPr>
              <a:t>Complétez l'épure en dessinant un des profils. Notez la VG éventuelle sur chaque projection.</a:t>
            </a:r>
            <a:endParaRPr lang="fr-FR" dirty="0"/>
          </a:p>
        </p:txBody>
      </p:sp>
      <p:pic>
        <p:nvPicPr>
          <p:cNvPr id="5" name="Image 4"/>
          <p:cNvPicPr>
            <a:picLocks noChangeAspect="1"/>
          </p:cNvPicPr>
          <p:nvPr/>
        </p:nvPicPr>
        <p:blipFill>
          <a:blip r:embed="rId3"/>
          <a:stretch>
            <a:fillRect/>
          </a:stretch>
        </p:blipFill>
        <p:spPr>
          <a:xfrm>
            <a:off x="2663320" y="3745471"/>
            <a:ext cx="2605655" cy="3068945"/>
          </a:xfrm>
          <a:prstGeom prst="rect">
            <a:avLst/>
          </a:prstGeom>
        </p:spPr>
      </p:pic>
    </p:spTree>
    <p:extLst>
      <p:ext uri="{BB962C8B-B14F-4D97-AF65-F5344CB8AC3E}">
        <p14:creationId xmlns:p14="http://schemas.microsoft.com/office/powerpoint/2010/main" val="355825107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78908" y="0"/>
            <a:ext cx="2659702" cy="369332"/>
          </a:xfrm>
          <a:prstGeom prst="rect">
            <a:avLst/>
          </a:prstGeom>
        </p:spPr>
        <p:txBody>
          <a:bodyPr wrap="none">
            <a:spAutoFit/>
          </a:bodyPr>
          <a:lstStyle/>
          <a:p>
            <a:r>
              <a:rPr lang="fr-FR" b="1" dirty="0">
                <a:latin typeface="F35"/>
              </a:rPr>
              <a:t>3.2.3.3 </a:t>
            </a:r>
            <a:r>
              <a:rPr lang="fr-FR" b="1" u="sng" dirty="0">
                <a:latin typeface="F35"/>
              </a:rPr>
              <a:t>Droite de profil</a:t>
            </a:r>
            <a:r>
              <a:rPr lang="fr-FR" dirty="0">
                <a:latin typeface="F35"/>
              </a:rPr>
              <a:t>.</a:t>
            </a:r>
            <a:endParaRPr lang="fr-FR" dirty="0"/>
          </a:p>
        </p:txBody>
      </p:sp>
      <p:pic>
        <p:nvPicPr>
          <p:cNvPr id="3" name="Image 2"/>
          <p:cNvPicPr>
            <a:picLocks noChangeAspect="1"/>
          </p:cNvPicPr>
          <p:nvPr/>
        </p:nvPicPr>
        <p:blipFill>
          <a:blip r:embed="rId2"/>
          <a:stretch>
            <a:fillRect/>
          </a:stretch>
        </p:blipFill>
        <p:spPr>
          <a:xfrm>
            <a:off x="1808759" y="446806"/>
            <a:ext cx="8343001" cy="6228000"/>
          </a:xfrm>
          <a:prstGeom prst="rect">
            <a:avLst/>
          </a:prstGeom>
        </p:spPr>
      </p:pic>
    </p:spTree>
    <p:extLst>
      <p:ext uri="{BB962C8B-B14F-4D97-AF65-F5344CB8AC3E}">
        <p14:creationId xmlns:p14="http://schemas.microsoft.com/office/powerpoint/2010/main" val="61142329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61229" y="71352"/>
            <a:ext cx="5861777" cy="2906262"/>
          </a:xfrm>
          <a:prstGeom prst="rect">
            <a:avLst/>
          </a:prstGeom>
        </p:spPr>
      </p:pic>
      <p:sp>
        <p:nvSpPr>
          <p:cNvPr id="3" name="Rectangle 2"/>
          <p:cNvSpPr/>
          <p:nvPr/>
        </p:nvSpPr>
        <p:spPr>
          <a:xfrm>
            <a:off x="5923006" y="1138535"/>
            <a:ext cx="6096000" cy="646331"/>
          </a:xfrm>
          <a:prstGeom prst="rect">
            <a:avLst/>
          </a:prstGeom>
        </p:spPr>
        <p:txBody>
          <a:bodyPr>
            <a:spAutoFit/>
          </a:bodyPr>
          <a:lstStyle/>
          <a:p>
            <a:r>
              <a:rPr lang="fr-FR" dirty="0">
                <a:latin typeface="F15"/>
              </a:rPr>
              <a:t>Il faut faire appel au plan de profil. La droite de profil se projette en vraie grandeur sur ce plan.</a:t>
            </a:r>
            <a:endParaRPr lang="fr-FR" dirty="0"/>
          </a:p>
        </p:txBody>
      </p:sp>
      <p:sp>
        <p:nvSpPr>
          <p:cNvPr id="4" name="Rectangle 3"/>
          <p:cNvSpPr/>
          <p:nvPr/>
        </p:nvSpPr>
        <p:spPr>
          <a:xfrm>
            <a:off x="263611" y="3199539"/>
            <a:ext cx="10956324" cy="646331"/>
          </a:xfrm>
          <a:prstGeom prst="rect">
            <a:avLst/>
          </a:prstGeom>
        </p:spPr>
        <p:txBody>
          <a:bodyPr wrap="square">
            <a:spAutoFit/>
          </a:bodyPr>
          <a:lstStyle/>
          <a:p>
            <a:r>
              <a:rPr lang="fr-FR" b="1" dirty="0">
                <a:latin typeface="F15"/>
              </a:rPr>
              <a:t>Application :</a:t>
            </a:r>
          </a:p>
          <a:p>
            <a:r>
              <a:rPr lang="fr-FR" dirty="0">
                <a:latin typeface="F15"/>
              </a:rPr>
              <a:t>Complétez l'épure en dessinant un des profils. Notez la VG éventuelle sur chaque projection.</a:t>
            </a:r>
          </a:p>
        </p:txBody>
      </p:sp>
      <p:pic>
        <p:nvPicPr>
          <p:cNvPr id="5" name="Image 4"/>
          <p:cNvPicPr>
            <a:picLocks noChangeAspect="1"/>
          </p:cNvPicPr>
          <p:nvPr/>
        </p:nvPicPr>
        <p:blipFill>
          <a:blip r:embed="rId3"/>
          <a:stretch>
            <a:fillRect/>
          </a:stretch>
        </p:blipFill>
        <p:spPr>
          <a:xfrm>
            <a:off x="2581870" y="3947830"/>
            <a:ext cx="3044573" cy="2625425"/>
          </a:xfrm>
          <a:prstGeom prst="rect">
            <a:avLst/>
          </a:prstGeom>
        </p:spPr>
      </p:pic>
    </p:spTree>
    <p:extLst>
      <p:ext uri="{BB962C8B-B14F-4D97-AF65-F5344CB8AC3E}">
        <p14:creationId xmlns:p14="http://schemas.microsoft.com/office/powerpoint/2010/main" val="304646266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31806" y="0"/>
            <a:ext cx="3181255" cy="369332"/>
          </a:xfrm>
          <a:prstGeom prst="rect">
            <a:avLst/>
          </a:prstGeom>
        </p:spPr>
        <p:txBody>
          <a:bodyPr wrap="none">
            <a:spAutoFit/>
          </a:bodyPr>
          <a:lstStyle/>
          <a:p>
            <a:r>
              <a:rPr lang="fr-FR" b="1" dirty="0">
                <a:latin typeface="F35"/>
              </a:rPr>
              <a:t>3.2.3.4 </a:t>
            </a:r>
            <a:r>
              <a:rPr lang="fr-FR" b="1" u="sng" dirty="0">
                <a:latin typeface="F35"/>
              </a:rPr>
              <a:t>Droite parallèle à LT</a:t>
            </a:r>
            <a:r>
              <a:rPr lang="fr-FR" b="1" dirty="0">
                <a:latin typeface="F35"/>
              </a:rPr>
              <a:t>.</a:t>
            </a:r>
            <a:endParaRPr lang="fr-FR" b="1" dirty="0"/>
          </a:p>
        </p:txBody>
      </p:sp>
      <p:pic>
        <p:nvPicPr>
          <p:cNvPr id="3" name="Image 2"/>
          <p:cNvPicPr>
            <a:picLocks noChangeAspect="1"/>
          </p:cNvPicPr>
          <p:nvPr/>
        </p:nvPicPr>
        <p:blipFill>
          <a:blip r:embed="rId2"/>
          <a:stretch>
            <a:fillRect/>
          </a:stretch>
        </p:blipFill>
        <p:spPr>
          <a:xfrm>
            <a:off x="1504370" y="369332"/>
            <a:ext cx="8343001" cy="6228000"/>
          </a:xfrm>
          <a:prstGeom prst="rect">
            <a:avLst/>
          </a:prstGeom>
        </p:spPr>
      </p:pic>
    </p:spTree>
    <p:extLst>
      <p:ext uri="{BB962C8B-B14F-4D97-AF65-F5344CB8AC3E}">
        <p14:creationId xmlns:p14="http://schemas.microsoft.com/office/powerpoint/2010/main" val="111819564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78970" y="128881"/>
            <a:ext cx="6349951" cy="2629600"/>
          </a:xfrm>
          <a:prstGeom prst="rect">
            <a:avLst/>
          </a:prstGeom>
        </p:spPr>
      </p:pic>
      <p:sp>
        <p:nvSpPr>
          <p:cNvPr id="3" name="Rectangle 2"/>
          <p:cNvSpPr/>
          <p:nvPr/>
        </p:nvSpPr>
        <p:spPr>
          <a:xfrm>
            <a:off x="6428921" y="1155011"/>
            <a:ext cx="6096000" cy="646331"/>
          </a:xfrm>
          <a:prstGeom prst="rect">
            <a:avLst/>
          </a:prstGeom>
        </p:spPr>
        <p:txBody>
          <a:bodyPr>
            <a:spAutoFit/>
          </a:bodyPr>
          <a:lstStyle/>
          <a:p>
            <a:r>
              <a:rPr lang="fr-FR" dirty="0">
                <a:latin typeface="F15"/>
              </a:rPr>
              <a:t>Ses projections (PF - PH) sont parallèles et donnent chacune la vraie grandeur de la droite.</a:t>
            </a:r>
            <a:endParaRPr lang="fr-FR" dirty="0"/>
          </a:p>
        </p:txBody>
      </p:sp>
      <p:sp>
        <p:nvSpPr>
          <p:cNvPr id="4" name="Rectangle 3"/>
          <p:cNvSpPr/>
          <p:nvPr/>
        </p:nvSpPr>
        <p:spPr>
          <a:xfrm>
            <a:off x="78970" y="2967335"/>
            <a:ext cx="10613744" cy="646331"/>
          </a:xfrm>
          <a:prstGeom prst="rect">
            <a:avLst/>
          </a:prstGeom>
        </p:spPr>
        <p:txBody>
          <a:bodyPr wrap="square">
            <a:spAutoFit/>
          </a:bodyPr>
          <a:lstStyle/>
          <a:p>
            <a:r>
              <a:rPr lang="fr-FR" b="1" dirty="0">
                <a:latin typeface="F15"/>
              </a:rPr>
              <a:t>Application :</a:t>
            </a:r>
          </a:p>
          <a:p>
            <a:r>
              <a:rPr lang="fr-FR" dirty="0">
                <a:latin typeface="F15"/>
              </a:rPr>
              <a:t>Complétez l'épure en dessinant un des profils. Notez la VG éventuelle sur chaque projection.</a:t>
            </a:r>
            <a:endParaRPr lang="fr-FR" dirty="0"/>
          </a:p>
        </p:txBody>
      </p:sp>
      <p:pic>
        <p:nvPicPr>
          <p:cNvPr id="5" name="Image 4"/>
          <p:cNvPicPr>
            <a:picLocks noChangeAspect="1"/>
          </p:cNvPicPr>
          <p:nvPr/>
        </p:nvPicPr>
        <p:blipFill>
          <a:blip r:embed="rId3"/>
          <a:stretch>
            <a:fillRect/>
          </a:stretch>
        </p:blipFill>
        <p:spPr>
          <a:xfrm>
            <a:off x="2850291" y="3822520"/>
            <a:ext cx="3830596" cy="2795972"/>
          </a:xfrm>
          <a:prstGeom prst="rect">
            <a:avLst/>
          </a:prstGeom>
        </p:spPr>
      </p:pic>
    </p:spTree>
    <p:extLst>
      <p:ext uri="{BB962C8B-B14F-4D97-AF65-F5344CB8AC3E}">
        <p14:creationId xmlns:p14="http://schemas.microsoft.com/office/powerpoint/2010/main" val="330286686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3006" y="105718"/>
            <a:ext cx="2518638" cy="369332"/>
          </a:xfrm>
          <a:prstGeom prst="rect">
            <a:avLst/>
          </a:prstGeom>
        </p:spPr>
        <p:txBody>
          <a:bodyPr wrap="none">
            <a:spAutoFit/>
          </a:bodyPr>
          <a:lstStyle/>
          <a:p>
            <a:r>
              <a:rPr lang="fr-FR" b="1" dirty="0">
                <a:latin typeface="F35"/>
              </a:rPr>
              <a:t>3.2.3.5 </a:t>
            </a:r>
            <a:r>
              <a:rPr lang="fr-FR" b="1" u="sng" dirty="0">
                <a:latin typeface="F35"/>
              </a:rPr>
              <a:t>Droite debout</a:t>
            </a:r>
            <a:r>
              <a:rPr lang="fr-FR" b="1" dirty="0">
                <a:latin typeface="F35"/>
              </a:rPr>
              <a:t>.</a:t>
            </a:r>
            <a:endParaRPr lang="fr-FR" b="1" dirty="0"/>
          </a:p>
        </p:txBody>
      </p:sp>
      <p:pic>
        <p:nvPicPr>
          <p:cNvPr id="3" name="Image 2"/>
          <p:cNvPicPr>
            <a:picLocks noChangeAspect="1"/>
          </p:cNvPicPr>
          <p:nvPr/>
        </p:nvPicPr>
        <p:blipFill>
          <a:blip r:embed="rId2"/>
          <a:stretch>
            <a:fillRect/>
          </a:stretch>
        </p:blipFill>
        <p:spPr>
          <a:xfrm>
            <a:off x="1672325" y="475050"/>
            <a:ext cx="8343001" cy="6228000"/>
          </a:xfrm>
          <a:prstGeom prst="rect">
            <a:avLst/>
          </a:prstGeom>
        </p:spPr>
      </p:pic>
    </p:spTree>
    <p:extLst>
      <p:ext uri="{BB962C8B-B14F-4D97-AF65-F5344CB8AC3E}">
        <p14:creationId xmlns:p14="http://schemas.microsoft.com/office/powerpoint/2010/main" val="191078312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0" y="115330"/>
            <a:ext cx="5273388" cy="2946317"/>
          </a:xfrm>
          <a:prstGeom prst="rect">
            <a:avLst/>
          </a:prstGeom>
        </p:spPr>
      </p:pic>
      <p:sp>
        <p:nvSpPr>
          <p:cNvPr id="3" name="Rectangle 2"/>
          <p:cNvSpPr/>
          <p:nvPr/>
        </p:nvSpPr>
        <p:spPr>
          <a:xfrm>
            <a:off x="5273388" y="787395"/>
            <a:ext cx="6096000" cy="1200329"/>
          </a:xfrm>
          <a:prstGeom prst="rect">
            <a:avLst/>
          </a:prstGeom>
        </p:spPr>
        <p:txBody>
          <a:bodyPr>
            <a:spAutoFit/>
          </a:bodyPr>
          <a:lstStyle/>
          <a:p>
            <a:r>
              <a:rPr lang="fr-FR" dirty="0">
                <a:latin typeface="F15"/>
              </a:rPr>
              <a:t>Elle est perpendiculaire au plan frontal.</a:t>
            </a:r>
          </a:p>
          <a:p>
            <a:r>
              <a:rPr lang="fr-FR" dirty="0">
                <a:latin typeface="F15"/>
              </a:rPr>
              <a:t>Sa projection frontale est un point, sa projection horizontale est perpendiculaire à LT et donne la vraie grandeur de la droite.</a:t>
            </a:r>
            <a:endParaRPr lang="fr-FR" dirty="0"/>
          </a:p>
        </p:txBody>
      </p:sp>
      <p:sp>
        <p:nvSpPr>
          <p:cNvPr id="4" name="Rectangle 3"/>
          <p:cNvSpPr/>
          <p:nvPr/>
        </p:nvSpPr>
        <p:spPr>
          <a:xfrm>
            <a:off x="256545" y="3087381"/>
            <a:ext cx="10033686" cy="646331"/>
          </a:xfrm>
          <a:prstGeom prst="rect">
            <a:avLst/>
          </a:prstGeom>
        </p:spPr>
        <p:txBody>
          <a:bodyPr wrap="square">
            <a:spAutoFit/>
          </a:bodyPr>
          <a:lstStyle/>
          <a:p>
            <a:r>
              <a:rPr lang="fr-FR" b="1" dirty="0">
                <a:latin typeface="F15"/>
              </a:rPr>
              <a:t>Application :</a:t>
            </a:r>
          </a:p>
          <a:p>
            <a:r>
              <a:rPr lang="fr-FR" dirty="0">
                <a:latin typeface="F15"/>
              </a:rPr>
              <a:t>Complétez l'épure en dessinant un des profils. Notez la VG éventuelle sur chaque projection.</a:t>
            </a:r>
            <a:endParaRPr lang="fr-FR" dirty="0"/>
          </a:p>
        </p:txBody>
      </p:sp>
      <p:pic>
        <p:nvPicPr>
          <p:cNvPr id="5" name="Image 4"/>
          <p:cNvPicPr>
            <a:picLocks noChangeAspect="1"/>
          </p:cNvPicPr>
          <p:nvPr/>
        </p:nvPicPr>
        <p:blipFill>
          <a:blip r:embed="rId3"/>
          <a:stretch>
            <a:fillRect/>
          </a:stretch>
        </p:blipFill>
        <p:spPr>
          <a:xfrm>
            <a:off x="3150826" y="3759446"/>
            <a:ext cx="2838081" cy="2942514"/>
          </a:xfrm>
          <a:prstGeom prst="rect">
            <a:avLst/>
          </a:prstGeom>
        </p:spPr>
      </p:pic>
    </p:spTree>
    <p:extLst>
      <p:ext uri="{BB962C8B-B14F-4D97-AF65-F5344CB8AC3E}">
        <p14:creationId xmlns:p14="http://schemas.microsoft.com/office/powerpoint/2010/main" val="320299185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1305" y="64528"/>
            <a:ext cx="2685351" cy="369332"/>
          </a:xfrm>
          <a:prstGeom prst="rect">
            <a:avLst/>
          </a:prstGeom>
        </p:spPr>
        <p:txBody>
          <a:bodyPr wrap="none">
            <a:spAutoFit/>
          </a:bodyPr>
          <a:lstStyle/>
          <a:p>
            <a:r>
              <a:rPr lang="fr-FR" b="1" dirty="0">
                <a:latin typeface="F35"/>
              </a:rPr>
              <a:t>3.2.3.6 </a:t>
            </a:r>
            <a:r>
              <a:rPr lang="fr-FR" b="1" u="sng" dirty="0">
                <a:latin typeface="F35"/>
              </a:rPr>
              <a:t>Droite verticale</a:t>
            </a:r>
            <a:r>
              <a:rPr lang="fr-FR" b="1" dirty="0">
                <a:latin typeface="F35"/>
              </a:rPr>
              <a:t>.</a:t>
            </a:r>
            <a:endParaRPr lang="fr-FR" b="1" dirty="0"/>
          </a:p>
        </p:txBody>
      </p:sp>
      <p:pic>
        <p:nvPicPr>
          <p:cNvPr id="3" name="Image 2"/>
          <p:cNvPicPr>
            <a:picLocks noChangeAspect="1"/>
          </p:cNvPicPr>
          <p:nvPr/>
        </p:nvPicPr>
        <p:blipFill>
          <a:blip r:embed="rId2"/>
          <a:stretch>
            <a:fillRect/>
          </a:stretch>
        </p:blipFill>
        <p:spPr>
          <a:xfrm>
            <a:off x="1466355" y="433860"/>
            <a:ext cx="8343001" cy="6228000"/>
          </a:xfrm>
          <a:prstGeom prst="rect">
            <a:avLst/>
          </a:prstGeom>
        </p:spPr>
      </p:pic>
    </p:spTree>
    <p:extLst>
      <p:ext uri="{BB962C8B-B14F-4D97-AF65-F5344CB8AC3E}">
        <p14:creationId xmlns:p14="http://schemas.microsoft.com/office/powerpoint/2010/main" val="235501201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142615" y="0"/>
            <a:ext cx="5187677" cy="3143615"/>
          </a:xfrm>
          <a:prstGeom prst="rect">
            <a:avLst/>
          </a:prstGeom>
        </p:spPr>
      </p:pic>
      <p:sp>
        <p:nvSpPr>
          <p:cNvPr id="3" name="Rectangle 2"/>
          <p:cNvSpPr/>
          <p:nvPr/>
        </p:nvSpPr>
        <p:spPr>
          <a:xfrm>
            <a:off x="5330292" y="1110142"/>
            <a:ext cx="6096000" cy="646331"/>
          </a:xfrm>
          <a:prstGeom prst="rect">
            <a:avLst/>
          </a:prstGeom>
        </p:spPr>
        <p:txBody>
          <a:bodyPr>
            <a:spAutoFit/>
          </a:bodyPr>
          <a:lstStyle/>
          <a:p>
            <a:r>
              <a:rPr lang="fr-FR" dirty="0">
                <a:latin typeface="F15"/>
              </a:rPr>
              <a:t>Sa projection frontale donne la vraie grandeur, sa projection horizontale est un point.</a:t>
            </a:r>
            <a:endParaRPr lang="fr-FR" dirty="0"/>
          </a:p>
        </p:txBody>
      </p:sp>
      <p:sp>
        <p:nvSpPr>
          <p:cNvPr id="4" name="Rectangle 3"/>
          <p:cNvSpPr/>
          <p:nvPr/>
        </p:nvSpPr>
        <p:spPr>
          <a:xfrm>
            <a:off x="142615" y="3143615"/>
            <a:ext cx="10146444" cy="646331"/>
          </a:xfrm>
          <a:prstGeom prst="rect">
            <a:avLst/>
          </a:prstGeom>
        </p:spPr>
        <p:txBody>
          <a:bodyPr wrap="square">
            <a:spAutoFit/>
          </a:bodyPr>
          <a:lstStyle/>
          <a:p>
            <a:r>
              <a:rPr lang="fr-FR" b="1" dirty="0">
                <a:latin typeface="F15"/>
              </a:rPr>
              <a:t>Application :</a:t>
            </a:r>
          </a:p>
          <a:p>
            <a:r>
              <a:rPr lang="fr-FR" dirty="0">
                <a:latin typeface="F15"/>
              </a:rPr>
              <a:t>Complétez l'épure en dessinant un des profils. Notez la VG éventuelle sur chaque projection.</a:t>
            </a:r>
            <a:endParaRPr lang="fr-FR" dirty="0"/>
          </a:p>
        </p:txBody>
      </p:sp>
      <p:pic>
        <p:nvPicPr>
          <p:cNvPr id="5" name="Image 4"/>
          <p:cNvPicPr>
            <a:picLocks noChangeAspect="1"/>
          </p:cNvPicPr>
          <p:nvPr/>
        </p:nvPicPr>
        <p:blipFill>
          <a:blip r:embed="rId3"/>
          <a:stretch>
            <a:fillRect/>
          </a:stretch>
        </p:blipFill>
        <p:spPr>
          <a:xfrm>
            <a:off x="3264345" y="3789946"/>
            <a:ext cx="2963461" cy="2833938"/>
          </a:xfrm>
          <a:prstGeom prst="rect">
            <a:avLst/>
          </a:prstGeom>
        </p:spPr>
      </p:pic>
    </p:spTree>
    <p:extLst>
      <p:ext uri="{BB962C8B-B14F-4D97-AF65-F5344CB8AC3E}">
        <p14:creationId xmlns:p14="http://schemas.microsoft.com/office/powerpoint/2010/main" val="348386819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ZoneTexte 8">
            <a:extLst>
              <a:ext uri="{FF2B5EF4-FFF2-40B4-BE49-F238E27FC236}">
                <a16:creationId xmlns:a16="http://schemas.microsoft.com/office/drawing/2014/main" id="{C9D8786E-3130-402C-9A33-06ABD0526231}"/>
              </a:ext>
            </a:extLst>
          </p:cNvPr>
          <p:cNvSpPr txBox="1"/>
          <p:nvPr/>
        </p:nvSpPr>
        <p:spPr>
          <a:xfrm>
            <a:off x="3048000" y="3244334"/>
            <a:ext cx="6096000" cy="1200329"/>
          </a:xfrm>
          <a:prstGeom prst="rect">
            <a:avLst/>
          </a:prstGeom>
          <a:noFill/>
        </p:spPr>
        <p:txBody>
          <a:bodyPr wrap="square">
            <a:spAutoFit/>
          </a:bodyPr>
          <a:lstStyle/>
          <a:p>
            <a:pPr algn="ctr"/>
            <a:r>
              <a:rPr lang="fr-FR" b="1" dirty="0"/>
              <a:t>Droite </a:t>
            </a:r>
            <a:r>
              <a:rPr lang="fr-FR" b="1" dirty="0" err="1"/>
              <a:t>droite</a:t>
            </a:r>
            <a:r>
              <a:rPr lang="fr-FR" b="1" dirty="0"/>
              <a:t> verticale est </a:t>
            </a:r>
            <a:r>
              <a:rPr lang="fr-FR" b="1"/>
              <a:t>une ligne debout </a:t>
            </a:r>
            <a:endParaRPr lang="fr-FR" b="1" dirty="0"/>
          </a:p>
          <a:p>
            <a:pPr algn="ctr"/>
            <a:r>
              <a:rPr lang="fr-FR" sz="1800" b="1" dirty="0"/>
              <a:t>Droite couchée = l</a:t>
            </a:r>
            <a:r>
              <a:rPr lang="fr-FR" b="1" dirty="0"/>
              <a:t>igne horizontale</a:t>
            </a:r>
          </a:p>
          <a:p>
            <a:pPr algn="ctr"/>
            <a:r>
              <a:rPr lang="fr-FR" sz="1800" b="1" dirty="0"/>
              <a:t>Droite oblique est une ligne pensée  </a:t>
            </a:r>
          </a:p>
          <a:p>
            <a:pPr algn="ctr"/>
            <a:endParaRPr lang="fr-FR" sz="1800" b="1" dirty="0"/>
          </a:p>
        </p:txBody>
      </p:sp>
    </p:spTree>
    <p:extLst>
      <p:ext uri="{BB962C8B-B14F-4D97-AF65-F5344CB8AC3E}">
        <p14:creationId xmlns:p14="http://schemas.microsoft.com/office/powerpoint/2010/main" val="210811568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à coins arrondis 1"/>
          <p:cNvSpPr/>
          <p:nvPr/>
        </p:nvSpPr>
        <p:spPr>
          <a:xfrm>
            <a:off x="1647568" y="1589903"/>
            <a:ext cx="8493210" cy="3435178"/>
          </a:xfrm>
          <a:prstGeom prst="wedgeRoundRect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5400" b="1" dirty="0"/>
              <a:t>MERCI POUR VOTRE ATTENTION</a:t>
            </a:r>
          </a:p>
        </p:txBody>
      </p:sp>
    </p:spTree>
    <p:extLst>
      <p:ext uri="{BB962C8B-B14F-4D97-AF65-F5344CB8AC3E}">
        <p14:creationId xmlns:p14="http://schemas.microsoft.com/office/powerpoint/2010/main" val="408670842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irection Ion">
  <a:themeElements>
    <a:clrScheme name="Direction 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FFCB"/>
      </a:folHlink>
    </a:clrScheme>
    <a:fontScheme name="Direction 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irection 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EC7F02AD-9687-440F-A9DF-FAA6F22270D7}"/>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910</TotalTime>
  <Words>4188</Words>
  <Application>Microsoft Office PowerPoint</Application>
  <PresentationFormat>Grand écran</PresentationFormat>
  <Paragraphs>450</Paragraphs>
  <Slides>66</Slides>
  <Notes>0</Notes>
  <HiddenSlides>0</HiddenSlides>
  <MMClips>0</MMClips>
  <ScaleCrop>false</ScaleCrop>
  <HeadingPairs>
    <vt:vector size="6" baseType="variant">
      <vt:variant>
        <vt:lpstr>Polices utilisées</vt:lpstr>
      </vt:variant>
      <vt:variant>
        <vt:i4>15</vt:i4>
      </vt:variant>
      <vt:variant>
        <vt:lpstr>Thème</vt:lpstr>
      </vt:variant>
      <vt:variant>
        <vt:i4>1</vt:i4>
      </vt:variant>
      <vt:variant>
        <vt:lpstr>Titres des diapositives</vt:lpstr>
      </vt:variant>
      <vt:variant>
        <vt:i4>66</vt:i4>
      </vt:variant>
    </vt:vector>
  </HeadingPairs>
  <TitlesOfParts>
    <vt:vector size="82" baseType="lpstr">
      <vt:lpstr>arial</vt:lpstr>
      <vt:lpstr>arial</vt:lpstr>
      <vt:lpstr>Calibri</vt:lpstr>
      <vt:lpstr>Century Gothic</vt:lpstr>
      <vt:lpstr>F15</vt:lpstr>
      <vt:lpstr>F25</vt:lpstr>
      <vt:lpstr>F26</vt:lpstr>
      <vt:lpstr>F34</vt:lpstr>
      <vt:lpstr>F35</vt:lpstr>
      <vt:lpstr>F38</vt:lpstr>
      <vt:lpstr>F39</vt:lpstr>
      <vt:lpstr>LM Roman 12</vt:lpstr>
      <vt:lpstr>Times New Roman</vt:lpstr>
      <vt:lpstr>Wingdings</vt:lpstr>
      <vt:lpstr>Wingdings 3</vt:lpstr>
      <vt:lpstr>Direction Ion</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user</dc:creator>
  <cp:lastModifiedBy>LEGION</cp:lastModifiedBy>
  <cp:revision>89</cp:revision>
  <cp:lastPrinted>2022-11-04T19:31:07Z</cp:lastPrinted>
  <dcterms:created xsi:type="dcterms:W3CDTF">2022-01-19T10:02:57Z</dcterms:created>
  <dcterms:modified xsi:type="dcterms:W3CDTF">2024-05-10T10:31:47Z</dcterms:modified>
</cp:coreProperties>
</file>