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6" r:id="rId1"/>
  </p:sldMasterIdLst>
  <p:notesMasterIdLst>
    <p:notesMasterId r:id="rId27"/>
  </p:notesMasterIdLst>
  <p:sldIdLst>
    <p:sldId id="256" r:id="rId2"/>
    <p:sldId id="267" r:id="rId3"/>
    <p:sldId id="440" r:id="rId4"/>
    <p:sldId id="441" r:id="rId5"/>
    <p:sldId id="442" r:id="rId6"/>
    <p:sldId id="443" r:id="rId7"/>
    <p:sldId id="444" r:id="rId8"/>
    <p:sldId id="445" r:id="rId9"/>
    <p:sldId id="446" r:id="rId10"/>
    <p:sldId id="447" r:id="rId11"/>
    <p:sldId id="448" r:id="rId12"/>
    <p:sldId id="449" r:id="rId13"/>
    <p:sldId id="450" r:id="rId14"/>
    <p:sldId id="451" r:id="rId15"/>
    <p:sldId id="452" r:id="rId16"/>
    <p:sldId id="453" r:id="rId17"/>
    <p:sldId id="454" r:id="rId18"/>
    <p:sldId id="455" r:id="rId19"/>
    <p:sldId id="456" r:id="rId20"/>
    <p:sldId id="457" r:id="rId21"/>
    <p:sldId id="458" r:id="rId22"/>
    <p:sldId id="459" r:id="rId23"/>
    <p:sldId id="460" r:id="rId24"/>
    <p:sldId id="461" r:id="rId25"/>
    <p:sldId id="439" r:id="rId26"/>
  </p:sldIdLst>
  <p:sldSz cx="12192000" cy="6858000"/>
  <p:notesSz cx="6889750"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103" autoAdjust="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0A709E-B5D8-41A4-8C73-18759F5F0F7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97C8F1E-427C-433A-AF58-2FB80E17D860}">
      <dgm:prSet/>
      <dgm:spPr/>
      <dgm:t>
        <a:bodyPr/>
        <a:lstStyle/>
        <a:p>
          <a:r>
            <a:rPr lang="fr-FR" b="0" i="0"/>
            <a:t>L’être humain voit</a:t>
          </a:r>
          <a:endParaRPr lang="en-US"/>
        </a:p>
      </dgm:t>
    </dgm:pt>
    <dgm:pt modelId="{8EDABFA0-4487-4A4D-AA6A-51CF68AD1980}" type="parTrans" cxnId="{9D69B07B-7BF3-4AF2-9463-4520B8AE98CB}">
      <dgm:prSet/>
      <dgm:spPr/>
      <dgm:t>
        <a:bodyPr/>
        <a:lstStyle/>
        <a:p>
          <a:endParaRPr lang="en-US"/>
        </a:p>
      </dgm:t>
    </dgm:pt>
    <dgm:pt modelId="{E48A6612-195A-4A5C-B859-ACD4522A315E}" type="sibTrans" cxnId="{9D69B07B-7BF3-4AF2-9463-4520B8AE98CB}">
      <dgm:prSet/>
      <dgm:spPr/>
      <dgm:t>
        <a:bodyPr/>
        <a:lstStyle/>
        <a:p>
          <a:endParaRPr lang="en-US"/>
        </a:p>
      </dgm:t>
    </dgm:pt>
    <dgm:pt modelId="{D2F5A178-C604-4747-B102-41C1D7F54A48}">
      <dgm:prSet/>
      <dgm:spPr/>
      <dgm:t>
        <a:bodyPr/>
        <a:lstStyle/>
        <a:p>
          <a:r>
            <a:rPr lang="fr-FR" b="0" i="0"/>
            <a:t>le monde </a:t>
          </a:r>
          <a:endParaRPr lang="en-US"/>
        </a:p>
      </dgm:t>
    </dgm:pt>
    <dgm:pt modelId="{B0CFBD41-6CC0-4BA9-BB88-060FED8E53A0}" type="parTrans" cxnId="{05880EF7-FCF8-4D25-9CBA-2E344E2365DC}">
      <dgm:prSet/>
      <dgm:spPr/>
      <dgm:t>
        <a:bodyPr/>
        <a:lstStyle/>
        <a:p>
          <a:endParaRPr lang="en-US"/>
        </a:p>
      </dgm:t>
    </dgm:pt>
    <dgm:pt modelId="{94AD2B16-07EF-460E-A2BC-05EF8D7F4476}" type="sibTrans" cxnId="{05880EF7-FCF8-4D25-9CBA-2E344E2365DC}">
      <dgm:prSet/>
      <dgm:spPr/>
      <dgm:t>
        <a:bodyPr/>
        <a:lstStyle/>
        <a:p>
          <a:endParaRPr lang="en-US"/>
        </a:p>
      </dgm:t>
    </dgm:pt>
    <dgm:pt modelId="{4FD2B610-2498-426E-9FD0-0BE1D76C7E34}">
      <dgm:prSet/>
      <dgm:spPr/>
      <dgm:t>
        <a:bodyPr/>
        <a:lstStyle/>
        <a:p>
          <a:r>
            <a:rPr lang="fr-FR" b="0" i="0"/>
            <a:t>en 3 Dimensions. </a:t>
          </a:r>
          <a:endParaRPr lang="en-US"/>
        </a:p>
      </dgm:t>
    </dgm:pt>
    <dgm:pt modelId="{D8CBA6BB-DE74-437B-B778-4E827EC4A490}" type="parTrans" cxnId="{212A6CBA-A199-47EA-99DE-1AD0D3EFE36C}">
      <dgm:prSet/>
      <dgm:spPr/>
      <dgm:t>
        <a:bodyPr/>
        <a:lstStyle/>
        <a:p>
          <a:endParaRPr lang="en-US"/>
        </a:p>
      </dgm:t>
    </dgm:pt>
    <dgm:pt modelId="{DD29E00C-9871-4BF4-9A6E-6235FBDFABD9}" type="sibTrans" cxnId="{212A6CBA-A199-47EA-99DE-1AD0D3EFE36C}">
      <dgm:prSet/>
      <dgm:spPr/>
      <dgm:t>
        <a:bodyPr/>
        <a:lstStyle/>
        <a:p>
          <a:endParaRPr lang="en-US"/>
        </a:p>
      </dgm:t>
    </dgm:pt>
    <dgm:pt modelId="{A28393B1-7098-455D-97C7-C4EF3E1A825D}" type="pres">
      <dgm:prSet presAssocID="{AF0A709E-B5D8-41A4-8C73-18759F5F0F7E}" presName="linear" presStyleCnt="0">
        <dgm:presLayoutVars>
          <dgm:animLvl val="lvl"/>
          <dgm:resizeHandles val="exact"/>
        </dgm:presLayoutVars>
      </dgm:prSet>
      <dgm:spPr/>
    </dgm:pt>
    <dgm:pt modelId="{ACB07718-A241-4271-9FA1-4695BC0F86B1}" type="pres">
      <dgm:prSet presAssocID="{397C8F1E-427C-433A-AF58-2FB80E17D860}" presName="parentText" presStyleLbl="node1" presStyleIdx="0" presStyleCnt="3">
        <dgm:presLayoutVars>
          <dgm:chMax val="0"/>
          <dgm:bulletEnabled val="1"/>
        </dgm:presLayoutVars>
      </dgm:prSet>
      <dgm:spPr/>
    </dgm:pt>
    <dgm:pt modelId="{7CDAA9D0-39AA-49C1-BB75-9A54F6E6A5A9}" type="pres">
      <dgm:prSet presAssocID="{E48A6612-195A-4A5C-B859-ACD4522A315E}" presName="spacer" presStyleCnt="0"/>
      <dgm:spPr/>
    </dgm:pt>
    <dgm:pt modelId="{D6BFA292-6486-4AD2-BDD2-2AFCB2FD2777}" type="pres">
      <dgm:prSet presAssocID="{D2F5A178-C604-4747-B102-41C1D7F54A48}" presName="parentText" presStyleLbl="node1" presStyleIdx="1" presStyleCnt="3">
        <dgm:presLayoutVars>
          <dgm:chMax val="0"/>
          <dgm:bulletEnabled val="1"/>
        </dgm:presLayoutVars>
      </dgm:prSet>
      <dgm:spPr/>
    </dgm:pt>
    <dgm:pt modelId="{BF141C83-E9D7-45A2-98EC-FDC1A5FE9048}" type="pres">
      <dgm:prSet presAssocID="{94AD2B16-07EF-460E-A2BC-05EF8D7F4476}" presName="spacer" presStyleCnt="0"/>
      <dgm:spPr/>
    </dgm:pt>
    <dgm:pt modelId="{A4F243DD-C35F-4ED8-B533-5A34FECD8A99}" type="pres">
      <dgm:prSet presAssocID="{4FD2B610-2498-426E-9FD0-0BE1D76C7E34}" presName="parentText" presStyleLbl="node1" presStyleIdx="2" presStyleCnt="3">
        <dgm:presLayoutVars>
          <dgm:chMax val="0"/>
          <dgm:bulletEnabled val="1"/>
        </dgm:presLayoutVars>
      </dgm:prSet>
      <dgm:spPr/>
    </dgm:pt>
  </dgm:ptLst>
  <dgm:cxnLst>
    <dgm:cxn modelId="{F5FD337A-7B0B-4BFD-AA85-8244F3512DA3}" type="presOf" srcId="{4FD2B610-2498-426E-9FD0-0BE1D76C7E34}" destId="{A4F243DD-C35F-4ED8-B533-5A34FECD8A99}" srcOrd="0" destOrd="0" presId="urn:microsoft.com/office/officeart/2005/8/layout/vList2"/>
    <dgm:cxn modelId="{9D69B07B-7BF3-4AF2-9463-4520B8AE98CB}" srcId="{AF0A709E-B5D8-41A4-8C73-18759F5F0F7E}" destId="{397C8F1E-427C-433A-AF58-2FB80E17D860}" srcOrd="0" destOrd="0" parTransId="{8EDABFA0-4487-4A4D-AA6A-51CF68AD1980}" sibTransId="{E48A6612-195A-4A5C-B859-ACD4522A315E}"/>
    <dgm:cxn modelId="{3B4B439D-049E-4389-9126-AD362449826C}" type="presOf" srcId="{AF0A709E-B5D8-41A4-8C73-18759F5F0F7E}" destId="{A28393B1-7098-455D-97C7-C4EF3E1A825D}" srcOrd="0" destOrd="0" presId="urn:microsoft.com/office/officeart/2005/8/layout/vList2"/>
    <dgm:cxn modelId="{62C1819D-1FA7-4756-BA11-00936B59BC96}" type="presOf" srcId="{D2F5A178-C604-4747-B102-41C1D7F54A48}" destId="{D6BFA292-6486-4AD2-BDD2-2AFCB2FD2777}" srcOrd="0" destOrd="0" presId="urn:microsoft.com/office/officeart/2005/8/layout/vList2"/>
    <dgm:cxn modelId="{79371BA3-9AF5-4037-8D59-5BEA1C2C0D00}" type="presOf" srcId="{397C8F1E-427C-433A-AF58-2FB80E17D860}" destId="{ACB07718-A241-4271-9FA1-4695BC0F86B1}" srcOrd="0" destOrd="0" presId="urn:microsoft.com/office/officeart/2005/8/layout/vList2"/>
    <dgm:cxn modelId="{212A6CBA-A199-47EA-99DE-1AD0D3EFE36C}" srcId="{AF0A709E-B5D8-41A4-8C73-18759F5F0F7E}" destId="{4FD2B610-2498-426E-9FD0-0BE1D76C7E34}" srcOrd="2" destOrd="0" parTransId="{D8CBA6BB-DE74-437B-B778-4E827EC4A490}" sibTransId="{DD29E00C-9871-4BF4-9A6E-6235FBDFABD9}"/>
    <dgm:cxn modelId="{05880EF7-FCF8-4D25-9CBA-2E344E2365DC}" srcId="{AF0A709E-B5D8-41A4-8C73-18759F5F0F7E}" destId="{D2F5A178-C604-4747-B102-41C1D7F54A48}" srcOrd="1" destOrd="0" parTransId="{B0CFBD41-6CC0-4BA9-BB88-060FED8E53A0}" sibTransId="{94AD2B16-07EF-460E-A2BC-05EF8D7F4476}"/>
    <dgm:cxn modelId="{28D662A8-2547-451A-B72D-63F00EE637DD}" type="presParOf" srcId="{A28393B1-7098-455D-97C7-C4EF3E1A825D}" destId="{ACB07718-A241-4271-9FA1-4695BC0F86B1}" srcOrd="0" destOrd="0" presId="urn:microsoft.com/office/officeart/2005/8/layout/vList2"/>
    <dgm:cxn modelId="{95CBD1F8-D761-49A1-A561-A7C143F60654}" type="presParOf" srcId="{A28393B1-7098-455D-97C7-C4EF3E1A825D}" destId="{7CDAA9D0-39AA-49C1-BB75-9A54F6E6A5A9}" srcOrd="1" destOrd="0" presId="urn:microsoft.com/office/officeart/2005/8/layout/vList2"/>
    <dgm:cxn modelId="{C99ADD59-A78D-48B3-ADDD-84506D155C83}" type="presParOf" srcId="{A28393B1-7098-455D-97C7-C4EF3E1A825D}" destId="{D6BFA292-6486-4AD2-BDD2-2AFCB2FD2777}" srcOrd="2" destOrd="0" presId="urn:microsoft.com/office/officeart/2005/8/layout/vList2"/>
    <dgm:cxn modelId="{4D57F29A-8458-4057-A3B0-4C99CABA089E}" type="presParOf" srcId="{A28393B1-7098-455D-97C7-C4EF3E1A825D}" destId="{BF141C83-E9D7-45A2-98EC-FDC1A5FE9048}" srcOrd="3" destOrd="0" presId="urn:microsoft.com/office/officeart/2005/8/layout/vList2"/>
    <dgm:cxn modelId="{3DF7A099-6A69-4D8E-BF3F-7123BCB153C7}" type="presParOf" srcId="{A28393B1-7098-455D-97C7-C4EF3E1A825D}" destId="{A4F243DD-C35F-4ED8-B533-5A34FECD8A9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8EB571-9D88-42D6-8713-CF53344AEFAC}" type="doc">
      <dgm:prSet loTypeId="urn:microsoft.com/office/officeart/2005/8/layout/hierarchy1" loCatId="hierarchy" qsTypeId="urn:microsoft.com/office/officeart/2005/8/quickstyle/simple4" qsCatId="simple" csTypeId="urn:microsoft.com/office/officeart/2005/8/colors/colorful2" csCatId="colorful"/>
      <dgm:spPr/>
      <dgm:t>
        <a:bodyPr/>
        <a:lstStyle/>
        <a:p>
          <a:endParaRPr lang="en-US"/>
        </a:p>
      </dgm:t>
    </dgm:pt>
    <dgm:pt modelId="{FAF71A39-EBE2-4FB5-AD51-5C9374C76258}">
      <dgm:prSet/>
      <dgm:spPr/>
      <dgm:t>
        <a:bodyPr/>
        <a:lstStyle/>
        <a:p>
          <a:r>
            <a:rPr lang="en-US"/>
            <a:t>Dans une perspective à 2 points de fuite, </a:t>
          </a:r>
        </a:p>
      </dgm:t>
    </dgm:pt>
    <dgm:pt modelId="{462F91A6-2F10-4ACC-A4D4-6B13705F33B3}" type="parTrans" cxnId="{A4300CC0-DA13-411A-B786-79CDEC6038E9}">
      <dgm:prSet/>
      <dgm:spPr/>
      <dgm:t>
        <a:bodyPr/>
        <a:lstStyle/>
        <a:p>
          <a:endParaRPr lang="en-US"/>
        </a:p>
      </dgm:t>
    </dgm:pt>
    <dgm:pt modelId="{FF9C2A9F-85A2-4790-9928-001264A69DE4}" type="sibTrans" cxnId="{A4300CC0-DA13-411A-B786-79CDEC6038E9}">
      <dgm:prSet/>
      <dgm:spPr/>
      <dgm:t>
        <a:bodyPr/>
        <a:lstStyle/>
        <a:p>
          <a:endParaRPr lang="en-US"/>
        </a:p>
      </dgm:t>
    </dgm:pt>
    <dgm:pt modelId="{856A29E2-D3C3-4953-83C1-6C587C9BF91C}">
      <dgm:prSet/>
      <dgm:spPr/>
      <dgm:t>
        <a:bodyPr/>
        <a:lstStyle/>
        <a:p>
          <a:r>
            <a:rPr lang="en-US"/>
            <a:t>toutes les lignes verticales sont parallèles</a:t>
          </a:r>
        </a:p>
      </dgm:t>
    </dgm:pt>
    <dgm:pt modelId="{F4C55962-EC40-4D11-AD96-D0E7D85AFB98}" type="parTrans" cxnId="{8B913BEF-EDC0-49E8-8337-5A06672919E3}">
      <dgm:prSet/>
      <dgm:spPr/>
      <dgm:t>
        <a:bodyPr/>
        <a:lstStyle/>
        <a:p>
          <a:endParaRPr lang="en-US"/>
        </a:p>
      </dgm:t>
    </dgm:pt>
    <dgm:pt modelId="{9078054B-934E-4AE8-A21E-1DE7F38C1656}" type="sibTrans" cxnId="{8B913BEF-EDC0-49E8-8337-5A06672919E3}">
      <dgm:prSet/>
      <dgm:spPr/>
      <dgm:t>
        <a:bodyPr/>
        <a:lstStyle/>
        <a:p>
          <a:endParaRPr lang="en-US"/>
        </a:p>
      </dgm:t>
    </dgm:pt>
    <dgm:pt modelId="{BE323D1A-A588-4A4B-8126-1C956CBF234D}" type="pres">
      <dgm:prSet presAssocID="{498EB571-9D88-42D6-8713-CF53344AEFAC}" presName="hierChild1" presStyleCnt="0">
        <dgm:presLayoutVars>
          <dgm:chPref val="1"/>
          <dgm:dir/>
          <dgm:animOne val="branch"/>
          <dgm:animLvl val="lvl"/>
          <dgm:resizeHandles/>
        </dgm:presLayoutVars>
      </dgm:prSet>
      <dgm:spPr/>
    </dgm:pt>
    <dgm:pt modelId="{C8146778-C74C-4B58-BDBB-3E13809CD82A}" type="pres">
      <dgm:prSet presAssocID="{FAF71A39-EBE2-4FB5-AD51-5C9374C76258}" presName="hierRoot1" presStyleCnt="0"/>
      <dgm:spPr/>
    </dgm:pt>
    <dgm:pt modelId="{91412BCB-F1D3-4404-B2C6-C5E88DE88601}" type="pres">
      <dgm:prSet presAssocID="{FAF71A39-EBE2-4FB5-AD51-5C9374C76258}" presName="composite" presStyleCnt="0"/>
      <dgm:spPr/>
    </dgm:pt>
    <dgm:pt modelId="{65D8FEFB-06F1-47C9-A830-29E1F1C991B4}" type="pres">
      <dgm:prSet presAssocID="{FAF71A39-EBE2-4FB5-AD51-5C9374C76258}" presName="background" presStyleLbl="node0" presStyleIdx="0" presStyleCnt="2"/>
      <dgm:spPr/>
    </dgm:pt>
    <dgm:pt modelId="{D467DE75-4A99-4EAA-A3FC-536B4DDE8244}" type="pres">
      <dgm:prSet presAssocID="{FAF71A39-EBE2-4FB5-AD51-5C9374C76258}" presName="text" presStyleLbl="fgAcc0" presStyleIdx="0" presStyleCnt="2">
        <dgm:presLayoutVars>
          <dgm:chPref val="3"/>
        </dgm:presLayoutVars>
      </dgm:prSet>
      <dgm:spPr/>
    </dgm:pt>
    <dgm:pt modelId="{5BED330B-CC5F-4C35-AA44-CBF010C530D5}" type="pres">
      <dgm:prSet presAssocID="{FAF71A39-EBE2-4FB5-AD51-5C9374C76258}" presName="hierChild2" presStyleCnt="0"/>
      <dgm:spPr/>
    </dgm:pt>
    <dgm:pt modelId="{6102CD8D-4F82-41BE-B6DB-684A504A47E1}" type="pres">
      <dgm:prSet presAssocID="{856A29E2-D3C3-4953-83C1-6C587C9BF91C}" presName="hierRoot1" presStyleCnt="0"/>
      <dgm:spPr/>
    </dgm:pt>
    <dgm:pt modelId="{8480331C-2ADC-4EB5-BA6F-6144E0285F95}" type="pres">
      <dgm:prSet presAssocID="{856A29E2-D3C3-4953-83C1-6C587C9BF91C}" presName="composite" presStyleCnt="0"/>
      <dgm:spPr/>
    </dgm:pt>
    <dgm:pt modelId="{10174772-8468-44A6-AE75-CE44B1B04E41}" type="pres">
      <dgm:prSet presAssocID="{856A29E2-D3C3-4953-83C1-6C587C9BF91C}" presName="background" presStyleLbl="node0" presStyleIdx="1" presStyleCnt="2"/>
      <dgm:spPr/>
    </dgm:pt>
    <dgm:pt modelId="{4C3562BC-2D6F-46AD-929D-3FE1C3EDFF51}" type="pres">
      <dgm:prSet presAssocID="{856A29E2-D3C3-4953-83C1-6C587C9BF91C}" presName="text" presStyleLbl="fgAcc0" presStyleIdx="1" presStyleCnt="2">
        <dgm:presLayoutVars>
          <dgm:chPref val="3"/>
        </dgm:presLayoutVars>
      </dgm:prSet>
      <dgm:spPr/>
    </dgm:pt>
    <dgm:pt modelId="{A72D37C2-9337-4A86-97C7-17CEB4129042}" type="pres">
      <dgm:prSet presAssocID="{856A29E2-D3C3-4953-83C1-6C587C9BF91C}" presName="hierChild2" presStyleCnt="0"/>
      <dgm:spPr/>
    </dgm:pt>
  </dgm:ptLst>
  <dgm:cxnLst>
    <dgm:cxn modelId="{DA23FD1E-620A-4A92-95B8-CA2AC64CB8E1}" type="presOf" srcId="{498EB571-9D88-42D6-8713-CF53344AEFAC}" destId="{BE323D1A-A588-4A4B-8126-1C956CBF234D}" srcOrd="0" destOrd="0" presId="urn:microsoft.com/office/officeart/2005/8/layout/hierarchy1"/>
    <dgm:cxn modelId="{AD354350-77F8-455F-A619-A6B4D16F1141}" type="presOf" srcId="{856A29E2-D3C3-4953-83C1-6C587C9BF91C}" destId="{4C3562BC-2D6F-46AD-929D-3FE1C3EDFF51}" srcOrd="0" destOrd="0" presId="urn:microsoft.com/office/officeart/2005/8/layout/hierarchy1"/>
    <dgm:cxn modelId="{A4300CC0-DA13-411A-B786-79CDEC6038E9}" srcId="{498EB571-9D88-42D6-8713-CF53344AEFAC}" destId="{FAF71A39-EBE2-4FB5-AD51-5C9374C76258}" srcOrd="0" destOrd="0" parTransId="{462F91A6-2F10-4ACC-A4D4-6B13705F33B3}" sibTransId="{FF9C2A9F-85A2-4790-9928-001264A69DE4}"/>
    <dgm:cxn modelId="{8B913BEF-EDC0-49E8-8337-5A06672919E3}" srcId="{498EB571-9D88-42D6-8713-CF53344AEFAC}" destId="{856A29E2-D3C3-4953-83C1-6C587C9BF91C}" srcOrd="1" destOrd="0" parTransId="{F4C55962-EC40-4D11-AD96-D0E7D85AFB98}" sibTransId="{9078054B-934E-4AE8-A21E-1DE7F38C1656}"/>
    <dgm:cxn modelId="{6D4FC4F1-F52F-4173-8A94-1C2B9910F301}" type="presOf" srcId="{FAF71A39-EBE2-4FB5-AD51-5C9374C76258}" destId="{D467DE75-4A99-4EAA-A3FC-536B4DDE8244}" srcOrd="0" destOrd="0" presId="urn:microsoft.com/office/officeart/2005/8/layout/hierarchy1"/>
    <dgm:cxn modelId="{8D28C080-9C89-49D4-B5F8-EFDD11F4BD8A}" type="presParOf" srcId="{BE323D1A-A588-4A4B-8126-1C956CBF234D}" destId="{C8146778-C74C-4B58-BDBB-3E13809CD82A}" srcOrd="0" destOrd="0" presId="urn:microsoft.com/office/officeart/2005/8/layout/hierarchy1"/>
    <dgm:cxn modelId="{804EA5A3-9C79-45DF-926D-02F34272D870}" type="presParOf" srcId="{C8146778-C74C-4B58-BDBB-3E13809CD82A}" destId="{91412BCB-F1D3-4404-B2C6-C5E88DE88601}" srcOrd="0" destOrd="0" presId="urn:microsoft.com/office/officeart/2005/8/layout/hierarchy1"/>
    <dgm:cxn modelId="{026603FF-25B8-4A95-9E0D-D36A0A122536}" type="presParOf" srcId="{91412BCB-F1D3-4404-B2C6-C5E88DE88601}" destId="{65D8FEFB-06F1-47C9-A830-29E1F1C991B4}" srcOrd="0" destOrd="0" presId="urn:microsoft.com/office/officeart/2005/8/layout/hierarchy1"/>
    <dgm:cxn modelId="{F41FAB20-E84E-478C-9980-3CCD867D276F}" type="presParOf" srcId="{91412BCB-F1D3-4404-B2C6-C5E88DE88601}" destId="{D467DE75-4A99-4EAA-A3FC-536B4DDE8244}" srcOrd="1" destOrd="0" presId="urn:microsoft.com/office/officeart/2005/8/layout/hierarchy1"/>
    <dgm:cxn modelId="{3DC245F1-4A1D-412C-9F72-2047E365720C}" type="presParOf" srcId="{C8146778-C74C-4B58-BDBB-3E13809CD82A}" destId="{5BED330B-CC5F-4C35-AA44-CBF010C530D5}" srcOrd="1" destOrd="0" presId="urn:microsoft.com/office/officeart/2005/8/layout/hierarchy1"/>
    <dgm:cxn modelId="{58BB4ECF-5542-479F-857B-F0DAD280F7CC}" type="presParOf" srcId="{BE323D1A-A588-4A4B-8126-1C956CBF234D}" destId="{6102CD8D-4F82-41BE-B6DB-684A504A47E1}" srcOrd="1" destOrd="0" presId="urn:microsoft.com/office/officeart/2005/8/layout/hierarchy1"/>
    <dgm:cxn modelId="{0C2CCD28-05A0-454C-9705-3A352187CEC7}" type="presParOf" srcId="{6102CD8D-4F82-41BE-B6DB-684A504A47E1}" destId="{8480331C-2ADC-4EB5-BA6F-6144E0285F95}" srcOrd="0" destOrd="0" presId="urn:microsoft.com/office/officeart/2005/8/layout/hierarchy1"/>
    <dgm:cxn modelId="{2EC0E0BE-5D02-4A33-B059-C04F7525CEB2}" type="presParOf" srcId="{8480331C-2ADC-4EB5-BA6F-6144E0285F95}" destId="{10174772-8468-44A6-AE75-CE44B1B04E41}" srcOrd="0" destOrd="0" presId="urn:microsoft.com/office/officeart/2005/8/layout/hierarchy1"/>
    <dgm:cxn modelId="{0195CD08-089C-414E-AC67-F45FE636F097}" type="presParOf" srcId="{8480331C-2ADC-4EB5-BA6F-6144E0285F95}" destId="{4C3562BC-2D6F-46AD-929D-3FE1C3EDFF51}" srcOrd="1" destOrd="0" presId="urn:microsoft.com/office/officeart/2005/8/layout/hierarchy1"/>
    <dgm:cxn modelId="{B2B0B6F3-86F3-405C-AE03-C5459587D15B}" type="presParOf" srcId="{6102CD8D-4F82-41BE-B6DB-684A504A47E1}" destId="{A72D37C2-9337-4A86-97C7-17CEB412904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07718-A241-4271-9FA1-4695BC0F86B1}">
      <dsp:nvSpPr>
        <dsp:cNvPr id="0" name=""/>
        <dsp:cNvSpPr/>
      </dsp:nvSpPr>
      <dsp:spPr>
        <a:xfrm>
          <a:off x="0" y="602753"/>
          <a:ext cx="6391275" cy="124722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fr-FR" sz="5200" b="0" i="0" kern="1200"/>
            <a:t>L’être humain voit</a:t>
          </a:r>
          <a:endParaRPr lang="en-US" sz="5200" kern="1200"/>
        </a:p>
      </dsp:txBody>
      <dsp:txXfrm>
        <a:off x="60884" y="663637"/>
        <a:ext cx="6269507" cy="1125452"/>
      </dsp:txXfrm>
    </dsp:sp>
    <dsp:sp modelId="{D6BFA292-6486-4AD2-BDD2-2AFCB2FD2777}">
      <dsp:nvSpPr>
        <dsp:cNvPr id="0" name=""/>
        <dsp:cNvSpPr/>
      </dsp:nvSpPr>
      <dsp:spPr>
        <a:xfrm>
          <a:off x="0" y="1999733"/>
          <a:ext cx="6391275" cy="1247220"/>
        </a:xfrm>
        <a:prstGeom prst="roundRect">
          <a:avLst/>
        </a:prstGeom>
        <a:solidFill>
          <a:schemeClr val="accent5">
            <a:hueOff val="3655316"/>
            <a:satOff val="397"/>
            <a:lumOff val="-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fr-FR" sz="5200" b="0" i="0" kern="1200"/>
            <a:t>le monde </a:t>
          </a:r>
          <a:endParaRPr lang="en-US" sz="5200" kern="1200"/>
        </a:p>
      </dsp:txBody>
      <dsp:txXfrm>
        <a:off x="60884" y="2060617"/>
        <a:ext cx="6269507" cy="1125452"/>
      </dsp:txXfrm>
    </dsp:sp>
    <dsp:sp modelId="{A4F243DD-C35F-4ED8-B533-5A34FECD8A99}">
      <dsp:nvSpPr>
        <dsp:cNvPr id="0" name=""/>
        <dsp:cNvSpPr/>
      </dsp:nvSpPr>
      <dsp:spPr>
        <a:xfrm>
          <a:off x="0" y="3396713"/>
          <a:ext cx="6391275" cy="1247220"/>
        </a:xfrm>
        <a:prstGeom prst="roundRect">
          <a:avLst/>
        </a:prstGeom>
        <a:solidFill>
          <a:schemeClr val="accent5">
            <a:hueOff val="7310632"/>
            <a:satOff val="795"/>
            <a:lumOff val="-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fr-FR" sz="5200" b="0" i="0" kern="1200"/>
            <a:t>en 3 Dimensions. </a:t>
          </a:r>
          <a:endParaRPr lang="en-US" sz="5200" kern="1200"/>
        </a:p>
      </dsp:txBody>
      <dsp:txXfrm>
        <a:off x="60884" y="3457597"/>
        <a:ext cx="6269507" cy="1125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D8FEFB-06F1-47C9-A830-29E1F1C991B4}">
      <dsp:nvSpPr>
        <dsp:cNvPr id="0" name=""/>
        <dsp:cNvSpPr/>
      </dsp:nvSpPr>
      <dsp:spPr>
        <a:xfrm>
          <a:off x="1174" y="184257"/>
          <a:ext cx="4124157" cy="2618839"/>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D467DE75-4A99-4EAA-A3FC-536B4DDE8244}">
      <dsp:nvSpPr>
        <dsp:cNvPr id="0" name=""/>
        <dsp:cNvSpPr/>
      </dsp:nvSpPr>
      <dsp:spPr>
        <a:xfrm>
          <a:off x="459414" y="619585"/>
          <a:ext cx="4124157" cy="261883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Dans une perspective à 2 points de fuite, </a:t>
          </a:r>
        </a:p>
      </dsp:txBody>
      <dsp:txXfrm>
        <a:off x="536117" y="696288"/>
        <a:ext cx="3970751" cy="2465433"/>
      </dsp:txXfrm>
    </dsp:sp>
    <dsp:sp modelId="{10174772-8468-44A6-AE75-CE44B1B04E41}">
      <dsp:nvSpPr>
        <dsp:cNvPr id="0" name=""/>
        <dsp:cNvSpPr/>
      </dsp:nvSpPr>
      <dsp:spPr>
        <a:xfrm>
          <a:off x="5041811" y="184257"/>
          <a:ext cx="4124157" cy="2618839"/>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4C3562BC-2D6F-46AD-929D-3FE1C3EDFF51}">
      <dsp:nvSpPr>
        <dsp:cNvPr id="0" name=""/>
        <dsp:cNvSpPr/>
      </dsp:nvSpPr>
      <dsp:spPr>
        <a:xfrm>
          <a:off x="5500051" y="619585"/>
          <a:ext cx="4124157" cy="261883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toutes les lignes verticales sont parallèles</a:t>
          </a:r>
        </a:p>
      </dsp:txBody>
      <dsp:txXfrm>
        <a:off x="5576754" y="696288"/>
        <a:ext cx="3970751" cy="246543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85558" cy="502676"/>
          </a:xfrm>
          <a:prstGeom prst="rect">
            <a:avLst/>
          </a:prstGeom>
        </p:spPr>
        <p:txBody>
          <a:bodyPr vert="horz" lIns="96616" tIns="48308" rIns="96616" bIns="48308" rtlCol="0"/>
          <a:lstStyle>
            <a:lvl1pPr algn="l">
              <a:defRPr sz="1300"/>
            </a:lvl1pPr>
          </a:lstStyle>
          <a:p>
            <a:endParaRPr lang="fr-FR"/>
          </a:p>
        </p:txBody>
      </p:sp>
      <p:sp>
        <p:nvSpPr>
          <p:cNvPr id="3" name="Espace réservé de la date 2"/>
          <p:cNvSpPr>
            <a:spLocks noGrp="1"/>
          </p:cNvSpPr>
          <p:nvPr>
            <p:ph type="dt" idx="1"/>
          </p:nvPr>
        </p:nvSpPr>
        <p:spPr>
          <a:xfrm>
            <a:off x="3902597" y="0"/>
            <a:ext cx="2985558" cy="502676"/>
          </a:xfrm>
          <a:prstGeom prst="rect">
            <a:avLst/>
          </a:prstGeom>
        </p:spPr>
        <p:txBody>
          <a:bodyPr vert="horz" lIns="96616" tIns="48308" rIns="96616" bIns="48308" rtlCol="0"/>
          <a:lstStyle>
            <a:lvl1pPr algn="r">
              <a:defRPr sz="1300"/>
            </a:lvl1pPr>
          </a:lstStyle>
          <a:p>
            <a:fld id="{A0D543E3-5C40-4AC7-8B96-BD64EEDFD2C4}" type="datetimeFigureOut">
              <a:rPr lang="fr-FR" smtClean="0"/>
              <a:t>10/05/2024</a:t>
            </a:fld>
            <a:endParaRPr lang="fr-FR"/>
          </a:p>
        </p:txBody>
      </p:sp>
      <p:sp>
        <p:nvSpPr>
          <p:cNvPr id="4" name="Espace réservé de l'image des diapositives 3"/>
          <p:cNvSpPr>
            <a:spLocks noGrp="1" noRot="1" noChangeAspect="1"/>
          </p:cNvSpPr>
          <p:nvPr>
            <p:ph type="sldImg" idx="2"/>
          </p:nvPr>
        </p:nvSpPr>
        <p:spPr>
          <a:xfrm>
            <a:off x="439738" y="1252538"/>
            <a:ext cx="6010275" cy="3381375"/>
          </a:xfrm>
          <a:prstGeom prst="rect">
            <a:avLst/>
          </a:prstGeom>
          <a:noFill/>
          <a:ln w="12700">
            <a:solidFill>
              <a:prstClr val="black"/>
            </a:solidFill>
          </a:ln>
        </p:spPr>
        <p:txBody>
          <a:bodyPr vert="horz" lIns="96616" tIns="48308" rIns="96616" bIns="48308" rtlCol="0" anchor="ctr"/>
          <a:lstStyle/>
          <a:p>
            <a:endParaRPr lang="fr-FR"/>
          </a:p>
        </p:txBody>
      </p:sp>
      <p:sp>
        <p:nvSpPr>
          <p:cNvPr id="5" name="Espace réservé des commentaires 4"/>
          <p:cNvSpPr>
            <a:spLocks noGrp="1"/>
          </p:cNvSpPr>
          <p:nvPr>
            <p:ph type="body" sz="quarter" idx="3"/>
          </p:nvPr>
        </p:nvSpPr>
        <p:spPr>
          <a:xfrm>
            <a:off x="688975" y="4821506"/>
            <a:ext cx="5511800" cy="3944868"/>
          </a:xfrm>
          <a:prstGeom prst="rect">
            <a:avLst/>
          </a:prstGeom>
        </p:spPr>
        <p:txBody>
          <a:bodyPr vert="horz" lIns="96616" tIns="48308" rIns="96616" bIns="48308"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516039"/>
            <a:ext cx="2985558" cy="502674"/>
          </a:xfrm>
          <a:prstGeom prst="rect">
            <a:avLst/>
          </a:prstGeom>
        </p:spPr>
        <p:txBody>
          <a:bodyPr vert="horz" lIns="96616" tIns="48308" rIns="96616" bIns="48308"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3902597" y="9516039"/>
            <a:ext cx="2985558" cy="502674"/>
          </a:xfrm>
          <a:prstGeom prst="rect">
            <a:avLst/>
          </a:prstGeom>
        </p:spPr>
        <p:txBody>
          <a:bodyPr vert="horz" lIns="96616" tIns="48308" rIns="96616" bIns="48308" rtlCol="0" anchor="b"/>
          <a:lstStyle>
            <a:lvl1pPr algn="r">
              <a:defRPr sz="1300"/>
            </a:lvl1pPr>
          </a:lstStyle>
          <a:p>
            <a:fld id="{298A3304-FD71-4AE4-8272-050BC0084339}" type="slidenum">
              <a:rPr lang="fr-FR" smtClean="0"/>
              <a:t>‹N°›</a:t>
            </a:fld>
            <a:endParaRPr lang="fr-FR"/>
          </a:p>
        </p:txBody>
      </p:sp>
    </p:spTree>
    <p:extLst>
      <p:ext uri="{BB962C8B-B14F-4D97-AF65-F5344CB8AC3E}">
        <p14:creationId xmlns:p14="http://schemas.microsoft.com/office/powerpoint/2010/main" val="1759161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4AAD347D-5ACD-4C99-B74B-A9C85AD731AF}" type="datetimeFigureOut">
              <a:rPr lang="en-US" smtClean="0"/>
              <a:t>5/10/2024</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57440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fr-FR"/>
              <a:t>Modifiez le style du titre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89758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517634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fr-FR"/>
              <a:t>Modifiez le style du titre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979542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846449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770732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91772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741813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023700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 panoramique avec légende">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5718289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fr-FR"/>
              <a:t>Modifiez le style du titre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5495126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fr-FR"/>
              <a:t>Modifiez le style du titre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fr-FR"/>
              <a:t>Modifiez les styles du texte du masque</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34900533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47022507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37174161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07736835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3636335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971525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fr-FR"/>
              <a:t>Modifiez le style du titre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4509A250-FF31-4206-8172-F9D3106AACB1}" type="datetimeFigureOut">
              <a:rPr lang="en-US" smtClean="0"/>
              <a:t>5/10/2024</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dirty="0"/>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833105726"/>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 id="2147483959" r:id="rId13"/>
    <p:sldLayoutId id="2147483960" r:id="rId14"/>
    <p:sldLayoutId id="2147483961" r:id="rId15"/>
    <p:sldLayoutId id="2147483962" r:id="rId16"/>
    <p:sldLayoutId id="2147483963"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051303" y="511687"/>
            <a:ext cx="7653196" cy="1038746"/>
          </a:xfrm>
          <a:prstGeom prst="rect">
            <a:avLst/>
          </a:prstGeom>
        </p:spPr>
        <p:txBody>
          <a:bodyPr wrap="square">
            <a:spAutoFit/>
          </a:bodyPr>
          <a:lstStyle/>
          <a:p>
            <a:pPr algn="ctr">
              <a:lnSpc>
                <a:spcPct val="100000"/>
              </a:lnSpc>
              <a:spcBef>
                <a:spcPts val="860"/>
              </a:spcBef>
            </a:pPr>
            <a:r>
              <a:rPr lang="fr-FR" spc="15" dirty="0">
                <a:latin typeface="LM Roman 12"/>
                <a:cs typeface="LM Roman 12"/>
              </a:rPr>
              <a:t>RÉPUBLIQUE DU SENEGAL</a:t>
            </a:r>
          </a:p>
          <a:p>
            <a:pPr algn="ctr">
              <a:lnSpc>
                <a:spcPct val="100000"/>
              </a:lnSpc>
              <a:spcBef>
                <a:spcPts val="860"/>
              </a:spcBef>
            </a:pPr>
            <a:r>
              <a:rPr lang="fr-FR" spc="15" dirty="0">
                <a:latin typeface="LM Roman 12"/>
                <a:cs typeface="LM Roman 12"/>
              </a:rPr>
              <a:t>Ministère de </a:t>
            </a:r>
            <a:r>
              <a:rPr lang="fr-FR" spc="10" dirty="0">
                <a:latin typeface="LM Roman 12"/>
                <a:cs typeface="LM Roman 12"/>
              </a:rPr>
              <a:t>l’Enseignement </a:t>
            </a:r>
            <a:r>
              <a:rPr lang="fr-FR" spc="15" dirty="0">
                <a:latin typeface="LM Roman 12"/>
                <a:cs typeface="LM Roman 12"/>
              </a:rPr>
              <a:t>Supérieur </a:t>
            </a:r>
            <a:r>
              <a:rPr lang="fr-FR" spc="10" dirty="0">
                <a:latin typeface="LM Roman 12"/>
                <a:cs typeface="LM Roman 12"/>
              </a:rPr>
              <a:t>et </a:t>
            </a:r>
            <a:r>
              <a:rPr lang="fr-FR" spc="15" dirty="0">
                <a:latin typeface="LM Roman 12"/>
                <a:cs typeface="LM Roman 12"/>
              </a:rPr>
              <a:t>de </a:t>
            </a:r>
            <a:r>
              <a:rPr lang="fr-FR" spc="10" dirty="0">
                <a:latin typeface="LM Roman 12"/>
                <a:cs typeface="LM Roman 12"/>
              </a:rPr>
              <a:t>la </a:t>
            </a:r>
            <a:r>
              <a:rPr lang="fr-FR" spc="5" dirty="0">
                <a:latin typeface="LM Roman 12"/>
                <a:cs typeface="LM Roman 12"/>
              </a:rPr>
              <a:t>Recherche </a:t>
            </a:r>
            <a:r>
              <a:rPr lang="fr-FR" dirty="0">
                <a:latin typeface="LM Roman 12"/>
                <a:cs typeface="LM Roman 12"/>
              </a:rPr>
              <a:t>Scientifique  </a:t>
            </a:r>
            <a:r>
              <a:rPr lang="fr-FR" spc="10" dirty="0">
                <a:latin typeface="LM Roman 12"/>
                <a:cs typeface="LM Roman 12"/>
              </a:rPr>
              <a:t>UAM</a:t>
            </a:r>
            <a:endParaRPr lang="fr-FR" dirty="0">
              <a:latin typeface="LM Roman 12"/>
              <a:cs typeface="LM Roman 12"/>
            </a:endParaRPr>
          </a:p>
        </p:txBody>
      </p:sp>
      <p:sp>
        <p:nvSpPr>
          <p:cNvPr id="8" name="Rectangle 7"/>
          <p:cNvSpPr/>
          <p:nvPr/>
        </p:nvSpPr>
        <p:spPr>
          <a:xfrm>
            <a:off x="2734146" y="2203186"/>
            <a:ext cx="3874883" cy="659155"/>
          </a:xfrm>
          <a:prstGeom prst="rect">
            <a:avLst/>
          </a:prstGeom>
        </p:spPr>
        <p:txBody>
          <a:bodyPr wrap="square">
            <a:spAutoFit/>
          </a:bodyPr>
          <a:lstStyle/>
          <a:p>
            <a:pPr marL="12700">
              <a:spcBef>
                <a:spcPts val="110"/>
              </a:spcBef>
            </a:pPr>
            <a:endParaRPr lang="fr-FR" dirty="0">
              <a:latin typeface="LM Roman 12"/>
              <a:cs typeface="LM Roman 12"/>
            </a:endParaRPr>
          </a:p>
          <a:p>
            <a:pPr marL="12700">
              <a:lnSpc>
                <a:spcPct val="100000"/>
              </a:lnSpc>
              <a:spcBef>
                <a:spcPts val="110"/>
              </a:spcBef>
            </a:pPr>
            <a:endParaRPr lang="fr-FR" b="1" spc="-325" dirty="0">
              <a:latin typeface="LM Roman 12"/>
              <a:cs typeface="LM Roman 12"/>
            </a:endParaRPr>
          </a:p>
        </p:txBody>
      </p:sp>
      <p:sp>
        <p:nvSpPr>
          <p:cNvPr id="9" name="object 5"/>
          <p:cNvSpPr/>
          <p:nvPr/>
        </p:nvSpPr>
        <p:spPr>
          <a:xfrm>
            <a:off x="4423048" y="2114266"/>
            <a:ext cx="2720153" cy="1800101"/>
          </a:xfrm>
          <a:prstGeom prst="rect">
            <a:avLst/>
          </a:prstGeom>
          <a:blipFill>
            <a:blip r:embed="rId2" cstate="print"/>
            <a:stretch>
              <a:fillRect/>
            </a:stretch>
          </a:blipFill>
        </p:spPr>
        <p:txBody>
          <a:bodyPr wrap="square" lIns="0" tIns="0" rIns="0" bIns="0" rtlCol="0"/>
          <a:lstStyle/>
          <a:p>
            <a:endParaRPr/>
          </a:p>
        </p:txBody>
      </p:sp>
      <p:sp>
        <p:nvSpPr>
          <p:cNvPr id="12" name="ZoneTexte 11"/>
          <p:cNvSpPr txBox="1"/>
          <p:nvPr/>
        </p:nvSpPr>
        <p:spPr>
          <a:xfrm>
            <a:off x="1889157" y="5135988"/>
            <a:ext cx="5389830" cy="646331"/>
          </a:xfrm>
          <a:prstGeom prst="rect">
            <a:avLst/>
          </a:prstGeom>
          <a:noFill/>
        </p:spPr>
        <p:txBody>
          <a:bodyPr wrap="square" rtlCol="0">
            <a:spAutoFit/>
          </a:bodyPr>
          <a:lstStyle/>
          <a:p>
            <a:r>
              <a:rPr lang="fr-FR" dirty="0"/>
              <a:t>M.GUEYE</a:t>
            </a:r>
          </a:p>
          <a:p>
            <a:r>
              <a:rPr lang="fr-FR" dirty="0"/>
              <a:t>Email:gueye_malick_1@yahoo.fr</a:t>
            </a:r>
          </a:p>
        </p:txBody>
      </p:sp>
      <p:sp>
        <p:nvSpPr>
          <p:cNvPr id="14" name="ZoneTexte 13"/>
          <p:cNvSpPr txBox="1"/>
          <p:nvPr/>
        </p:nvSpPr>
        <p:spPr>
          <a:xfrm>
            <a:off x="9282901" y="5782319"/>
            <a:ext cx="2516864" cy="369332"/>
          </a:xfrm>
          <a:prstGeom prst="rect">
            <a:avLst/>
          </a:prstGeom>
          <a:noFill/>
        </p:spPr>
        <p:txBody>
          <a:bodyPr wrap="square" rtlCol="0">
            <a:spAutoFit/>
          </a:bodyPr>
          <a:lstStyle/>
          <a:p>
            <a:r>
              <a:rPr lang="fr-FR" dirty="0"/>
              <a:t>Année</a:t>
            </a:r>
            <a:r>
              <a:rPr lang="fr-FR"/>
              <a:t>: 2023-2024</a:t>
            </a:r>
            <a:endParaRPr lang="fr-FR" dirty="0"/>
          </a:p>
        </p:txBody>
      </p:sp>
      <p:sp>
        <p:nvSpPr>
          <p:cNvPr id="2" name="Parchemin horizontal 1"/>
          <p:cNvSpPr/>
          <p:nvPr/>
        </p:nvSpPr>
        <p:spPr>
          <a:xfrm>
            <a:off x="2666197" y="3914366"/>
            <a:ext cx="6830887" cy="1221621"/>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cs typeface="Times New Roman" panose="02020603050405020304" pitchFamily="18" charset="0"/>
              </a:rPr>
              <a:t>LA PERCEPTION HUMAINE</a:t>
            </a:r>
          </a:p>
        </p:txBody>
      </p:sp>
    </p:spTree>
    <p:extLst>
      <p:ext uri="{BB962C8B-B14F-4D97-AF65-F5344CB8AC3E}">
        <p14:creationId xmlns:p14="http://schemas.microsoft.com/office/powerpoint/2010/main" val="19017873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D4F4DA4-C427-4DEF-91E0-8E7129A4B3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2" name="Rectangle 11">
              <a:extLst>
                <a:ext uri="{FF2B5EF4-FFF2-40B4-BE49-F238E27FC236}">
                  <a16:creationId xmlns:a16="http://schemas.microsoft.com/office/drawing/2014/main" id="{8A59FAFC-7B5E-427D-A4B0-8DD38FC5C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a:extLst>
                <a:ext uri="{FF2B5EF4-FFF2-40B4-BE49-F238E27FC236}">
                  <a16:creationId xmlns:a16="http://schemas.microsoft.com/office/drawing/2014/main" id="{B5E46F92-B11F-4D04-84C1-B48CE43C6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E49A7C8E-F405-4731-86CC-6F65E0AD6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C61AA71F-D19D-4361-A8DD-FB1505D4A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a:extLst>
                <a:ext uri="{FF2B5EF4-FFF2-40B4-BE49-F238E27FC236}">
                  <a16:creationId xmlns:a16="http://schemas.microsoft.com/office/drawing/2014/main" id="{9A66077B-2F4D-4996-B9E4-70A41DC7B9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a:extLst>
                <a:ext uri="{FF2B5EF4-FFF2-40B4-BE49-F238E27FC236}">
                  <a16:creationId xmlns:a16="http://schemas.microsoft.com/office/drawing/2014/main" id="{8E765F22-322F-4361-8A97-254C7B4422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8" name="Freeform 5">
              <a:extLst>
                <a:ext uri="{FF2B5EF4-FFF2-40B4-BE49-F238E27FC236}">
                  <a16:creationId xmlns:a16="http://schemas.microsoft.com/office/drawing/2014/main" id="{509B3A9B-4394-4305-9D7B-FD39CE4331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0" name="Rectangle 19">
            <a:extLst>
              <a:ext uri="{FF2B5EF4-FFF2-40B4-BE49-F238E27FC236}">
                <a16:creationId xmlns:a16="http://schemas.microsoft.com/office/drawing/2014/main" id="{8DCAC2A9-D869-46E1-9DD3-353AE3254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8682CCCE-534D-4FC6-BF2B-9BEA2F2BB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Oval 23">
            <a:extLst>
              <a:ext uri="{FF2B5EF4-FFF2-40B4-BE49-F238E27FC236}">
                <a16:creationId xmlns:a16="http://schemas.microsoft.com/office/drawing/2014/main" id="{BC664B74-EEBB-416C-9D86-AE1FECC02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6" name="Oval 25">
            <a:extLst>
              <a:ext uri="{FF2B5EF4-FFF2-40B4-BE49-F238E27FC236}">
                <a16:creationId xmlns:a16="http://schemas.microsoft.com/office/drawing/2014/main" id="{52000483-C30E-42A1-8569-E1DE1F55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Freeform 5">
            <a:extLst>
              <a:ext uri="{FF2B5EF4-FFF2-40B4-BE49-F238E27FC236}">
                <a16:creationId xmlns:a16="http://schemas.microsoft.com/office/drawing/2014/main" id="{A5ACD7E0-6D9A-4803-8B9B-D4602DC48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0" name="Rectangle 29">
            <a:extLst>
              <a:ext uri="{FF2B5EF4-FFF2-40B4-BE49-F238E27FC236}">
                <a16:creationId xmlns:a16="http://schemas.microsoft.com/office/drawing/2014/main" id="{C238E92D-87E7-4B27-AD36-0E133005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5">
            <a:extLst>
              <a:ext uri="{FF2B5EF4-FFF2-40B4-BE49-F238E27FC236}">
                <a16:creationId xmlns:a16="http://schemas.microsoft.com/office/drawing/2014/main" id="{6D0B958C-B82E-4F4B-945B-6B038D6556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4" name="Freeform 5">
            <a:extLst>
              <a:ext uri="{FF2B5EF4-FFF2-40B4-BE49-F238E27FC236}">
                <a16:creationId xmlns:a16="http://schemas.microsoft.com/office/drawing/2014/main" id="{E18F3B2A-BB9B-4FB6-B8A5-2A8E5DB93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sp>
        <p:nvSpPr>
          <p:cNvPr id="36" name="Rectangle 35">
            <a:extLst>
              <a:ext uri="{FF2B5EF4-FFF2-40B4-BE49-F238E27FC236}">
                <a16:creationId xmlns:a16="http://schemas.microsoft.com/office/drawing/2014/main" id="{C4164AEF-861B-41D1-9ED5-B81051DA7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7" name="ZoneTexte 4">
            <a:extLst>
              <a:ext uri="{FF2B5EF4-FFF2-40B4-BE49-F238E27FC236}">
                <a16:creationId xmlns:a16="http://schemas.microsoft.com/office/drawing/2014/main" id="{C7B89A22-572D-CB66-FE43-CE2610514907}"/>
              </a:ext>
            </a:extLst>
          </p:cNvPr>
          <p:cNvGraphicFramePr/>
          <p:nvPr>
            <p:extLst>
              <p:ext uri="{D42A27DB-BD31-4B8C-83A1-F6EECF244321}">
                <p14:modId xmlns:p14="http://schemas.microsoft.com/office/powerpoint/2010/main" val="3286939037"/>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6095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0" name="Rectangle 9">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6"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8" name="Rectangle 17">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0" name="Rectangle 19">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3" name="Rectangle 22">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Oval 23">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6" name="Oval 25">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7" name="Rectangle 26">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9"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0"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4" name="ZoneTexte 3">
            <a:extLst>
              <a:ext uri="{FF2B5EF4-FFF2-40B4-BE49-F238E27FC236}">
                <a16:creationId xmlns:a16="http://schemas.microsoft.com/office/drawing/2014/main" id="{4F97D31C-0731-4E36-8A52-4B1F39D1A1AC}"/>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effectLst/>
              </a:rPr>
              <a:t>Notre perception est donc soumise à la perspective.</a:t>
            </a:r>
            <a:br>
              <a:rPr lang="en-US" sz="2000">
                <a:solidFill>
                  <a:schemeClr val="tx1">
                    <a:lumMod val="75000"/>
                    <a:lumOff val="25000"/>
                  </a:schemeClr>
                </a:solidFill>
              </a:rPr>
            </a:br>
            <a:r>
              <a:rPr lang="en-US" sz="2000">
                <a:solidFill>
                  <a:schemeClr val="tx1">
                    <a:lumMod val="75000"/>
                    <a:lumOff val="25000"/>
                  </a:schemeClr>
                </a:solidFill>
                <a:effectLst/>
              </a:rPr>
              <a:t>Il existe différents types de perspectives (axonométrique, isométrique, conique…) qui sont autant de moyens techniques de représenter un objet en trois dimensions. La perspective conique est celle qui nous intéresse le plus ici, car elle imite au mieux la perception que nous (être humain) avons d’une image.</a:t>
            </a:r>
            <a:endParaRPr lang="en-US" sz="2000">
              <a:solidFill>
                <a:schemeClr val="tx1">
                  <a:lumMod val="75000"/>
                  <a:lumOff val="25000"/>
                </a:schemeClr>
              </a:solidFill>
            </a:endParaRPr>
          </a:p>
        </p:txBody>
      </p:sp>
    </p:spTree>
    <p:extLst>
      <p:ext uri="{BB962C8B-B14F-4D97-AF65-F5344CB8AC3E}">
        <p14:creationId xmlns:p14="http://schemas.microsoft.com/office/powerpoint/2010/main" val="2197204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1" name="Rectangle 10">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7"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9" name="Rectangle 18">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1" name="Rectangle 20">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4" name="Rectangle 23">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Oval 24">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6" name="Oval 25">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7" name="Oval 26">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0"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1"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5" name="ZoneTexte 4">
            <a:extLst>
              <a:ext uri="{FF2B5EF4-FFF2-40B4-BE49-F238E27FC236}">
                <a16:creationId xmlns:a16="http://schemas.microsoft.com/office/drawing/2014/main" id="{E5F230AB-2CA0-4EC0-9745-D5F5AB337BC1}"/>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effectLst/>
              </a:rPr>
              <a:t>Contrairement aux animaux ou certains insectes qui peuvent voir à 360°, l’être humain possède un champ visuel d’environ 220°</a:t>
            </a:r>
            <a:endParaRPr lang="en-US" sz="2000">
              <a:solidFill>
                <a:schemeClr val="tx1">
                  <a:lumMod val="75000"/>
                  <a:lumOff val="25000"/>
                </a:schemeClr>
              </a:solidFill>
            </a:endParaRPr>
          </a:p>
        </p:txBody>
      </p:sp>
    </p:spTree>
    <p:extLst>
      <p:ext uri="{BB962C8B-B14F-4D97-AF65-F5344CB8AC3E}">
        <p14:creationId xmlns:p14="http://schemas.microsoft.com/office/powerpoint/2010/main" val="3132198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12">
            <a:extLst>
              <a:ext uri="{FF2B5EF4-FFF2-40B4-BE49-F238E27FC236}">
                <a16:creationId xmlns:a16="http://schemas.microsoft.com/office/drawing/2014/main" id="{C43A114B-CAF8-402E-A898-DEE2C2022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Oval 14">
            <a:extLst>
              <a:ext uri="{FF2B5EF4-FFF2-40B4-BE49-F238E27FC236}">
                <a16:creationId xmlns:a16="http://schemas.microsoft.com/office/drawing/2014/main" id="{64E68BB1-DCF6-49AB-8FF1-7E68DCBCD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1" name="Oval 16">
            <a:extLst>
              <a:ext uri="{FF2B5EF4-FFF2-40B4-BE49-F238E27FC236}">
                <a16:creationId xmlns:a16="http://schemas.microsoft.com/office/drawing/2014/main" id="{DA9B8539-604B-420E-BA1B-0A2E64CD7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2" name="Oval 18">
            <a:extLst>
              <a:ext uri="{FF2B5EF4-FFF2-40B4-BE49-F238E27FC236}">
                <a16:creationId xmlns:a16="http://schemas.microsoft.com/office/drawing/2014/main" id="{7236CAA2-54C3-4136-B0CC-6837B14D8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3" name="Freeform 5">
            <a:extLst>
              <a:ext uri="{FF2B5EF4-FFF2-40B4-BE49-F238E27FC236}">
                <a16:creationId xmlns:a16="http://schemas.microsoft.com/office/drawing/2014/main" id="{40F86E67-9E86-453F-92BC-648189829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sp>
        <p:nvSpPr>
          <p:cNvPr id="34" name="Rectangle 22">
            <a:extLst>
              <a:ext uri="{FF2B5EF4-FFF2-40B4-BE49-F238E27FC236}">
                <a16:creationId xmlns:a16="http://schemas.microsoft.com/office/drawing/2014/main" id="{F73C5439-21D4-46F3-9CF4-FF1CE786F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ZoneTexte 3">
            <a:extLst>
              <a:ext uri="{FF2B5EF4-FFF2-40B4-BE49-F238E27FC236}">
                <a16:creationId xmlns:a16="http://schemas.microsoft.com/office/drawing/2014/main" id="{09929591-CA14-4BE4-BACD-A0527AEEDD3D}"/>
              </a:ext>
            </a:extLst>
          </p:cNvPr>
          <p:cNvSpPr txBox="1"/>
          <p:nvPr/>
        </p:nvSpPr>
        <p:spPr>
          <a:xfrm>
            <a:off x="8382055" y="1241266"/>
            <a:ext cx="3161016" cy="3153753"/>
          </a:xfrm>
          <a:prstGeom prst="rect">
            <a:avLst/>
          </a:prstGeom>
        </p:spPr>
        <p:txBody>
          <a:bodyPr vert="horz" lIns="91440" tIns="45720" rIns="91440" bIns="45720" rtlCol="0" anchor="b">
            <a:normAutofit/>
          </a:bodyPr>
          <a:lstStyle/>
          <a:p>
            <a:pPr>
              <a:spcBef>
                <a:spcPct val="0"/>
              </a:spcBef>
              <a:spcAft>
                <a:spcPts val="600"/>
              </a:spcAft>
            </a:pPr>
            <a:r>
              <a:rPr lang="en-US" sz="5400">
                <a:solidFill>
                  <a:schemeClr val="bg2"/>
                </a:solidFill>
                <a:latin typeface="+mj-lt"/>
                <a:ea typeface="+mj-ea"/>
                <a:cs typeface="+mj-cs"/>
              </a:rPr>
              <a:t>CHAMP VISUEL</a:t>
            </a:r>
          </a:p>
        </p:txBody>
      </p:sp>
      <p:grpSp>
        <p:nvGrpSpPr>
          <p:cNvPr id="25" name="Group 24">
            <a:extLst>
              <a:ext uri="{FF2B5EF4-FFF2-40B4-BE49-F238E27FC236}">
                <a16:creationId xmlns:a16="http://schemas.microsoft.com/office/drawing/2014/main" id="{227140B8-92FC-43F0-8CCA-F40052CE50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26" name="Rectangle 25">
              <a:extLst>
                <a:ext uri="{FF2B5EF4-FFF2-40B4-BE49-F238E27FC236}">
                  <a16:creationId xmlns:a16="http://schemas.microsoft.com/office/drawing/2014/main" id="{E14FEF32-7604-4713-A9F1-9D90A6F78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7" name="Freeform 5">
              <a:extLst>
                <a:ext uri="{FF2B5EF4-FFF2-40B4-BE49-F238E27FC236}">
                  <a16:creationId xmlns:a16="http://schemas.microsoft.com/office/drawing/2014/main" id="{95AD3905-A7DD-4026-B7FD-C203CC3052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8" name="Freeform 5">
              <a:extLst>
                <a:ext uri="{FF2B5EF4-FFF2-40B4-BE49-F238E27FC236}">
                  <a16:creationId xmlns:a16="http://schemas.microsoft.com/office/drawing/2014/main" id="{467A9BDB-6572-473C-B2E5-C1AC2F716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pic>
        <p:nvPicPr>
          <p:cNvPr id="8" name="Image 7">
            <a:extLst>
              <a:ext uri="{FF2B5EF4-FFF2-40B4-BE49-F238E27FC236}">
                <a16:creationId xmlns:a16="http://schemas.microsoft.com/office/drawing/2014/main" id="{371750F6-D145-458F-8C8C-25052C66A949}"/>
              </a:ext>
            </a:extLst>
          </p:cNvPr>
          <p:cNvPicPr>
            <a:picLocks noChangeAspect="1"/>
          </p:cNvPicPr>
          <p:nvPr/>
        </p:nvPicPr>
        <p:blipFill>
          <a:blip r:embed="rId3"/>
          <a:stretch>
            <a:fillRect/>
          </a:stretch>
        </p:blipFill>
        <p:spPr>
          <a:xfrm>
            <a:off x="226212" y="1143000"/>
            <a:ext cx="7492810" cy="4514417"/>
          </a:xfrm>
          <a:prstGeom prst="rect">
            <a:avLst/>
          </a:prstGeom>
        </p:spPr>
      </p:pic>
    </p:spTree>
    <p:extLst>
      <p:ext uri="{BB962C8B-B14F-4D97-AF65-F5344CB8AC3E}">
        <p14:creationId xmlns:p14="http://schemas.microsoft.com/office/powerpoint/2010/main" val="2629312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6AC64B6-5299-4EDC-A5BA-C486DE6052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1" name="Rectangle 10">
              <a:extLst>
                <a:ext uri="{FF2B5EF4-FFF2-40B4-BE49-F238E27FC236}">
                  <a16:creationId xmlns:a16="http://schemas.microsoft.com/office/drawing/2014/main" id="{BA11BA08-D406-4EBC-80F9-8C9B13860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a:extLst>
                <a:ext uri="{FF2B5EF4-FFF2-40B4-BE49-F238E27FC236}">
                  <a16:creationId xmlns:a16="http://schemas.microsoft.com/office/drawing/2014/main" id="{1CD848F9-F2DE-446B-8417-F43DDB436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a:extLst>
                <a:ext uri="{FF2B5EF4-FFF2-40B4-BE49-F238E27FC236}">
                  <a16:creationId xmlns:a16="http://schemas.microsoft.com/office/drawing/2014/main" id="{2950ADE9-C1AB-43FC-837A-4805DF5D7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B4A32DB1-B927-4CC4-86F7-62404124F1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Freeform 5">
              <a:extLst>
                <a:ext uri="{FF2B5EF4-FFF2-40B4-BE49-F238E27FC236}">
                  <a16:creationId xmlns:a16="http://schemas.microsoft.com/office/drawing/2014/main" id="{D096476B-32CF-4EEC-A4D2-18B931E582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7" name="Rectangle 16">
            <a:extLst>
              <a:ext uri="{FF2B5EF4-FFF2-40B4-BE49-F238E27FC236}">
                <a16:creationId xmlns:a16="http://schemas.microsoft.com/office/drawing/2014/main" id="{CB300B9C-C1F6-47BC-A43F-3B172CD7F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19" name="Rectangle 18">
            <a:extLst>
              <a:ext uri="{FF2B5EF4-FFF2-40B4-BE49-F238E27FC236}">
                <a16:creationId xmlns:a16="http://schemas.microsoft.com/office/drawing/2014/main" id="{33474BD5-5CDD-4624-B265-461D5D2FA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64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89C082B5-9FB8-47CC-AE81-E993CEC17D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2" name="Rectangle 21">
              <a:extLst>
                <a:ext uri="{FF2B5EF4-FFF2-40B4-BE49-F238E27FC236}">
                  <a16:creationId xmlns:a16="http://schemas.microsoft.com/office/drawing/2014/main" id="{49775A48-EE8C-4715-94E0-D6CC9F99A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Oval 22">
              <a:extLst>
                <a:ext uri="{FF2B5EF4-FFF2-40B4-BE49-F238E27FC236}">
                  <a16:creationId xmlns:a16="http://schemas.microsoft.com/office/drawing/2014/main" id="{DA7DF42E-92EA-43F7-B3B1-AF3704E37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a:extLst>
                <a:ext uri="{FF2B5EF4-FFF2-40B4-BE49-F238E27FC236}">
                  <a16:creationId xmlns:a16="http://schemas.microsoft.com/office/drawing/2014/main" id="{19381BF3-00FA-475A-AF22-25E832179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a:extLst>
                <a:ext uri="{FF2B5EF4-FFF2-40B4-BE49-F238E27FC236}">
                  <a16:creationId xmlns:a16="http://schemas.microsoft.com/office/drawing/2014/main" id="{9327A924-89E3-4A90-B5A4-93D47D66C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6" name="Freeform 5">
              <a:extLst>
                <a:ext uri="{FF2B5EF4-FFF2-40B4-BE49-F238E27FC236}">
                  <a16:creationId xmlns:a16="http://schemas.microsoft.com/office/drawing/2014/main" id="{3FEF908F-83B8-4DD0-8A1B-F1F735BE9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a:extLst>
                <a:ext uri="{FF2B5EF4-FFF2-40B4-BE49-F238E27FC236}">
                  <a16:creationId xmlns:a16="http://schemas.microsoft.com/office/drawing/2014/main" id="{9C3956E1-F253-4F36-84D5-22D5373F02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8" name="Freeform 5">
              <a:extLst>
                <a:ext uri="{FF2B5EF4-FFF2-40B4-BE49-F238E27FC236}">
                  <a16:creationId xmlns:a16="http://schemas.microsoft.com/office/drawing/2014/main" id="{68E0CC82-48EE-47B3-8BF4-8C58CF31CE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Rectangle 29">
            <a:extLst>
              <a:ext uri="{FF2B5EF4-FFF2-40B4-BE49-F238E27FC236}">
                <a16:creationId xmlns:a16="http://schemas.microsoft.com/office/drawing/2014/main" id="{9E382A3D-2F90-475C-8DF2-F666FEA34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ZoneTexte 4">
            <a:extLst>
              <a:ext uri="{FF2B5EF4-FFF2-40B4-BE49-F238E27FC236}">
                <a16:creationId xmlns:a16="http://schemas.microsoft.com/office/drawing/2014/main" id="{09AEF3D4-45C9-4606-99FA-4AE1D5BF10AD}"/>
              </a:ext>
            </a:extLst>
          </p:cNvPr>
          <p:cNvSpPr txBox="1"/>
          <p:nvPr/>
        </p:nvSpPr>
        <p:spPr>
          <a:xfrm>
            <a:off x="-1588" y="1173115"/>
            <a:ext cx="11926956" cy="3389217"/>
          </a:xfrm>
          <a:prstGeom prst="rect">
            <a:avLst/>
          </a:prstGeom>
        </p:spPr>
        <p:txBody>
          <a:bodyPr vert="horz" lIns="91440" tIns="45720" rIns="91440" bIns="45720" rtlCol="0" anchor="ctr">
            <a:normAutofit/>
          </a:bodyPr>
          <a:lstStyle/>
          <a:p>
            <a:pPr algn="ctr">
              <a:spcBef>
                <a:spcPct val="0"/>
              </a:spcBef>
              <a:spcAft>
                <a:spcPts val="600"/>
              </a:spcAft>
            </a:pPr>
            <a:endParaRPr lang="en-US" sz="6600" dirty="0">
              <a:solidFill>
                <a:srgbClr val="FFFFFF"/>
              </a:solidFill>
              <a:effectLst/>
              <a:latin typeface="+mj-lt"/>
              <a:ea typeface="+mj-ea"/>
              <a:cs typeface="+mj-cs"/>
            </a:endParaRPr>
          </a:p>
          <a:p>
            <a:pPr algn="ctr">
              <a:spcBef>
                <a:spcPct val="0"/>
              </a:spcBef>
              <a:spcAft>
                <a:spcPts val="600"/>
              </a:spcAft>
            </a:pPr>
            <a:r>
              <a:rPr lang="en-US" sz="5200" dirty="0">
                <a:solidFill>
                  <a:srgbClr val="FFFFFF"/>
                </a:solidFill>
                <a:effectLst/>
                <a:latin typeface="+mj-lt"/>
                <a:ea typeface="+mj-ea"/>
                <a:cs typeface="+mj-cs"/>
              </a:rPr>
              <a:t>Ce champ de vision </a:t>
            </a:r>
            <a:r>
              <a:rPr lang="en-US" sz="5200" dirty="0" err="1">
                <a:solidFill>
                  <a:srgbClr val="FFFFFF"/>
                </a:solidFill>
                <a:effectLst/>
                <a:latin typeface="+mj-lt"/>
                <a:ea typeface="+mj-ea"/>
                <a:cs typeface="+mj-cs"/>
              </a:rPr>
              <a:t>est</a:t>
            </a:r>
            <a:r>
              <a:rPr lang="en-US" sz="5200" dirty="0">
                <a:solidFill>
                  <a:srgbClr val="FFFFFF"/>
                </a:solidFill>
                <a:effectLst/>
                <a:latin typeface="+mj-lt"/>
                <a:ea typeface="+mj-ea"/>
                <a:cs typeface="+mj-cs"/>
              </a:rPr>
              <a:t> </a:t>
            </a:r>
            <a:r>
              <a:rPr lang="en-US" sz="5200" dirty="0" err="1">
                <a:solidFill>
                  <a:srgbClr val="FFFFFF"/>
                </a:solidFill>
                <a:effectLst/>
                <a:latin typeface="+mj-lt"/>
                <a:ea typeface="+mj-ea"/>
                <a:cs typeface="+mj-cs"/>
              </a:rPr>
              <a:t>divisé</a:t>
            </a:r>
            <a:r>
              <a:rPr lang="en-US" sz="5200" dirty="0">
                <a:solidFill>
                  <a:srgbClr val="FFFFFF"/>
                </a:solidFill>
                <a:effectLst/>
                <a:latin typeface="+mj-lt"/>
                <a:ea typeface="+mj-ea"/>
                <a:cs typeface="+mj-cs"/>
              </a:rPr>
              <a:t>               </a:t>
            </a:r>
            <a:r>
              <a:rPr lang="en-US" sz="5200" dirty="0" err="1">
                <a:solidFill>
                  <a:srgbClr val="FFFFFF"/>
                </a:solidFill>
                <a:effectLst/>
                <a:latin typeface="+mj-lt"/>
                <a:ea typeface="+mj-ea"/>
                <a:cs typeface="+mj-cs"/>
              </a:rPr>
              <a:t>en</a:t>
            </a:r>
            <a:r>
              <a:rPr lang="en-US" sz="5200" dirty="0">
                <a:solidFill>
                  <a:srgbClr val="FFFFFF"/>
                </a:solidFill>
                <a:effectLst/>
                <a:latin typeface="+mj-lt"/>
                <a:ea typeface="+mj-ea"/>
                <a:cs typeface="+mj-cs"/>
              </a:rPr>
              <a:t> </a:t>
            </a:r>
            <a:r>
              <a:rPr lang="en-US" sz="5200" dirty="0" err="1">
                <a:solidFill>
                  <a:srgbClr val="FFFFFF"/>
                </a:solidFill>
                <a:effectLst/>
                <a:latin typeface="+mj-lt"/>
                <a:ea typeface="+mj-ea"/>
                <a:cs typeface="+mj-cs"/>
              </a:rPr>
              <a:t>plusieurs</a:t>
            </a:r>
            <a:r>
              <a:rPr lang="en-US" sz="5200" dirty="0">
                <a:solidFill>
                  <a:srgbClr val="FFFFFF"/>
                </a:solidFill>
                <a:effectLst/>
                <a:latin typeface="+mj-lt"/>
                <a:ea typeface="+mj-ea"/>
                <a:cs typeface="+mj-cs"/>
              </a:rPr>
              <a:t> parties:</a:t>
            </a:r>
          </a:p>
          <a:p>
            <a:pPr algn="ctr">
              <a:spcBef>
                <a:spcPct val="0"/>
              </a:spcBef>
              <a:spcAft>
                <a:spcPts val="600"/>
              </a:spcAft>
            </a:pPr>
            <a:endParaRPr lang="en-US" sz="6600" dirty="0">
              <a:solidFill>
                <a:srgbClr val="FFFFFF"/>
              </a:solidFill>
              <a:latin typeface="+mj-lt"/>
              <a:ea typeface="+mj-ea"/>
              <a:cs typeface="+mj-cs"/>
            </a:endParaRPr>
          </a:p>
          <a:p>
            <a:pPr algn="ctr">
              <a:spcBef>
                <a:spcPct val="0"/>
              </a:spcBef>
              <a:spcAft>
                <a:spcPts val="600"/>
              </a:spcAft>
            </a:pPr>
            <a:endParaRPr lang="en-US" sz="6600" dirty="0">
              <a:solidFill>
                <a:srgbClr val="FFFFFF"/>
              </a:solidFill>
              <a:effectLst/>
              <a:latin typeface="+mj-lt"/>
              <a:ea typeface="+mj-ea"/>
              <a:cs typeface="+mj-cs"/>
            </a:endParaRPr>
          </a:p>
        </p:txBody>
      </p:sp>
    </p:spTree>
    <p:extLst>
      <p:ext uri="{BB962C8B-B14F-4D97-AF65-F5344CB8AC3E}">
        <p14:creationId xmlns:p14="http://schemas.microsoft.com/office/powerpoint/2010/main" val="400596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1" name="Rectangle 10">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7"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9" name="Rectangle 18">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1" name="Rectangle 20">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4" name="Rectangle 23">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Oval 24">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6" name="Oval 25">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7" name="Oval 26">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0"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1"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4" name="ZoneTexte 3">
            <a:extLst>
              <a:ext uri="{FF2B5EF4-FFF2-40B4-BE49-F238E27FC236}">
                <a16:creationId xmlns:a16="http://schemas.microsoft.com/office/drawing/2014/main" id="{637997B7-66BA-4AF2-BF82-A06B170228E9}"/>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effectLst/>
              </a:rPr>
              <a:t>La vision binoculaire d’environ 60°et propre aux deux yeux, occupe un angle global de 120° et confère à l’être humain une perception plus ou moins précise de son environnement proche ou éloigné.</a:t>
            </a:r>
          </a:p>
        </p:txBody>
      </p:sp>
      <p:sp>
        <p:nvSpPr>
          <p:cNvPr id="5" name="ZoneTexte 4">
            <a:extLst>
              <a:ext uri="{FF2B5EF4-FFF2-40B4-BE49-F238E27FC236}">
                <a16:creationId xmlns:a16="http://schemas.microsoft.com/office/drawing/2014/main" id="{09AEF3D4-45C9-4606-99FA-4AE1D5BF10AD}"/>
              </a:ext>
            </a:extLst>
          </p:cNvPr>
          <p:cNvSpPr txBox="1"/>
          <p:nvPr/>
        </p:nvSpPr>
        <p:spPr>
          <a:xfrm>
            <a:off x="3048000" y="2680811"/>
            <a:ext cx="6915150" cy="723275"/>
          </a:xfrm>
          <a:prstGeom prst="rect">
            <a:avLst/>
          </a:prstGeom>
          <a:noFill/>
        </p:spPr>
        <p:txBody>
          <a:bodyPr wrap="square">
            <a:spAutoFit/>
          </a:bodyPr>
          <a:lstStyle/>
          <a:p>
            <a:pPr algn="just">
              <a:spcAft>
                <a:spcPts val="600"/>
              </a:spcAft>
            </a:pPr>
            <a:endParaRPr lang="fr-FR">
              <a:solidFill>
                <a:srgbClr val="313131"/>
              </a:solidFill>
              <a:latin typeface="Arial" panose="020B0604020202020204" pitchFamily="34" charset="0"/>
            </a:endParaRPr>
          </a:p>
          <a:p>
            <a:pPr algn="just">
              <a:spcAft>
                <a:spcPts val="600"/>
              </a:spcAft>
            </a:pPr>
            <a:endParaRPr lang="fr-FR" b="0" i="0">
              <a:solidFill>
                <a:srgbClr val="313131"/>
              </a:solidFill>
              <a:effectLst/>
              <a:latin typeface="Arial" panose="020B0604020202020204" pitchFamily="34" charset="0"/>
            </a:endParaRPr>
          </a:p>
        </p:txBody>
      </p:sp>
    </p:spTree>
    <p:extLst>
      <p:ext uri="{BB962C8B-B14F-4D97-AF65-F5344CB8AC3E}">
        <p14:creationId xmlns:p14="http://schemas.microsoft.com/office/powerpoint/2010/main" val="3921901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5" name="Rectangle 24">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Oval 25">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7" name="Oval 26">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Oval 27">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30"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2"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6" name="ZoneTexte 5">
            <a:extLst>
              <a:ext uri="{FF2B5EF4-FFF2-40B4-BE49-F238E27FC236}">
                <a16:creationId xmlns:a16="http://schemas.microsoft.com/office/drawing/2014/main" id="{555DC11F-F306-424F-922F-B66C37672EAC}"/>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effectLst/>
              </a:rPr>
              <a:t>La vision monoculaire ( 95°-110°) liée à un seul œil, et qui ajoute environ 50° de vison supplémentaire de chaque côté pour ainsi former un angle global de 220°. Néanmoins, cette partie du champ visuel offre une vison plus déformé et comprimé de l’environnement, mais permet cependant à l’être humain de détecter rapidement les mouvements</a:t>
            </a:r>
            <a:endParaRPr lang="en-US" sz="2000">
              <a:solidFill>
                <a:schemeClr val="tx1">
                  <a:lumMod val="75000"/>
                  <a:lumOff val="25000"/>
                </a:schemeClr>
              </a:solidFill>
            </a:endParaRPr>
          </a:p>
        </p:txBody>
      </p:sp>
      <p:sp>
        <p:nvSpPr>
          <p:cNvPr id="5" name="ZoneTexte 4">
            <a:extLst>
              <a:ext uri="{FF2B5EF4-FFF2-40B4-BE49-F238E27FC236}">
                <a16:creationId xmlns:a16="http://schemas.microsoft.com/office/drawing/2014/main" id="{09AEF3D4-45C9-4606-99FA-4AE1D5BF10AD}"/>
              </a:ext>
            </a:extLst>
          </p:cNvPr>
          <p:cNvSpPr txBox="1"/>
          <p:nvPr/>
        </p:nvSpPr>
        <p:spPr>
          <a:xfrm>
            <a:off x="3048000" y="2680811"/>
            <a:ext cx="6915150" cy="723275"/>
          </a:xfrm>
          <a:prstGeom prst="rect">
            <a:avLst/>
          </a:prstGeom>
          <a:noFill/>
        </p:spPr>
        <p:txBody>
          <a:bodyPr wrap="square">
            <a:spAutoFit/>
          </a:bodyPr>
          <a:lstStyle/>
          <a:p>
            <a:pPr algn="just">
              <a:spcAft>
                <a:spcPts val="600"/>
              </a:spcAft>
            </a:pPr>
            <a:endParaRPr lang="fr-FR">
              <a:solidFill>
                <a:srgbClr val="313131"/>
              </a:solidFill>
              <a:latin typeface="Arial" panose="020B0604020202020204" pitchFamily="34" charset="0"/>
            </a:endParaRPr>
          </a:p>
          <a:p>
            <a:pPr algn="just">
              <a:spcAft>
                <a:spcPts val="600"/>
              </a:spcAft>
            </a:pPr>
            <a:endParaRPr lang="fr-FR" b="0" i="0">
              <a:solidFill>
                <a:srgbClr val="313131"/>
              </a:solidFill>
              <a:effectLst/>
              <a:latin typeface="Arial" panose="020B0604020202020204" pitchFamily="34" charset="0"/>
            </a:endParaRPr>
          </a:p>
        </p:txBody>
      </p:sp>
    </p:spTree>
    <p:extLst>
      <p:ext uri="{BB962C8B-B14F-4D97-AF65-F5344CB8AC3E}">
        <p14:creationId xmlns:p14="http://schemas.microsoft.com/office/powerpoint/2010/main" val="2214627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3" name="Group 11">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3" name="Rectangle 12">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44" name="Rectangle 20">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45" name="Rectangle 22">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24">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6" name="Rectangle 25">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Oval 26">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Oval 27">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7" name="Oval 28">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48"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2"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49"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7" name="ZoneTexte 6">
            <a:extLst>
              <a:ext uri="{FF2B5EF4-FFF2-40B4-BE49-F238E27FC236}">
                <a16:creationId xmlns:a16="http://schemas.microsoft.com/office/drawing/2014/main" id="{78AACF5B-D55E-4C8F-8CEC-5E991EAD6122}"/>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rPr>
              <a:t>                        </a:t>
            </a:r>
            <a:r>
              <a:rPr lang="en-US" sz="2000" u="sng">
                <a:solidFill>
                  <a:schemeClr val="tx1">
                    <a:lumMod val="75000"/>
                    <a:lumOff val="25000"/>
                  </a:schemeClr>
                </a:solidFill>
                <a:effectLst/>
              </a:rPr>
              <a:t>cône de vision</a:t>
            </a:r>
          </a:p>
          <a:p>
            <a:pPr>
              <a:spcBef>
                <a:spcPts val="1000"/>
              </a:spcBef>
              <a:buClr>
                <a:schemeClr val="accent1"/>
              </a:buClr>
              <a:buSzPct val="80000"/>
              <a:buFont typeface="Wingdings 3" charset="2"/>
              <a:buChar char=""/>
            </a:pPr>
            <a:endParaRPr lang="en-US" sz="2000">
              <a:solidFill>
                <a:schemeClr val="tx1">
                  <a:lumMod val="75000"/>
                  <a:lumOff val="25000"/>
                </a:schemeClr>
              </a:solidFill>
              <a:effectLst/>
            </a:endParaRPr>
          </a:p>
          <a:p>
            <a:pPr>
              <a:spcBef>
                <a:spcPts val="1000"/>
              </a:spcBef>
              <a:buClr>
                <a:schemeClr val="accent1"/>
              </a:buClr>
              <a:buSzPct val="80000"/>
              <a:buFont typeface="Wingdings 3" charset="2"/>
              <a:buChar char=""/>
            </a:pPr>
            <a:r>
              <a:rPr lang="en-US" sz="2000">
                <a:solidFill>
                  <a:schemeClr val="tx1">
                    <a:lumMod val="75000"/>
                    <a:lumOff val="25000"/>
                  </a:schemeClr>
                </a:solidFill>
                <a:effectLst/>
              </a:rPr>
              <a:t>On parle aussi de perceptive conique, car le champ visuel ne forme pas simplement un demi-cercle avec des angles de perception différents, mais bien un cône qui s’oriente en fonction du regard. Ce cône ne forme pas réellement un cercle parfait de perception, mais en dessin on a coutume de le simplifier ainsi.</a:t>
            </a:r>
          </a:p>
        </p:txBody>
      </p:sp>
      <p:sp>
        <p:nvSpPr>
          <p:cNvPr id="5" name="ZoneTexte 4">
            <a:extLst>
              <a:ext uri="{FF2B5EF4-FFF2-40B4-BE49-F238E27FC236}">
                <a16:creationId xmlns:a16="http://schemas.microsoft.com/office/drawing/2014/main" id="{09AEF3D4-45C9-4606-99FA-4AE1D5BF10AD}"/>
              </a:ext>
            </a:extLst>
          </p:cNvPr>
          <p:cNvSpPr txBox="1"/>
          <p:nvPr/>
        </p:nvSpPr>
        <p:spPr>
          <a:xfrm>
            <a:off x="3048000" y="2680811"/>
            <a:ext cx="6915150" cy="723275"/>
          </a:xfrm>
          <a:prstGeom prst="rect">
            <a:avLst/>
          </a:prstGeom>
          <a:noFill/>
        </p:spPr>
        <p:txBody>
          <a:bodyPr wrap="square">
            <a:spAutoFit/>
          </a:bodyPr>
          <a:lstStyle/>
          <a:p>
            <a:pPr algn="just">
              <a:spcAft>
                <a:spcPts val="600"/>
              </a:spcAft>
            </a:pPr>
            <a:endParaRPr lang="fr-FR">
              <a:solidFill>
                <a:srgbClr val="313131"/>
              </a:solidFill>
              <a:latin typeface="Arial" panose="020B0604020202020204" pitchFamily="34" charset="0"/>
            </a:endParaRPr>
          </a:p>
          <a:p>
            <a:pPr algn="just">
              <a:spcAft>
                <a:spcPts val="600"/>
              </a:spcAft>
            </a:pPr>
            <a:endParaRPr lang="fr-FR" b="0" i="0">
              <a:solidFill>
                <a:srgbClr val="313131"/>
              </a:solidFill>
              <a:effectLst/>
              <a:latin typeface="Arial" panose="020B0604020202020204" pitchFamily="34" charset="0"/>
            </a:endParaRPr>
          </a:p>
        </p:txBody>
      </p:sp>
    </p:spTree>
    <p:extLst>
      <p:ext uri="{BB962C8B-B14F-4D97-AF65-F5344CB8AC3E}">
        <p14:creationId xmlns:p14="http://schemas.microsoft.com/office/powerpoint/2010/main" val="3144276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5" name="Rectangle 24">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Oval 25">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7" name="Oval 26">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Oval 27">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30"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2"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6" name="ZoneTexte 5">
            <a:extLst>
              <a:ext uri="{FF2B5EF4-FFF2-40B4-BE49-F238E27FC236}">
                <a16:creationId xmlns:a16="http://schemas.microsoft.com/office/drawing/2014/main" id="{F274DBE5-F933-4F54-BCB3-4671EB3DA9B5}"/>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effectLst/>
              </a:rPr>
              <a:t>Ce cône visuel représente ce que vous voyez, alors il semble normal de comprendre que si vous bougez votre regarde de quelques centimètres, votre cône de vision suivra ce mouvement et avec des changements considérables dans votre dessin.</a:t>
            </a:r>
            <a:endParaRPr lang="en-US" sz="2000">
              <a:solidFill>
                <a:schemeClr val="tx1">
                  <a:lumMod val="75000"/>
                  <a:lumOff val="25000"/>
                </a:schemeClr>
              </a:solidFill>
            </a:endParaRPr>
          </a:p>
        </p:txBody>
      </p:sp>
      <p:sp>
        <p:nvSpPr>
          <p:cNvPr id="5" name="ZoneTexte 4">
            <a:extLst>
              <a:ext uri="{FF2B5EF4-FFF2-40B4-BE49-F238E27FC236}">
                <a16:creationId xmlns:a16="http://schemas.microsoft.com/office/drawing/2014/main" id="{09AEF3D4-45C9-4606-99FA-4AE1D5BF10AD}"/>
              </a:ext>
            </a:extLst>
          </p:cNvPr>
          <p:cNvSpPr txBox="1"/>
          <p:nvPr/>
        </p:nvSpPr>
        <p:spPr>
          <a:xfrm>
            <a:off x="3048000" y="2680811"/>
            <a:ext cx="6915150" cy="723275"/>
          </a:xfrm>
          <a:prstGeom prst="rect">
            <a:avLst/>
          </a:prstGeom>
          <a:noFill/>
        </p:spPr>
        <p:txBody>
          <a:bodyPr wrap="square">
            <a:spAutoFit/>
          </a:bodyPr>
          <a:lstStyle/>
          <a:p>
            <a:pPr algn="just">
              <a:spcAft>
                <a:spcPts val="600"/>
              </a:spcAft>
            </a:pPr>
            <a:endParaRPr lang="fr-FR">
              <a:solidFill>
                <a:srgbClr val="313131"/>
              </a:solidFill>
              <a:latin typeface="Arial" panose="020B0604020202020204" pitchFamily="34" charset="0"/>
            </a:endParaRPr>
          </a:p>
          <a:p>
            <a:pPr algn="just">
              <a:spcAft>
                <a:spcPts val="600"/>
              </a:spcAft>
            </a:pPr>
            <a:endParaRPr lang="fr-FR" b="0" i="0">
              <a:solidFill>
                <a:srgbClr val="313131"/>
              </a:solidFill>
              <a:effectLst/>
              <a:latin typeface="Arial" panose="020B0604020202020204" pitchFamily="34" charset="0"/>
            </a:endParaRPr>
          </a:p>
        </p:txBody>
      </p:sp>
    </p:spTree>
    <p:extLst>
      <p:ext uri="{BB962C8B-B14F-4D97-AF65-F5344CB8AC3E}">
        <p14:creationId xmlns:p14="http://schemas.microsoft.com/office/powerpoint/2010/main" val="3368823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033" name="Rectangle 1032">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1026" name="Picture 2" descr="Perspective et cône de vision">
            <a:extLst>
              <a:ext uri="{FF2B5EF4-FFF2-40B4-BE49-F238E27FC236}">
                <a16:creationId xmlns:a16="http://schemas.microsoft.com/office/drawing/2014/main" id="{D02B858C-8491-49FF-A2F2-42F2BD1EE0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13243" y="1284394"/>
            <a:ext cx="9260683" cy="4283066"/>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09AEF3D4-45C9-4606-99FA-4AE1D5BF10AD}"/>
              </a:ext>
            </a:extLst>
          </p:cNvPr>
          <p:cNvSpPr txBox="1"/>
          <p:nvPr/>
        </p:nvSpPr>
        <p:spPr>
          <a:xfrm>
            <a:off x="3048000" y="2680811"/>
            <a:ext cx="6915150" cy="723275"/>
          </a:xfrm>
          <a:prstGeom prst="rect">
            <a:avLst/>
          </a:prstGeom>
          <a:noFill/>
        </p:spPr>
        <p:txBody>
          <a:bodyPr wrap="square">
            <a:spAutoFit/>
          </a:bodyPr>
          <a:lstStyle/>
          <a:p>
            <a:pPr algn="just">
              <a:spcAft>
                <a:spcPts val="600"/>
              </a:spcAft>
            </a:pPr>
            <a:endParaRPr lang="fr-FR">
              <a:solidFill>
                <a:srgbClr val="313131"/>
              </a:solidFill>
              <a:latin typeface="Arial" panose="020B0604020202020204" pitchFamily="34" charset="0"/>
            </a:endParaRPr>
          </a:p>
          <a:p>
            <a:pPr algn="just">
              <a:spcAft>
                <a:spcPts val="600"/>
              </a:spcAft>
            </a:pPr>
            <a:endParaRPr lang="fr-FR" b="0" i="0">
              <a:solidFill>
                <a:srgbClr val="313131"/>
              </a:solidFill>
              <a:effectLst/>
              <a:latin typeface="Arial" panose="020B0604020202020204" pitchFamily="34" charset="0"/>
            </a:endParaRPr>
          </a:p>
        </p:txBody>
      </p:sp>
    </p:spTree>
    <p:extLst>
      <p:ext uri="{BB962C8B-B14F-4D97-AF65-F5344CB8AC3E}">
        <p14:creationId xmlns:p14="http://schemas.microsoft.com/office/powerpoint/2010/main" val="1922955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88" name="Group 2087">
            <a:extLst>
              <a:ext uri="{FF2B5EF4-FFF2-40B4-BE49-F238E27FC236}">
                <a16:creationId xmlns:a16="http://schemas.microsoft.com/office/drawing/2014/main" id="{D83BBD7C-498A-4C5D-AB41-F426C68BC7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089" name="Rectangle 2088">
              <a:extLst>
                <a:ext uri="{FF2B5EF4-FFF2-40B4-BE49-F238E27FC236}">
                  <a16:creationId xmlns:a16="http://schemas.microsoft.com/office/drawing/2014/main" id="{3C244CB4-82F8-408B-90CF-8790B4920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90" name="Oval 2089">
              <a:extLst>
                <a:ext uri="{FF2B5EF4-FFF2-40B4-BE49-F238E27FC236}">
                  <a16:creationId xmlns:a16="http://schemas.microsoft.com/office/drawing/2014/main" id="{3AEB2EDF-947E-4C45-84CA-A7677672F8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91" name="Oval 2090">
              <a:extLst>
                <a:ext uri="{FF2B5EF4-FFF2-40B4-BE49-F238E27FC236}">
                  <a16:creationId xmlns:a16="http://schemas.microsoft.com/office/drawing/2014/main" id="{D7E0AB0B-FFA9-4D57-AC8F-5F83219DA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92" name="Oval 2091">
              <a:extLst>
                <a:ext uri="{FF2B5EF4-FFF2-40B4-BE49-F238E27FC236}">
                  <a16:creationId xmlns:a16="http://schemas.microsoft.com/office/drawing/2014/main" id="{3AE4624A-38E2-4004-A68A-46B487FF7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93" name="Freeform 5">
              <a:extLst>
                <a:ext uri="{FF2B5EF4-FFF2-40B4-BE49-F238E27FC236}">
                  <a16:creationId xmlns:a16="http://schemas.microsoft.com/office/drawing/2014/main" id="{D389D2B9-4681-43B1-B432-CF57F21B12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095" name="Rectangle 2094">
            <a:extLst>
              <a:ext uri="{FF2B5EF4-FFF2-40B4-BE49-F238E27FC236}">
                <a16:creationId xmlns:a16="http://schemas.microsoft.com/office/drawing/2014/main" id="{2243419A-744C-4016-8F12-40F0C0183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ZoneTexte 4">
            <a:extLst>
              <a:ext uri="{FF2B5EF4-FFF2-40B4-BE49-F238E27FC236}">
                <a16:creationId xmlns:a16="http://schemas.microsoft.com/office/drawing/2014/main" id="{09AEF3D4-45C9-4606-99FA-4AE1D5BF10AD}"/>
              </a:ext>
            </a:extLst>
          </p:cNvPr>
          <p:cNvSpPr txBox="1"/>
          <p:nvPr/>
        </p:nvSpPr>
        <p:spPr>
          <a:xfrm>
            <a:off x="1154955" y="4834467"/>
            <a:ext cx="8825658" cy="58638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a:solidFill>
                  <a:schemeClr val="bg2"/>
                </a:solidFill>
                <a:latin typeface="+mj-lt"/>
                <a:ea typeface="+mj-ea"/>
                <a:cs typeface="+mj-cs"/>
              </a:rPr>
              <a:t>          </a:t>
            </a:r>
            <a:r>
              <a:rPr lang="en-US" sz="2800" u="sng">
                <a:solidFill>
                  <a:schemeClr val="bg2"/>
                </a:solidFill>
                <a:latin typeface="+mj-lt"/>
                <a:ea typeface="+mj-ea"/>
                <a:cs typeface="+mj-cs"/>
              </a:rPr>
              <a:t>POINT DE FUITE </a:t>
            </a:r>
          </a:p>
          <a:p>
            <a:pPr>
              <a:lnSpc>
                <a:spcPct val="90000"/>
              </a:lnSpc>
              <a:spcBef>
                <a:spcPct val="0"/>
              </a:spcBef>
              <a:spcAft>
                <a:spcPts val="600"/>
              </a:spcAft>
            </a:pPr>
            <a:endParaRPr lang="en-US" sz="2800">
              <a:solidFill>
                <a:schemeClr val="bg2"/>
              </a:solidFill>
              <a:effectLst/>
              <a:latin typeface="+mj-lt"/>
              <a:ea typeface="+mj-ea"/>
              <a:cs typeface="+mj-cs"/>
            </a:endParaRPr>
          </a:p>
        </p:txBody>
      </p:sp>
      <p:pic>
        <p:nvPicPr>
          <p:cNvPr id="2050" name="Picture 2" descr="perspective et point de fuite">
            <a:extLst>
              <a:ext uri="{FF2B5EF4-FFF2-40B4-BE49-F238E27FC236}">
                <a16:creationId xmlns:a16="http://schemas.microsoft.com/office/drawing/2014/main" id="{3974AFD3-62F9-4D75-AB1C-F150B76A4E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22" b="1"/>
          <a:stretch/>
        </p:blipFill>
        <p:spPr bwMode="auto">
          <a:xfrm>
            <a:off x="1154954" y="834893"/>
            <a:ext cx="8825659" cy="3429000"/>
          </a:xfrm>
          <a:prstGeom prst="rect">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192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09AEF3D4-45C9-4606-99FA-4AE1D5BF10AD}"/>
              </a:ext>
            </a:extLst>
          </p:cNvPr>
          <p:cNvSpPr txBox="1"/>
          <p:nvPr/>
        </p:nvSpPr>
        <p:spPr>
          <a:xfrm>
            <a:off x="1714500" y="499586"/>
            <a:ext cx="7429500" cy="5632311"/>
          </a:xfrm>
          <a:prstGeom prst="rect">
            <a:avLst/>
          </a:prstGeom>
          <a:noFill/>
        </p:spPr>
        <p:txBody>
          <a:bodyPr wrap="square">
            <a:spAutoFit/>
          </a:bodyPr>
          <a:lstStyle/>
          <a:p>
            <a:pPr algn="just"/>
            <a:r>
              <a:rPr lang="fr-FR" sz="4000" dirty="0">
                <a:solidFill>
                  <a:srgbClr val="313131"/>
                </a:solidFill>
                <a:latin typeface="Times New Roman" panose="02020603050405020304" pitchFamily="18" charset="0"/>
                <a:cs typeface="Times New Roman" panose="02020603050405020304" pitchFamily="18" charset="0"/>
              </a:rPr>
              <a:t>          </a:t>
            </a:r>
            <a:r>
              <a:rPr lang="fr-FR" sz="4000" u="sng" dirty="0">
                <a:solidFill>
                  <a:schemeClr val="accent2"/>
                </a:solidFill>
                <a:latin typeface="Times New Roman" panose="02020603050405020304" pitchFamily="18" charset="0"/>
                <a:cs typeface="Times New Roman" panose="02020603050405020304" pitchFamily="18" charset="0"/>
              </a:rPr>
              <a:t>POINT DE FUITE </a:t>
            </a:r>
          </a:p>
          <a:p>
            <a:pPr algn="just"/>
            <a:endParaRPr lang="fr-FR" sz="4000" b="0" i="0" dirty="0">
              <a:solidFill>
                <a:srgbClr val="313131"/>
              </a:solidFill>
              <a:effectLst/>
              <a:latin typeface="Times New Roman" panose="02020603050405020304" pitchFamily="18" charset="0"/>
              <a:cs typeface="Times New Roman" panose="02020603050405020304" pitchFamily="18" charset="0"/>
            </a:endParaRPr>
          </a:p>
          <a:p>
            <a:pPr algn="just"/>
            <a:r>
              <a:rPr lang="fr-FR" sz="4000" b="0" i="0" dirty="0">
                <a:solidFill>
                  <a:srgbClr val="313131"/>
                </a:solidFill>
                <a:effectLst/>
                <a:latin typeface="Times New Roman" panose="02020603050405020304" pitchFamily="18" charset="0"/>
                <a:cs typeface="Times New Roman" panose="02020603050405020304" pitchFamily="18" charset="0"/>
              </a:rPr>
              <a:t>Si nous construisons la façade principale de cette maison et que nous projetons la ligne du sol et celle du commencement de la toiture, nous pouvons constater qu’elles finissent par </a:t>
            </a:r>
            <a:r>
              <a:rPr lang="fr-FR" sz="4000" b="1" i="0" dirty="0">
                <a:solidFill>
                  <a:srgbClr val="313131"/>
                </a:solidFill>
                <a:effectLst/>
                <a:latin typeface="Times New Roman" panose="02020603050405020304" pitchFamily="18" charset="0"/>
                <a:cs typeface="Times New Roman" panose="02020603050405020304" pitchFamily="18" charset="0"/>
              </a:rPr>
              <a:t>se rejoindre en un seul point</a:t>
            </a:r>
            <a:r>
              <a:rPr lang="fr-FR" sz="4000" b="0" i="0" dirty="0">
                <a:solidFill>
                  <a:srgbClr val="313131"/>
                </a:solidFill>
                <a:effectLst/>
                <a:latin typeface="Times New Roman" panose="02020603050405020304" pitchFamily="18" charset="0"/>
                <a:cs typeface="Times New Roman" panose="02020603050405020304" pitchFamily="18" charset="0"/>
              </a:rPr>
              <a:t>.</a:t>
            </a:r>
          </a:p>
        </p:txBody>
      </p:sp>
      <p:sp>
        <p:nvSpPr>
          <p:cNvPr id="6" name="ZoneTexte 5">
            <a:extLst>
              <a:ext uri="{FF2B5EF4-FFF2-40B4-BE49-F238E27FC236}">
                <a16:creationId xmlns:a16="http://schemas.microsoft.com/office/drawing/2014/main" id="{6C2A7E5B-986D-425A-B428-C461F7A8171A}"/>
              </a:ext>
            </a:extLst>
          </p:cNvPr>
          <p:cNvSpPr txBox="1"/>
          <p:nvPr/>
        </p:nvSpPr>
        <p:spPr>
          <a:xfrm>
            <a:off x="3048000" y="3234809"/>
            <a:ext cx="6096000" cy="369332"/>
          </a:xfrm>
          <a:prstGeom prst="rect">
            <a:avLst/>
          </a:prstGeom>
          <a:noFill/>
        </p:spPr>
        <p:txBody>
          <a:bodyPr wrap="square">
            <a:spAutoFit/>
          </a:bodyPr>
          <a:lstStyle/>
          <a:p>
            <a:r>
              <a:rPr lang="fr-FR" sz="1800" b="0" i="0" dirty="0">
                <a:solidFill>
                  <a:srgbClr val="313131"/>
                </a:solidFill>
                <a:effectLst/>
                <a:latin typeface="Times New Roman" panose="02020603050405020304" pitchFamily="18" charset="0"/>
                <a:cs typeface="Times New Roman" panose="02020603050405020304" pitchFamily="18" charset="0"/>
              </a:rPr>
              <a:t> </a:t>
            </a:r>
            <a:endParaRPr lang="fr-FR" dirty="0"/>
          </a:p>
        </p:txBody>
      </p:sp>
    </p:spTree>
    <p:extLst>
      <p:ext uri="{BB962C8B-B14F-4D97-AF65-F5344CB8AC3E}">
        <p14:creationId xmlns:p14="http://schemas.microsoft.com/office/powerpoint/2010/main" val="167853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3" name="Rectangle 12">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1" name="Rectangle 20">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3" name="Rectangle 22">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6" name="Rectangle 25">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Oval 26">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Oval 27">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9" name="Oval 28">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2"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3"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5" name="ZoneTexte 4">
            <a:extLst>
              <a:ext uri="{FF2B5EF4-FFF2-40B4-BE49-F238E27FC236}">
                <a16:creationId xmlns:a16="http://schemas.microsoft.com/office/drawing/2014/main" id="{09AEF3D4-45C9-4606-99FA-4AE1D5BF10AD}"/>
              </a:ext>
            </a:extLst>
          </p:cNvPr>
          <p:cNvSpPr txBox="1"/>
          <p:nvPr/>
        </p:nvSpPr>
        <p:spPr>
          <a:xfrm>
            <a:off x="994087" y="1130603"/>
            <a:ext cx="3342442" cy="4596794"/>
          </a:xfrm>
          <a:prstGeom prst="rect">
            <a:avLst/>
          </a:prstGeom>
        </p:spPr>
        <p:txBody>
          <a:bodyPr vert="horz" lIns="91440" tIns="45720" rIns="91440" bIns="45720" rtlCol="0" anchor="ctr">
            <a:normAutofit/>
          </a:bodyPr>
          <a:lstStyle/>
          <a:p>
            <a:pPr>
              <a:spcBef>
                <a:spcPct val="0"/>
              </a:spcBef>
              <a:spcAft>
                <a:spcPts val="600"/>
              </a:spcAft>
            </a:pPr>
            <a:r>
              <a:rPr lang="en-US" sz="3200">
                <a:solidFill>
                  <a:srgbClr val="EBEBEB"/>
                </a:solidFill>
                <a:latin typeface="+mj-lt"/>
                <a:ea typeface="+mj-ea"/>
                <a:cs typeface="+mj-cs"/>
              </a:rPr>
              <a:t>          </a:t>
            </a:r>
            <a:r>
              <a:rPr lang="en-US" sz="3200" u="sng">
                <a:solidFill>
                  <a:srgbClr val="EBEBEB"/>
                </a:solidFill>
                <a:latin typeface="+mj-lt"/>
                <a:ea typeface="+mj-ea"/>
                <a:cs typeface="+mj-cs"/>
              </a:rPr>
              <a:t>POINT DE FUITE </a:t>
            </a:r>
          </a:p>
          <a:p>
            <a:pPr>
              <a:spcBef>
                <a:spcPct val="0"/>
              </a:spcBef>
              <a:spcAft>
                <a:spcPts val="600"/>
              </a:spcAft>
            </a:pPr>
            <a:endParaRPr lang="en-US" sz="3200">
              <a:solidFill>
                <a:srgbClr val="EBEBEB"/>
              </a:solidFill>
              <a:effectLst/>
              <a:latin typeface="+mj-lt"/>
              <a:ea typeface="+mj-ea"/>
              <a:cs typeface="+mj-cs"/>
            </a:endParaRPr>
          </a:p>
        </p:txBody>
      </p:sp>
      <p:sp>
        <p:nvSpPr>
          <p:cNvPr id="7" name="ZoneTexte 6">
            <a:extLst>
              <a:ext uri="{FF2B5EF4-FFF2-40B4-BE49-F238E27FC236}">
                <a16:creationId xmlns:a16="http://schemas.microsoft.com/office/drawing/2014/main" id="{062012F4-1B4A-45F8-8986-424623196543}"/>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effectLst/>
              </a:rPr>
              <a:t>De plus si on réalise la même opération avec les ouvertures, les marches d’escalier, ou tout autres lignes horizontales de l’image, nous remarquerons que ces lignes convergent elles aussi vers le même point.</a:t>
            </a:r>
            <a:br>
              <a:rPr lang="en-US" sz="2000">
                <a:solidFill>
                  <a:schemeClr val="tx1">
                    <a:lumMod val="75000"/>
                    <a:lumOff val="25000"/>
                  </a:schemeClr>
                </a:solidFill>
              </a:rPr>
            </a:br>
            <a:r>
              <a:rPr lang="en-US" sz="2000">
                <a:solidFill>
                  <a:schemeClr val="tx1">
                    <a:lumMod val="75000"/>
                    <a:lumOff val="25000"/>
                  </a:schemeClr>
                </a:solidFill>
                <a:effectLst/>
              </a:rPr>
              <a:t>C’est ce qu’on appelle un point de fuite. Toutes les lignes parallèles dans la réalité sont perçues par nos yeux comme fuyantes vers un même point.</a:t>
            </a:r>
            <a:endParaRPr lang="en-US" sz="2000">
              <a:solidFill>
                <a:schemeClr val="tx1">
                  <a:lumMod val="75000"/>
                  <a:lumOff val="25000"/>
                </a:schemeClr>
              </a:solidFill>
            </a:endParaRPr>
          </a:p>
        </p:txBody>
      </p:sp>
    </p:spTree>
    <p:extLst>
      <p:ext uri="{BB962C8B-B14F-4D97-AF65-F5344CB8AC3E}">
        <p14:creationId xmlns:p14="http://schemas.microsoft.com/office/powerpoint/2010/main" val="850592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5" name="Rectangle 24">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Oval 25">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7" name="Oval 26">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Oval 27">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30"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2"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5" name="ZoneTexte 4">
            <a:extLst>
              <a:ext uri="{FF2B5EF4-FFF2-40B4-BE49-F238E27FC236}">
                <a16:creationId xmlns:a16="http://schemas.microsoft.com/office/drawing/2014/main" id="{09AEF3D4-45C9-4606-99FA-4AE1D5BF10AD}"/>
              </a:ext>
            </a:extLst>
          </p:cNvPr>
          <p:cNvSpPr txBox="1"/>
          <p:nvPr/>
        </p:nvSpPr>
        <p:spPr>
          <a:xfrm>
            <a:off x="994087" y="1130603"/>
            <a:ext cx="3342442" cy="4596794"/>
          </a:xfrm>
          <a:prstGeom prst="rect">
            <a:avLst/>
          </a:prstGeom>
        </p:spPr>
        <p:txBody>
          <a:bodyPr vert="horz" lIns="91440" tIns="45720" rIns="91440" bIns="45720" rtlCol="0" anchor="ctr">
            <a:normAutofit/>
          </a:bodyPr>
          <a:lstStyle/>
          <a:p>
            <a:pPr>
              <a:spcBef>
                <a:spcPct val="0"/>
              </a:spcBef>
              <a:spcAft>
                <a:spcPts val="600"/>
              </a:spcAft>
            </a:pPr>
            <a:r>
              <a:rPr lang="en-US" sz="3200" u="sng">
                <a:solidFill>
                  <a:srgbClr val="EBEBEB"/>
                </a:solidFill>
                <a:latin typeface="+mj-lt"/>
                <a:ea typeface="+mj-ea"/>
                <a:cs typeface="+mj-cs"/>
              </a:rPr>
              <a:t>Comment placer ce point de fuite ? </a:t>
            </a:r>
          </a:p>
          <a:p>
            <a:pPr>
              <a:spcBef>
                <a:spcPct val="0"/>
              </a:spcBef>
              <a:spcAft>
                <a:spcPts val="600"/>
              </a:spcAft>
            </a:pPr>
            <a:endParaRPr lang="en-US" sz="3200">
              <a:solidFill>
                <a:srgbClr val="EBEBEB"/>
              </a:solidFill>
              <a:effectLst/>
              <a:latin typeface="+mj-lt"/>
              <a:ea typeface="+mj-ea"/>
              <a:cs typeface="+mj-cs"/>
            </a:endParaRPr>
          </a:p>
        </p:txBody>
      </p:sp>
      <p:sp>
        <p:nvSpPr>
          <p:cNvPr id="6" name="ZoneTexte 5">
            <a:extLst>
              <a:ext uri="{FF2B5EF4-FFF2-40B4-BE49-F238E27FC236}">
                <a16:creationId xmlns:a16="http://schemas.microsoft.com/office/drawing/2014/main" id="{11809C66-B4F9-4F38-A9E7-6A240318572B}"/>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effectLst/>
              </a:rPr>
              <a:t> IL n’est pas question de le placer n’importe où sur votre image. La construction d’une perspective s’additionne avec un autre phénomène que nous pouvons aussi observer et qui s’appelle la ligne de vision ; ou plus communément ligne d’horizon.</a:t>
            </a:r>
            <a:endParaRPr lang="en-US" sz="2000">
              <a:solidFill>
                <a:schemeClr val="tx1">
                  <a:lumMod val="75000"/>
                  <a:lumOff val="25000"/>
                </a:schemeClr>
              </a:solidFill>
            </a:endParaRPr>
          </a:p>
        </p:txBody>
      </p:sp>
    </p:spTree>
    <p:extLst>
      <p:ext uri="{BB962C8B-B14F-4D97-AF65-F5344CB8AC3E}">
        <p14:creationId xmlns:p14="http://schemas.microsoft.com/office/powerpoint/2010/main" val="256316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3" name="Rectangle 12">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1" name="Rectangle 20">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3" name="Rectangle 22">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6" name="Rectangle 25">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Oval 26">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Oval 27">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9" name="Oval 28">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2"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3"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5" name="ZoneTexte 4">
            <a:extLst>
              <a:ext uri="{FF2B5EF4-FFF2-40B4-BE49-F238E27FC236}">
                <a16:creationId xmlns:a16="http://schemas.microsoft.com/office/drawing/2014/main" id="{09AEF3D4-45C9-4606-99FA-4AE1D5BF10AD}"/>
              </a:ext>
            </a:extLst>
          </p:cNvPr>
          <p:cNvSpPr txBox="1"/>
          <p:nvPr/>
        </p:nvSpPr>
        <p:spPr>
          <a:xfrm>
            <a:off x="994087" y="1130603"/>
            <a:ext cx="3342442" cy="4596794"/>
          </a:xfrm>
          <a:prstGeom prst="rect">
            <a:avLst/>
          </a:prstGeom>
        </p:spPr>
        <p:txBody>
          <a:bodyPr vert="horz" lIns="91440" tIns="45720" rIns="91440" bIns="45720" rtlCol="0" anchor="ctr">
            <a:normAutofit/>
          </a:bodyPr>
          <a:lstStyle/>
          <a:p>
            <a:pPr>
              <a:spcBef>
                <a:spcPct val="0"/>
              </a:spcBef>
              <a:spcAft>
                <a:spcPts val="600"/>
              </a:spcAft>
            </a:pPr>
            <a:r>
              <a:rPr lang="en-US" sz="3200" u="sng">
                <a:solidFill>
                  <a:srgbClr val="EBEBEB"/>
                </a:solidFill>
                <a:latin typeface="+mj-lt"/>
                <a:ea typeface="+mj-ea"/>
                <a:cs typeface="+mj-cs"/>
              </a:rPr>
              <a:t>Comment placer ce point de fuite ? </a:t>
            </a:r>
          </a:p>
          <a:p>
            <a:pPr>
              <a:spcBef>
                <a:spcPct val="0"/>
              </a:spcBef>
              <a:spcAft>
                <a:spcPts val="600"/>
              </a:spcAft>
            </a:pPr>
            <a:endParaRPr lang="en-US" sz="3200">
              <a:solidFill>
                <a:srgbClr val="EBEBEB"/>
              </a:solidFill>
              <a:effectLst/>
              <a:latin typeface="+mj-lt"/>
              <a:ea typeface="+mj-ea"/>
              <a:cs typeface="+mj-cs"/>
            </a:endParaRPr>
          </a:p>
        </p:txBody>
      </p:sp>
      <p:sp>
        <p:nvSpPr>
          <p:cNvPr id="7" name="ZoneTexte 6">
            <a:extLst>
              <a:ext uri="{FF2B5EF4-FFF2-40B4-BE49-F238E27FC236}">
                <a16:creationId xmlns:a16="http://schemas.microsoft.com/office/drawing/2014/main" id="{60D0FB59-E606-4FB5-9752-4A27DF4DC767}"/>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effectLst/>
              </a:rPr>
              <a:t>Malgré le fait que la terre soit ronde, nous avons tous pu observer en regardant la mer qu’une ligne parfaitement droite semble marquer l’horizon. Nous pourrions dire que cette ligne « imaginaire » constitue la limite entre la mer et le ciel</a:t>
            </a:r>
            <a:endParaRPr lang="en-US" sz="2000">
              <a:solidFill>
                <a:schemeClr val="tx1">
                  <a:lumMod val="75000"/>
                  <a:lumOff val="25000"/>
                </a:schemeClr>
              </a:solidFill>
            </a:endParaRPr>
          </a:p>
        </p:txBody>
      </p:sp>
    </p:spTree>
    <p:extLst>
      <p:ext uri="{BB962C8B-B14F-4D97-AF65-F5344CB8AC3E}">
        <p14:creationId xmlns:p14="http://schemas.microsoft.com/office/powerpoint/2010/main" val="3217231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09AEF3D4-45C9-4606-99FA-4AE1D5BF10AD}"/>
              </a:ext>
            </a:extLst>
          </p:cNvPr>
          <p:cNvSpPr txBox="1"/>
          <p:nvPr/>
        </p:nvSpPr>
        <p:spPr>
          <a:xfrm>
            <a:off x="1485900" y="356711"/>
            <a:ext cx="7429500" cy="1323439"/>
          </a:xfrm>
          <a:prstGeom prst="rect">
            <a:avLst/>
          </a:prstGeom>
          <a:noFill/>
        </p:spPr>
        <p:txBody>
          <a:bodyPr wrap="square">
            <a:spAutoFit/>
          </a:bodyPr>
          <a:lstStyle/>
          <a:p>
            <a:pPr algn="just"/>
            <a:r>
              <a:rPr lang="fr-FR" sz="4000" u="sng" dirty="0">
                <a:solidFill>
                  <a:schemeClr val="accent2"/>
                </a:solidFill>
                <a:latin typeface="Times New Roman" panose="02020603050405020304" pitchFamily="18" charset="0"/>
                <a:cs typeface="Times New Roman" panose="02020603050405020304" pitchFamily="18" charset="0"/>
              </a:rPr>
              <a:t>Comment placer ce point de fuite ? </a:t>
            </a:r>
          </a:p>
          <a:p>
            <a:pPr algn="just"/>
            <a:endParaRPr lang="fr-FR" sz="4000" b="0" i="0" dirty="0">
              <a:solidFill>
                <a:srgbClr val="313131"/>
              </a:solidFill>
              <a:effectLst/>
              <a:latin typeface="Times New Roman" panose="020206030504050203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550D772B-DF5C-405E-97CA-DA4128D58F91}"/>
              </a:ext>
            </a:extLst>
          </p:cNvPr>
          <p:cNvPicPr>
            <a:picLocks noChangeAspect="1"/>
          </p:cNvPicPr>
          <p:nvPr/>
        </p:nvPicPr>
        <p:blipFill>
          <a:blip r:embed="rId2"/>
          <a:stretch>
            <a:fillRect/>
          </a:stretch>
        </p:blipFill>
        <p:spPr>
          <a:xfrm>
            <a:off x="-393599" y="1914525"/>
            <a:ext cx="12720479" cy="2628899"/>
          </a:xfrm>
          <a:prstGeom prst="rect">
            <a:avLst/>
          </a:prstGeom>
        </p:spPr>
      </p:pic>
    </p:spTree>
    <p:extLst>
      <p:ext uri="{BB962C8B-B14F-4D97-AF65-F5344CB8AC3E}">
        <p14:creationId xmlns:p14="http://schemas.microsoft.com/office/powerpoint/2010/main" val="3315941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5" name="Group 11">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3" name="Rectangle 12">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6" name="Rectangle 20">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37" name="Rectangle 22">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24">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26" name="Rectangle 25">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Oval 26">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Oval 27">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9" name="Oval 28">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40"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2"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41"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5" name="ZoneTexte 4">
            <a:extLst>
              <a:ext uri="{FF2B5EF4-FFF2-40B4-BE49-F238E27FC236}">
                <a16:creationId xmlns:a16="http://schemas.microsoft.com/office/drawing/2014/main" id="{09AEF3D4-45C9-4606-99FA-4AE1D5BF10AD}"/>
              </a:ext>
            </a:extLst>
          </p:cNvPr>
          <p:cNvSpPr txBox="1"/>
          <p:nvPr/>
        </p:nvSpPr>
        <p:spPr>
          <a:xfrm>
            <a:off x="994087" y="1130603"/>
            <a:ext cx="3342442" cy="4596794"/>
          </a:xfrm>
          <a:prstGeom prst="rect">
            <a:avLst/>
          </a:prstGeom>
        </p:spPr>
        <p:txBody>
          <a:bodyPr vert="horz" lIns="91440" tIns="45720" rIns="91440" bIns="45720" rtlCol="0" anchor="ctr">
            <a:normAutofit/>
          </a:bodyPr>
          <a:lstStyle/>
          <a:p>
            <a:pPr>
              <a:spcBef>
                <a:spcPct val="0"/>
              </a:spcBef>
              <a:spcAft>
                <a:spcPts val="600"/>
              </a:spcAft>
            </a:pPr>
            <a:r>
              <a:rPr lang="en-US" sz="3200" u="sng">
                <a:solidFill>
                  <a:srgbClr val="EBEBEB"/>
                </a:solidFill>
                <a:latin typeface="+mj-lt"/>
                <a:ea typeface="+mj-ea"/>
                <a:cs typeface="+mj-cs"/>
              </a:rPr>
              <a:t>Comment placer ce point de fuite ? </a:t>
            </a:r>
          </a:p>
          <a:p>
            <a:pPr>
              <a:spcBef>
                <a:spcPct val="0"/>
              </a:spcBef>
              <a:spcAft>
                <a:spcPts val="600"/>
              </a:spcAft>
            </a:pPr>
            <a:endParaRPr lang="en-US" sz="3200">
              <a:solidFill>
                <a:srgbClr val="EBEBEB"/>
              </a:solidFill>
              <a:effectLst/>
              <a:latin typeface="+mj-lt"/>
              <a:ea typeface="+mj-ea"/>
              <a:cs typeface="+mj-cs"/>
            </a:endParaRPr>
          </a:p>
        </p:txBody>
      </p:sp>
      <p:sp>
        <p:nvSpPr>
          <p:cNvPr id="7" name="ZoneTexte 6">
            <a:extLst>
              <a:ext uri="{FF2B5EF4-FFF2-40B4-BE49-F238E27FC236}">
                <a16:creationId xmlns:a16="http://schemas.microsoft.com/office/drawing/2014/main" id="{2F4AFDA3-B7A5-4715-931A-E089C86351E6}"/>
              </a:ext>
            </a:extLst>
          </p:cNvPr>
          <p:cNvSpPr txBox="1"/>
          <p:nvPr/>
        </p:nvSpPr>
        <p:spPr>
          <a:xfrm>
            <a:off x="5290077" y="437513"/>
            <a:ext cx="5502614" cy="5954325"/>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000">
                <a:solidFill>
                  <a:schemeClr val="tx1">
                    <a:lumMod val="75000"/>
                    <a:lumOff val="25000"/>
                  </a:schemeClr>
                </a:solidFill>
                <a:effectLst/>
              </a:rPr>
              <a:t>La perspective à un point de fuite est aussi appelée perspective conique centrale ou perspective frontale. L'unique point de fuite figure en effet le point sur lequel se porte le regard de l'observateur. Ce dernier peut être situé face à la scène, sur la droite ou sur la gauche, en hauteur ou en contrebas.</a:t>
            </a:r>
          </a:p>
          <a:p>
            <a:pPr>
              <a:spcBef>
                <a:spcPts val="1000"/>
              </a:spcBef>
              <a:buClr>
                <a:schemeClr val="accent1"/>
              </a:buClr>
              <a:buSzPct val="80000"/>
              <a:buFont typeface="Wingdings 3" charset="2"/>
              <a:buChar char=""/>
            </a:pPr>
            <a:br>
              <a:rPr lang="en-US" sz="2000">
                <a:solidFill>
                  <a:schemeClr val="tx1">
                    <a:lumMod val="75000"/>
                    <a:lumOff val="25000"/>
                  </a:schemeClr>
                </a:solidFill>
                <a:effectLst/>
              </a:rPr>
            </a:br>
            <a:endParaRPr lang="en-US" sz="2000">
              <a:solidFill>
                <a:schemeClr val="tx1">
                  <a:lumMod val="75000"/>
                  <a:lumOff val="25000"/>
                </a:schemeClr>
              </a:solidFill>
            </a:endParaRPr>
          </a:p>
        </p:txBody>
      </p:sp>
    </p:spTree>
    <p:extLst>
      <p:ext uri="{BB962C8B-B14F-4D97-AF65-F5344CB8AC3E}">
        <p14:creationId xmlns:p14="http://schemas.microsoft.com/office/powerpoint/2010/main" val="3223763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C43A114B-CAF8-402E-A898-DEE2C2022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081" name="Oval 3080">
            <a:extLst>
              <a:ext uri="{FF2B5EF4-FFF2-40B4-BE49-F238E27FC236}">
                <a16:creationId xmlns:a16="http://schemas.microsoft.com/office/drawing/2014/main" id="{64E68BB1-DCF6-49AB-8FF1-7E68DCBCD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083" name="Oval 3082">
            <a:extLst>
              <a:ext uri="{FF2B5EF4-FFF2-40B4-BE49-F238E27FC236}">
                <a16:creationId xmlns:a16="http://schemas.microsoft.com/office/drawing/2014/main" id="{DA9B8539-604B-420E-BA1B-0A2E64CD7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085" name="Oval 3084">
            <a:extLst>
              <a:ext uri="{FF2B5EF4-FFF2-40B4-BE49-F238E27FC236}">
                <a16:creationId xmlns:a16="http://schemas.microsoft.com/office/drawing/2014/main" id="{7236CAA2-54C3-4136-B0CC-6837B14D8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087" name="Freeform 5">
            <a:extLst>
              <a:ext uri="{FF2B5EF4-FFF2-40B4-BE49-F238E27FC236}">
                <a16:creationId xmlns:a16="http://schemas.microsoft.com/office/drawing/2014/main" id="{40F86E67-9E86-453F-92BC-648189829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sp>
        <p:nvSpPr>
          <p:cNvPr id="3089" name="Rectangle 3088">
            <a:extLst>
              <a:ext uri="{FF2B5EF4-FFF2-40B4-BE49-F238E27FC236}">
                <a16:creationId xmlns:a16="http://schemas.microsoft.com/office/drawing/2014/main" id="{F73C5439-21D4-46F3-9CF4-FF1CE786F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ZoneTexte 4">
            <a:extLst>
              <a:ext uri="{FF2B5EF4-FFF2-40B4-BE49-F238E27FC236}">
                <a16:creationId xmlns:a16="http://schemas.microsoft.com/office/drawing/2014/main" id="{09AEF3D4-45C9-4606-99FA-4AE1D5BF10AD}"/>
              </a:ext>
            </a:extLst>
          </p:cNvPr>
          <p:cNvSpPr txBox="1"/>
          <p:nvPr/>
        </p:nvSpPr>
        <p:spPr>
          <a:xfrm>
            <a:off x="8160773" y="1113062"/>
            <a:ext cx="3382297" cy="328195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u="sng">
                <a:solidFill>
                  <a:schemeClr val="bg2"/>
                </a:solidFill>
                <a:latin typeface="+mj-lt"/>
                <a:ea typeface="+mj-ea"/>
                <a:cs typeface="+mj-cs"/>
              </a:rPr>
              <a:t>PERSPECTIVE A UN POINT DE FUITE</a:t>
            </a:r>
          </a:p>
          <a:p>
            <a:pPr>
              <a:lnSpc>
                <a:spcPct val="90000"/>
              </a:lnSpc>
              <a:spcBef>
                <a:spcPct val="0"/>
              </a:spcBef>
              <a:spcAft>
                <a:spcPts val="600"/>
              </a:spcAft>
            </a:pPr>
            <a:endParaRPr lang="en-US" sz="5400">
              <a:solidFill>
                <a:schemeClr val="bg2"/>
              </a:solidFill>
              <a:effectLst/>
              <a:latin typeface="+mj-lt"/>
              <a:ea typeface="+mj-ea"/>
              <a:cs typeface="+mj-cs"/>
            </a:endParaRPr>
          </a:p>
        </p:txBody>
      </p:sp>
      <p:pic>
        <p:nvPicPr>
          <p:cNvPr id="3074" name="Picture 2" descr="Effet de la perspective et point de fuite | Le monde en images">
            <a:extLst>
              <a:ext uri="{FF2B5EF4-FFF2-40B4-BE49-F238E27FC236}">
                <a16:creationId xmlns:a16="http://schemas.microsoft.com/office/drawing/2014/main" id="{DC48BF77-FEBB-43BD-830E-0A1D079A13F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09763" y="1680297"/>
            <a:ext cx="6470907" cy="3494289"/>
          </a:xfrm>
          <a:prstGeom prst="roundRect">
            <a:avLst>
              <a:gd name="adj" fmla="val 1329"/>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166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1D4F4DA4-C427-4DEF-91E0-8E7129A4B3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37" name="Rectangle 36">
              <a:extLst>
                <a:ext uri="{FF2B5EF4-FFF2-40B4-BE49-F238E27FC236}">
                  <a16:creationId xmlns:a16="http://schemas.microsoft.com/office/drawing/2014/main" id="{8A59FAFC-7B5E-427D-A4B0-8DD38FC5C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Oval 37">
              <a:extLst>
                <a:ext uri="{FF2B5EF4-FFF2-40B4-BE49-F238E27FC236}">
                  <a16:creationId xmlns:a16="http://schemas.microsoft.com/office/drawing/2014/main" id="{B5E46F92-B11F-4D04-84C1-B48CE43C6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9" name="Oval 38">
              <a:extLst>
                <a:ext uri="{FF2B5EF4-FFF2-40B4-BE49-F238E27FC236}">
                  <a16:creationId xmlns:a16="http://schemas.microsoft.com/office/drawing/2014/main" id="{E49A7C8E-F405-4731-86CC-6F65E0AD6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0" name="Oval 39">
              <a:extLst>
                <a:ext uri="{FF2B5EF4-FFF2-40B4-BE49-F238E27FC236}">
                  <a16:creationId xmlns:a16="http://schemas.microsoft.com/office/drawing/2014/main" id="{C61AA71F-D19D-4361-A8DD-FB1505D4A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 name="Freeform 5">
              <a:extLst>
                <a:ext uri="{FF2B5EF4-FFF2-40B4-BE49-F238E27FC236}">
                  <a16:creationId xmlns:a16="http://schemas.microsoft.com/office/drawing/2014/main" id="{9A66077B-2F4D-4996-B9E4-70A41DC7B9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42" name="Freeform 5">
              <a:extLst>
                <a:ext uri="{FF2B5EF4-FFF2-40B4-BE49-F238E27FC236}">
                  <a16:creationId xmlns:a16="http://schemas.microsoft.com/office/drawing/2014/main" id="{8E765F22-322F-4361-8A97-254C7B4422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43" name="Freeform 5">
              <a:extLst>
                <a:ext uri="{FF2B5EF4-FFF2-40B4-BE49-F238E27FC236}">
                  <a16:creationId xmlns:a16="http://schemas.microsoft.com/office/drawing/2014/main" id="{509B3A9B-4394-4305-9D7B-FD39CE4331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45" name="Rectangle 44">
            <a:extLst>
              <a:ext uri="{FF2B5EF4-FFF2-40B4-BE49-F238E27FC236}">
                <a16:creationId xmlns:a16="http://schemas.microsoft.com/office/drawing/2014/main" id="{8DCAC2A9-D869-46E1-9DD3-353AE3254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7" name="Rectangle 46">
            <a:extLst>
              <a:ext uri="{FF2B5EF4-FFF2-40B4-BE49-F238E27FC236}">
                <a16:creationId xmlns:a16="http://schemas.microsoft.com/office/drawing/2014/main" id="{E98CD42C-2E98-437C-AF0D-ADB770381D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9" name="Freeform 5">
            <a:extLst>
              <a:ext uri="{FF2B5EF4-FFF2-40B4-BE49-F238E27FC236}">
                <a16:creationId xmlns:a16="http://schemas.microsoft.com/office/drawing/2014/main" id="{3AA7B5C7-7348-4EFC-BEE4-5AA469D57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sp>
        <p:nvSpPr>
          <p:cNvPr id="5" name="ZoneTexte 4">
            <a:extLst>
              <a:ext uri="{FF2B5EF4-FFF2-40B4-BE49-F238E27FC236}">
                <a16:creationId xmlns:a16="http://schemas.microsoft.com/office/drawing/2014/main" id="{09AEF3D4-45C9-4606-99FA-4AE1D5BF10AD}"/>
              </a:ext>
            </a:extLst>
          </p:cNvPr>
          <p:cNvSpPr txBox="1"/>
          <p:nvPr/>
        </p:nvSpPr>
        <p:spPr>
          <a:xfrm>
            <a:off x="1154954" y="973669"/>
            <a:ext cx="8825659" cy="706964"/>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u="sng">
                <a:solidFill>
                  <a:srgbClr val="FFFFFF"/>
                </a:solidFill>
                <a:latin typeface="+mj-lt"/>
                <a:ea typeface="+mj-ea"/>
                <a:cs typeface="+mj-cs"/>
              </a:rPr>
              <a:t>PERSPECTIVE A DEUX POINTS DE FUITE</a:t>
            </a:r>
          </a:p>
          <a:p>
            <a:pPr>
              <a:lnSpc>
                <a:spcPct val="90000"/>
              </a:lnSpc>
              <a:spcBef>
                <a:spcPct val="0"/>
              </a:spcBef>
              <a:spcAft>
                <a:spcPts val="600"/>
              </a:spcAft>
            </a:pPr>
            <a:endParaRPr lang="en-US" sz="3600">
              <a:solidFill>
                <a:srgbClr val="FFFFFF"/>
              </a:solidFill>
              <a:effectLst/>
              <a:latin typeface="+mj-lt"/>
              <a:ea typeface="+mj-ea"/>
              <a:cs typeface="+mj-cs"/>
            </a:endParaRPr>
          </a:p>
        </p:txBody>
      </p:sp>
      <p:sp>
        <p:nvSpPr>
          <p:cNvPr id="51" name="Rectangle 50">
            <a:extLst>
              <a:ext uri="{FF2B5EF4-FFF2-40B4-BE49-F238E27FC236}">
                <a16:creationId xmlns:a16="http://schemas.microsoft.com/office/drawing/2014/main" id="{A76BBD40-26F7-4779-A7E1-17EADF3488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32" name="ZoneTexte 5">
            <a:extLst>
              <a:ext uri="{FF2B5EF4-FFF2-40B4-BE49-F238E27FC236}">
                <a16:creationId xmlns:a16="http://schemas.microsoft.com/office/drawing/2014/main" id="{A374689F-8465-03DA-8DBC-A0360ECCF66B}"/>
              </a:ext>
            </a:extLst>
          </p:cNvPr>
          <p:cNvGraphicFramePr/>
          <p:nvPr>
            <p:extLst>
              <p:ext uri="{D42A27DB-BD31-4B8C-83A1-F6EECF244321}">
                <p14:modId xmlns:p14="http://schemas.microsoft.com/office/powerpoint/2010/main" val="520024369"/>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4545407"/>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C43A114B-CAF8-402E-A898-DEE2C2022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05" name="Oval 4104">
            <a:extLst>
              <a:ext uri="{FF2B5EF4-FFF2-40B4-BE49-F238E27FC236}">
                <a16:creationId xmlns:a16="http://schemas.microsoft.com/office/drawing/2014/main" id="{64E68BB1-DCF6-49AB-8FF1-7E68DCBCD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07" name="Oval 4106">
            <a:extLst>
              <a:ext uri="{FF2B5EF4-FFF2-40B4-BE49-F238E27FC236}">
                <a16:creationId xmlns:a16="http://schemas.microsoft.com/office/drawing/2014/main" id="{DA9B8539-604B-420E-BA1B-0A2E64CD7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09" name="Oval 4108">
            <a:extLst>
              <a:ext uri="{FF2B5EF4-FFF2-40B4-BE49-F238E27FC236}">
                <a16:creationId xmlns:a16="http://schemas.microsoft.com/office/drawing/2014/main" id="{7236CAA2-54C3-4136-B0CC-6837B14D8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11" name="Freeform 5">
            <a:extLst>
              <a:ext uri="{FF2B5EF4-FFF2-40B4-BE49-F238E27FC236}">
                <a16:creationId xmlns:a16="http://schemas.microsoft.com/office/drawing/2014/main" id="{40F86E67-9E86-453F-92BC-648189829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sp>
        <p:nvSpPr>
          <p:cNvPr id="4113" name="Rectangle 4112">
            <a:extLst>
              <a:ext uri="{FF2B5EF4-FFF2-40B4-BE49-F238E27FC236}">
                <a16:creationId xmlns:a16="http://schemas.microsoft.com/office/drawing/2014/main" id="{F73C5439-21D4-46F3-9CF4-FF1CE786F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ZoneTexte 4">
            <a:extLst>
              <a:ext uri="{FF2B5EF4-FFF2-40B4-BE49-F238E27FC236}">
                <a16:creationId xmlns:a16="http://schemas.microsoft.com/office/drawing/2014/main" id="{09AEF3D4-45C9-4606-99FA-4AE1D5BF10AD}"/>
              </a:ext>
            </a:extLst>
          </p:cNvPr>
          <p:cNvSpPr txBox="1"/>
          <p:nvPr/>
        </p:nvSpPr>
        <p:spPr>
          <a:xfrm>
            <a:off x="8160773" y="1113062"/>
            <a:ext cx="3382297" cy="328195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600" u="sng">
                <a:solidFill>
                  <a:schemeClr val="bg2"/>
                </a:solidFill>
                <a:latin typeface="+mj-lt"/>
                <a:ea typeface="+mj-ea"/>
                <a:cs typeface="+mj-cs"/>
              </a:rPr>
              <a:t>PERSPECTIVE A DEUX POINTS DE FUITE</a:t>
            </a:r>
          </a:p>
          <a:p>
            <a:pPr>
              <a:lnSpc>
                <a:spcPct val="90000"/>
              </a:lnSpc>
              <a:spcBef>
                <a:spcPct val="0"/>
              </a:spcBef>
              <a:spcAft>
                <a:spcPts val="600"/>
              </a:spcAft>
            </a:pPr>
            <a:endParaRPr lang="en-US" sz="4600">
              <a:solidFill>
                <a:schemeClr val="bg2"/>
              </a:solidFill>
              <a:effectLst/>
              <a:latin typeface="+mj-lt"/>
              <a:ea typeface="+mj-ea"/>
              <a:cs typeface="+mj-cs"/>
            </a:endParaRPr>
          </a:p>
        </p:txBody>
      </p:sp>
      <p:pic>
        <p:nvPicPr>
          <p:cNvPr id="4098" name="Picture 2" descr="PERSPECTIVE A 2 POINTS DE FUITE - LES BASES DU DESSIN ... et de la peinture">
            <a:extLst>
              <a:ext uri="{FF2B5EF4-FFF2-40B4-BE49-F238E27FC236}">
                <a16:creationId xmlns:a16="http://schemas.microsoft.com/office/drawing/2014/main" id="{AC5BBB2E-95DB-49FB-843E-008F7EFA4AF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09763" y="1528131"/>
            <a:ext cx="6470907" cy="3798621"/>
          </a:xfrm>
          <a:prstGeom prst="roundRect">
            <a:avLst>
              <a:gd name="adj" fmla="val 1329"/>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685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8" name="Rectangle 4117">
            <a:extLst>
              <a:ext uri="{FF2B5EF4-FFF2-40B4-BE49-F238E27FC236}">
                <a16:creationId xmlns:a16="http://schemas.microsoft.com/office/drawing/2014/main" id="{C43A114B-CAF8-402E-A898-DEE2C2022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20" name="Oval 4119">
            <a:extLst>
              <a:ext uri="{FF2B5EF4-FFF2-40B4-BE49-F238E27FC236}">
                <a16:creationId xmlns:a16="http://schemas.microsoft.com/office/drawing/2014/main" id="{64E68BB1-DCF6-49AB-8FF1-7E68DCBCD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22" name="Oval 4121">
            <a:extLst>
              <a:ext uri="{FF2B5EF4-FFF2-40B4-BE49-F238E27FC236}">
                <a16:creationId xmlns:a16="http://schemas.microsoft.com/office/drawing/2014/main" id="{DA9B8539-604B-420E-BA1B-0A2E64CD7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24" name="Oval 4123">
            <a:extLst>
              <a:ext uri="{FF2B5EF4-FFF2-40B4-BE49-F238E27FC236}">
                <a16:creationId xmlns:a16="http://schemas.microsoft.com/office/drawing/2014/main" id="{7236CAA2-54C3-4136-B0CC-6837B14D8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26" name="Freeform 5">
            <a:extLst>
              <a:ext uri="{FF2B5EF4-FFF2-40B4-BE49-F238E27FC236}">
                <a16:creationId xmlns:a16="http://schemas.microsoft.com/office/drawing/2014/main" id="{40F86E67-9E86-453F-92BC-648189829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sp>
        <p:nvSpPr>
          <p:cNvPr id="4128" name="Rectangle 4127">
            <a:extLst>
              <a:ext uri="{FF2B5EF4-FFF2-40B4-BE49-F238E27FC236}">
                <a16:creationId xmlns:a16="http://schemas.microsoft.com/office/drawing/2014/main" id="{F73C5439-21D4-46F3-9CF4-FF1CE786F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ZoneTexte 4">
            <a:extLst>
              <a:ext uri="{FF2B5EF4-FFF2-40B4-BE49-F238E27FC236}">
                <a16:creationId xmlns:a16="http://schemas.microsoft.com/office/drawing/2014/main" id="{09AEF3D4-45C9-4606-99FA-4AE1D5BF10AD}"/>
              </a:ext>
            </a:extLst>
          </p:cNvPr>
          <p:cNvSpPr txBox="1"/>
          <p:nvPr/>
        </p:nvSpPr>
        <p:spPr>
          <a:xfrm>
            <a:off x="8382055" y="1241266"/>
            <a:ext cx="3161016" cy="315375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600" u="sng" dirty="0">
                <a:solidFill>
                  <a:schemeClr val="bg2"/>
                </a:solidFill>
                <a:latin typeface="+mj-lt"/>
                <a:ea typeface="+mj-ea"/>
                <a:cs typeface="+mj-cs"/>
              </a:rPr>
              <a:t>PERSPECTIVE A DEUX POINTS DE FUITE</a:t>
            </a:r>
          </a:p>
          <a:p>
            <a:pPr>
              <a:lnSpc>
                <a:spcPct val="90000"/>
              </a:lnSpc>
              <a:spcBef>
                <a:spcPct val="0"/>
              </a:spcBef>
              <a:spcAft>
                <a:spcPts val="600"/>
              </a:spcAft>
            </a:pPr>
            <a:endParaRPr lang="en-US" sz="4600" dirty="0">
              <a:solidFill>
                <a:schemeClr val="bg2"/>
              </a:solidFill>
              <a:effectLst/>
              <a:latin typeface="+mj-lt"/>
              <a:ea typeface="+mj-ea"/>
              <a:cs typeface="+mj-cs"/>
            </a:endParaRPr>
          </a:p>
        </p:txBody>
      </p:sp>
      <p:grpSp>
        <p:nvGrpSpPr>
          <p:cNvPr id="4130" name="Group 4129">
            <a:extLst>
              <a:ext uri="{FF2B5EF4-FFF2-40B4-BE49-F238E27FC236}">
                <a16:creationId xmlns:a16="http://schemas.microsoft.com/office/drawing/2014/main" id="{227140B8-92FC-43F0-8CCA-F40052CE50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4131" name="Rectangle 4130">
              <a:extLst>
                <a:ext uri="{FF2B5EF4-FFF2-40B4-BE49-F238E27FC236}">
                  <a16:creationId xmlns:a16="http://schemas.microsoft.com/office/drawing/2014/main" id="{E14FEF32-7604-4713-A9F1-9D90A6F78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4132" name="Freeform 5">
              <a:extLst>
                <a:ext uri="{FF2B5EF4-FFF2-40B4-BE49-F238E27FC236}">
                  <a16:creationId xmlns:a16="http://schemas.microsoft.com/office/drawing/2014/main" id="{95AD3905-A7DD-4026-B7FD-C203CC3052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4133" name="Freeform 5">
              <a:extLst>
                <a:ext uri="{FF2B5EF4-FFF2-40B4-BE49-F238E27FC236}">
                  <a16:creationId xmlns:a16="http://schemas.microsoft.com/office/drawing/2014/main" id="{467A9BDB-6572-473C-B2E5-C1AC2F716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pic>
        <p:nvPicPr>
          <p:cNvPr id="3" name="Image 2" descr="Une image contenant ligne, Symétrie, diagramme, Caractère coloré&#10;&#10;Description générée automatiquement">
            <a:extLst>
              <a:ext uri="{FF2B5EF4-FFF2-40B4-BE49-F238E27FC236}">
                <a16:creationId xmlns:a16="http://schemas.microsoft.com/office/drawing/2014/main" id="{2D3AB369-67BA-40DC-A463-4E0204BBC560}"/>
              </a:ext>
            </a:extLst>
          </p:cNvPr>
          <p:cNvPicPr>
            <a:picLocks noChangeAspect="1"/>
          </p:cNvPicPr>
          <p:nvPr/>
        </p:nvPicPr>
        <p:blipFill>
          <a:blip r:embed="rId3"/>
          <a:stretch>
            <a:fillRect/>
          </a:stretch>
        </p:blipFill>
        <p:spPr>
          <a:xfrm>
            <a:off x="1109763" y="1624910"/>
            <a:ext cx="6443180" cy="3608180"/>
          </a:xfrm>
          <a:prstGeom prst="rect">
            <a:avLst/>
          </a:prstGeom>
        </p:spPr>
      </p:pic>
      <p:sp>
        <p:nvSpPr>
          <p:cNvPr id="23" name="ZoneTexte 22">
            <a:extLst>
              <a:ext uri="{FF2B5EF4-FFF2-40B4-BE49-F238E27FC236}">
                <a16:creationId xmlns:a16="http://schemas.microsoft.com/office/drawing/2014/main" id="{83D05E43-303D-49C5-84D7-4BB4F23C1941}"/>
              </a:ext>
            </a:extLst>
          </p:cNvPr>
          <p:cNvSpPr txBox="1"/>
          <p:nvPr/>
        </p:nvSpPr>
        <p:spPr>
          <a:xfrm>
            <a:off x="-1614348" y="2826425"/>
            <a:ext cx="6097656" cy="369332"/>
          </a:xfrm>
          <a:prstGeom prst="rect">
            <a:avLst/>
          </a:prstGeom>
          <a:noFill/>
        </p:spPr>
        <p:txBody>
          <a:bodyPr wrap="square">
            <a:spAutoFit/>
          </a:bodyPr>
          <a:lstStyle/>
          <a:p>
            <a:pPr algn="r">
              <a:spcBef>
                <a:spcPct val="0"/>
              </a:spcBef>
              <a:spcAft>
                <a:spcPts val="600"/>
              </a:spcAft>
            </a:pPr>
            <a:r>
              <a:rPr lang="en-US" sz="1800" b="1" u="sng" dirty="0">
                <a:latin typeface="+mj-lt"/>
                <a:ea typeface="+mj-ea"/>
                <a:cs typeface="+mj-cs"/>
              </a:rPr>
              <a:t>02</a:t>
            </a:r>
          </a:p>
        </p:txBody>
      </p:sp>
      <p:sp>
        <p:nvSpPr>
          <p:cNvPr id="27" name="ZoneTexte 26">
            <a:extLst>
              <a:ext uri="{FF2B5EF4-FFF2-40B4-BE49-F238E27FC236}">
                <a16:creationId xmlns:a16="http://schemas.microsoft.com/office/drawing/2014/main" id="{EA422A21-BE53-41FB-8014-770138F97B65}"/>
              </a:ext>
            </a:extLst>
          </p:cNvPr>
          <p:cNvSpPr txBox="1"/>
          <p:nvPr/>
        </p:nvSpPr>
        <p:spPr>
          <a:xfrm>
            <a:off x="-1552174" y="1403280"/>
            <a:ext cx="6096000" cy="369332"/>
          </a:xfrm>
          <a:prstGeom prst="rect">
            <a:avLst/>
          </a:prstGeom>
          <a:noFill/>
        </p:spPr>
        <p:txBody>
          <a:bodyPr wrap="square">
            <a:spAutoFit/>
          </a:bodyPr>
          <a:lstStyle/>
          <a:p>
            <a:pPr algn="r">
              <a:spcBef>
                <a:spcPct val="0"/>
              </a:spcBef>
              <a:spcAft>
                <a:spcPts val="600"/>
              </a:spcAft>
            </a:pPr>
            <a:r>
              <a:rPr lang="en-US" sz="1800" b="1" u="sng" dirty="0">
                <a:latin typeface="+mj-lt"/>
                <a:ea typeface="+mj-ea"/>
                <a:cs typeface="+mj-cs"/>
              </a:rPr>
              <a:t>01</a:t>
            </a:r>
          </a:p>
        </p:txBody>
      </p:sp>
      <p:sp>
        <p:nvSpPr>
          <p:cNvPr id="29" name="ZoneTexte 28">
            <a:extLst>
              <a:ext uri="{FF2B5EF4-FFF2-40B4-BE49-F238E27FC236}">
                <a16:creationId xmlns:a16="http://schemas.microsoft.com/office/drawing/2014/main" id="{217B8FDF-3BFB-438B-9488-E8D9E926F7BD}"/>
              </a:ext>
            </a:extLst>
          </p:cNvPr>
          <p:cNvSpPr txBox="1"/>
          <p:nvPr/>
        </p:nvSpPr>
        <p:spPr>
          <a:xfrm>
            <a:off x="-2397232" y="3880238"/>
            <a:ext cx="6902726" cy="369332"/>
          </a:xfrm>
          <a:prstGeom prst="rect">
            <a:avLst/>
          </a:prstGeom>
          <a:noFill/>
        </p:spPr>
        <p:txBody>
          <a:bodyPr wrap="square">
            <a:spAutoFit/>
          </a:bodyPr>
          <a:lstStyle/>
          <a:p>
            <a:pPr algn="r">
              <a:spcBef>
                <a:spcPct val="0"/>
              </a:spcBef>
              <a:spcAft>
                <a:spcPts val="600"/>
              </a:spcAft>
            </a:pPr>
            <a:r>
              <a:rPr lang="en-US" sz="1800" b="1" u="sng" dirty="0">
                <a:latin typeface="+mj-lt"/>
                <a:ea typeface="+mj-ea"/>
                <a:cs typeface="+mj-cs"/>
              </a:rPr>
              <a:t>03</a:t>
            </a:r>
          </a:p>
        </p:txBody>
      </p:sp>
    </p:spTree>
    <p:extLst>
      <p:ext uri="{BB962C8B-B14F-4D97-AF65-F5344CB8AC3E}">
        <p14:creationId xmlns:p14="http://schemas.microsoft.com/office/powerpoint/2010/main" val="3345500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8" name="Rectangle 4117">
            <a:extLst>
              <a:ext uri="{FF2B5EF4-FFF2-40B4-BE49-F238E27FC236}">
                <a16:creationId xmlns:a16="http://schemas.microsoft.com/office/drawing/2014/main" id="{C43A114B-CAF8-402E-A898-DEE2C2022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20" name="Oval 4119">
            <a:extLst>
              <a:ext uri="{FF2B5EF4-FFF2-40B4-BE49-F238E27FC236}">
                <a16:creationId xmlns:a16="http://schemas.microsoft.com/office/drawing/2014/main" id="{64E68BB1-DCF6-49AB-8FF1-7E68DCBCD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22" name="Oval 4121">
            <a:extLst>
              <a:ext uri="{FF2B5EF4-FFF2-40B4-BE49-F238E27FC236}">
                <a16:creationId xmlns:a16="http://schemas.microsoft.com/office/drawing/2014/main" id="{DA9B8539-604B-420E-BA1B-0A2E64CD7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24" name="Oval 4123">
            <a:extLst>
              <a:ext uri="{FF2B5EF4-FFF2-40B4-BE49-F238E27FC236}">
                <a16:creationId xmlns:a16="http://schemas.microsoft.com/office/drawing/2014/main" id="{7236CAA2-54C3-4136-B0CC-6837B14D8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26" name="Freeform 5">
            <a:extLst>
              <a:ext uri="{FF2B5EF4-FFF2-40B4-BE49-F238E27FC236}">
                <a16:creationId xmlns:a16="http://schemas.microsoft.com/office/drawing/2014/main" id="{40F86E67-9E86-453F-92BC-648189829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sp>
        <p:nvSpPr>
          <p:cNvPr id="4128" name="Rectangle 4127">
            <a:extLst>
              <a:ext uri="{FF2B5EF4-FFF2-40B4-BE49-F238E27FC236}">
                <a16:creationId xmlns:a16="http://schemas.microsoft.com/office/drawing/2014/main" id="{F73C5439-21D4-46F3-9CF4-FF1CE786F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ZoneTexte 4">
            <a:extLst>
              <a:ext uri="{FF2B5EF4-FFF2-40B4-BE49-F238E27FC236}">
                <a16:creationId xmlns:a16="http://schemas.microsoft.com/office/drawing/2014/main" id="{09AEF3D4-45C9-4606-99FA-4AE1D5BF10AD}"/>
              </a:ext>
            </a:extLst>
          </p:cNvPr>
          <p:cNvSpPr txBox="1"/>
          <p:nvPr/>
        </p:nvSpPr>
        <p:spPr>
          <a:xfrm>
            <a:off x="8370848" y="2298541"/>
            <a:ext cx="3161016" cy="3153753"/>
          </a:xfrm>
          <a:prstGeom prst="rect">
            <a:avLst/>
          </a:prstGeom>
        </p:spPr>
        <p:txBody>
          <a:bodyPr vert="horz" lIns="91440" tIns="45720" rIns="91440" bIns="45720" rtlCol="0" anchor="b">
            <a:normAutofit lnSpcReduction="10000"/>
          </a:bodyPr>
          <a:lstStyle/>
          <a:p>
            <a:pPr>
              <a:lnSpc>
                <a:spcPct val="90000"/>
              </a:lnSpc>
              <a:spcBef>
                <a:spcPct val="0"/>
              </a:spcBef>
              <a:spcAft>
                <a:spcPts val="600"/>
              </a:spcAft>
            </a:pPr>
            <a:r>
              <a:rPr lang="en-US" sz="4600" u="sng" dirty="0">
                <a:solidFill>
                  <a:schemeClr val="bg2"/>
                </a:solidFill>
                <a:latin typeface="+mj-lt"/>
                <a:ea typeface="+mj-ea"/>
                <a:cs typeface="+mj-cs"/>
              </a:rPr>
              <a:t>PERSPECTIVE A TROIS POINTS DE FUITE</a:t>
            </a:r>
          </a:p>
          <a:p>
            <a:pPr>
              <a:lnSpc>
                <a:spcPct val="90000"/>
              </a:lnSpc>
              <a:spcBef>
                <a:spcPct val="0"/>
              </a:spcBef>
              <a:spcAft>
                <a:spcPts val="600"/>
              </a:spcAft>
            </a:pPr>
            <a:endParaRPr lang="en-US" sz="4600" dirty="0">
              <a:solidFill>
                <a:schemeClr val="bg2"/>
              </a:solidFill>
              <a:effectLst/>
              <a:latin typeface="+mj-lt"/>
              <a:ea typeface="+mj-ea"/>
              <a:cs typeface="+mj-cs"/>
            </a:endParaRPr>
          </a:p>
        </p:txBody>
      </p:sp>
      <p:grpSp>
        <p:nvGrpSpPr>
          <p:cNvPr id="4130" name="Group 4129">
            <a:extLst>
              <a:ext uri="{FF2B5EF4-FFF2-40B4-BE49-F238E27FC236}">
                <a16:creationId xmlns:a16="http://schemas.microsoft.com/office/drawing/2014/main" id="{227140B8-92FC-43F0-8CCA-F40052CE50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4131" name="Rectangle 4130">
              <a:extLst>
                <a:ext uri="{FF2B5EF4-FFF2-40B4-BE49-F238E27FC236}">
                  <a16:creationId xmlns:a16="http://schemas.microsoft.com/office/drawing/2014/main" id="{E14FEF32-7604-4713-A9F1-9D90A6F78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4132" name="Freeform 5">
              <a:extLst>
                <a:ext uri="{FF2B5EF4-FFF2-40B4-BE49-F238E27FC236}">
                  <a16:creationId xmlns:a16="http://schemas.microsoft.com/office/drawing/2014/main" id="{95AD3905-A7DD-4026-B7FD-C203CC3052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4133" name="Freeform 5">
              <a:extLst>
                <a:ext uri="{FF2B5EF4-FFF2-40B4-BE49-F238E27FC236}">
                  <a16:creationId xmlns:a16="http://schemas.microsoft.com/office/drawing/2014/main" id="{467A9BDB-6572-473C-B2E5-C1AC2F716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8" name="ZoneTexte 17">
            <a:extLst>
              <a:ext uri="{FF2B5EF4-FFF2-40B4-BE49-F238E27FC236}">
                <a16:creationId xmlns:a16="http://schemas.microsoft.com/office/drawing/2014/main" id="{C20EDAC7-72D1-47F8-9E10-09578825E1F7}"/>
              </a:ext>
            </a:extLst>
          </p:cNvPr>
          <p:cNvSpPr txBox="1"/>
          <p:nvPr/>
        </p:nvSpPr>
        <p:spPr>
          <a:xfrm>
            <a:off x="255430" y="571500"/>
            <a:ext cx="7624796" cy="5632311"/>
          </a:xfrm>
          <a:prstGeom prst="rect">
            <a:avLst/>
          </a:prstGeom>
          <a:noFill/>
        </p:spPr>
        <p:txBody>
          <a:bodyPr wrap="square">
            <a:spAutoFit/>
          </a:bodyPr>
          <a:lstStyle/>
          <a:p>
            <a:r>
              <a:rPr lang="fr-FR" sz="4000" b="0" i="0" dirty="0">
                <a:effectLst/>
                <a:latin typeface="Times New Roman" panose="02020603050405020304" pitchFamily="18" charset="0"/>
                <a:cs typeface="Times New Roman" panose="02020603050405020304" pitchFamily="18" charset="0"/>
              </a:rPr>
              <a:t>Une perspective à 3 points de fuite, c'est une perspective linéaire où aucune ligne n'est parallèle au plan de l'image. En comparaison, la perspective à 1 point de fuite a un plan parallèle à celui de l'image, et une perspective à 2 points de fuite à des droites parallèles au plan de l'image</a:t>
            </a:r>
            <a:endParaRPr lang="fr-FR"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7281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8" name="Rectangle 4117">
            <a:extLst>
              <a:ext uri="{FF2B5EF4-FFF2-40B4-BE49-F238E27FC236}">
                <a16:creationId xmlns:a16="http://schemas.microsoft.com/office/drawing/2014/main" id="{C43A114B-CAF8-402E-A898-DEE2C2022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20" name="Oval 4119">
            <a:extLst>
              <a:ext uri="{FF2B5EF4-FFF2-40B4-BE49-F238E27FC236}">
                <a16:creationId xmlns:a16="http://schemas.microsoft.com/office/drawing/2014/main" id="{64E68BB1-DCF6-49AB-8FF1-7E68DCBCD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22" name="Oval 4121">
            <a:extLst>
              <a:ext uri="{FF2B5EF4-FFF2-40B4-BE49-F238E27FC236}">
                <a16:creationId xmlns:a16="http://schemas.microsoft.com/office/drawing/2014/main" id="{DA9B8539-604B-420E-BA1B-0A2E64CD7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24" name="Oval 4123">
            <a:extLst>
              <a:ext uri="{FF2B5EF4-FFF2-40B4-BE49-F238E27FC236}">
                <a16:creationId xmlns:a16="http://schemas.microsoft.com/office/drawing/2014/main" id="{7236CAA2-54C3-4136-B0CC-6837B14D8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126" name="Freeform 5">
            <a:extLst>
              <a:ext uri="{FF2B5EF4-FFF2-40B4-BE49-F238E27FC236}">
                <a16:creationId xmlns:a16="http://schemas.microsoft.com/office/drawing/2014/main" id="{40F86E67-9E86-453F-92BC-648189829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sp>
        <p:nvSpPr>
          <p:cNvPr id="4128" name="Rectangle 4127">
            <a:extLst>
              <a:ext uri="{FF2B5EF4-FFF2-40B4-BE49-F238E27FC236}">
                <a16:creationId xmlns:a16="http://schemas.microsoft.com/office/drawing/2014/main" id="{F73C5439-21D4-46F3-9CF4-FF1CE786F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ZoneTexte 4">
            <a:extLst>
              <a:ext uri="{FF2B5EF4-FFF2-40B4-BE49-F238E27FC236}">
                <a16:creationId xmlns:a16="http://schemas.microsoft.com/office/drawing/2014/main" id="{09AEF3D4-45C9-4606-99FA-4AE1D5BF10AD}"/>
              </a:ext>
            </a:extLst>
          </p:cNvPr>
          <p:cNvSpPr txBox="1"/>
          <p:nvPr/>
        </p:nvSpPr>
        <p:spPr>
          <a:xfrm>
            <a:off x="8370848" y="2298541"/>
            <a:ext cx="3161016" cy="3153753"/>
          </a:xfrm>
          <a:prstGeom prst="rect">
            <a:avLst/>
          </a:prstGeom>
        </p:spPr>
        <p:txBody>
          <a:bodyPr vert="horz" lIns="91440" tIns="45720" rIns="91440" bIns="45720" rtlCol="0" anchor="b">
            <a:normAutofit lnSpcReduction="10000"/>
          </a:bodyPr>
          <a:lstStyle/>
          <a:p>
            <a:pPr>
              <a:lnSpc>
                <a:spcPct val="90000"/>
              </a:lnSpc>
              <a:spcBef>
                <a:spcPct val="0"/>
              </a:spcBef>
              <a:spcAft>
                <a:spcPts val="600"/>
              </a:spcAft>
            </a:pPr>
            <a:r>
              <a:rPr lang="en-US" sz="4600" u="sng" dirty="0">
                <a:solidFill>
                  <a:schemeClr val="bg2"/>
                </a:solidFill>
                <a:latin typeface="+mj-lt"/>
                <a:ea typeface="+mj-ea"/>
                <a:cs typeface="+mj-cs"/>
              </a:rPr>
              <a:t>PERSPECTIVE A TROIS POINTS DE FUITE</a:t>
            </a:r>
          </a:p>
          <a:p>
            <a:pPr>
              <a:lnSpc>
                <a:spcPct val="90000"/>
              </a:lnSpc>
              <a:spcBef>
                <a:spcPct val="0"/>
              </a:spcBef>
              <a:spcAft>
                <a:spcPts val="600"/>
              </a:spcAft>
            </a:pPr>
            <a:endParaRPr lang="en-US" sz="4600" dirty="0">
              <a:solidFill>
                <a:schemeClr val="bg2"/>
              </a:solidFill>
              <a:effectLst/>
              <a:latin typeface="+mj-lt"/>
              <a:ea typeface="+mj-ea"/>
              <a:cs typeface="+mj-cs"/>
            </a:endParaRPr>
          </a:p>
        </p:txBody>
      </p:sp>
      <p:grpSp>
        <p:nvGrpSpPr>
          <p:cNvPr id="4130" name="Group 4129">
            <a:extLst>
              <a:ext uri="{FF2B5EF4-FFF2-40B4-BE49-F238E27FC236}">
                <a16:creationId xmlns:a16="http://schemas.microsoft.com/office/drawing/2014/main" id="{227140B8-92FC-43F0-8CCA-F40052CE50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4131" name="Rectangle 4130">
              <a:extLst>
                <a:ext uri="{FF2B5EF4-FFF2-40B4-BE49-F238E27FC236}">
                  <a16:creationId xmlns:a16="http://schemas.microsoft.com/office/drawing/2014/main" id="{E14FEF32-7604-4713-A9F1-9D90A6F78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4132" name="Freeform 5">
              <a:extLst>
                <a:ext uri="{FF2B5EF4-FFF2-40B4-BE49-F238E27FC236}">
                  <a16:creationId xmlns:a16="http://schemas.microsoft.com/office/drawing/2014/main" id="{95AD3905-A7DD-4026-B7FD-C203CC3052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4133" name="Freeform 5">
              <a:extLst>
                <a:ext uri="{FF2B5EF4-FFF2-40B4-BE49-F238E27FC236}">
                  <a16:creationId xmlns:a16="http://schemas.microsoft.com/office/drawing/2014/main" id="{467A9BDB-6572-473C-B2E5-C1AC2F716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pic>
        <p:nvPicPr>
          <p:cNvPr id="5122" name="Picture 2" descr="Perspective et points de fuite de dessin - Blog - Dessindigo">
            <a:extLst>
              <a:ext uri="{FF2B5EF4-FFF2-40B4-BE49-F238E27FC236}">
                <a16:creationId xmlns:a16="http://schemas.microsoft.com/office/drawing/2014/main" id="{2DA614B4-74E6-4E99-89F8-2D456D2EEA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200" y="207772"/>
            <a:ext cx="5789384" cy="324205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erspective et points de fuite de dessin - Blog - Dessindigo">
            <a:extLst>
              <a:ext uri="{FF2B5EF4-FFF2-40B4-BE49-F238E27FC236}">
                <a16:creationId xmlns:a16="http://schemas.microsoft.com/office/drawing/2014/main" id="{E4EA9CBD-E025-4C25-A6DA-0CCD2F035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1237" y="4164496"/>
            <a:ext cx="4806995" cy="2691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762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1647568" y="1589903"/>
            <a:ext cx="8493210" cy="3435178"/>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5400" b="1" dirty="0"/>
              <a:t>MERCI POUR VOTRE ATTENTION</a:t>
            </a:r>
          </a:p>
        </p:txBody>
      </p:sp>
    </p:spTree>
    <p:extLst>
      <p:ext uri="{BB962C8B-B14F-4D97-AF65-F5344CB8AC3E}">
        <p14:creationId xmlns:p14="http://schemas.microsoft.com/office/powerpoint/2010/main" val="4086708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irection Ion">
  <a:themeElements>
    <a:clrScheme name="Direction 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Direction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rection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904</TotalTime>
  <Words>750</Words>
  <Application>Microsoft Office PowerPoint</Application>
  <PresentationFormat>Grand écran</PresentationFormat>
  <Paragraphs>48</Paragraphs>
  <Slides>25</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25</vt:i4>
      </vt:variant>
    </vt:vector>
  </HeadingPairs>
  <TitlesOfParts>
    <vt:vector size="32" baseType="lpstr">
      <vt:lpstr>Arial</vt:lpstr>
      <vt:lpstr>Calibri</vt:lpstr>
      <vt:lpstr>Century Gothic</vt:lpstr>
      <vt:lpstr>LM Roman 12</vt:lpstr>
      <vt:lpstr>Times New Roman</vt:lpstr>
      <vt:lpstr>Wingdings 3</vt:lpstr>
      <vt:lpstr>Direction 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LEGION</cp:lastModifiedBy>
  <cp:revision>95</cp:revision>
  <cp:lastPrinted>2022-11-04T19:31:07Z</cp:lastPrinted>
  <dcterms:created xsi:type="dcterms:W3CDTF">2022-01-19T10:02:57Z</dcterms:created>
  <dcterms:modified xsi:type="dcterms:W3CDTF">2024-05-10T06:51:48Z</dcterms:modified>
</cp:coreProperties>
</file>