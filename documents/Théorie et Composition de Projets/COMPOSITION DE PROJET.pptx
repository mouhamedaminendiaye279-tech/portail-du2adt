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3" r:id="rId1"/>
  </p:sldMasterIdLst>
  <p:notesMasterIdLst>
    <p:notesMasterId r:id="rId16"/>
  </p:notesMasterIdLst>
  <p:sldIdLst>
    <p:sldId id="256" r:id="rId2"/>
    <p:sldId id="392" r:id="rId3"/>
    <p:sldId id="395" r:id="rId4"/>
    <p:sldId id="396" r:id="rId5"/>
    <p:sldId id="397" r:id="rId6"/>
    <p:sldId id="398" r:id="rId7"/>
    <p:sldId id="399" r:id="rId8"/>
    <p:sldId id="401" r:id="rId9"/>
    <p:sldId id="400" r:id="rId10"/>
    <p:sldId id="403" r:id="rId11"/>
    <p:sldId id="402" r:id="rId12"/>
    <p:sldId id="404" r:id="rId13"/>
    <p:sldId id="405" r:id="rId14"/>
    <p:sldId id="40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6" autoAdjust="0"/>
    <p:restoredTop sz="94660"/>
  </p:normalViewPr>
  <p:slideViewPr>
    <p:cSldViewPr snapToGrid="0">
      <p:cViewPr varScale="1">
        <p:scale>
          <a:sx n="85" d="100"/>
          <a:sy n="85" d="100"/>
        </p:scale>
        <p:origin x="547"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D543E3-5C40-4AC7-8B96-BD64EEDFD2C4}" type="datetimeFigureOut">
              <a:rPr lang="fr-FR" smtClean="0"/>
              <a:t>16/05/2024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8A3304-FD71-4AE4-8272-050BC0084339}" type="slidenum">
              <a:rPr lang="fr-FR" smtClean="0"/>
              <a:t>‹N°›</a:t>
            </a:fld>
            <a:endParaRPr lang="fr-FR"/>
          </a:p>
        </p:txBody>
      </p:sp>
    </p:spTree>
    <p:extLst>
      <p:ext uri="{BB962C8B-B14F-4D97-AF65-F5344CB8AC3E}">
        <p14:creationId xmlns:p14="http://schemas.microsoft.com/office/powerpoint/2010/main" val="1759161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fr-FR"/>
              <a:t>Modifiez le style du titre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5/16/2024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1977962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fr-FR"/>
              <a:t>Modifiez le style du titre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312273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4509A250-FF31-4206-8172-F9D3106AACB1}" type="datetimeFigureOut">
              <a:rPr lang="en-US" smtClean="0"/>
              <a:t>5/16/2024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671275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smtClean="0"/>
              <a:t>5/16/2024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1289661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smtClean="0"/>
              <a:t>5/16/2024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507350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5/16/2024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1990819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5/16/2024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3140540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fr-FR"/>
              <a:t>Modifiez le style du titre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4509A250-FF31-4206-8172-F9D3106AACB1}" type="datetimeFigureOut">
              <a:rPr lang="en-US" smtClean="0"/>
              <a:t>5/16/2024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680884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4509A250-FF31-4206-8172-F9D3106AACB1}" type="datetimeFigureOut">
              <a:rPr lang="en-US" smtClean="0"/>
              <a:t>5/16/2024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3956082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fr-FR"/>
              <a:t>Modifiez le style du titre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4509A250-FF31-4206-8172-F9D3106AACB1}" type="datetimeFigureOut">
              <a:rPr lang="en-US" smtClean="0"/>
              <a:t>5/16/2024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31135274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Modifiez les styles du texte du masque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4509A250-FF31-4206-8172-F9D3106AACB1}" type="datetimeFigureOut">
              <a:rPr lang="en-US" smtClean="0"/>
              <a:t>5/16/2024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02111984F565}" type="slidenum">
              <a:rPr lang="en-US" smtClean="0"/>
              <a:t>‹N°›</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833279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fr-FR"/>
              <a:t>Modifiez le style du titre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Modifiez les styles du texte du masque</a:t>
            </a:r>
          </a:p>
        </p:txBody>
      </p:sp>
      <p:sp>
        <p:nvSpPr>
          <p:cNvPr id="5" name="Date Placeholder 4"/>
          <p:cNvSpPr>
            <a:spLocks noGrp="1"/>
          </p:cNvSpPr>
          <p:nvPr>
            <p:ph type="dt" sz="half" idx="10"/>
          </p:nvPr>
        </p:nvSpPr>
        <p:spPr/>
        <p:txBody>
          <a:bodyPr/>
          <a:lstStyle/>
          <a:p>
            <a:fld id="{4509A250-FF31-4206-8172-F9D3106AACB1}" type="datetimeFigureOut">
              <a:rPr lang="en-US" smtClean="0"/>
              <a:t>5/16/2024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928803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Modifiez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Modifiez les styles du texte du masque</a:t>
            </a:r>
          </a:p>
        </p:txBody>
      </p:sp>
      <p:sp>
        <p:nvSpPr>
          <p:cNvPr id="5" name="Date Placeholder 4"/>
          <p:cNvSpPr>
            <a:spLocks noGrp="1"/>
          </p:cNvSpPr>
          <p:nvPr>
            <p:ph type="dt" sz="half" idx="10"/>
          </p:nvPr>
        </p:nvSpPr>
        <p:spPr/>
        <p:txBody>
          <a:bodyPr/>
          <a:lstStyle/>
          <a:p>
            <a:fld id="{4509A250-FF31-4206-8172-F9D3106AACB1}" type="datetimeFigureOut">
              <a:rPr lang="en-US" smtClean="0"/>
              <a:t>5/16/2024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02111984F565}" type="slidenum">
              <a:rPr lang="en-US" smtClean="0"/>
              <a:t>‹N°›</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7047726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Modifiez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Modifiez les styles du texte du masque</a:t>
            </a:r>
          </a:p>
        </p:txBody>
      </p:sp>
      <p:sp>
        <p:nvSpPr>
          <p:cNvPr id="5" name="Date Placeholder 4"/>
          <p:cNvSpPr>
            <a:spLocks noGrp="1"/>
          </p:cNvSpPr>
          <p:nvPr>
            <p:ph type="dt" sz="half" idx="10"/>
          </p:nvPr>
        </p:nvSpPr>
        <p:spPr/>
        <p:txBody>
          <a:bodyPr/>
          <a:lstStyle/>
          <a:p>
            <a:fld id="{4509A250-FF31-4206-8172-F9D3106AACB1}" type="datetimeFigureOut">
              <a:rPr lang="en-US" smtClean="0"/>
              <a:t>5/16/2024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187436724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12418759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510800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4509A250-FF31-4206-8172-F9D3106AACB1}" type="datetimeFigureOut">
              <a:rPr lang="en-US" smtClean="0"/>
              <a:t>5/16/2024</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02111984F565}" type="slidenum">
              <a:rPr lang="en-US" smtClean="0"/>
              <a:t>‹N°›</a:t>
            </a:fld>
            <a:endParaRPr lang="en-US" dirty="0"/>
          </a:p>
        </p:txBody>
      </p:sp>
    </p:spTree>
    <p:extLst>
      <p:ext uri="{BB962C8B-B14F-4D97-AF65-F5344CB8AC3E}">
        <p14:creationId xmlns:p14="http://schemas.microsoft.com/office/powerpoint/2010/main" val="2155310382"/>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 id="2147483738" r:id="rId15"/>
    <p:sldLayoutId id="2147483739" r:id="rId16"/>
  </p:sldLayoutIdLst>
  <p:hf sldNum="0"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www.architecte-batiments.fr/maitre-d-ouvrage/" TargetMode="External"/><Relationship Id="rId2" Type="http://schemas.openxmlformats.org/officeDocument/2006/relationships/hyperlink" Target="https://www.architecte-batiments.fr/etapes-de-conception-et-construction-de-batiment/#la-rencontre-avec-un-architecte" TargetMode="External"/><Relationship Id="rId1" Type="http://schemas.openxmlformats.org/officeDocument/2006/relationships/slideLayout" Target="../slideLayouts/slideLayout7.xml"/><Relationship Id="rId4" Type="http://schemas.openxmlformats.org/officeDocument/2006/relationships/hyperlink" Target="https://www.architecte-batiments.fr/design-interieur-et-fonction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hyperlink" Target="https://www.architecte-batiments.fr/materiaux-de-construction-et-dhabillage/"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vosdroits.service-public.fr/F1986.xhtml"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www.architecte-batiments.fr/entreprises-de-la-construction-de-batiments/" TargetMode="External"/><Relationship Id="rId2" Type="http://schemas.openxmlformats.org/officeDocument/2006/relationships/hyperlink" Target="http://www.architectes.org/les-procedures-de-passation-des-marches-de-maitrise-doeuvre"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hyperlink" Target="https://www.architecte-batiments.fr/meilleurs-livres-architecture-construction-immobilier-batiment/"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043065" y="272074"/>
            <a:ext cx="7653196" cy="1154162"/>
          </a:xfrm>
          <a:prstGeom prst="rect">
            <a:avLst/>
          </a:prstGeom>
        </p:spPr>
        <p:txBody>
          <a:bodyPr wrap="square">
            <a:spAutoFit/>
          </a:bodyPr>
          <a:lstStyle/>
          <a:p>
            <a:pPr algn="ctr">
              <a:lnSpc>
                <a:spcPct val="100000"/>
              </a:lnSpc>
              <a:spcBef>
                <a:spcPts val="860"/>
              </a:spcBef>
            </a:pPr>
            <a:r>
              <a:rPr lang="fr-FR" spc="15" dirty="0">
                <a:latin typeface="Times New Roman" panose="02020603050405020304" pitchFamily="18" charset="0"/>
                <a:cs typeface="Times New Roman" panose="02020603050405020304" pitchFamily="18" charset="0"/>
              </a:rPr>
              <a:t>RÉPUBLIQUE DU SENEGAL</a:t>
            </a:r>
          </a:p>
          <a:p>
            <a:pPr algn="ctr">
              <a:lnSpc>
                <a:spcPct val="100000"/>
              </a:lnSpc>
              <a:spcBef>
                <a:spcPts val="860"/>
              </a:spcBef>
            </a:pPr>
            <a:r>
              <a:rPr lang="fr-FR" spc="15" dirty="0">
                <a:latin typeface="Times New Roman" panose="02020603050405020304" pitchFamily="18" charset="0"/>
                <a:cs typeface="Times New Roman" panose="02020603050405020304" pitchFamily="18" charset="0"/>
              </a:rPr>
              <a:t>Ministère de </a:t>
            </a:r>
            <a:r>
              <a:rPr lang="fr-FR" spc="10" dirty="0">
                <a:latin typeface="Times New Roman" panose="02020603050405020304" pitchFamily="18" charset="0"/>
                <a:cs typeface="Times New Roman" panose="02020603050405020304" pitchFamily="18" charset="0"/>
              </a:rPr>
              <a:t>l’Enseignement </a:t>
            </a:r>
            <a:r>
              <a:rPr lang="fr-FR" spc="15" dirty="0">
                <a:latin typeface="Times New Roman" panose="02020603050405020304" pitchFamily="18" charset="0"/>
                <a:cs typeface="Times New Roman" panose="02020603050405020304" pitchFamily="18" charset="0"/>
              </a:rPr>
              <a:t>Supérieur </a:t>
            </a:r>
            <a:r>
              <a:rPr lang="fr-FR" spc="10" dirty="0">
                <a:latin typeface="Times New Roman" panose="02020603050405020304" pitchFamily="18" charset="0"/>
                <a:cs typeface="Times New Roman" panose="02020603050405020304" pitchFamily="18" charset="0"/>
              </a:rPr>
              <a:t>et </a:t>
            </a:r>
            <a:r>
              <a:rPr lang="fr-FR" spc="15" dirty="0">
                <a:latin typeface="Times New Roman" panose="02020603050405020304" pitchFamily="18" charset="0"/>
                <a:cs typeface="Times New Roman" panose="02020603050405020304" pitchFamily="18" charset="0"/>
              </a:rPr>
              <a:t>de </a:t>
            </a:r>
            <a:r>
              <a:rPr lang="fr-FR" spc="10" dirty="0">
                <a:latin typeface="Times New Roman" panose="02020603050405020304" pitchFamily="18" charset="0"/>
                <a:cs typeface="Times New Roman" panose="02020603050405020304" pitchFamily="18" charset="0"/>
              </a:rPr>
              <a:t>la </a:t>
            </a:r>
            <a:r>
              <a:rPr lang="fr-FR" spc="5" dirty="0">
                <a:latin typeface="Times New Roman" panose="02020603050405020304" pitchFamily="18" charset="0"/>
                <a:cs typeface="Times New Roman" panose="02020603050405020304" pitchFamily="18" charset="0"/>
              </a:rPr>
              <a:t>Recherche </a:t>
            </a:r>
            <a:r>
              <a:rPr lang="fr-FR" dirty="0">
                <a:latin typeface="Times New Roman" panose="02020603050405020304" pitchFamily="18" charset="0"/>
                <a:cs typeface="Times New Roman" panose="02020603050405020304" pitchFamily="18" charset="0"/>
              </a:rPr>
              <a:t>Scientifique </a:t>
            </a:r>
          </a:p>
          <a:p>
            <a:pPr algn="ctr">
              <a:lnSpc>
                <a:spcPct val="100000"/>
              </a:lnSpc>
              <a:spcBef>
                <a:spcPts val="860"/>
              </a:spcBef>
            </a:pPr>
            <a:r>
              <a:rPr lang="fr-FR" dirty="0">
                <a:latin typeface="Times New Roman" panose="02020603050405020304" pitchFamily="18" charset="0"/>
                <a:cs typeface="Times New Roman" panose="02020603050405020304" pitchFamily="18" charset="0"/>
              </a:rPr>
              <a:t> </a:t>
            </a:r>
          </a:p>
        </p:txBody>
      </p:sp>
      <p:sp>
        <p:nvSpPr>
          <p:cNvPr id="8" name="Rectangle 7"/>
          <p:cNvSpPr/>
          <p:nvPr/>
        </p:nvSpPr>
        <p:spPr>
          <a:xfrm>
            <a:off x="2734146" y="2203186"/>
            <a:ext cx="3874883" cy="659155"/>
          </a:xfrm>
          <a:prstGeom prst="rect">
            <a:avLst/>
          </a:prstGeom>
        </p:spPr>
        <p:txBody>
          <a:bodyPr wrap="square">
            <a:spAutoFit/>
          </a:bodyPr>
          <a:lstStyle/>
          <a:p>
            <a:pPr marL="12700">
              <a:spcBef>
                <a:spcPts val="110"/>
              </a:spcBef>
            </a:pPr>
            <a:endParaRPr lang="fr-FR" dirty="0">
              <a:latin typeface="LM Roman 12"/>
              <a:cs typeface="LM Roman 12"/>
            </a:endParaRPr>
          </a:p>
          <a:p>
            <a:pPr marL="12700">
              <a:lnSpc>
                <a:spcPct val="100000"/>
              </a:lnSpc>
              <a:spcBef>
                <a:spcPts val="110"/>
              </a:spcBef>
            </a:pPr>
            <a:endParaRPr lang="fr-FR" b="1" spc="-325" dirty="0">
              <a:latin typeface="LM Roman 12"/>
              <a:cs typeface="LM Roman 12"/>
            </a:endParaRPr>
          </a:p>
        </p:txBody>
      </p:sp>
      <p:sp>
        <p:nvSpPr>
          <p:cNvPr id="12" name="ZoneTexte 11"/>
          <p:cNvSpPr txBox="1"/>
          <p:nvPr/>
        </p:nvSpPr>
        <p:spPr>
          <a:xfrm>
            <a:off x="2037874" y="4865482"/>
            <a:ext cx="5991890" cy="1200329"/>
          </a:xfrm>
          <a:prstGeom prst="rect">
            <a:avLst/>
          </a:prstGeom>
          <a:noFill/>
        </p:spPr>
        <p:txBody>
          <a:bodyPr wrap="square" rtlCol="0">
            <a:spAutoFit/>
          </a:bodyPr>
          <a:lstStyle/>
          <a:p>
            <a:endParaRPr lang="fr-FR" b="1" u="sng" dirty="0">
              <a:solidFill>
                <a:srgbClr val="00B0F0"/>
              </a:solidFill>
              <a:latin typeface="Times New Roman" panose="02020603050405020304" pitchFamily="18" charset="0"/>
              <a:cs typeface="Times New Roman" panose="02020603050405020304" pitchFamily="18" charset="0"/>
            </a:endParaRPr>
          </a:p>
          <a:p>
            <a:r>
              <a:rPr lang="fr-FR" b="1" u="sng" dirty="0">
                <a:solidFill>
                  <a:schemeClr val="accent2">
                    <a:lumMod val="60000"/>
                    <a:lumOff val="40000"/>
                  </a:schemeClr>
                </a:solidFill>
                <a:latin typeface="Times New Roman" panose="02020603050405020304" pitchFamily="18" charset="0"/>
                <a:cs typeface="Times New Roman" panose="02020603050405020304" pitchFamily="18" charset="0"/>
              </a:rPr>
              <a:t>LES PRINCIPALES COMPOSANTES DU PROJET </a:t>
            </a:r>
          </a:p>
          <a:p>
            <a:endParaRPr lang="fr-FR" dirty="0">
              <a:latin typeface="Times New Roman" panose="02020603050405020304" pitchFamily="18" charset="0"/>
              <a:cs typeface="Times New Roman" panose="02020603050405020304" pitchFamily="18" charset="0"/>
            </a:endParaRPr>
          </a:p>
          <a:p>
            <a:r>
              <a:rPr lang="fr-FR" dirty="0">
                <a:latin typeface="Times New Roman" panose="02020603050405020304" pitchFamily="18" charset="0"/>
                <a:cs typeface="Times New Roman" panose="02020603050405020304" pitchFamily="18" charset="0"/>
              </a:rPr>
              <a:t>M.GUEYE – P.D.THIAW</a:t>
            </a:r>
          </a:p>
        </p:txBody>
      </p:sp>
      <p:sp>
        <p:nvSpPr>
          <p:cNvPr id="14" name="ZoneTexte 13"/>
          <p:cNvSpPr txBox="1"/>
          <p:nvPr/>
        </p:nvSpPr>
        <p:spPr>
          <a:xfrm>
            <a:off x="9497085" y="5782319"/>
            <a:ext cx="2516864" cy="369332"/>
          </a:xfrm>
          <a:prstGeom prst="rect">
            <a:avLst/>
          </a:prstGeom>
          <a:noFill/>
        </p:spPr>
        <p:txBody>
          <a:bodyPr wrap="square" rtlCol="0">
            <a:spAutoFit/>
          </a:bodyPr>
          <a:lstStyle/>
          <a:p>
            <a:r>
              <a:rPr lang="fr-FR" dirty="0">
                <a:latin typeface="Times New Roman" panose="02020603050405020304" pitchFamily="18" charset="0"/>
                <a:cs typeface="Times New Roman" panose="02020603050405020304" pitchFamily="18" charset="0"/>
              </a:rPr>
              <a:t>Année:</a:t>
            </a:r>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7980" y="1800918"/>
            <a:ext cx="2300821" cy="2981626"/>
          </a:xfrm>
          <a:prstGeom prst="rect">
            <a:avLst/>
          </a:prstGeom>
        </p:spPr>
      </p:pic>
      <p:sp>
        <p:nvSpPr>
          <p:cNvPr id="9" name="ZoneTexte 8">
            <a:extLst>
              <a:ext uri="{FF2B5EF4-FFF2-40B4-BE49-F238E27FC236}">
                <a16:creationId xmlns:a16="http://schemas.microsoft.com/office/drawing/2014/main" id="{6F6D8CDB-38D2-404A-B396-CE510F832540}"/>
              </a:ext>
            </a:extLst>
          </p:cNvPr>
          <p:cNvSpPr txBox="1"/>
          <p:nvPr/>
        </p:nvSpPr>
        <p:spPr>
          <a:xfrm>
            <a:off x="3048762" y="1092515"/>
            <a:ext cx="6094476" cy="923330"/>
          </a:xfrm>
          <a:prstGeom prst="rect">
            <a:avLst/>
          </a:prstGeom>
          <a:noFill/>
        </p:spPr>
        <p:txBody>
          <a:bodyPr wrap="square">
            <a:spAutoFit/>
          </a:bodyPr>
          <a:lstStyle/>
          <a:p>
            <a:pPr algn="ctr"/>
            <a:r>
              <a:rPr lang="fr-FR" b="1" u="sng" dirty="0">
                <a:solidFill>
                  <a:srgbClr val="00B0F0"/>
                </a:solidFill>
                <a:latin typeface="Times New Roman" panose="02020603050405020304" pitchFamily="18" charset="0"/>
                <a:cs typeface="Times New Roman" panose="02020603050405020304" pitchFamily="18" charset="0"/>
              </a:rPr>
              <a:t>THEORIE ET COMPOSITION DE PROJET</a:t>
            </a:r>
          </a:p>
          <a:p>
            <a:pPr algn="ctr"/>
            <a:r>
              <a:rPr lang="fr-FR" b="1" u="sng" dirty="0">
                <a:solidFill>
                  <a:srgbClr val="00B0F0"/>
                </a:solidFill>
                <a:latin typeface="Times New Roman" panose="02020603050405020304" pitchFamily="18" charset="0"/>
                <a:cs typeface="Times New Roman" panose="02020603050405020304" pitchFamily="18" charset="0"/>
              </a:rPr>
              <a:t>EN ARCHITECTURE :</a:t>
            </a:r>
          </a:p>
          <a:p>
            <a:r>
              <a:rPr lang="fr-FR" b="1" u="sng" dirty="0">
                <a:solidFill>
                  <a:srgbClr val="00B0F0"/>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901787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4D5507AE-A8B8-75FF-45B5-2AC35433A988}"/>
              </a:ext>
            </a:extLst>
          </p:cNvPr>
          <p:cNvSpPr txBox="1"/>
          <p:nvPr/>
        </p:nvSpPr>
        <p:spPr>
          <a:xfrm>
            <a:off x="3044213" y="128701"/>
            <a:ext cx="6099786" cy="6284221"/>
          </a:xfrm>
          <a:prstGeom prst="rect">
            <a:avLst/>
          </a:prstGeom>
          <a:noFill/>
        </p:spPr>
        <p:txBody>
          <a:bodyPr wrap="square">
            <a:spAutoFit/>
          </a:bodyPr>
          <a:lstStyle/>
          <a:p>
            <a:pPr marL="342900" lvl="0" indent="-342900">
              <a:lnSpc>
                <a:spcPct val="107000"/>
              </a:lnSpc>
              <a:spcAft>
                <a:spcPts val="800"/>
              </a:spcAft>
              <a:tabLst>
                <a:tab pos="457200" algn="l"/>
              </a:tabLst>
            </a:pPr>
            <a:r>
              <a:rPr lang="fr-FR" sz="1200" b="1" dirty="0">
                <a:solidFill>
                  <a:srgbClr val="333333"/>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1 Faisabilité du projet architectural et autorisation</a:t>
            </a:r>
            <a:endParaRPr lang="fr-CA" sz="1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fr-FR" sz="1200" u="sng" dirty="0">
                <a:solidFill>
                  <a:srgbClr val="222222"/>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La rencontre avec un architecte</a:t>
            </a:r>
            <a:endParaRPr lang="fr-CA" sz="1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fr-FR" sz="1200" u="sng" dirty="0">
                <a:solidFill>
                  <a:srgbClr val="222222"/>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Etudes d’esquisse – ESQ</a:t>
            </a:r>
            <a:endParaRPr lang="fr-CA" sz="1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fr-FR" sz="1200" u="sng" dirty="0">
                <a:solidFill>
                  <a:srgbClr val="222222"/>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Etudes d’avant-projet – AVP</a:t>
            </a:r>
            <a:endParaRPr lang="fr-CA" sz="1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Symbol" panose="05050102010706020507" pitchFamily="18" charset="2"/>
              <a:buChar char=""/>
              <a:tabLst>
                <a:tab pos="1371600" algn="l"/>
              </a:tabLst>
            </a:pPr>
            <a:r>
              <a:rPr lang="fr-FR" sz="1200" u="sng" dirty="0">
                <a:solidFill>
                  <a:srgbClr val="222222"/>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Avant-projet sommaire – APS</a:t>
            </a:r>
            <a:endParaRPr lang="fr-CA" sz="1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Symbol" panose="05050102010706020507" pitchFamily="18" charset="2"/>
              <a:buChar char=""/>
              <a:tabLst>
                <a:tab pos="1371600" algn="l"/>
              </a:tabLst>
            </a:pPr>
            <a:r>
              <a:rPr lang="fr-FR" sz="1200" u="sng" dirty="0">
                <a:solidFill>
                  <a:srgbClr val="222222"/>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Avant-projet définitif – APD</a:t>
            </a:r>
            <a:endParaRPr lang="fr-CA" sz="1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Symbol" panose="05050102010706020507" pitchFamily="18" charset="2"/>
              <a:buChar char=""/>
              <a:tabLst>
                <a:tab pos="1371600" algn="l"/>
              </a:tabLst>
            </a:pPr>
            <a:r>
              <a:rPr lang="fr-FR" sz="1200" u="sng" dirty="0">
                <a:solidFill>
                  <a:srgbClr val="222222"/>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Dossier de demande de Permis de Construire – DPC</a:t>
            </a:r>
            <a:endParaRPr lang="fr-CA" sz="1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tabLst>
                <a:tab pos="457200" algn="l"/>
              </a:tabLst>
            </a:pPr>
            <a:r>
              <a:rPr lang="fr-FR" sz="1200" b="1" dirty="0">
                <a:solidFill>
                  <a:srgbClr val="333333"/>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2 Conception détaillée du bâtiment</a:t>
            </a:r>
            <a:endParaRPr lang="fr-CA" sz="1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fr-FR" sz="1200" u="sng" dirty="0">
                <a:solidFill>
                  <a:srgbClr val="222222"/>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Etudes de projet – PRO</a:t>
            </a:r>
            <a:endParaRPr lang="fr-CA" sz="1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tabLst>
                <a:tab pos="457200" algn="l"/>
              </a:tabLst>
            </a:pPr>
            <a:r>
              <a:rPr lang="fr-FR" sz="1200" b="1" dirty="0">
                <a:solidFill>
                  <a:srgbClr val="333333"/>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3 Planification de la construction</a:t>
            </a:r>
            <a:endParaRPr lang="fr-CA" sz="1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fr-FR" sz="1200" u="sng" dirty="0">
                <a:solidFill>
                  <a:srgbClr val="222222"/>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Etudes et plans d’exécution – EXE</a:t>
            </a:r>
            <a:endParaRPr lang="fr-CA" sz="1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Symbol" panose="05050102010706020507" pitchFamily="18" charset="2"/>
              <a:buChar char=""/>
              <a:tabLst>
                <a:tab pos="1371600" algn="l"/>
              </a:tabLst>
            </a:pPr>
            <a:r>
              <a:rPr lang="fr-FR" sz="1200" u="sng" dirty="0">
                <a:solidFill>
                  <a:srgbClr val="222222"/>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Plans d’exécution</a:t>
            </a:r>
            <a:endParaRPr lang="fr-CA" sz="1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tabLst>
                <a:tab pos="457200" algn="l"/>
              </a:tabLst>
            </a:pPr>
            <a:r>
              <a:rPr lang="fr-FR" sz="1200" b="1" dirty="0">
                <a:solidFill>
                  <a:srgbClr val="333333"/>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4 Sélection des entreprises de la construction</a:t>
            </a:r>
            <a:endParaRPr lang="fr-CA" sz="1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fr-FR" sz="1200" u="sng" dirty="0">
                <a:solidFill>
                  <a:srgbClr val="222222"/>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Assistance aux contrats de travaux – ACT</a:t>
            </a:r>
            <a:endParaRPr lang="fr-CA" sz="1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Symbol" panose="05050102010706020507" pitchFamily="18" charset="2"/>
              <a:buChar char=""/>
              <a:tabLst>
                <a:tab pos="1371600" algn="l"/>
              </a:tabLst>
            </a:pPr>
            <a:r>
              <a:rPr lang="fr-FR" sz="1200" u="sng" dirty="0">
                <a:solidFill>
                  <a:srgbClr val="222222"/>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Dossier de consultation des entreprises – DCE</a:t>
            </a:r>
            <a:endParaRPr lang="fr-CA" sz="1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tabLst>
                <a:tab pos="457200" algn="l"/>
              </a:tabLst>
            </a:pPr>
            <a:r>
              <a:rPr lang="fr-FR" sz="1200" b="1" dirty="0">
                <a:solidFill>
                  <a:srgbClr val="333333"/>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4 Le chantier</a:t>
            </a:r>
            <a:endParaRPr lang="fr-CA" sz="1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fr-FR" sz="1200" u="sng" dirty="0">
                <a:solidFill>
                  <a:srgbClr val="222222"/>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Direction de l’exécution des travaux – DET</a:t>
            </a:r>
            <a:endParaRPr lang="fr-CA" sz="1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Symbol" panose="05050102010706020507" pitchFamily="18" charset="2"/>
              <a:buChar char=""/>
              <a:tabLst>
                <a:tab pos="1371600" algn="l"/>
              </a:tabLst>
            </a:pPr>
            <a:r>
              <a:rPr lang="fr-FR" sz="1200" u="sng" dirty="0">
                <a:solidFill>
                  <a:srgbClr val="222222"/>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La gestion du chantier</a:t>
            </a:r>
            <a:endParaRPr lang="fr-CA" sz="1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fr-FR" sz="1200" u="sng" dirty="0">
                <a:solidFill>
                  <a:srgbClr val="222222"/>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Ordonnancement, coordination et pilotage du chantier – OPC</a:t>
            </a:r>
            <a:endParaRPr lang="fr-CA" sz="1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tabLst>
                <a:tab pos="457200" algn="l"/>
              </a:tabLst>
            </a:pPr>
            <a:r>
              <a:rPr lang="fr-FR" sz="1200" b="1" dirty="0">
                <a:solidFill>
                  <a:srgbClr val="333333"/>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5 Livraison du bâtiment au maître d’ouvrage</a:t>
            </a:r>
            <a:endParaRPr lang="fr-CA" sz="1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fr-FR" sz="1200" u="sng" dirty="0">
                <a:solidFill>
                  <a:srgbClr val="222222"/>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Assistance aux opérations de réception – AOR</a:t>
            </a:r>
            <a:endParaRPr lang="fr-CA" sz="1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78873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CD8222B6-1007-9BE2-FC58-04EA896B5944}"/>
              </a:ext>
            </a:extLst>
          </p:cNvPr>
          <p:cNvSpPr txBox="1"/>
          <p:nvPr/>
        </p:nvSpPr>
        <p:spPr>
          <a:xfrm>
            <a:off x="1726568" y="268488"/>
            <a:ext cx="8837307" cy="5123262"/>
          </a:xfrm>
          <a:prstGeom prst="rect">
            <a:avLst/>
          </a:prstGeom>
          <a:noFill/>
        </p:spPr>
        <p:txBody>
          <a:bodyPr wrap="square">
            <a:spAutoFit/>
          </a:bodyPr>
          <a:lstStyle/>
          <a:p>
            <a:pPr marL="342900" lvl="0" indent="-342900">
              <a:lnSpc>
                <a:spcPct val="107000"/>
              </a:lnSpc>
              <a:spcAft>
                <a:spcPts val="800"/>
              </a:spcAft>
              <a:tabLst>
                <a:tab pos="457200" algn="l"/>
              </a:tabLst>
            </a:pPr>
            <a:r>
              <a:rPr lang="fr-FR" sz="1200" b="1"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1 Faisabilité du projet architectural et autorisation</a:t>
            </a:r>
            <a:endParaRPr lang="fr-CA" sz="1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fr-FR" sz="1200" u="sng" dirty="0">
                <a:solidFill>
                  <a:srgbClr val="222222"/>
                </a:solidFill>
                <a:effectLst/>
                <a:latin typeface="Helvetica" panose="020B0604020202020204" pitchFamily="34" charset="0"/>
                <a:ea typeface="Times New Roman" panose="02020603050405020304" pitchFamily="18" charset="0"/>
                <a:cs typeface="Times New Roman" panose="02020603050405020304" pitchFamily="18" charset="0"/>
                <a:hlinkClick r:id="rId2" tooltip="La rencontre avec un architecte"/>
              </a:rPr>
              <a:t>La rencontre avec un architecte</a:t>
            </a:r>
            <a:endParaRPr lang="fr-FR" sz="1200" u="sng" dirty="0">
              <a:solidFill>
                <a:srgbClr val="222222"/>
              </a:solidFill>
              <a:effectLst/>
              <a:latin typeface="Helvetica"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1800"/>
              </a:spcAft>
            </a:pPr>
            <a:r>
              <a:rPr lang="fr-FR" sz="18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Au premier contact, le </a:t>
            </a:r>
            <a:r>
              <a:rPr lang="fr-FR" sz="1800" u="sng" dirty="0">
                <a:solidFill>
                  <a:srgbClr val="222222"/>
                </a:solidFill>
                <a:effectLst/>
                <a:latin typeface="Helvetica" panose="020B0604020202020204" pitchFamily="34" charset="0"/>
                <a:ea typeface="Times New Roman" panose="02020603050405020304" pitchFamily="18" charset="0"/>
                <a:cs typeface="Times New Roman" panose="02020603050405020304" pitchFamily="18" charset="0"/>
                <a:hlinkClick r:id="rId3" tooltip="Le maître d’ouvrage"/>
              </a:rPr>
              <a:t>maître d’ouvrage</a:t>
            </a:r>
            <a:r>
              <a:rPr lang="fr-FR" sz="18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 exprime ses attentes à l’architecte qui l’aide à préciser ses besoins et son programme pour réaliser son projet architectural dans les meilleures conditions. L’architecte informe le maître d’ouvrage sur les conditions relatives au terrain, à la construction et aux </a:t>
            </a:r>
            <a:r>
              <a:rPr lang="fr-FR" sz="1800" u="sng" dirty="0">
                <a:solidFill>
                  <a:srgbClr val="222222"/>
                </a:solidFill>
                <a:effectLst/>
                <a:latin typeface="Helvetica" panose="020B0604020202020204" pitchFamily="34" charset="0"/>
                <a:ea typeface="Times New Roman" panose="02020603050405020304" pitchFamily="18" charset="0"/>
                <a:cs typeface="Times New Roman" panose="02020603050405020304" pitchFamily="18" charset="0"/>
                <a:hlinkClick r:id="rId4" tooltip="Design intérieur et fonctions"/>
              </a:rPr>
              <a:t>fonctions du bâtiment</a:t>
            </a:r>
            <a:r>
              <a:rPr lang="fr-FR" sz="18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 à l’éventuelle expertise additionnelle à contracter ainsi que sur les démarches administratives requises. Il s’enquiert du budget du maître d’ouvrage et apporte éventuellement son assistance pour le montage financier. L’architecte décrit l’ensemble des services qu’il se propose de fournir, les garanties qu’il apporte et les honoraires correspondant, en accord avec le client. Si celui-ci n’en dispose pas déjà, l’architecte peut également assister le maître d’ouvrage dans la quête d’un terrain </a:t>
            </a:r>
            <a:r>
              <a:rPr lang="fr-FR" sz="1800" dirty="0" err="1">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approprié.L’architecte</a:t>
            </a:r>
            <a:r>
              <a:rPr lang="fr-FR" sz="18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 propose ensuite ses services pour une première mission d’étude de faisabilité et de réalisation d’esquisse qui synthétise l’ensemble des requêtes formalisées conjointement avec le maître d’ouvrage, pour un coût limité. Si le maître d’ouvrage accepte les termes de l’architecte, ces-derniers initialisent alors la séquence classique des étapes de la réalisation d’un projet architectural.</a:t>
            </a:r>
            <a:endParaRPr lang="fr-CA"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04040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7A2530E6-1B47-E506-B3C4-490DBC1D1D91}"/>
              </a:ext>
            </a:extLst>
          </p:cNvPr>
          <p:cNvSpPr txBox="1"/>
          <p:nvPr/>
        </p:nvSpPr>
        <p:spPr>
          <a:xfrm>
            <a:off x="1612384" y="99120"/>
            <a:ext cx="9790722" cy="6134339"/>
          </a:xfrm>
          <a:prstGeom prst="rect">
            <a:avLst/>
          </a:prstGeom>
          <a:noFill/>
        </p:spPr>
        <p:txBody>
          <a:bodyPr wrap="square">
            <a:spAutoFit/>
          </a:bodyPr>
          <a:lstStyle/>
          <a:p>
            <a:pPr marL="742950" lvl="1" indent="-285750">
              <a:lnSpc>
                <a:spcPct val="107000"/>
              </a:lnSpc>
              <a:spcAft>
                <a:spcPts val="800"/>
              </a:spcAft>
              <a:buSzPts val="1000"/>
              <a:buFont typeface="Symbol" panose="05050102010706020507" pitchFamily="18" charset="2"/>
              <a:buChar char=""/>
              <a:tabLst>
                <a:tab pos="914400" algn="l"/>
              </a:tabLst>
            </a:pPr>
            <a:r>
              <a:rPr lang="fr-FR" sz="1800" u="sng" dirty="0">
                <a:solidFill>
                  <a:srgbClr val="222222"/>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Etudes d’esquisse – ESQ</a:t>
            </a:r>
          </a:p>
          <a:p>
            <a:pPr>
              <a:lnSpc>
                <a:spcPct val="107000"/>
              </a:lnSpc>
              <a:spcAft>
                <a:spcPts val="900"/>
              </a:spcAft>
            </a:pPr>
            <a:r>
              <a:rPr lang="fr-FR" sz="1800" b="1" dirty="0">
                <a:solidFill>
                  <a:srgbClr val="333333"/>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ou études de diagnostic – DIA – dans le cas de travaux sur un bâtiment existant</a:t>
            </a:r>
            <a:endParaRPr lang="fr-CA" sz="18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1800"/>
              </a:spcAft>
            </a:pPr>
            <a:r>
              <a:rPr lang="fr-FR" sz="1800" dirty="0">
                <a:solidFill>
                  <a:srgbClr val="333333"/>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L’architecte présente les résultats de sa première </a:t>
            </a:r>
            <a:r>
              <a:rPr lang="fr-FR" sz="1800" b="1" dirty="0">
                <a:solidFill>
                  <a:srgbClr val="333333"/>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étude de faisabilité</a:t>
            </a:r>
            <a:r>
              <a:rPr lang="fr-FR" sz="1800" dirty="0">
                <a:solidFill>
                  <a:srgbClr val="333333"/>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 du bâtiment souhaité et réalise une </a:t>
            </a:r>
            <a:r>
              <a:rPr lang="fr-FR" sz="1800" b="1" dirty="0">
                <a:solidFill>
                  <a:srgbClr val="333333"/>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première esquisse</a:t>
            </a:r>
            <a:r>
              <a:rPr lang="fr-FR" sz="1800" dirty="0">
                <a:solidFill>
                  <a:srgbClr val="333333"/>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 en fonctions des différents paramètres liés au terrain, aux options de la construction envisagée par le maître d’ouvrage et de ses contraintes financières. Cette esquisse initiale permet une première visualisation du projet inséré dans le site. En cas de réhabilitation ou de rénovation de bâtiment existant, l’architecte fournit également son étude de diagnostic technique et architectural pour réaliser la modification souhaitée et les travaux requis.</a:t>
            </a:r>
            <a:endParaRPr lang="fr-CA" sz="18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1800"/>
              </a:spcAft>
            </a:pPr>
            <a:r>
              <a:rPr lang="fr-FR" sz="1800" dirty="0">
                <a:solidFill>
                  <a:srgbClr val="333333"/>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L’architecte précise aussi une </a:t>
            </a:r>
            <a:r>
              <a:rPr lang="fr-FR" sz="1800" b="1" dirty="0">
                <a:solidFill>
                  <a:srgbClr val="333333"/>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première estimation du coût</a:t>
            </a:r>
            <a:r>
              <a:rPr lang="fr-FR" sz="1800" dirty="0">
                <a:solidFill>
                  <a:srgbClr val="333333"/>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 des différentes options qui répondent aux attentes du maître d’ouvrage, il peut éventuellement proposer plusieurs options qui mettent l’accent sur telle ou telle condition évoquée par le maître d’ouvrage : minimisation des coûts de construction, minimisation des coûts d’utilisation et d’entretien, maximisation de la longévité de la construction, insertion optimale dans l’environnement naturel ou urbain, qualité architecturale, etc…</a:t>
            </a:r>
            <a:endParaRPr lang="fr-CA" sz="18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1800"/>
              </a:spcAft>
            </a:pPr>
            <a:r>
              <a:rPr lang="fr-FR" sz="1800" dirty="0">
                <a:solidFill>
                  <a:srgbClr val="333333"/>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A ce stade, rien n’engage le maître d’ouvrage plus avant.</a:t>
            </a:r>
            <a:endParaRPr lang="fr-CA" sz="18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Aft>
                <a:spcPts val="800"/>
              </a:spcAft>
              <a:buSzPts val="1000"/>
              <a:tabLst>
                <a:tab pos="914400" algn="l"/>
              </a:tabLst>
            </a:pPr>
            <a:endParaRPr lang="fr-CA" sz="16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71041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2CA6D485-3630-698E-DE92-3BFF374FC396}"/>
              </a:ext>
            </a:extLst>
          </p:cNvPr>
          <p:cNvSpPr txBox="1"/>
          <p:nvPr/>
        </p:nvSpPr>
        <p:spPr>
          <a:xfrm>
            <a:off x="1267012" y="1121328"/>
            <a:ext cx="9196294" cy="1438342"/>
          </a:xfrm>
          <a:prstGeom prst="rect">
            <a:avLst/>
          </a:prstGeom>
          <a:noFill/>
        </p:spPr>
        <p:txBody>
          <a:bodyPr wrap="square">
            <a:spAutoFit/>
          </a:bodyPr>
          <a:lstStyle/>
          <a:p>
            <a:pPr marL="742950" lvl="1" indent="-285750">
              <a:lnSpc>
                <a:spcPct val="107000"/>
              </a:lnSpc>
              <a:spcAft>
                <a:spcPts val="800"/>
              </a:spcAft>
              <a:buSzPts val="1000"/>
              <a:buFont typeface="Symbol" panose="05050102010706020507" pitchFamily="18" charset="2"/>
              <a:buChar char=""/>
              <a:tabLst>
                <a:tab pos="914400" algn="l"/>
              </a:tabLst>
            </a:pPr>
            <a:r>
              <a:rPr lang="fr-FR" sz="1800" u="sng" dirty="0">
                <a:solidFill>
                  <a:srgbClr val="222222"/>
                </a:solidFill>
                <a:effectLst/>
                <a:latin typeface="Helvetica" panose="020B0604020202020204" pitchFamily="34" charset="0"/>
                <a:ea typeface="Times New Roman" panose="02020603050405020304" pitchFamily="18" charset="0"/>
                <a:cs typeface="Times New Roman" panose="02020603050405020304" pitchFamily="18" charset="0"/>
              </a:rPr>
              <a:t>Etudes d’avant-projet – AVP</a:t>
            </a:r>
          </a:p>
          <a:p>
            <a:pPr lvl="1">
              <a:lnSpc>
                <a:spcPct val="107000"/>
              </a:lnSpc>
              <a:spcAft>
                <a:spcPts val="800"/>
              </a:spcAft>
              <a:buSzPts val="1000"/>
              <a:tabLst>
                <a:tab pos="914400" algn="l"/>
              </a:tabLst>
            </a:pPr>
            <a:r>
              <a:rPr lang="fr-FR" sz="18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Si le maître d’ouvrage est satisfait des premières études d’esquisse ou de diagnostic, il peut décider de poursuivre les travaux dans les études d’avant-projet.</a:t>
            </a:r>
            <a:endParaRPr lang="fr-CA" sz="18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Aft>
                <a:spcPts val="800"/>
              </a:spcAft>
              <a:buSzPts val="1000"/>
              <a:tabLst>
                <a:tab pos="914400" algn="l"/>
              </a:tabLst>
            </a:pP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ZoneTexte 4">
            <a:extLst>
              <a:ext uri="{FF2B5EF4-FFF2-40B4-BE49-F238E27FC236}">
                <a16:creationId xmlns:a16="http://schemas.microsoft.com/office/drawing/2014/main" id="{9581054D-4412-A7E9-C2DC-2FB276991BD0}"/>
              </a:ext>
            </a:extLst>
          </p:cNvPr>
          <p:cNvSpPr txBox="1"/>
          <p:nvPr/>
        </p:nvSpPr>
        <p:spPr>
          <a:xfrm>
            <a:off x="880035" y="3778507"/>
            <a:ext cx="10666506" cy="1958165"/>
          </a:xfrm>
          <a:prstGeom prst="rect">
            <a:avLst/>
          </a:prstGeom>
          <a:noFill/>
        </p:spPr>
        <p:txBody>
          <a:bodyPr wrap="square">
            <a:spAutoFit/>
          </a:bodyPr>
          <a:lstStyle/>
          <a:p>
            <a:pPr marL="1143000" lvl="2" indent="-228600">
              <a:lnSpc>
                <a:spcPct val="107000"/>
              </a:lnSpc>
              <a:spcAft>
                <a:spcPts val="800"/>
              </a:spcAft>
              <a:buSzPts val="1000"/>
              <a:buFont typeface="Symbol" panose="05050102010706020507" pitchFamily="18" charset="2"/>
              <a:buChar char=""/>
              <a:tabLst>
                <a:tab pos="1371600" algn="l"/>
              </a:tabLst>
            </a:pPr>
            <a:r>
              <a:rPr lang="fr-FR" sz="1800" u="sng" dirty="0">
                <a:solidFill>
                  <a:srgbClr val="222222"/>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Avant-projet sommaire – APS</a:t>
            </a:r>
          </a:p>
          <a:p>
            <a:pPr lvl="2">
              <a:lnSpc>
                <a:spcPct val="107000"/>
              </a:lnSpc>
              <a:spcAft>
                <a:spcPts val="800"/>
              </a:spcAft>
              <a:buSzPts val="1000"/>
              <a:tabLst>
                <a:tab pos="1371600" algn="l"/>
              </a:tabLst>
            </a:pPr>
            <a:r>
              <a:rPr lang="fr-FR" sz="18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A ce point de la relation, l’architecte fournit une </a:t>
            </a:r>
            <a:r>
              <a:rPr lang="fr-FR" sz="1800" b="1"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description précise des différentes options</a:t>
            </a:r>
            <a:r>
              <a:rPr lang="fr-FR" sz="18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 retenues pour le projet de bâtiments et une </a:t>
            </a:r>
            <a:r>
              <a:rPr lang="fr-FR" sz="1800" b="1"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estimation du coût et de la durée</a:t>
            </a:r>
            <a:r>
              <a:rPr lang="fr-FR" sz="18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 des travaux. Une certaine tolérance peut être ménagée en fonction de la taille du projet et de l’état d’avancement actuel des travaux d’études et de construction. Ce document de travail sert à finaliser l’offre de services de l’architecte</a:t>
            </a:r>
            <a:endParaRPr lang="fr-CA" sz="16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91304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77D251DA-5BA7-2BE6-6016-56307B98BC00}"/>
              </a:ext>
            </a:extLst>
          </p:cNvPr>
          <p:cNvSpPr txBox="1"/>
          <p:nvPr/>
        </p:nvSpPr>
        <p:spPr>
          <a:xfrm>
            <a:off x="2061883" y="796881"/>
            <a:ext cx="9329270" cy="5663666"/>
          </a:xfrm>
          <a:prstGeom prst="rect">
            <a:avLst/>
          </a:prstGeom>
          <a:noFill/>
        </p:spPr>
        <p:txBody>
          <a:bodyPr wrap="square">
            <a:spAutoFit/>
          </a:bodyPr>
          <a:lstStyle/>
          <a:p>
            <a:pPr marL="1143000" lvl="2" indent="-228600">
              <a:lnSpc>
                <a:spcPct val="107000"/>
              </a:lnSpc>
              <a:spcAft>
                <a:spcPts val="800"/>
              </a:spcAft>
              <a:buSzPts val="1000"/>
              <a:buFont typeface="Symbol" panose="05050102010706020507" pitchFamily="18" charset="2"/>
              <a:buChar char=""/>
              <a:tabLst>
                <a:tab pos="1371600" algn="l"/>
              </a:tabLst>
            </a:pPr>
            <a:r>
              <a:rPr lang="fr-FR" sz="1600" b="1" u="sng" dirty="0">
                <a:solidFill>
                  <a:srgbClr val="222222"/>
                </a:solidFill>
                <a:effectLst/>
                <a:latin typeface="Helvetica" panose="020B0604020202020204" pitchFamily="34" charset="0"/>
                <a:ea typeface="Times New Roman" panose="02020603050405020304" pitchFamily="18" charset="0"/>
                <a:cs typeface="Times New Roman" panose="02020603050405020304" pitchFamily="18" charset="0"/>
              </a:rPr>
              <a:t>Avant-projet définitif – APD</a:t>
            </a:r>
          </a:p>
          <a:p>
            <a:pPr>
              <a:lnSpc>
                <a:spcPct val="150000"/>
              </a:lnSpc>
              <a:spcAft>
                <a:spcPts val="1800"/>
              </a:spcAft>
            </a:pPr>
            <a:r>
              <a:rPr lang="fr-FR" sz="18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Les dernières mises au point effectuées en fonction des options retenues par le maître d’ouvrage, le choix des </a:t>
            </a:r>
            <a:r>
              <a:rPr lang="fr-FR" sz="1800" u="sng" dirty="0">
                <a:solidFill>
                  <a:srgbClr val="222222"/>
                </a:solidFill>
                <a:effectLst/>
                <a:latin typeface="Helvetica" panose="020B0604020202020204" pitchFamily="34" charset="0"/>
                <a:ea typeface="Times New Roman" panose="02020603050405020304" pitchFamily="18" charset="0"/>
                <a:cs typeface="Times New Roman" panose="02020603050405020304" pitchFamily="18" charset="0"/>
                <a:hlinkClick r:id="rId2" tooltip="Matériaux de construction et d’habillage"/>
              </a:rPr>
              <a:t>matériaux</a:t>
            </a:r>
            <a:r>
              <a:rPr lang="fr-FR" sz="18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 est arrêté, les différentes prestations techniques et l’ensemble des travaux sont précisés avec leur intégration au sein du projet et de la construction, et en conformité avec la Réglementation, une étude d’approvisionnement énergétique et un bilan thermique doivent être engagés et renseignés dans les documents relatifs soumis lors du dépôt de dossier de demande de Permis de Construire.</a:t>
            </a:r>
            <a:endParaRPr lang="fr-CA"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800"/>
              </a:spcAft>
            </a:pPr>
            <a:r>
              <a:rPr lang="fr-FR" sz="18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Un chiffrage précis de l’ensemble du projet est alors finalisé.  Les documents qui détaillent les </a:t>
            </a:r>
            <a:r>
              <a:rPr lang="fr-FR" sz="1800" b="1"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caractéristiques définitives du projet architectural</a:t>
            </a:r>
            <a:r>
              <a:rPr lang="fr-FR" sz="18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 et des performances convenues sont rédigés de manière formelle ; ils forment le contrat qui précise point par point l’ensemble des services fournis par l’architecte au maître d’ouvrage durant les phases suivantes.</a:t>
            </a:r>
            <a:endParaRPr lang="fr-CA" sz="1800" dirty="0">
              <a:effectLst/>
              <a:latin typeface="Calibri" panose="020F0502020204030204" pitchFamily="34" charset="0"/>
              <a:ea typeface="Calibri" panose="020F0502020204030204" pitchFamily="34" charset="0"/>
              <a:cs typeface="Times New Roman" panose="02020603050405020304" pitchFamily="18" charset="0"/>
            </a:endParaRPr>
          </a:p>
          <a:p>
            <a:pPr lvl="2">
              <a:lnSpc>
                <a:spcPct val="107000"/>
              </a:lnSpc>
              <a:spcAft>
                <a:spcPts val="800"/>
              </a:spcAft>
              <a:buSzPts val="1000"/>
              <a:tabLst>
                <a:tab pos="1371600" algn="l"/>
              </a:tabLst>
            </a:pPr>
            <a:endParaRPr lang="fr-CA"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56949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A19475FB-0D6C-ECE1-984D-B3E874075C4D}"/>
              </a:ext>
            </a:extLst>
          </p:cNvPr>
          <p:cNvSpPr txBox="1"/>
          <p:nvPr/>
        </p:nvSpPr>
        <p:spPr>
          <a:xfrm>
            <a:off x="1131046" y="839315"/>
            <a:ext cx="10206318" cy="3279231"/>
          </a:xfrm>
          <a:prstGeom prst="rect">
            <a:avLst/>
          </a:prstGeom>
          <a:noFill/>
        </p:spPr>
        <p:txBody>
          <a:bodyPr wrap="square">
            <a:spAutoFit/>
          </a:bodyPr>
          <a:lstStyle/>
          <a:p>
            <a:pPr marL="1143000" lvl="2" indent="-228600">
              <a:lnSpc>
                <a:spcPct val="107000"/>
              </a:lnSpc>
              <a:spcAft>
                <a:spcPts val="800"/>
              </a:spcAft>
              <a:buSzPts val="1000"/>
              <a:buFont typeface="Symbol" panose="05050102010706020507" pitchFamily="18" charset="2"/>
              <a:buChar char=""/>
              <a:tabLst>
                <a:tab pos="1371600" algn="l"/>
              </a:tabLst>
            </a:pPr>
            <a:r>
              <a:rPr lang="fr-FR" sz="1800" u="sng" dirty="0">
                <a:solidFill>
                  <a:srgbClr val="222222"/>
                </a:solidFill>
                <a:effectLst/>
                <a:latin typeface="Helvetica" panose="020B0604020202020204" pitchFamily="34" charset="0"/>
                <a:ea typeface="Times New Roman" panose="02020603050405020304" pitchFamily="18" charset="0"/>
                <a:cs typeface="Times New Roman" panose="02020603050405020304" pitchFamily="18" charset="0"/>
              </a:rPr>
              <a:t>Dossier de demande de Permis de Construire – DPC</a:t>
            </a:r>
          </a:p>
          <a:p>
            <a:pPr>
              <a:lnSpc>
                <a:spcPct val="107000"/>
              </a:lnSpc>
              <a:spcAft>
                <a:spcPts val="1800"/>
              </a:spcAft>
            </a:pPr>
            <a:r>
              <a:rPr lang="fr-FR" sz="18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Au-delà des documents techniques, plans et définitions des matériaux, réseaux et fluides, l’architecte prépare l’ensemble des documents administratifs et juridiques, nécessaire à la constitution d’un dossier complet de demande de </a:t>
            </a:r>
            <a:r>
              <a:rPr lang="fr-FR" sz="1800" b="1" u="sng" dirty="0">
                <a:solidFill>
                  <a:srgbClr val="222222"/>
                </a:solidFill>
                <a:effectLst/>
                <a:latin typeface="Helvetica" panose="020B0604020202020204" pitchFamily="34" charset="0"/>
                <a:ea typeface="Times New Roman" panose="02020603050405020304" pitchFamily="18" charset="0"/>
                <a:cs typeface="Times New Roman" panose="02020603050405020304" pitchFamily="18" charset="0"/>
                <a:hlinkClick r:id="rId2" tooltip="Réglementation du Permis de Construire sur service-public.fr"/>
              </a:rPr>
              <a:t>Permis de Construire</a:t>
            </a:r>
            <a:r>
              <a:rPr lang="fr-FR" sz="18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 (PC) qu’il soumet à l’autorité compétente.</a:t>
            </a:r>
            <a:endParaRPr lang="fr-CA"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1800"/>
              </a:spcAft>
            </a:pPr>
            <a:r>
              <a:rPr lang="fr-FR" sz="18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II suit l’instruction du dossier, apporte les éventuelles pièces supplémentaires requises et aide à intégrer les expertises tierces nécessaires en accord avec le maître d’ouvrage jusqu’à obtention du permis de construire. ( étude de sécurité)</a:t>
            </a:r>
            <a:endParaRPr lang="fr-CA" sz="1800" dirty="0">
              <a:effectLst/>
              <a:latin typeface="Calibri" panose="020F0502020204030204" pitchFamily="34" charset="0"/>
              <a:ea typeface="Calibri" panose="020F0502020204030204" pitchFamily="34" charset="0"/>
              <a:cs typeface="Times New Roman" panose="02020603050405020304" pitchFamily="18" charset="0"/>
            </a:endParaRPr>
          </a:p>
          <a:p>
            <a:pPr lvl="2">
              <a:lnSpc>
                <a:spcPct val="107000"/>
              </a:lnSpc>
              <a:spcAft>
                <a:spcPts val="800"/>
              </a:spcAft>
              <a:buSzPts val="1000"/>
              <a:tabLst>
                <a:tab pos="1371600" algn="l"/>
              </a:tabLst>
            </a:pP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45781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9FD116DA-9A1B-510D-B1A3-DAEE3D20FE38}"/>
              </a:ext>
            </a:extLst>
          </p:cNvPr>
          <p:cNvSpPr txBox="1"/>
          <p:nvPr/>
        </p:nvSpPr>
        <p:spPr>
          <a:xfrm>
            <a:off x="2296459" y="495795"/>
            <a:ext cx="7421282" cy="3932102"/>
          </a:xfrm>
          <a:prstGeom prst="rect">
            <a:avLst/>
          </a:prstGeom>
          <a:noFill/>
        </p:spPr>
        <p:txBody>
          <a:bodyPr wrap="square">
            <a:spAutoFit/>
          </a:bodyPr>
          <a:lstStyle/>
          <a:p>
            <a:pPr marL="342900" lvl="0" indent="-342900">
              <a:lnSpc>
                <a:spcPct val="107000"/>
              </a:lnSpc>
              <a:spcAft>
                <a:spcPts val="800"/>
              </a:spcAft>
              <a:tabLst>
                <a:tab pos="457200" algn="l"/>
              </a:tabLst>
            </a:pPr>
            <a:r>
              <a:rPr lang="fr-FR" sz="1200" b="1" dirty="0">
                <a:solidFill>
                  <a:srgbClr val="333333"/>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2 Conception détaillée du bâtiment</a:t>
            </a:r>
            <a:endParaRPr lang="fr-CA" sz="1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fr-FR" sz="1200" u="sng" dirty="0">
                <a:solidFill>
                  <a:srgbClr val="222222"/>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Etudes de projet – PRO</a:t>
            </a:r>
          </a:p>
          <a:p>
            <a:pPr lvl="1">
              <a:lnSpc>
                <a:spcPct val="107000"/>
              </a:lnSpc>
              <a:spcAft>
                <a:spcPts val="800"/>
              </a:spcAft>
              <a:buSzPts val="1000"/>
              <a:tabLst>
                <a:tab pos="914400" algn="l"/>
              </a:tabLst>
            </a:pPr>
            <a:r>
              <a:rPr lang="fr-FR" sz="1800" dirty="0">
                <a:solidFill>
                  <a:srgbClr val="333333"/>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L’architecte prépare alors les </a:t>
            </a:r>
            <a:r>
              <a:rPr lang="fr-FR" sz="1800" b="1" dirty="0">
                <a:solidFill>
                  <a:srgbClr val="333333"/>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plans détaillés</a:t>
            </a:r>
            <a:r>
              <a:rPr lang="fr-FR" sz="1800" dirty="0">
                <a:solidFill>
                  <a:srgbClr val="333333"/>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 de tous les niveaux du ou des bâtiments, élévations, façades et éventuellement perspectives additionnelles qui assurent une bonne compréhension de l’ensemble du projet jusqu’en dans ses moindres détails. Selon les besoins spécifiques de chaque projet, des bureaux d’études techniques sélectionnés par le maître d’ouvrage sur conseil de l’architecte conduisent en parallèle la mise au point de leur plan d’action, en collaboration étroite avec l’architecte en vue d’une intégration réussie de leur expertise dans l’ensemble du projet.</a:t>
            </a:r>
            <a:endParaRPr lang="fr-CA" sz="18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endParaRPr lang="fr-CA" sz="1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82205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E948CDCB-7B65-8017-CA3C-A51AA157205F}"/>
              </a:ext>
            </a:extLst>
          </p:cNvPr>
          <p:cNvSpPr txBox="1"/>
          <p:nvPr/>
        </p:nvSpPr>
        <p:spPr>
          <a:xfrm>
            <a:off x="2368175" y="853688"/>
            <a:ext cx="8771965" cy="4284058"/>
          </a:xfrm>
          <a:prstGeom prst="rect">
            <a:avLst/>
          </a:prstGeom>
          <a:noFill/>
        </p:spPr>
        <p:txBody>
          <a:bodyPr wrap="square">
            <a:spAutoFit/>
          </a:bodyPr>
          <a:lstStyle/>
          <a:p>
            <a:pPr marL="342900" lvl="0" indent="-342900">
              <a:lnSpc>
                <a:spcPct val="107000"/>
              </a:lnSpc>
              <a:spcAft>
                <a:spcPts val="800"/>
              </a:spcAft>
              <a:tabLst>
                <a:tab pos="457200" algn="l"/>
              </a:tabLst>
            </a:pPr>
            <a:r>
              <a:rPr lang="fr-FR" sz="1200" b="1"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3 Planification de la construction</a:t>
            </a:r>
            <a:endParaRPr lang="fr-CA" sz="1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fr-FR" sz="1200" u="sng" dirty="0">
                <a:solidFill>
                  <a:srgbClr val="222222"/>
                </a:solidFill>
                <a:effectLst/>
                <a:latin typeface="Helvetica" panose="020B0604020202020204" pitchFamily="34" charset="0"/>
                <a:ea typeface="Times New Roman" panose="02020603050405020304" pitchFamily="18" charset="0"/>
                <a:cs typeface="Times New Roman" panose="02020603050405020304" pitchFamily="18" charset="0"/>
              </a:rPr>
              <a:t>Etudes et plans d’exécution – EXE</a:t>
            </a:r>
          </a:p>
          <a:p>
            <a:pPr>
              <a:lnSpc>
                <a:spcPct val="107000"/>
              </a:lnSpc>
              <a:spcAft>
                <a:spcPts val="900"/>
              </a:spcAft>
            </a:pPr>
            <a:r>
              <a:rPr lang="fr-FR" sz="1800" b="1"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 Plans d’exécution</a:t>
            </a:r>
            <a:endParaRPr lang="fr-CA"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1800"/>
              </a:spcAft>
            </a:pPr>
            <a:r>
              <a:rPr lang="fr-FR" sz="18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Les études d’exécution ont pour objet la </a:t>
            </a:r>
            <a:r>
              <a:rPr lang="fr-FR" sz="1800" b="1"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réalisation technique du projet</a:t>
            </a:r>
            <a:r>
              <a:rPr lang="fr-FR" sz="18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 : les plans d’exécution aux échelles appropriées, les notes de calcul et les spécifications d’usage pour le chantier permettent l’exécution des travaux par les différents entrepreneurs pour la construction de l’ensemble du bâtiment.</a:t>
            </a:r>
            <a:endParaRPr lang="fr-CA"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1800"/>
              </a:spcAft>
            </a:pPr>
            <a:r>
              <a:rPr lang="fr-FR" sz="18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Au-delà des plans architecturaux, le maître d’ouvrage peut éventuellement charger l’architecte, assisté de techniciens des spécialités requises, de réaliser les plans d’exécution et devis quantitatifs détaillés de certains lots, dans une mission complémentaire des études d’exécution. Les plans de l’architecte ne se substituent néanmoins en aucune façon aux plans techniques d’atelier, de montage et de mise en œuvre lors du chantier, qui sont toujours dus par les entrepreneurs.</a:t>
            </a:r>
            <a:endParaRPr lang="fr-CA"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25981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62DE610D-119D-37E7-2AC6-622968896B47}"/>
              </a:ext>
            </a:extLst>
          </p:cNvPr>
          <p:cNvSpPr txBox="1"/>
          <p:nvPr/>
        </p:nvSpPr>
        <p:spPr>
          <a:xfrm>
            <a:off x="1597210" y="267995"/>
            <a:ext cx="10086790" cy="6504473"/>
          </a:xfrm>
          <a:prstGeom prst="rect">
            <a:avLst/>
          </a:prstGeom>
          <a:noFill/>
        </p:spPr>
        <p:txBody>
          <a:bodyPr wrap="square">
            <a:spAutoFit/>
          </a:bodyPr>
          <a:lstStyle/>
          <a:p>
            <a:pPr marL="342900" lvl="0" indent="-342900">
              <a:lnSpc>
                <a:spcPct val="107000"/>
              </a:lnSpc>
              <a:spcAft>
                <a:spcPts val="800"/>
              </a:spcAft>
              <a:tabLst>
                <a:tab pos="457200" algn="l"/>
              </a:tabLst>
            </a:pPr>
            <a:r>
              <a:rPr lang="fr-FR" sz="1200" b="1" dirty="0">
                <a:solidFill>
                  <a:srgbClr val="333333"/>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4 Sélection des entreprises de la construction</a:t>
            </a:r>
            <a:endParaRPr lang="fr-CA" sz="1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fr-FR" sz="1400" b="1" u="sng" dirty="0">
                <a:solidFill>
                  <a:srgbClr val="222222"/>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Assistance aux contrats de travaux – ACT</a:t>
            </a:r>
          </a:p>
          <a:p>
            <a:r>
              <a:rPr lang="fr-FR" sz="18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L’architecte consulte les entreprises capables d’intervenir et analyse les offres des entrepreneurs selon des </a:t>
            </a:r>
            <a:r>
              <a:rPr lang="fr-FR" sz="1800" u="sng" dirty="0">
                <a:solidFill>
                  <a:srgbClr val="222222"/>
                </a:solidFill>
                <a:effectLst/>
                <a:latin typeface="Helvetica" panose="020B0604020202020204" pitchFamily="34" charset="0"/>
                <a:ea typeface="Times New Roman" panose="02020603050405020304" pitchFamily="18" charset="0"/>
                <a:cs typeface="Times New Roman" panose="02020603050405020304" pitchFamily="18" charset="0"/>
                <a:hlinkClick r:id="rId2" tooltip="Procédures de passation des marchés de maîtrise d’œuvre - Architectes.org"/>
              </a:rPr>
              <a:t>procédures bien définies</a:t>
            </a:r>
            <a:r>
              <a:rPr lang="fr-FR" sz="18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 Des négociations peuvent être conduites au nom du maître d’ouvrage et des modifications peuvent être apportées pour rentrer dans les budgets alloués.</a:t>
            </a:r>
          </a:p>
          <a:p>
            <a:endParaRPr lang="fr-FR" dirty="0">
              <a:solidFill>
                <a:srgbClr val="333333"/>
              </a:solidFill>
              <a:highlight>
                <a:srgbClr val="FFFFFF"/>
              </a:highlight>
              <a:latin typeface="Helvetica" panose="020B0604020202020204" pitchFamily="34" charset="0"/>
              <a:ea typeface="Calibri" panose="020F0502020204030204" pitchFamily="34" charset="0"/>
              <a:cs typeface="Times New Roman" panose="02020603050405020304" pitchFamily="18" charset="0"/>
            </a:endParaRPr>
          </a:p>
          <a:p>
            <a:endParaRPr lang="fr-CA" sz="1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Symbol" panose="05050102010706020507" pitchFamily="18" charset="2"/>
              <a:buChar char=""/>
              <a:tabLst>
                <a:tab pos="1371600" algn="l"/>
              </a:tabLst>
            </a:pPr>
            <a:r>
              <a:rPr lang="fr-FR" sz="1200" u="sng" dirty="0">
                <a:solidFill>
                  <a:srgbClr val="222222"/>
                </a:solidFill>
                <a:effectLst/>
                <a:latin typeface="Helvetica" panose="020B0604020202020204" pitchFamily="34" charset="0"/>
                <a:ea typeface="Times New Roman" panose="02020603050405020304" pitchFamily="18" charset="0"/>
                <a:cs typeface="Times New Roman" panose="02020603050405020304" pitchFamily="18" charset="0"/>
              </a:rPr>
              <a:t>Dossier de consultation des entreprises – DCE</a:t>
            </a:r>
            <a:endParaRPr lang="fr-FR" sz="1200" u="sng" dirty="0">
              <a:solidFill>
                <a:srgbClr val="222222"/>
              </a:solidFill>
              <a:effectLst/>
              <a:latin typeface="Helvetica" panose="020B0604020202020204" pitchFamily="34" charset="0"/>
              <a:ea typeface="Calibri" panose="020F0502020204030204" pitchFamily="34" charset="0"/>
              <a:cs typeface="Times New Roman" panose="02020603050405020304" pitchFamily="18" charset="0"/>
            </a:endParaRPr>
          </a:p>
          <a:p>
            <a:pPr>
              <a:lnSpc>
                <a:spcPct val="107000"/>
              </a:lnSpc>
              <a:spcAft>
                <a:spcPts val="1800"/>
              </a:spcAft>
            </a:pPr>
            <a:r>
              <a:rPr lang="fr-FR" sz="18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Suite à la mise au point définitive de la conception, l’architecte constitue le dossier de consultation des entreprises qui </a:t>
            </a:r>
            <a:r>
              <a:rPr lang="fr-FR" sz="1800" b="1"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détaille l’ensemble des caractéristiques techniques et administratives</a:t>
            </a:r>
            <a:r>
              <a:rPr lang="fr-FR" sz="18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 de chaque lot du projet et </a:t>
            </a:r>
            <a:r>
              <a:rPr lang="fr-FR" sz="1800" b="1"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estime les budgets respectifs</a:t>
            </a:r>
            <a:r>
              <a:rPr lang="fr-FR" sz="18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 afin que les entreprises intervenantes proposent des devis solides. Celui-ci permet également de préciser le cadre de l’intervention des entreprises et de leurs relations avec le maître d’ouvrage et l’architecte.</a:t>
            </a:r>
            <a:endParaRPr lang="fr-CA"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1800"/>
              </a:spcAft>
            </a:pPr>
            <a:r>
              <a:rPr lang="fr-FR" sz="18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L’architecte assiste le maître d’ouvrage pour la </a:t>
            </a:r>
            <a:r>
              <a:rPr lang="fr-FR" sz="1800" b="1"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sélection des </a:t>
            </a:r>
            <a:r>
              <a:rPr lang="fr-FR" sz="1800" b="1" u="sng" dirty="0">
                <a:solidFill>
                  <a:srgbClr val="222222"/>
                </a:solidFill>
                <a:effectLst/>
                <a:latin typeface="Helvetica" panose="020B0604020202020204" pitchFamily="34" charset="0"/>
                <a:ea typeface="Times New Roman" panose="02020603050405020304" pitchFamily="18" charset="0"/>
                <a:cs typeface="Times New Roman" panose="02020603050405020304" pitchFamily="18" charset="0"/>
                <a:hlinkClick r:id="rId3" tooltip="Entreprises de la construction de bâtiments"/>
              </a:rPr>
              <a:t>différents prestataires de la construction</a:t>
            </a:r>
            <a:r>
              <a:rPr lang="fr-FR" sz="18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 en fonctions des critères retenus avec le maître d’ouvrage. Il peut suggérer les services de telle ou telle entreprise en fonction des expériences passées et garanties de sérieux dont il a déjà eu la preuve. Suite à la sélection des entreprises, </a:t>
            </a:r>
            <a:r>
              <a:rPr lang="fr-FR" sz="1800" b="1"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l’architecte prépare les marchés dévolus à chacune des entreprises</a:t>
            </a:r>
            <a:r>
              <a:rPr lang="fr-FR" sz="18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 ; celles-ci s’engagent contractuellement avec le maître d’ouvrage sur des coûts et des délais qu’elles devront respecter.</a:t>
            </a:r>
            <a:endParaRPr lang="fr-CA" sz="1800" dirty="0">
              <a:effectLst/>
              <a:latin typeface="Calibri" panose="020F0502020204030204" pitchFamily="34" charset="0"/>
              <a:ea typeface="Calibri" panose="020F0502020204030204" pitchFamily="34" charset="0"/>
              <a:cs typeface="Times New Roman" panose="02020603050405020304" pitchFamily="18" charset="0"/>
            </a:endParaRPr>
          </a:p>
          <a:p>
            <a:pPr lvl="2">
              <a:lnSpc>
                <a:spcPct val="107000"/>
              </a:lnSpc>
              <a:spcAft>
                <a:spcPts val="800"/>
              </a:spcAft>
              <a:buSzPts val="1000"/>
              <a:tabLst>
                <a:tab pos="1371600" algn="l"/>
              </a:tabLst>
            </a:pPr>
            <a:endParaRPr lang="fr-FR" sz="1200" u="sng" dirty="0">
              <a:solidFill>
                <a:srgbClr val="222222"/>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7935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855ACD2C-0AF6-C03B-CB4E-D6E1AF1BEF01}"/>
              </a:ext>
            </a:extLst>
          </p:cNvPr>
          <p:cNvSpPr txBox="1"/>
          <p:nvPr/>
        </p:nvSpPr>
        <p:spPr>
          <a:xfrm>
            <a:off x="2075329" y="627528"/>
            <a:ext cx="9913471" cy="5581849"/>
          </a:xfrm>
          <a:prstGeom prst="rect">
            <a:avLst/>
          </a:prstGeom>
          <a:noFill/>
        </p:spPr>
        <p:txBody>
          <a:bodyPr wrap="square">
            <a:spAutoFit/>
          </a:bodyPr>
          <a:lstStyle/>
          <a:p>
            <a:pPr marL="342900" lvl="0" indent="-342900">
              <a:lnSpc>
                <a:spcPct val="107000"/>
              </a:lnSpc>
              <a:spcAft>
                <a:spcPts val="800"/>
              </a:spcAft>
              <a:tabLst>
                <a:tab pos="457200" algn="l"/>
              </a:tabLst>
            </a:pPr>
            <a:r>
              <a:rPr lang="fr-FR" sz="1200" b="1"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4 Le chantier</a:t>
            </a:r>
            <a:endParaRPr lang="fr-CA" sz="1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fr-FR" sz="1200" u="sng" dirty="0">
                <a:solidFill>
                  <a:srgbClr val="222222"/>
                </a:solidFill>
                <a:effectLst/>
                <a:latin typeface="Helvetica" panose="020B0604020202020204" pitchFamily="34" charset="0"/>
                <a:ea typeface="Times New Roman" panose="02020603050405020304" pitchFamily="18" charset="0"/>
                <a:cs typeface="Times New Roman" panose="02020603050405020304" pitchFamily="18" charset="0"/>
              </a:rPr>
              <a:t>Direction de l’exécution des travaux – DET</a:t>
            </a:r>
          </a:p>
          <a:p>
            <a:pPr lvl="1">
              <a:lnSpc>
                <a:spcPct val="107000"/>
              </a:lnSpc>
              <a:spcAft>
                <a:spcPts val="800"/>
              </a:spcAft>
              <a:buSzPts val="1000"/>
              <a:tabLst>
                <a:tab pos="914400" algn="l"/>
              </a:tabLst>
            </a:pPr>
            <a:r>
              <a:rPr lang="fr-FR" sz="18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L’architecte prépare la mise en œuvre du chantier et organise la participation des différentes spécialités pour s’assurer du respect des règles de l’art, des engagements de chacun et de la juste réalisation des plans.</a:t>
            </a:r>
            <a:endParaRPr lang="fr-CA" sz="18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Aft>
                <a:spcPts val="800"/>
              </a:spcAft>
              <a:buSzPts val="1000"/>
              <a:tabLst>
                <a:tab pos="914400" algn="l"/>
              </a:tabLst>
            </a:pPr>
            <a:endParaRPr lang="fr-CA" sz="1100" dirty="0">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Symbol" panose="05050102010706020507" pitchFamily="18" charset="2"/>
              <a:buChar char=""/>
              <a:tabLst>
                <a:tab pos="1371600" algn="l"/>
              </a:tabLst>
            </a:pPr>
            <a:r>
              <a:rPr lang="fr-FR" sz="1200" u="sng" dirty="0">
                <a:solidFill>
                  <a:srgbClr val="222222"/>
                </a:solidFill>
                <a:effectLst/>
                <a:latin typeface="Helvetica" panose="020B0604020202020204" pitchFamily="34" charset="0"/>
                <a:ea typeface="Times New Roman" panose="02020603050405020304" pitchFamily="18" charset="0"/>
                <a:cs typeface="Times New Roman" panose="02020603050405020304" pitchFamily="18" charset="0"/>
              </a:rPr>
              <a:t>La gestion du chantier</a:t>
            </a:r>
            <a:endParaRPr lang="fr-FR" sz="1200" u="sng" dirty="0">
              <a:solidFill>
                <a:srgbClr val="222222"/>
              </a:solidFill>
              <a:latin typeface="Helvetica"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1800"/>
              </a:spcAft>
            </a:pPr>
            <a:r>
              <a:rPr lang="fr-FR"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Le maître d’œuvre intervient sur le terrain auprès des différentes entreprises pour </a:t>
            </a:r>
            <a:r>
              <a:rPr lang="fr-FR" b="1"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assurer l’exécution conforme des différentes phases de la construction</a:t>
            </a:r>
            <a:r>
              <a:rPr lang="fr-FR"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 du bâtiment:</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 </a:t>
            </a:r>
            <a:r>
              <a:rPr lang="fr-FR" b="1"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Terrassement</a:t>
            </a:r>
            <a:r>
              <a:rPr lang="fr-FR"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 du terrain et reliage </a:t>
            </a:r>
            <a:r>
              <a:rPr lang="fr-FR" b="1"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Voirie et Réseaux Divers</a:t>
            </a:r>
            <a:r>
              <a:rPr lang="fr-FR"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 (VRD)</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fr-FR" b="1"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Gros-œuvre</a:t>
            </a:r>
            <a:r>
              <a:rPr lang="fr-FR"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 : stabilité et solidité du bâtiment (fondations, structure)</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fr-FR" b="1"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Second-œuvre</a:t>
            </a:r>
            <a:r>
              <a:rPr lang="fr-FR"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 : étanchéité, esthétique et confort</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1800"/>
              </a:spcAft>
            </a:pPr>
            <a:r>
              <a:rPr lang="fr-FR"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Le maître d’œuvre anime les réunions de chantiers dont il prépare et diffuse les comptes rendus à l’ensemble des parties concernées. L’architecte supervise également le paiement des intervenants et l’accomplissement des prestations correspondantes dans les temps prévus.</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lvl="2">
              <a:lnSpc>
                <a:spcPct val="107000"/>
              </a:lnSpc>
              <a:spcAft>
                <a:spcPts val="800"/>
              </a:spcAft>
              <a:buSzPts val="1000"/>
              <a:tabLst>
                <a:tab pos="1371600" algn="l"/>
              </a:tabLst>
            </a:pPr>
            <a:endParaRPr lang="fr-CA"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00963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1FA9918E-EA48-A22F-F290-053D17526656}"/>
              </a:ext>
            </a:extLst>
          </p:cNvPr>
          <p:cNvSpPr txBox="1"/>
          <p:nvPr/>
        </p:nvSpPr>
        <p:spPr>
          <a:xfrm>
            <a:off x="1728693" y="701858"/>
            <a:ext cx="8825753" cy="2623795"/>
          </a:xfrm>
          <a:prstGeom prst="rect">
            <a:avLst/>
          </a:prstGeom>
          <a:noFill/>
        </p:spPr>
        <p:txBody>
          <a:bodyPr wrap="square">
            <a:spAutoFit/>
          </a:bodyPr>
          <a:lstStyle/>
          <a:p>
            <a:pPr marL="742950" lvl="1" indent="-285750">
              <a:lnSpc>
                <a:spcPct val="107000"/>
              </a:lnSpc>
              <a:spcAft>
                <a:spcPts val="800"/>
              </a:spcAft>
              <a:buSzPts val="1000"/>
              <a:buFont typeface="Symbol" panose="05050102010706020507" pitchFamily="18" charset="2"/>
              <a:buChar char=""/>
              <a:tabLst>
                <a:tab pos="914400" algn="l"/>
              </a:tabLst>
            </a:pPr>
            <a:r>
              <a:rPr lang="fr-FR" sz="1800" u="sng" dirty="0">
                <a:solidFill>
                  <a:srgbClr val="222222"/>
                </a:solidFill>
                <a:effectLst/>
                <a:latin typeface="Helvetica" panose="020B0604020202020204" pitchFamily="34" charset="0"/>
                <a:ea typeface="Times New Roman" panose="02020603050405020304" pitchFamily="18" charset="0"/>
                <a:cs typeface="Times New Roman" panose="02020603050405020304" pitchFamily="18" charset="0"/>
              </a:rPr>
              <a:t>Ordonnancement, coordination et pilotage du chantier – OPC</a:t>
            </a:r>
          </a:p>
          <a:p>
            <a:pPr lvl="1">
              <a:lnSpc>
                <a:spcPct val="107000"/>
              </a:lnSpc>
              <a:spcAft>
                <a:spcPts val="800"/>
              </a:spcAft>
              <a:buSzPts val="1000"/>
              <a:tabLst>
                <a:tab pos="914400" algn="l"/>
              </a:tabLst>
            </a:pPr>
            <a:r>
              <a:rPr lang="fr-FR" sz="1800" dirty="0">
                <a:solidFill>
                  <a:srgbClr val="333333"/>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L’analyse des tâches élémentaires qui composent les études d’exécution et les travaux, leur enchaînement et les points critiques de cette suite d’interventions, constituent la mission d’ordonnancement et da planification, qui est complémentaire de la maîtrise d’œuvre. Celle-ci a pour but de </a:t>
            </a:r>
            <a:r>
              <a:rPr lang="fr-FR" sz="1800" b="1" dirty="0">
                <a:solidFill>
                  <a:srgbClr val="333333"/>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planifier avec soin l’imbrication optimale des différentes interventions des entreprises</a:t>
            </a:r>
            <a:r>
              <a:rPr lang="fr-FR" sz="1800" dirty="0">
                <a:solidFill>
                  <a:srgbClr val="333333"/>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 pour une construction la plus rapide et la moins onéreuse possible.</a:t>
            </a:r>
            <a:endParaRPr lang="fr-CA" sz="18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Aft>
                <a:spcPts val="800"/>
              </a:spcAft>
              <a:buSzPts val="1000"/>
              <a:tabLst>
                <a:tab pos="914400" algn="l"/>
              </a:tabLst>
            </a:pP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34595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AB5CC2D9-3AED-0ABA-E12D-DF3B076AB09E}"/>
              </a:ext>
            </a:extLst>
          </p:cNvPr>
          <p:cNvSpPr txBox="1"/>
          <p:nvPr/>
        </p:nvSpPr>
        <p:spPr>
          <a:xfrm>
            <a:off x="1189318" y="143182"/>
            <a:ext cx="10877176" cy="6430935"/>
          </a:xfrm>
          <a:prstGeom prst="rect">
            <a:avLst/>
          </a:prstGeom>
          <a:noFill/>
        </p:spPr>
        <p:txBody>
          <a:bodyPr wrap="square">
            <a:spAutoFit/>
          </a:bodyPr>
          <a:lstStyle/>
          <a:p>
            <a:pPr marL="342900" lvl="0" indent="-342900">
              <a:lnSpc>
                <a:spcPct val="107000"/>
              </a:lnSpc>
              <a:spcAft>
                <a:spcPts val="800"/>
              </a:spcAft>
              <a:tabLst>
                <a:tab pos="457200" algn="l"/>
              </a:tabLst>
            </a:pPr>
            <a:r>
              <a:rPr lang="fr-FR" sz="1400" b="1"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5 Livraison du bâtiment au maître d’ouvrage</a:t>
            </a:r>
            <a:endParaRPr lang="fr-CA" sz="12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fr-FR" sz="1400" u="sng" dirty="0">
                <a:solidFill>
                  <a:srgbClr val="222222"/>
                </a:solidFill>
                <a:effectLst/>
                <a:latin typeface="Helvetica" panose="020B0604020202020204" pitchFamily="34" charset="0"/>
                <a:ea typeface="Times New Roman" panose="02020603050405020304" pitchFamily="18" charset="0"/>
                <a:cs typeface="Times New Roman" panose="02020603050405020304" pitchFamily="18" charset="0"/>
              </a:rPr>
              <a:t>Assistance aux opérations de réception – AOR</a:t>
            </a:r>
          </a:p>
          <a:p>
            <a:pPr>
              <a:lnSpc>
                <a:spcPct val="107000"/>
              </a:lnSpc>
              <a:spcAft>
                <a:spcPts val="1800"/>
              </a:spcAft>
            </a:pPr>
            <a:r>
              <a:rPr lang="fr-FR" sz="1600" b="1"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L’architecte contrôle l’ensemble des travaux</a:t>
            </a:r>
            <a:r>
              <a:rPr lang="fr-FR" sz="16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 effectués et de la réalisation des prestations jusque dans leurs ultimes détails. Il se charge aussi du décompte général des factures des différents prestataires et solde les comptes de chantier.</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1800"/>
              </a:spcAft>
            </a:pPr>
            <a:r>
              <a:rPr lang="fr-FR" sz="16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Le maître d’ouvrage doit attester de la prise en compte de la Réglementation Thermique 2012 à travers une attestation établie à l’achèvement des travaux. Etablie par l’architecte ou un thermicien qualifié selon les caractéristiques du bâtiment, cette attestation assure la cohérence avec l’attestation soumise lors de la demande de Permis de Construire et l’exigence de résultats (besoin bioclimatique, consommation d’énergie primaire, confort d’été).</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1800"/>
              </a:spcAft>
            </a:pPr>
            <a:r>
              <a:rPr lang="fr-FR" sz="16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L’architecte clôture alors le dossier des ouvrages réalisés et confirme ainsi la conformité de l’ouvrage afin de correspondre aux termes des contrats de garanties. Des pénalités peuvent être appliquées aux entreprises qui dépasseraient la durée prévue pour leur intervention.</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1800"/>
              </a:spcAft>
            </a:pPr>
            <a:r>
              <a:rPr lang="fr-FR" sz="16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Une fois l’ensemble des travaux validés par le maître d’œuvre et le maître d’ouvrage, ceux-ci s’accordent de la </a:t>
            </a:r>
            <a:r>
              <a:rPr lang="fr-FR" sz="1600" b="1"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réception finale du bâtiment</a:t>
            </a:r>
            <a:r>
              <a:rPr lang="fr-FR" sz="16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 et la passation complète de la responsabilité du ou des bâtiments au maître d’ouvrage.</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1800"/>
              </a:spcAft>
            </a:pPr>
            <a:r>
              <a:rPr lang="fr-FR" sz="16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Pour aller plus loin dans votre recherche d’information sur la construction de bâtiment, pour vous assister dans vos démarches lors de la construction de votre ouvrage ou pour apprendre le métier de maître d’œuvre ou les autres métiers du bâtiment, n’hésitez à visiter notre sélection des </a:t>
            </a:r>
            <a:r>
              <a:rPr lang="fr-FR" sz="1600" u="sng" dirty="0">
                <a:solidFill>
                  <a:srgbClr val="222222"/>
                </a:solidFill>
                <a:effectLst/>
                <a:latin typeface="Helvetica" panose="020B0604020202020204" pitchFamily="34" charset="0"/>
                <a:ea typeface="Times New Roman" panose="02020603050405020304" pitchFamily="18" charset="0"/>
                <a:cs typeface="Times New Roman" panose="02020603050405020304" pitchFamily="18" charset="0"/>
                <a:hlinkClick r:id="rId2"/>
              </a:rPr>
              <a:t>meilleurs livres sur le bâtiment, l’architecture et l’immobilier</a:t>
            </a:r>
            <a:r>
              <a:rPr lang="fr-FR" sz="1600" dirty="0">
                <a:solidFill>
                  <a:srgbClr val="333333"/>
                </a:solidFill>
                <a:effectLst/>
                <a:latin typeface="Helvetica" panose="020B0604020202020204" pitchFamily="34" charset="0"/>
                <a:ea typeface="Times New Roman" panose="02020603050405020304" pitchFamily="18" charset="0"/>
                <a:cs typeface="Times New Roman" panose="02020603050405020304" pitchFamily="18" charset="0"/>
              </a:rPr>
              <a:t>.</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lvl="1">
              <a:spcAft>
                <a:spcPts val="800"/>
              </a:spcAft>
              <a:buSzPts val="1000"/>
              <a:tabLst>
                <a:tab pos="914400" algn="l"/>
              </a:tabLst>
            </a:pPr>
            <a:endParaRPr lang="fr-CA"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13772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0082021"/>
      </p:ext>
    </p:extLst>
  </p:cSld>
  <p:clrMapOvr>
    <a:masterClrMapping/>
  </p:clrMapOvr>
</p:sld>
</file>

<file path=ppt/theme/theme1.xml><?xml version="1.0" encoding="utf-8"?>
<a:theme xmlns:a="http://schemas.openxmlformats.org/drawingml/2006/main" name="Brin">
  <a:themeElements>
    <a:clrScheme name="Brin">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Bri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ri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21187</TotalTime>
  <Words>1816</Words>
  <Application>Microsoft Office PowerPoint</Application>
  <PresentationFormat>Grand écran</PresentationFormat>
  <Paragraphs>85</Paragraphs>
  <Slides>14</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14</vt:i4>
      </vt:variant>
    </vt:vector>
  </HeadingPairs>
  <TitlesOfParts>
    <vt:vector size="23" baseType="lpstr">
      <vt:lpstr>Arial</vt:lpstr>
      <vt:lpstr>Calibri</vt:lpstr>
      <vt:lpstr>Century Gothic</vt:lpstr>
      <vt:lpstr>Helvetica</vt:lpstr>
      <vt:lpstr>LM Roman 12</vt:lpstr>
      <vt:lpstr>Symbol</vt:lpstr>
      <vt:lpstr>Times New Roman</vt:lpstr>
      <vt:lpstr>Wingdings 3</vt:lpstr>
      <vt:lpstr>Brin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user</dc:creator>
  <cp:lastModifiedBy>LEGION</cp:lastModifiedBy>
  <cp:revision>107</cp:revision>
  <dcterms:created xsi:type="dcterms:W3CDTF">2021-06-08T09:13:11Z</dcterms:created>
  <dcterms:modified xsi:type="dcterms:W3CDTF">2024-05-16T09:17:35Z</dcterms:modified>
</cp:coreProperties>
</file>