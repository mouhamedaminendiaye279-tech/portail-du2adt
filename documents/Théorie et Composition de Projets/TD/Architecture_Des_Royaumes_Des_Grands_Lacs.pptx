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21.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70" r:id="rId11"/>
    <p:sldId id="264" r:id="rId12"/>
    <p:sldId id="265" r:id="rId13"/>
    <p:sldId id="266" r:id="rId14"/>
    <p:sldId id="267" r:id="rId15"/>
    <p:sldId id="268" r:id="rId16"/>
    <p:sldId id="269" r:id="rId17"/>
  </p:sldIdLst>
  <p:sldSz cx="18288000" cy="10287000"/>
  <p:notesSz cx="6858000" cy="9144000"/>
  <p:embeddedFontLst>
    <p:embeddedFont>
      <p:font typeface="Cormorant SC" panose="00000500000000000000"/>
      <p:regular r:id="rId21"/>
    </p:embeddedFont>
    <p:embeddedFont>
      <p:font typeface="Cormorant SC Bold" panose="00000800000000000000"/>
      <p:bold r:id="rId22"/>
    </p:embeddedFont>
    <p:embeddedFont>
      <p:font typeface="Quicksand"/>
      <p:regular r:id="rId23"/>
    </p:embeddedFont>
    <p:embeddedFont>
      <p:font typeface="Cormorant Garamond" panose="00000500000000000000"/>
      <p:regular r:id="rId24"/>
    </p:embeddedFont>
    <p:embeddedFont>
      <p:font typeface="Lato Bold" panose="020F0502020204030203"/>
      <p:bold r:id="rId25"/>
    </p:embeddedFont>
    <p:embeddedFont>
      <p:font typeface="Montserrat Bold" panose="00000800000000000000"/>
      <p:bold r:id="rId26"/>
    </p:embeddedFont>
    <p:embeddedFont>
      <p:font typeface="Cormorant Garamond" panose="00000500000000000000" charset="0"/>
      <p:regular r:id="rId27"/>
    </p:embeddedFont>
    <p:embeddedFont>
      <p:font typeface="Cormorant Garamond Bold" panose="00000800000000000000"/>
      <p:bold r:id="rId28"/>
    </p:embeddedFont>
    <p:embeddedFont>
      <p:font typeface="Calibri" panose="020F050202020403020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94B2"/>
    <a:srgbClr val="BDD4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10.xml.rels><?xml version="1.0" encoding="UTF-8" standalone="yes"?>
<Relationships xmlns="http://schemas.openxmlformats.org/package/2006/relationships"><Relationship Id="rId9" Type="http://schemas.openxmlformats.org/officeDocument/2006/relationships/image" Target="../media/image26.jpeg"/><Relationship Id="rId8" Type="http://schemas.openxmlformats.org/officeDocument/2006/relationships/image" Target="../media/image25.jpeg"/><Relationship Id="rId7" Type="http://schemas.openxmlformats.org/officeDocument/2006/relationships/image" Target="../media/image24.jpeg"/><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19.jpeg"/><Relationship Id="rId10" Type="http://schemas.openxmlformats.org/officeDocument/2006/relationships/slideLayout" Target="../slideLayouts/slideLayout7.xml"/><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9.jpeg"/><Relationship Id="rId3" Type="http://schemas.openxmlformats.org/officeDocument/2006/relationships/image" Target="../media/image28.jpeg"/><Relationship Id="rId2" Type="http://schemas.openxmlformats.org/officeDocument/2006/relationships/image" Target="../media/image15.jpeg"/><Relationship Id="rId1" Type="http://schemas.openxmlformats.org/officeDocument/2006/relationships/image" Target="../media/image2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rotWithShape="1">
            <a:blip r:embed="rId1"/>
            <a:stretch>
              <a:fillRect t="-8888" b="-8888"/>
            </a:stretch>
          </a:blipFill>
        </p:spPr>
      </p:sp>
      <p:sp>
        <p:nvSpPr>
          <p:cNvPr id="3" name="TextBox 3"/>
          <p:cNvSpPr txBox="1"/>
          <p:nvPr/>
        </p:nvSpPr>
        <p:spPr>
          <a:xfrm>
            <a:off x="2172783" y="1973746"/>
            <a:ext cx="14604574" cy="1193796"/>
          </a:xfrm>
          <a:prstGeom prst="rect">
            <a:avLst/>
          </a:prstGeom>
        </p:spPr>
        <p:txBody>
          <a:bodyPr lIns="0" tIns="0" rIns="0" bIns="0" rtlCol="0" anchor="t">
            <a:spAutoFit/>
          </a:bodyPr>
          <a:lstStyle/>
          <a:p>
            <a:pPr algn="l">
              <a:lnSpc>
                <a:spcPts val="9800"/>
              </a:lnSpc>
              <a:spcBef>
                <a:spcPct val="0"/>
              </a:spcBef>
            </a:pPr>
            <a:r>
              <a:rPr lang="en-US" sz="7000">
                <a:solidFill>
                  <a:schemeClr val="tx2">
                    <a:lumMod val="75000"/>
                  </a:schemeClr>
                </a:solidFill>
                <a:latin typeface="Cormorant SC" panose="00000500000000000000"/>
                <a:ea typeface="Cormorant SC" panose="00000500000000000000"/>
                <a:cs typeface="Cormorant SC" panose="00000500000000000000"/>
                <a:sym typeface="Cormorant SC" panose="00000500000000000000"/>
              </a:rPr>
              <a:t>L'ARCHITECTURE DES ROYAUMES </a:t>
            </a:r>
            <a:endParaRPr lang="en-US" sz="7000">
              <a:solidFill>
                <a:schemeClr val="tx2">
                  <a:lumMod val="75000"/>
                </a:schemeClr>
              </a:solidFill>
              <a:latin typeface="Cormorant SC" panose="00000500000000000000"/>
              <a:ea typeface="Cormorant SC" panose="00000500000000000000"/>
              <a:cs typeface="Cormorant SC" panose="00000500000000000000"/>
              <a:sym typeface="Cormorant SC" panose="00000500000000000000"/>
            </a:endParaRPr>
          </a:p>
        </p:txBody>
      </p:sp>
      <p:sp>
        <p:nvSpPr>
          <p:cNvPr id="4" name="TextBox 4"/>
          <p:cNvSpPr txBox="1"/>
          <p:nvPr/>
        </p:nvSpPr>
        <p:spPr>
          <a:xfrm>
            <a:off x="2172783" y="3276876"/>
            <a:ext cx="9798199" cy="1193796"/>
          </a:xfrm>
          <a:prstGeom prst="rect">
            <a:avLst/>
          </a:prstGeom>
        </p:spPr>
        <p:txBody>
          <a:bodyPr lIns="0" tIns="0" rIns="0" bIns="0" rtlCol="0" anchor="t">
            <a:spAutoFit/>
          </a:bodyPr>
          <a:lstStyle/>
          <a:p>
            <a:pPr algn="l">
              <a:lnSpc>
                <a:spcPts val="9800"/>
              </a:lnSpc>
              <a:spcBef>
                <a:spcPct val="0"/>
              </a:spcBef>
            </a:pPr>
            <a:r>
              <a:rPr lang="en-US" sz="7000">
                <a:solidFill>
                  <a:srgbClr val="FFFFFF"/>
                </a:solidFill>
                <a:latin typeface="Cormorant SC" panose="00000500000000000000"/>
                <a:ea typeface="Cormorant SC" panose="00000500000000000000"/>
                <a:cs typeface="Cormorant SC" panose="00000500000000000000"/>
                <a:sym typeface="Cormorant SC" panose="00000500000000000000"/>
              </a:rPr>
              <a:t>DES GRANDS LACS</a:t>
            </a:r>
            <a:endParaRPr lang="en-US" sz="7000">
              <a:solidFill>
                <a:srgbClr val="FFFFFF"/>
              </a:solidFill>
              <a:latin typeface="Cormorant SC" panose="00000500000000000000"/>
              <a:ea typeface="Cormorant SC" panose="00000500000000000000"/>
              <a:cs typeface="Cormorant SC" panose="00000500000000000000"/>
              <a:sym typeface="Cormorant SC" panose="00000500000000000000"/>
            </a:endParaRPr>
          </a:p>
        </p:txBody>
      </p:sp>
      <p:sp>
        <p:nvSpPr>
          <p:cNvPr id="5" name="TextBox 5"/>
          <p:cNvSpPr txBox="1"/>
          <p:nvPr/>
        </p:nvSpPr>
        <p:spPr>
          <a:xfrm>
            <a:off x="2172783" y="5232836"/>
            <a:ext cx="6084866" cy="3752216"/>
          </a:xfrm>
          <a:prstGeom prst="rect">
            <a:avLst/>
          </a:prstGeom>
        </p:spPr>
        <p:txBody>
          <a:bodyPr lIns="0" tIns="0" rIns="0" bIns="0" rtlCol="0" anchor="t">
            <a:spAutoFit/>
          </a:bodyPr>
          <a:lstStyle/>
          <a:p>
            <a:pPr algn="l">
              <a:lnSpc>
                <a:spcPts val="5460"/>
              </a:lnSpc>
            </a:pPr>
            <a:r>
              <a:rPr lang="en-US" sz="3900" b="1">
                <a:solidFill>
                  <a:schemeClr val="tx2">
                    <a:lumMod val="60000"/>
                    <a:lumOff val="40000"/>
                  </a:schemeClr>
                </a:solidFill>
                <a:latin typeface="Cormorant SC Bold" panose="00000800000000000000"/>
                <a:ea typeface="Cormorant SC Bold" panose="00000800000000000000"/>
                <a:cs typeface="Cormorant SC Bold" panose="00000800000000000000"/>
                <a:sym typeface="Cormorant SC Bold" panose="00000800000000000000"/>
              </a:rPr>
              <a:t>Exposants :</a:t>
            </a:r>
            <a:r>
              <a:rPr lang="en-US" sz="3900" b="1">
                <a:solidFill>
                  <a:schemeClr val="tx2">
                    <a:lumMod val="75000"/>
                  </a:schemeClr>
                </a:solidFill>
                <a:latin typeface="Cormorant SC Bold" panose="00000800000000000000"/>
                <a:ea typeface="Cormorant SC Bold" panose="00000800000000000000"/>
                <a:cs typeface="Cormorant SC Bold" panose="00000800000000000000"/>
                <a:sym typeface="Cormorant SC Bold" panose="00000800000000000000"/>
              </a:rPr>
              <a:t> </a:t>
            </a:r>
            <a:endParaRPr lang="en-US" sz="3900" b="1">
              <a:solidFill>
                <a:srgbClr val="FFFFFF"/>
              </a:solidFill>
              <a:latin typeface="Cormorant SC Bold" panose="00000800000000000000"/>
              <a:ea typeface="Cormorant SC Bold" panose="00000800000000000000"/>
              <a:cs typeface="Cormorant SC Bold" panose="00000800000000000000"/>
              <a:sym typeface="Cormorant SC Bold" panose="00000800000000000000"/>
            </a:endParaRPr>
          </a:p>
          <a:p>
            <a:pPr algn="l">
              <a:lnSpc>
                <a:spcPts val="4060"/>
              </a:lnSpc>
            </a:pPr>
            <a:r>
              <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rPr>
              <a:t>Aïcha Sané</a:t>
            </a:r>
            <a:endPar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endParaRPr>
          </a:p>
          <a:p>
            <a:pPr algn="l">
              <a:lnSpc>
                <a:spcPts val="4060"/>
              </a:lnSpc>
            </a:pPr>
            <a:r>
              <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rPr>
              <a:t>Mouhamed Samb</a:t>
            </a:r>
            <a:endPar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endParaRPr>
          </a:p>
          <a:p>
            <a:pPr algn="l">
              <a:lnSpc>
                <a:spcPts val="4060"/>
              </a:lnSpc>
            </a:pPr>
            <a:r>
              <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rPr>
              <a:t>Marie Jeanne Sarr</a:t>
            </a:r>
            <a:endPar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endParaRPr>
          </a:p>
          <a:p>
            <a:pPr algn="l">
              <a:lnSpc>
                <a:spcPts val="4060"/>
              </a:lnSpc>
            </a:pPr>
            <a:r>
              <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rPr>
              <a:t>Henry Moustapha Ngom</a:t>
            </a:r>
            <a:endPar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endParaRPr>
          </a:p>
          <a:p>
            <a:pPr algn="l">
              <a:lnSpc>
                <a:spcPts val="4060"/>
              </a:lnSpc>
            </a:pPr>
            <a:r>
              <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rPr>
              <a:t>Eugène Emmanuel Benoit Ngom</a:t>
            </a:r>
            <a:endParaRPr lang="en-US" sz="2900" spc="144">
              <a:solidFill>
                <a:srgbClr val="FFFFFF"/>
              </a:solidFill>
              <a:latin typeface="Cormorant SC" panose="00000500000000000000"/>
              <a:ea typeface="Cormorant SC" panose="00000500000000000000"/>
              <a:cs typeface="Cormorant SC" panose="00000500000000000000"/>
              <a:sym typeface="Cormorant SC" panose="00000500000000000000"/>
            </a:endParaRPr>
          </a:p>
          <a:p>
            <a:pPr algn="l">
              <a:lnSpc>
                <a:spcPts val="4060"/>
              </a:lnSpc>
              <a:spcBef>
                <a:spcPct val="0"/>
              </a:spcBef>
            </a:pPr>
          </a:p>
        </p:txBody>
      </p:sp>
      <p:sp>
        <p:nvSpPr>
          <p:cNvPr id="6" name="AutoShape 6"/>
          <p:cNvSpPr/>
          <p:nvPr/>
        </p:nvSpPr>
        <p:spPr>
          <a:xfrm flipV="1">
            <a:off x="2362200" y="1047750"/>
            <a:ext cx="14897100" cy="0"/>
          </a:xfrm>
          <a:prstGeom prst="line">
            <a:avLst/>
          </a:prstGeom>
          <a:ln w="38100" cap="flat">
            <a:solidFill>
              <a:srgbClr val="BDD4E3"/>
            </a:solidFill>
            <a:prstDash val="solid"/>
            <a:headEnd type="none" w="sm" len="sm"/>
            <a:tailEnd type="none" w="sm" len="sm"/>
          </a:ln>
        </p:spPr>
      </p:sp>
      <p:grpSp>
        <p:nvGrpSpPr>
          <p:cNvPr id="7" name="Group 7"/>
          <p:cNvGrpSpPr/>
          <p:nvPr/>
        </p:nvGrpSpPr>
        <p:grpSpPr>
          <a:xfrm rot="-5400000">
            <a:off x="-4953605" y="4845367"/>
            <a:ext cx="10503475" cy="596265"/>
            <a:chOff x="0" y="0"/>
            <a:chExt cx="2766347" cy="157041"/>
          </a:xfrm>
        </p:grpSpPr>
        <p:sp>
          <p:nvSpPr>
            <p:cNvPr id="8" name="Freeform 8"/>
            <p:cNvSpPr/>
            <p:nvPr/>
          </p:nvSpPr>
          <p:spPr>
            <a:xfrm>
              <a:off x="0" y="0"/>
              <a:ext cx="2766347" cy="157041"/>
            </a:xfrm>
            <a:custGeom>
              <a:avLst/>
              <a:gdLst/>
              <a:ahLst/>
              <a:cxnLst/>
              <a:rect l="l" t="t" r="r" b="b"/>
              <a:pathLst>
                <a:path w="2766347" h="157041">
                  <a:moveTo>
                    <a:pt x="0" y="0"/>
                  </a:moveTo>
                  <a:lnTo>
                    <a:pt x="2766347" y="0"/>
                  </a:lnTo>
                  <a:lnTo>
                    <a:pt x="2766347" y="157041"/>
                  </a:lnTo>
                  <a:lnTo>
                    <a:pt x="0" y="157041"/>
                  </a:lnTo>
                  <a:close/>
                </a:path>
              </a:pathLst>
            </a:custGeom>
            <a:solidFill>
              <a:srgbClr val="000000">
                <a:alpha val="0"/>
              </a:srgbClr>
            </a:solidFill>
            <a:ln w="38100" cap="sq">
              <a:solidFill>
                <a:srgbClr val="BDD4E3"/>
              </a:solidFill>
              <a:prstDash val="solid"/>
              <a:miter/>
            </a:ln>
          </p:spPr>
        </p:sp>
        <p:sp>
          <p:nvSpPr>
            <p:cNvPr id="9" name="TextBox 9"/>
            <p:cNvSpPr txBox="1"/>
            <p:nvPr/>
          </p:nvSpPr>
          <p:spPr>
            <a:xfrm>
              <a:off x="0" y="-19050"/>
              <a:ext cx="2766347" cy="176091"/>
            </a:xfrm>
            <a:prstGeom prst="rect">
              <a:avLst/>
            </a:prstGeom>
          </p:spPr>
          <p:txBody>
            <a:bodyPr lIns="63500" tIns="63500" rIns="63500" bIns="63500" rtlCol="0" anchor="ctr"/>
            <a:lstStyle/>
            <a:p>
              <a:pPr algn="ctr">
                <a:lnSpc>
                  <a:spcPts val="2240"/>
                </a:lnSpc>
              </a:pPr>
              <a:r>
                <a:rPr lang="en-US" sz="1600" spc="193">
                  <a:solidFill>
                    <a:srgbClr val="FFFFFF"/>
                  </a:solidFill>
                  <a:latin typeface="Quicksand"/>
                  <a:ea typeface="Quicksand"/>
                  <a:cs typeface="Quicksand"/>
                  <a:sym typeface="Quicksand"/>
                </a:rPr>
                <a:t>| Département d’Urbanisme, d’Architecture et d’Aménagement durable du Territoire | </a:t>
              </a:r>
              <a:endParaRPr lang="en-US" sz="1600" spc="193">
                <a:solidFill>
                  <a:srgbClr val="FFFFFF"/>
                </a:solidFill>
                <a:latin typeface="Quicksand"/>
                <a:ea typeface="Quicksand"/>
                <a:cs typeface="Quicksand"/>
                <a:sym typeface="Quicksan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2333" b="-2333"/>
            </a:stretch>
          </a:blipFill>
        </p:spPr>
      </p:sp>
      <p:sp>
        <p:nvSpPr>
          <p:cNvPr id="3" name="AutoShape 3"/>
          <p:cNvSpPr/>
          <p:nvPr/>
        </p:nvSpPr>
        <p:spPr>
          <a:xfrm>
            <a:off x="17240250" y="4970154"/>
            <a:ext cx="0" cy="4114800"/>
          </a:xfrm>
          <a:prstGeom prst="line">
            <a:avLst/>
          </a:prstGeom>
          <a:ln w="38100" cap="flat">
            <a:solidFill>
              <a:srgbClr val="BDD4E3"/>
            </a:solidFill>
            <a:prstDash val="solid"/>
            <a:headEnd type="none" w="sm" len="sm"/>
            <a:tailEnd type="none" w="sm" len="sm"/>
          </a:ln>
        </p:spPr>
      </p:sp>
      <p:sp>
        <p:nvSpPr>
          <p:cNvPr id="4" name="AutoShape 4"/>
          <p:cNvSpPr/>
          <p:nvPr/>
        </p:nvSpPr>
        <p:spPr>
          <a:xfrm flipH="1">
            <a:off x="1009650" y="2369370"/>
            <a:ext cx="0" cy="6888930"/>
          </a:xfrm>
          <a:prstGeom prst="line">
            <a:avLst/>
          </a:prstGeom>
          <a:ln w="38100" cap="flat">
            <a:solidFill>
              <a:srgbClr val="BDD4E3"/>
            </a:solidFill>
            <a:prstDash val="solid"/>
            <a:headEnd type="none" w="sm" len="sm"/>
            <a:tailEnd type="none" w="sm" len="sm"/>
          </a:ln>
        </p:spPr>
      </p:sp>
      <p:sp>
        <p:nvSpPr>
          <p:cNvPr id="5" name="AutoShape 5"/>
          <p:cNvSpPr/>
          <p:nvPr/>
        </p:nvSpPr>
        <p:spPr>
          <a:xfrm flipV="1">
            <a:off x="2362200" y="1047750"/>
            <a:ext cx="14897100" cy="0"/>
          </a:xfrm>
          <a:prstGeom prst="line">
            <a:avLst/>
          </a:prstGeom>
          <a:ln w="38100" cap="flat">
            <a:solidFill>
              <a:srgbClr val="BDD4E3"/>
            </a:solidFill>
            <a:prstDash val="solid"/>
            <a:headEnd type="none" w="sm" len="sm"/>
            <a:tailEnd type="none" w="sm" len="sm"/>
          </a:ln>
        </p:spPr>
      </p:sp>
      <p:sp>
        <p:nvSpPr>
          <p:cNvPr id="6" name="TextBox 6"/>
          <p:cNvSpPr txBox="1"/>
          <p:nvPr/>
        </p:nvSpPr>
        <p:spPr>
          <a:xfrm>
            <a:off x="2362200" y="2875145"/>
            <a:ext cx="2435687" cy="1193796"/>
          </a:xfrm>
          <a:prstGeom prst="rect">
            <a:avLst/>
          </a:prstGeom>
        </p:spPr>
        <p:txBody>
          <a:bodyPr lIns="0" tIns="0" rIns="0" bIns="0" rtlCol="0" anchor="t">
            <a:spAutoFit/>
          </a:bodyPr>
          <a:lstStyle/>
          <a:p>
            <a:pPr algn="l">
              <a:lnSpc>
                <a:spcPts val="9800"/>
              </a:lnSpc>
              <a:spcBef>
                <a:spcPct val="0"/>
              </a:spcBef>
            </a:pPr>
            <a:r>
              <a:rPr lang="en-US" sz="7000">
                <a:solidFill>
                  <a:srgbClr val="6195B4"/>
                </a:solidFill>
                <a:latin typeface="Cormorant SC" panose="00000500000000000000"/>
                <a:ea typeface="Cormorant SC" panose="00000500000000000000"/>
                <a:cs typeface="Cormorant SC" panose="00000500000000000000"/>
                <a:sym typeface="Cormorant SC" panose="00000500000000000000"/>
              </a:rPr>
              <a:t>PLAN</a:t>
            </a:r>
            <a:endParaRPr lang="en-US" sz="7000">
              <a:solidFill>
                <a:srgbClr val="6195B4"/>
              </a:solidFill>
              <a:latin typeface="Cormorant SC" panose="00000500000000000000"/>
              <a:ea typeface="Cormorant SC" panose="00000500000000000000"/>
              <a:cs typeface="Cormorant SC" panose="00000500000000000000"/>
              <a:sym typeface="Cormorant SC" panose="00000500000000000000"/>
            </a:endParaRPr>
          </a:p>
        </p:txBody>
      </p:sp>
      <p:sp>
        <p:nvSpPr>
          <p:cNvPr id="7" name="TextBox 7"/>
          <p:cNvSpPr txBox="1"/>
          <p:nvPr/>
        </p:nvSpPr>
        <p:spPr>
          <a:xfrm>
            <a:off x="2362200" y="4941579"/>
            <a:ext cx="11856589" cy="3538420"/>
          </a:xfrm>
          <a:prstGeom prst="rect">
            <a:avLst/>
          </a:prstGeom>
        </p:spPr>
        <p:txBody>
          <a:bodyPr lIns="0" tIns="0" rIns="0" bIns="0" rtlCol="0" anchor="t">
            <a:spAutoFit/>
          </a:bodyPr>
          <a:lstStyle/>
          <a:p>
            <a:pPr algn="l">
              <a:lnSpc>
                <a:spcPts val="4325"/>
              </a:lnSpc>
            </a:pPr>
            <a:r>
              <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rPr>
              <a:t>I- Identification d’une Architecture Traditionnelle : </a:t>
            </a:r>
            <a:endPar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endParaRPr>
          </a:p>
          <a:p>
            <a:pPr algn="ctr">
              <a:lnSpc>
                <a:spcPts val="6085"/>
              </a:lnSpc>
            </a:pPr>
            <a:r>
              <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rPr>
              <a:t>Cas des Tombes du Buganda</a:t>
            </a:r>
            <a:endPar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endParaRPr>
          </a:p>
          <a:p>
            <a:pPr algn="l">
              <a:lnSpc>
                <a:spcPts val="6085"/>
              </a:lnSpc>
            </a:pPr>
            <a:r>
              <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rPr>
              <a:t>II- Caractéristiques traditionnelles </a:t>
            </a:r>
            <a:endPar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endParaRPr>
          </a:p>
          <a:p>
            <a:pPr algn="l">
              <a:lnSpc>
                <a:spcPts val="6295"/>
              </a:lnSpc>
            </a:pPr>
            <a:r>
              <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rPr>
              <a:t>III- Techniques et matériaux de construction</a:t>
            </a:r>
            <a:endPar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endParaRPr>
          </a:p>
          <a:p>
            <a:pPr algn="l">
              <a:lnSpc>
                <a:spcPts val="6295"/>
              </a:lnSpc>
            </a:pPr>
            <a:r>
              <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rPr>
              <a:t>IV- Époque et expansion dans l’espace</a:t>
            </a:r>
            <a:endParaRPr lang="en-US" sz="3460" spc="172">
              <a:solidFill>
                <a:srgbClr val="737373"/>
              </a:solidFill>
              <a:latin typeface="Cormorant SC" panose="00000500000000000000"/>
              <a:ea typeface="Cormorant SC" panose="00000500000000000000"/>
              <a:cs typeface="Cormorant SC" panose="00000500000000000000"/>
              <a:sym typeface="Cormorant SC"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TextBox 3"/>
          <p:cNvSpPr txBox="1"/>
          <p:nvPr/>
        </p:nvSpPr>
        <p:spPr>
          <a:xfrm>
            <a:off x="6184030" y="1717925"/>
            <a:ext cx="5919941" cy="1285871"/>
          </a:xfrm>
          <a:prstGeom prst="rect">
            <a:avLst/>
          </a:prstGeom>
        </p:spPr>
        <p:txBody>
          <a:bodyPr lIns="0" tIns="0" rIns="0" bIns="0" rtlCol="0" anchor="t">
            <a:spAutoFit/>
          </a:bodyPr>
          <a:lstStyle/>
          <a:p>
            <a:pPr algn="l">
              <a:lnSpc>
                <a:spcPts val="10500"/>
              </a:lnSpc>
              <a:spcBef>
                <a:spcPct val="0"/>
              </a:spcBef>
            </a:pPr>
            <a:r>
              <a:rPr lang="en-US" sz="7500">
                <a:solidFill>
                  <a:srgbClr val="6195B4"/>
                </a:solidFill>
                <a:latin typeface="Cormorant SC" panose="00000500000000000000"/>
                <a:ea typeface="Cormorant SC" panose="00000500000000000000"/>
                <a:cs typeface="Cormorant SC" panose="00000500000000000000"/>
                <a:sym typeface="Cormorant SC" panose="00000500000000000000"/>
              </a:rPr>
              <a:t>Introduction</a:t>
            </a:r>
            <a:endParaRPr lang="en-US" sz="7500">
              <a:solidFill>
                <a:srgbClr val="6195B4"/>
              </a:solidFill>
              <a:latin typeface="Cormorant SC" panose="00000500000000000000"/>
              <a:ea typeface="Cormorant SC" panose="00000500000000000000"/>
              <a:cs typeface="Cormorant SC" panose="00000500000000000000"/>
              <a:sym typeface="Cormorant SC" panose="00000500000000000000"/>
            </a:endParaRPr>
          </a:p>
        </p:txBody>
      </p:sp>
      <p:sp>
        <p:nvSpPr>
          <p:cNvPr id="4" name="TextBox 4"/>
          <p:cNvSpPr txBox="1"/>
          <p:nvPr/>
        </p:nvSpPr>
        <p:spPr>
          <a:xfrm>
            <a:off x="2615449" y="3587494"/>
            <a:ext cx="12727745" cy="4171951"/>
          </a:xfrm>
          <a:prstGeom prst="rect">
            <a:avLst/>
          </a:prstGeom>
        </p:spPr>
        <p:txBody>
          <a:bodyPr lIns="0" tIns="0" rIns="0" bIns="0" rtlCol="0" anchor="t">
            <a:spAutoFit/>
          </a:bodyPr>
          <a:lstStyle/>
          <a:p>
            <a:pPr algn="l">
              <a:lnSpc>
                <a:spcPts val="4200"/>
              </a:lnSpc>
            </a:pPr>
            <a:r>
              <a:rPr lang="en-US" sz="3000" spc="149">
                <a:solidFill>
                  <a:srgbClr val="737373"/>
                </a:solidFill>
                <a:latin typeface="Cormorant Garamond" panose="00000500000000000000"/>
                <a:ea typeface="Cormorant Garamond" panose="00000500000000000000"/>
                <a:cs typeface="Cormorant Garamond" panose="00000500000000000000"/>
                <a:sym typeface="Cormorant Garamond" panose="00000500000000000000"/>
              </a:rPr>
              <a:t>La région des Grands Lacs, comprenant le Burundi, le Rwanda, l'Ouganda, l'est de la RDC, et l'ouest de la Tanzanie, est marquée par une histoire riche de royaumes comme Buganda, Rwanda et Bunyoro. Ces royaumes ont développé des architectures traditionnelles qui reflètent leur organisation sociale, leurs croyances spirituelles et leur adaptation à l'environnement. Les Tombes de Buganda à Kasubi, situés à Kampala, sont un exemple emblématique, classés au patrimoine mondial de l'UNESCO.</a:t>
            </a:r>
            <a:endParaRPr lang="en-US" sz="3000" spc="149">
              <a:solidFill>
                <a:srgbClr val="737373"/>
              </a:solidFill>
              <a:latin typeface="Cormorant Garamond" panose="00000500000000000000"/>
              <a:ea typeface="Cormorant Garamond" panose="00000500000000000000"/>
              <a:cs typeface="Cormorant Garamond" panose="00000500000000000000"/>
              <a:sym typeface="Cormorant Garamond" panose="00000500000000000000"/>
            </a:endParaRPr>
          </a:p>
          <a:p>
            <a:pPr algn="l">
              <a:lnSpc>
                <a:spcPts val="4200"/>
              </a:lnSpc>
              <a:spcBef>
                <a:spcPct val="0"/>
              </a:spcBef>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2333" b="-2333"/>
            </a:stretch>
          </a:blipFill>
        </p:spPr>
      </p:sp>
      <p:sp>
        <p:nvSpPr>
          <p:cNvPr id="3" name="AutoShape 3"/>
          <p:cNvSpPr/>
          <p:nvPr/>
        </p:nvSpPr>
        <p:spPr>
          <a:xfrm flipV="1">
            <a:off x="2362200" y="1047750"/>
            <a:ext cx="14897100" cy="0"/>
          </a:xfrm>
          <a:prstGeom prst="line">
            <a:avLst/>
          </a:prstGeom>
          <a:ln w="38100" cap="flat">
            <a:solidFill>
              <a:srgbClr val="6195B4"/>
            </a:solidFill>
            <a:prstDash val="solid"/>
            <a:headEnd type="none" w="sm" len="sm"/>
            <a:tailEnd type="none" w="sm" len="sm"/>
          </a:ln>
        </p:spPr>
      </p:sp>
      <p:sp>
        <p:nvSpPr>
          <p:cNvPr id="4" name="AutoShape 4"/>
          <p:cNvSpPr/>
          <p:nvPr/>
        </p:nvSpPr>
        <p:spPr>
          <a:xfrm flipH="1">
            <a:off x="17259300" y="7212751"/>
            <a:ext cx="0" cy="2045549"/>
          </a:xfrm>
          <a:prstGeom prst="line">
            <a:avLst/>
          </a:prstGeom>
          <a:ln w="38100" cap="flat">
            <a:solidFill>
              <a:srgbClr val="6195B4"/>
            </a:solidFill>
            <a:prstDash val="solid"/>
            <a:headEnd type="none" w="sm" len="sm"/>
            <a:tailEnd type="none" w="sm" len="sm"/>
          </a:ln>
        </p:spPr>
      </p:sp>
      <p:sp>
        <p:nvSpPr>
          <p:cNvPr id="5" name="AutoShape 5"/>
          <p:cNvSpPr/>
          <p:nvPr/>
        </p:nvSpPr>
        <p:spPr>
          <a:xfrm flipH="1">
            <a:off x="12925516" y="9239250"/>
            <a:ext cx="4333784" cy="19050"/>
          </a:xfrm>
          <a:prstGeom prst="line">
            <a:avLst/>
          </a:prstGeom>
          <a:ln w="38100" cap="flat">
            <a:solidFill>
              <a:srgbClr val="6195B4"/>
            </a:solidFill>
            <a:prstDash val="solid"/>
            <a:headEnd type="none" w="sm" len="sm"/>
            <a:tailEnd type="none" w="sm" len="sm"/>
          </a:ln>
        </p:spPr>
      </p:sp>
      <p:grpSp>
        <p:nvGrpSpPr>
          <p:cNvPr id="6" name="Group 6"/>
          <p:cNvGrpSpPr/>
          <p:nvPr/>
        </p:nvGrpSpPr>
        <p:grpSpPr>
          <a:xfrm rot="0">
            <a:off x="9364465" y="3617568"/>
            <a:ext cx="7083061" cy="4968240"/>
            <a:chOff x="0" y="0"/>
            <a:chExt cx="1158783" cy="812800"/>
          </a:xfrm>
        </p:grpSpPr>
        <p:sp>
          <p:nvSpPr>
            <p:cNvPr id="7" name="Freeform 7"/>
            <p:cNvSpPr/>
            <p:nvPr/>
          </p:nvSpPr>
          <p:spPr>
            <a:xfrm>
              <a:off x="0" y="0"/>
              <a:ext cx="1158783" cy="812800"/>
            </a:xfrm>
            <a:custGeom>
              <a:avLst/>
              <a:gdLst/>
              <a:ahLst/>
              <a:cxnLst/>
              <a:rect l="l" t="t" r="r" b="b"/>
              <a:pathLst>
                <a:path w="1158783" h="812800">
                  <a:moveTo>
                    <a:pt x="0" y="0"/>
                  </a:moveTo>
                  <a:lnTo>
                    <a:pt x="1158783" y="0"/>
                  </a:lnTo>
                  <a:lnTo>
                    <a:pt x="1158783" y="812800"/>
                  </a:lnTo>
                  <a:lnTo>
                    <a:pt x="0" y="812800"/>
                  </a:lnTo>
                  <a:close/>
                </a:path>
              </a:pathLst>
            </a:custGeom>
            <a:blipFill>
              <a:blip r:embed="rId2">
                <a:alphaModFix amt="59000"/>
              </a:blip>
              <a:stretch>
                <a:fillRect l="-19333" r="-6518" b="-5635"/>
              </a:stretch>
            </a:blipFill>
          </p:spPr>
        </p:sp>
      </p:grpSp>
      <p:sp>
        <p:nvSpPr>
          <p:cNvPr id="8" name="TextBox 8"/>
          <p:cNvSpPr txBox="1"/>
          <p:nvPr/>
        </p:nvSpPr>
        <p:spPr>
          <a:xfrm>
            <a:off x="747962" y="1147418"/>
            <a:ext cx="16792076" cy="2098675"/>
          </a:xfrm>
          <a:prstGeom prst="rect">
            <a:avLst/>
          </a:prstGeom>
        </p:spPr>
        <p:txBody>
          <a:bodyPr lIns="0" tIns="0" rIns="0" bIns="0" rtlCol="0" anchor="t">
            <a:spAutoFit/>
          </a:bodyPr>
          <a:lstStyle/>
          <a:p>
            <a:pPr algn="ctr">
              <a:lnSpc>
                <a:spcPts val="5600"/>
              </a:lnSpc>
            </a:pPr>
            <a:r>
              <a:rPr lang="en-US" sz="4000" spc="200">
                <a:solidFill>
                  <a:srgbClr val="6195B4"/>
                </a:solidFill>
                <a:latin typeface="Cormorant SC" panose="00000500000000000000"/>
                <a:ea typeface="Cormorant SC" panose="00000500000000000000"/>
                <a:cs typeface="Cormorant SC" panose="00000500000000000000"/>
                <a:sym typeface="Cormorant SC" panose="00000500000000000000"/>
              </a:rPr>
              <a:t>I- Identification d’une Architecture Traditionnelle : </a:t>
            </a:r>
            <a:endParaRPr lang="en-US" sz="4000" spc="200">
              <a:solidFill>
                <a:srgbClr val="6195B4"/>
              </a:solidFill>
              <a:latin typeface="Cormorant SC" panose="00000500000000000000"/>
              <a:ea typeface="Cormorant SC" panose="00000500000000000000"/>
              <a:cs typeface="Cormorant SC" panose="00000500000000000000"/>
              <a:sym typeface="Cormorant SC" panose="00000500000000000000"/>
            </a:endParaRPr>
          </a:p>
          <a:p>
            <a:pPr algn="ctr">
              <a:lnSpc>
                <a:spcPts val="5600"/>
              </a:lnSpc>
            </a:pPr>
            <a:r>
              <a:rPr lang="en-US" sz="4000" spc="200">
                <a:solidFill>
                  <a:srgbClr val="6195B4"/>
                </a:solidFill>
                <a:latin typeface="Cormorant SC" panose="00000500000000000000"/>
                <a:ea typeface="Cormorant SC" panose="00000500000000000000"/>
                <a:cs typeface="Cormorant SC" panose="00000500000000000000"/>
                <a:sym typeface="Cormorant SC" panose="00000500000000000000"/>
              </a:rPr>
              <a:t>Cas des Tombes du Buganda</a:t>
            </a:r>
            <a:endParaRPr lang="en-US" sz="4000" spc="200">
              <a:solidFill>
                <a:srgbClr val="6195B4"/>
              </a:solidFill>
              <a:latin typeface="Cormorant SC" panose="00000500000000000000"/>
              <a:ea typeface="Cormorant SC" panose="00000500000000000000"/>
              <a:cs typeface="Cormorant SC" panose="00000500000000000000"/>
              <a:sym typeface="Cormorant SC" panose="00000500000000000000"/>
            </a:endParaRPr>
          </a:p>
          <a:p>
            <a:pPr algn="ctr">
              <a:lnSpc>
                <a:spcPts val="5600"/>
              </a:lnSpc>
              <a:spcBef>
                <a:spcPct val="0"/>
              </a:spcBef>
            </a:pPr>
          </a:p>
        </p:txBody>
      </p:sp>
      <p:sp>
        <p:nvSpPr>
          <p:cNvPr id="9" name="TextBox 9"/>
          <p:cNvSpPr txBox="1"/>
          <p:nvPr/>
        </p:nvSpPr>
        <p:spPr>
          <a:xfrm>
            <a:off x="2362200" y="3569943"/>
            <a:ext cx="5689899" cy="5015865"/>
          </a:xfrm>
          <a:prstGeom prst="rect">
            <a:avLst/>
          </a:prstGeom>
        </p:spPr>
        <p:txBody>
          <a:bodyPr lIns="0" tIns="0" rIns="0" bIns="0" rtlCol="0" anchor="t">
            <a:spAutoFit/>
          </a:bodyPr>
          <a:lstStyle/>
          <a:p>
            <a:pPr algn="just">
              <a:lnSpc>
                <a:spcPts val="3360"/>
              </a:lnSpc>
              <a:spcBef>
                <a:spcPct val="0"/>
              </a:spcBef>
            </a:pPr>
            <a:r>
              <a:rPr lang="en-US" sz="2400" spc="120">
                <a:solidFill>
                  <a:srgbClr val="545454"/>
                </a:solidFill>
                <a:latin typeface="Cormorant Garamond" panose="00000500000000000000"/>
                <a:ea typeface="Cormorant Garamond" panose="00000500000000000000"/>
                <a:cs typeface="Cormorant Garamond" panose="00000500000000000000"/>
                <a:sym typeface="Cormorant Garamond" panose="00000500000000000000"/>
              </a:rPr>
              <a:t>Les huttes royales du Buganda, un royaume traditionnel situé en Ouganda, sont des structures emblématiques qui reflètent la richesse culturelle et l'histoire de cette région. Associées à la royauté, elles sont souvent regroupées dans un complexe appelé "Lubiri", le palais royal, qui abrite les résidences du roi, des reines, et des membres de la cour. Ce lieu est également utilisé pour des cérémonies importantes, comme les couronnements et les célébrations culturelles.</a:t>
            </a:r>
            <a:endParaRPr lang="en-US" sz="2400" spc="120">
              <a:solidFill>
                <a:srgbClr val="545454"/>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DD4E3"/>
        </a:solidFill>
        <a:effectLst/>
      </p:bgPr>
    </p:bg>
    <p:spTree>
      <p:nvGrpSpPr>
        <p:cNvPr id="1" name=""/>
        <p:cNvGrpSpPr/>
        <p:nvPr/>
      </p:nvGrpSpPr>
      <p:grpSpPr>
        <a:xfrm>
          <a:off x="0" y="0"/>
          <a:ext cx="0" cy="0"/>
          <a:chOff x="0" y="0"/>
          <a:chExt cx="0" cy="0"/>
        </a:xfrm>
      </p:grpSpPr>
      <p:grpSp>
        <p:nvGrpSpPr>
          <p:cNvPr id="2" name="Group 2"/>
          <p:cNvGrpSpPr/>
          <p:nvPr/>
        </p:nvGrpSpPr>
        <p:grpSpPr>
          <a:xfrm rot="0">
            <a:off x="0" y="0"/>
            <a:ext cx="6458251" cy="10287000"/>
            <a:chOff x="0" y="0"/>
            <a:chExt cx="1700939" cy="2709333"/>
          </a:xfrm>
          <a:solidFill>
            <a:srgbClr val="7794B2"/>
          </a:solidFill>
        </p:grpSpPr>
        <p:sp>
          <p:nvSpPr>
            <p:cNvPr id="3" name="Freeform 3"/>
            <p:cNvSpPr/>
            <p:nvPr/>
          </p:nvSpPr>
          <p:spPr>
            <a:xfrm>
              <a:off x="0" y="0"/>
              <a:ext cx="1700939" cy="2709333"/>
            </a:xfrm>
            <a:custGeom>
              <a:avLst/>
              <a:gdLst/>
              <a:ahLst/>
              <a:cxnLst/>
              <a:rect l="l" t="t" r="r" b="b"/>
              <a:pathLst>
                <a:path w="1700939" h="2709333">
                  <a:moveTo>
                    <a:pt x="0" y="0"/>
                  </a:moveTo>
                  <a:lnTo>
                    <a:pt x="1700939" y="0"/>
                  </a:lnTo>
                  <a:lnTo>
                    <a:pt x="1700939" y="2709333"/>
                  </a:lnTo>
                  <a:lnTo>
                    <a:pt x="0" y="2709333"/>
                  </a:lnTo>
                  <a:close/>
                </a:path>
              </a:pathLst>
            </a:custGeom>
            <a:grpFill/>
            <a:ln>
              <a:solidFill>
                <a:srgbClr val="7794B2"/>
              </a:solidFill>
            </a:ln>
          </p:spPr>
        </p:sp>
        <p:sp>
          <p:nvSpPr>
            <p:cNvPr id="4" name="TextBox 4"/>
            <p:cNvSpPr txBox="1"/>
            <p:nvPr/>
          </p:nvSpPr>
          <p:spPr>
            <a:xfrm>
              <a:off x="0" y="-19050"/>
              <a:ext cx="1700939" cy="2728383"/>
            </a:xfrm>
            <a:prstGeom prst="rect">
              <a:avLst/>
            </a:prstGeom>
            <a:grpFill/>
            <a:ln>
              <a:solidFill>
                <a:srgbClr val="7794B2"/>
              </a:solidFill>
            </a:ln>
          </p:spPr>
          <p:txBody>
            <a:bodyPr lIns="50800" tIns="50800" rIns="50800" bIns="50800" rtlCol="0" anchor="ctr"/>
            <a:lstStyle/>
            <a:p>
              <a:pPr algn="ctr">
                <a:lnSpc>
                  <a:spcPts val="2240"/>
                </a:lnSpc>
              </a:pPr>
            </a:p>
          </p:txBody>
        </p:sp>
      </p:grpSp>
      <p:sp>
        <p:nvSpPr>
          <p:cNvPr id="5" name="Freeform 5"/>
          <p:cNvSpPr/>
          <p:nvPr/>
        </p:nvSpPr>
        <p:spPr>
          <a:xfrm>
            <a:off x="11298371" y="5562600"/>
            <a:ext cx="6538911" cy="4356550"/>
          </a:xfrm>
          <a:custGeom>
            <a:avLst/>
            <a:gdLst/>
            <a:ahLst/>
            <a:cxnLst/>
            <a:rect l="l" t="t" r="r" b="b"/>
            <a:pathLst>
              <a:path w="6538911" h="4356550">
                <a:moveTo>
                  <a:pt x="0" y="0"/>
                </a:moveTo>
                <a:lnTo>
                  <a:pt x="6538912" y="0"/>
                </a:lnTo>
                <a:lnTo>
                  <a:pt x="6538912" y="4356550"/>
                </a:lnTo>
                <a:lnTo>
                  <a:pt x="0" y="4356550"/>
                </a:lnTo>
                <a:lnTo>
                  <a:pt x="0" y="0"/>
                </a:lnTo>
                <a:close/>
              </a:path>
            </a:pathLst>
          </a:custGeom>
          <a:blipFill>
            <a:blip r:embed="rId1"/>
            <a:stretch>
              <a:fillRect/>
            </a:stretch>
          </a:blipFill>
        </p:spPr>
      </p:sp>
      <p:sp>
        <p:nvSpPr>
          <p:cNvPr id="6" name="Freeform 6"/>
          <p:cNvSpPr/>
          <p:nvPr/>
        </p:nvSpPr>
        <p:spPr>
          <a:xfrm>
            <a:off x="6860715" y="298211"/>
            <a:ext cx="6460385" cy="4845289"/>
          </a:xfrm>
          <a:custGeom>
            <a:avLst/>
            <a:gdLst/>
            <a:ahLst/>
            <a:cxnLst/>
            <a:rect l="l" t="t" r="r" b="b"/>
            <a:pathLst>
              <a:path w="6460385" h="4845289">
                <a:moveTo>
                  <a:pt x="0" y="0"/>
                </a:moveTo>
                <a:lnTo>
                  <a:pt x="6460384" y="0"/>
                </a:lnTo>
                <a:lnTo>
                  <a:pt x="6460384" y="4845289"/>
                </a:lnTo>
                <a:lnTo>
                  <a:pt x="0" y="4845289"/>
                </a:lnTo>
                <a:lnTo>
                  <a:pt x="0" y="0"/>
                </a:lnTo>
                <a:close/>
              </a:path>
            </a:pathLst>
          </a:custGeom>
          <a:blipFill>
            <a:blip r:embed="rId2"/>
            <a:stretch>
              <a:fillRect/>
            </a:stretch>
          </a:blipFill>
        </p:spPr>
      </p:sp>
      <p:sp>
        <p:nvSpPr>
          <p:cNvPr id="7" name="TextBox 7"/>
          <p:cNvSpPr txBox="1"/>
          <p:nvPr/>
        </p:nvSpPr>
        <p:spPr>
          <a:xfrm>
            <a:off x="531520" y="3030855"/>
            <a:ext cx="4996515" cy="5015865"/>
          </a:xfrm>
          <a:prstGeom prst="rect">
            <a:avLst/>
          </a:prstGeom>
        </p:spPr>
        <p:txBody>
          <a:bodyPr lIns="0" tIns="0" rIns="0" bIns="0" rtlCol="0" anchor="t">
            <a:spAutoFit/>
          </a:bodyPr>
          <a:lstStyle/>
          <a:p>
            <a:pPr algn="just">
              <a:lnSpc>
                <a:spcPts val="3360"/>
              </a:lnSpc>
              <a:spcBef>
                <a:spcPct val="0"/>
              </a:spcBef>
            </a:pPr>
            <a:r>
              <a:rPr lang="en-US" sz="2400" spc="12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rPr>
              <a:t>Les Tombes des rois du Buganda, notamment le bâtiment principal Muzibu-Azaala-Mpanga, sont une structure circulaire surmontée d'un dôme, construite en 1882 et convertie en site funéraire en 1884. Ils sont situés sur la colline de Kasubi,à Kampala, couvrant 26,8 hectares, et incluent quatre tombes royales. Cette architecture est un exemple rare de palais et de site funéraire des Baganda, datant du 13e siècle.</a:t>
            </a:r>
            <a:endParaRPr lang="en-US" sz="2400" spc="12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8" name="TextBox 8"/>
          <p:cNvSpPr txBox="1"/>
          <p:nvPr/>
        </p:nvSpPr>
        <p:spPr>
          <a:xfrm>
            <a:off x="76200" y="1638300"/>
            <a:ext cx="6035675" cy="717550"/>
          </a:xfrm>
          <a:prstGeom prst="rect">
            <a:avLst/>
          </a:prstGeom>
        </p:spPr>
        <p:txBody>
          <a:bodyPr wrap="square" lIns="0" tIns="0" rIns="0" bIns="0" rtlCol="0" anchor="t">
            <a:spAutoFit/>
          </a:bodyPr>
          <a:p>
            <a:pPr algn="ctr">
              <a:lnSpc>
                <a:spcPts val="5600"/>
              </a:lnSpc>
            </a:pPr>
            <a:r>
              <a:rPr lang="en-US" sz="4000" b="1" spc="200">
                <a:solidFill>
                  <a:schemeClr val="bg1"/>
                </a:solidFill>
                <a:latin typeface="Cormorant SC" panose="00000500000000000000"/>
                <a:ea typeface="Cormorant SC" panose="00000500000000000000"/>
                <a:cs typeface="Cormorant SC" panose="00000500000000000000"/>
                <a:sym typeface="Cormorant SC" panose="00000500000000000000"/>
              </a:rPr>
              <a:t>Tombes du Buganda</a:t>
            </a:r>
            <a:endParaRPr lang="en-US" sz="4000" b="1" spc="200">
              <a:solidFill>
                <a:schemeClr val="bg1"/>
              </a:solidFill>
              <a:latin typeface="Cormorant SC" panose="00000500000000000000"/>
              <a:ea typeface="Cormorant SC" panose="00000500000000000000"/>
              <a:cs typeface="Cormorant SC" panose="00000500000000000000"/>
              <a:sym typeface="Cormorant SC" panose="00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4360" b="-4360"/>
            </a:stretch>
          </a:blipFill>
        </p:spPr>
      </p:sp>
      <p:sp>
        <p:nvSpPr>
          <p:cNvPr id="3" name="TextBox 3"/>
          <p:cNvSpPr txBox="1"/>
          <p:nvPr/>
        </p:nvSpPr>
        <p:spPr>
          <a:xfrm>
            <a:off x="1545521" y="4525027"/>
            <a:ext cx="15196957" cy="1113121"/>
          </a:xfrm>
          <a:prstGeom prst="rect">
            <a:avLst/>
          </a:prstGeom>
        </p:spPr>
        <p:txBody>
          <a:bodyPr lIns="0" tIns="0" rIns="0" bIns="0" rtlCol="0" anchor="t">
            <a:spAutoFit/>
          </a:bodyPr>
          <a:lstStyle/>
          <a:p>
            <a:pPr algn="ctr">
              <a:lnSpc>
                <a:spcPts val="9185"/>
              </a:lnSpc>
              <a:spcBef>
                <a:spcPct val="0"/>
              </a:spcBef>
            </a:pPr>
            <a:r>
              <a:rPr lang="en-US" sz="6560" spc="327">
                <a:solidFill>
                  <a:srgbClr val="FFFFFF"/>
                </a:solidFill>
                <a:latin typeface="Cormorant SC" panose="00000500000000000000"/>
                <a:ea typeface="Cormorant SC" panose="00000500000000000000"/>
                <a:cs typeface="Cormorant SC" panose="00000500000000000000"/>
                <a:sym typeface="Cormorant SC" panose="00000500000000000000"/>
              </a:rPr>
              <a:t>II- Caractéristiques traditionnelles</a:t>
            </a:r>
            <a:endParaRPr lang="en-US" sz="6560" spc="327">
              <a:solidFill>
                <a:srgbClr val="FFFFFF"/>
              </a:solidFill>
              <a:latin typeface="Cormorant SC" panose="00000500000000000000"/>
              <a:ea typeface="Cormorant SC" panose="00000500000000000000"/>
              <a:cs typeface="Cormorant SC" panose="00000500000000000000"/>
              <a:sym typeface="Cormorant SC"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794B2"/>
        </a:solidFill>
        <a:effectLst/>
      </p:bgPr>
    </p:bg>
    <p:spTree>
      <p:nvGrpSpPr>
        <p:cNvPr id="1" name=""/>
        <p:cNvGrpSpPr/>
        <p:nvPr/>
      </p:nvGrpSpPr>
      <p:grpSpPr>
        <a:xfrm>
          <a:off x="0" y="0"/>
          <a:ext cx="0" cy="0"/>
          <a:chOff x="0" y="0"/>
          <a:chExt cx="0" cy="0"/>
        </a:xfrm>
      </p:grpSpPr>
      <p:grpSp>
        <p:nvGrpSpPr>
          <p:cNvPr id="2" name="Group 2"/>
          <p:cNvGrpSpPr/>
          <p:nvPr/>
        </p:nvGrpSpPr>
        <p:grpSpPr>
          <a:xfrm rot="0">
            <a:off x="335675" y="4750914"/>
            <a:ext cx="3521882" cy="535225"/>
            <a:chOff x="0" y="0"/>
            <a:chExt cx="872151" cy="132542"/>
          </a:xfrm>
        </p:grpSpPr>
        <p:sp>
          <p:nvSpPr>
            <p:cNvPr id="3" name="Freeform 3"/>
            <p:cNvSpPr/>
            <p:nvPr/>
          </p:nvSpPr>
          <p:spPr>
            <a:xfrm>
              <a:off x="0" y="0"/>
              <a:ext cx="872151" cy="132542"/>
            </a:xfrm>
            <a:custGeom>
              <a:avLst/>
              <a:gdLst/>
              <a:ahLst/>
              <a:cxnLst/>
              <a:rect l="l" t="t" r="r" b="b"/>
              <a:pathLst>
                <a:path w="872151" h="132542">
                  <a:moveTo>
                    <a:pt x="66271" y="0"/>
                  </a:moveTo>
                  <a:lnTo>
                    <a:pt x="805880" y="0"/>
                  </a:lnTo>
                  <a:cubicBezTo>
                    <a:pt x="842481" y="0"/>
                    <a:pt x="872151" y="29671"/>
                    <a:pt x="872151" y="66271"/>
                  </a:cubicBezTo>
                  <a:lnTo>
                    <a:pt x="872151" y="66271"/>
                  </a:lnTo>
                  <a:cubicBezTo>
                    <a:pt x="872151" y="102871"/>
                    <a:pt x="842481" y="132542"/>
                    <a:pt x="805880" y="132542"/>
                  </a:cubicBezTo>
                  <a:lnTo>
                    <a:pt x="66271" y="132542"/>
                  </a:lnTo>
                  <a:cubicBezTo>
                    <a:pt x="29671" y="132542"/>
                    <a:pt x="0" y="102871"/>
                    <a:pt x="0" y="66271"/>
                  </a:cubicBezTo>
                  <a:lnTo>
                    <a:pt x="0" y="66271"/>
                  </a:lnTo>
                  <a:cubicBezTo>
                    <a:pt x="0" y="29671"/>
                    <a:pt x="29671" y="0"/>
                    <a:pt x="66271" y="0"/>
                  </a:cubicBezTo>
                  <a:close/>
                </a:path>
              </a:pathLst>
            </a:custGeom>
            <a:solidFill>
              <a:srgbClr val="FFFFFF"/>
            </a:solidFill>
          </p:spPr>
        </p:sp>
        <p:sp>
          <p:nvSpPr>
            <p:cNvPr id="4" name="TextBox 4"/>
            <p:cNvSpPr txBox="1"/>
            <p:nvPr/>
          </p:nvSpPr>
          <p:spPr>
            <a:xfrm>
              <a:off x="0" y="-38100"/>
              <a:ext cx="872151" cy="170642"/>
            </a:xfrm>
            <a:prstGeom prst="rect">
              <a:avLst/>
            </a:prstGeom>
          </p:spPr>
          <p:txBody>
            <a:bodyPr lIns="50800" tIns="50800" rIns="50800" bIns="50800" rtlCol="0" anchor="ctr"/>
            <a:lstStyle/>
            <a:p>
              <a:pPr algn="ctr">
                <a:lnSpc>
                  <a:spcPts val="2775"/>
                </a:lnSpc>
              </a:pPr>
            </a:p>
          </p:txBody>
        </p:sp>
      </p:grpSp>
      <p:grpSp>
        <p:nvGrpSpPr>
          <p:cNvPr id="5" name="Group 5"/>
          <p:cNvGrpSpPr/>
          <p:nvPr/>
        </p:nvGrpSpPr>
        <p:grpSpPr>
          <a:xfrm rot="0">
            <a:off x="4885564" y="5736418"/>
            <a:ext cx="3521882" cy="3521882"/>
            <a:chOff x="0" y="0"/>
            <a:chExt cx="812800" cy="812800"/>
          </a:xfrm>
        </p:grpSpPr>
        <p:sp>
          <p:nvSpPr>
            <p:cNvPr id="6" name="Freeform 6"/>
            <p:cNvSpPr/>
            <p:nvPr/>
          </p:nvSpPr>
          <p:spPr>
            <a:xfrm>
              <a:off x="0" y="0"/>
              <a:ext cx="812800" cy="812800"/>
            </a:xfrm>
            <a:custGeom>
              <a:avLst/>
              <a:gdLst/>
              <a:ahLst/>
              <a:cxnLst/>
              <a:rect l="l" t="t" r="r" b="b"/>
              <a:pathLst>
                <a:path w="812800" h="812800">
                  <a:moveTo>
                    <a:pt x="92326" y="0"/>
                  </a:moveTo>
                  <a:lnTo>
                    <a:pt x="720474" y="0"/>
                  </a:lnTo>
                  <a:cubicBezTo>
                    <a:pt x="744960" y="0"/>
                    <a:pt x="768444" y="9727"/>
                    <a:pt x="785758" y="27042"/>
                  </a:cubicBezTo>
                  <a:cubicBezTo>
                    <a:pt x="803073" y="44356"/>
                    <a:pt x="812800" y="67839"/>
                    <a:pt x="812800" y="92326"/>
                  </a:cubicBezTo>
                  <a:lnTo>
                    <a:pt x="812800" y="720474"/>
                  </a:lnTo>
                  <a:cubicBezTo>
                    <a:pt x="812800" y="744960"/>
                    <a:pt x="803073" y="768444"/>
                    <a:pt x="785758" y="785758"/>
                  </a:cubicBezTo>
                  <a:cubicBezTo>
                    <a:pt x="768444" y="803073"/>
                    <a:pt x="744960" y="812800"/>
                    <a:pt x="720474" y="812800"/>
                  </a:cubicBezTo>
                  <a:lnTo>
                    <a:pt x="92326" y="812800"/>
                  </a:lnTo>
                  <a:cubicBezTo>
                    <a:pt x="67839" y="812800"/>
                    <a:pt x="44356" y="803073"/>
                    <a:pt x="27042" y="785758"/>
                  </a:cubicBezTo>
                  <a:cubicBezTo>
                    <a:pt x="9727" y="768444"/>
                    <a:pt x="0" y="744960"/>
                    <a:pt x="0" y="720474"/>
                  </a:cubicBezTo>
                  <a:lnTo>
                    <a:pt x="0" y="92326"/>
                  </a:lnTo>
                  <a:cubicBezTo>
                    <a:pt x="0" y="67839"/>
                    <a:pt x="9727" y="44356"/>
                    <a:pt x="27042" y="27042"/>
                  </a:cubicBezTo>
                  <a:cubicBezTo>
                    <a:pt x="44356" y="9727"/>
                    <a:pt x="67839" y="0"/>
                    <a:pt x="92326" y="0"/>
                  </a:cubicBezTo>
                  <a:close/>
                </a:path>
              </a:pathLst>
            </a:custGeom>
            <a:blipFill>
              <a:blip r:embed="rId1"/>
              <a:stretch>
                <a:fillRect l="-83413" r="-72315" b="-91796"/>
              </a:stretch>
            </a:blipFill>
          </p:spPr>
        </p:sp>
      </p:grpSp>
      <p:grpSp>
        <p:nvGrpSpPr>
          <p:cNvPr id="7" name="Group 7"/>
          <p:cNvGrpSpPr/>
          <p:nvPr/>
        </p:nvGrpSpPr>
        <p:grpSpPr>
          <a:xfrm rot="0">
            <a:off x="4885564" y="4750914"/>
            <a:ext cx="3521882" cy="535225"/>
            <a:chOff x="0" y="0"/>
            <a:chExt cx="872151" cy="132542"/>
          </a:xfrm>
        </p:grpSpPr>
        <p:sp>
          <p:nvSpPr>
            <p:cNvPr id="8" name="Freeform 8"/>
            <p:cNvSpPr/>
            <p:nvPr/>
          </p:nvSpPr>
          <p:spPr>
            <a:xfrm>
              <a:off x="0" y="0"/>
              <a:ext cx="872151" cy="132542"/>
            </a:xfrm>
            <a:custGeom>
              <a:avLst/>
              <a:gdLst/>
              <a:ahLst/>
              <a:cxnLst/>
              <a:rect l="l" t="t" r="r" b="b"/>
              <a:pathLst>
                <a:path w="872151" h="132542">
                  <a:moveTo>
                    <a:pt x="66271" y="0"/>
                  </a:moveTo>
                  <a:lnTo>
                    <a:pt x="805880" y="0"/>
                  </a:lnTo>
                  <a:cubicBezTo>
                    <a:pt x="842481" y="0"/>
                    <a:pt x="872151" y="29671"/>
                    <a:pt x="872151" y="66271"/>
                  </a:cubicBezTo>
                  <a:lnTo>
                    <a:pt x="872151" y="66271"/>
                  </a:lnTo>
                  <a:cubicBezTo>
                    <a:pt x="872151" y="102871"/>
                    <a:pt x="842481" y="132542"/>
                    <a:pt x="805880" y="132542"/>
                  </a:cubicBezTo>
                  <a:lnTo>
                    <a:pt x="66271" y="132542"/>
                  </a:lnTo>
                  <a:cubicBezTo>
                    <a:pt x="29671" y="132542"/>
                    <a:pt x="0" y="102871"/>
                    <a:pt x="0" y="66271"/>
                  </a:cubicBezTo>
                  <a:lnTo>
                    <a:pt x="0" y="66271"/>
                  </a:lnTo>
                  <a:cubicBezTo>
                    <a:pt x="0" y="29671"/>
                    <a:pt x="29671" y="0"/>
                    <a:pt x="66271" y="0"/>
                  </a:cubicBezTo>
                  <a:close/>
                </a:path>
              </a:pathLst>
            </a:custGeom>
            <a:solidFill>
              <a:srgbClr val="FFFFFF"/>
            </a:solidFill>
          </p:spPr>
        </p:sp>
        <p:sp>
          <p:nvSpPr>
            <p:cNvPr id="9" name="TextBox 9"/>
            <p:cNvSpPr txBox="1"/>
            <p:nvPr/>
          </p:nvSpPr>
          <p:spPr>
            <a:xfrm>
              <a:off x="0" y="-38100"/>
              <a:ext cx="872151" cy="170642"/>
            </a:xfrm>
            <a:prstGeom prst="rect">
              <a:avLst/>
            </a:prstGeom>
          </p:spPr>
          <p:txBody>
            <a:bodyPr lIns="50800" tIns="50800" rIns="50800" bIns="50800" rtlCol="0" anchor="ctr"/>
            <a:lstStyle/>
            <a:p>
              <a:pPr algn="ctr">
                <a:lnSpc>
                  <a:spcPts val="2775"/>
                </a:lnSpc>
              </a:pPr>
            </a:p>
          </p:txBody>
        </p:sp>
      </p:grpSp>
      <p:grpSp>
        <p:nvGrpSpPr>
          <p:cNvPr id="10" name="Group 10"/>
          <p:cNvGrpSpPr/>
          <p:nvPr/>
        </p:nvGrpSpPr>
        <p:grpSpPr>
          <a:xfrm rot="0">
            <a:off x="9430605" y="5736418"/>
            <a:ext cx="3521882" cy="3521882"/>
            <a:chOff x="0" y="0"/>
            <a:chExt cx="812800" cy="812800"/>
          </a:xfrm>
        </p:grpSpPr>
        <p:sp>
          <p:nvSpPr>
            <p:cNvPr id="11" name="Freeform 11"/>
            <p:cNvSpPr/>
            <p:nvPr/>
          </p:nvSpPr>
          <p:spPr>
            <a:xfrm>
              <a:off x="0" y="0"/>
              <a:ext cx="812800" cy="812800"/>
            </a:xfrm>
            <a:custGeom>
              <a:avLst/>
              <a:gdLst/>
              <a:ahLst/>
              <a:cxnLst/>
              <a:rect l="l" t="t" r="r" b="b"/>
              <a:pathLst>
                <a:path w="812800" h="812800">
                  <a:moveTo>
                    <a:pt x="92326" y="0"/>
                  </a:moveTo>
                  <a:lnTo>
                    <a:pt x="720474" y="0"/>
                  </a:lnTo>
                  <a:cubicBezTo>
                    <a:pt x="744960" y="0"/>
                    <a:pt x="768444" y="9727"/>
                    <a:pt x="785758" y="27042"/>
                  </a:cubicBezTo>
                  <a:cubicBezTo>
                    <a:pt x="803073" y="44356"/>
                    <a:pt x="812800" y="67839"/>
                    <a:pt x="812800" y="92326"/>
                  </a:cubicBezTo>
                  <a:lnTo>
                    <a:pt x="812800" y="720474"/>
                  </a:lnTo>
                  <a:cubicBezTo>
                    <a:pt x="812800" y="744960"/>
                    <a:pt x="803073" y="768444"/>
                    <a:pt x="785758" y="785758"/>
                  </a:cubicBezTo>
                  <a:cubicBezTo>
                    <a:pt x="768444" y="803073"/>
                    <a:pt x="744960" y="812800"/>
                    <a:pt x="720474" y="812800"/>
                  </a:cubicBezTo>
                  <a:lnTo>
                    <a:pt x="92326" y="812800"/>
                  </a:lnTo>
                  <a:cubicBezTo>
                    <a:pt x="67839" y="812800"/>
                    <a:pt x="44356" y="803073"/>
                    <a:pt x="27042" y="785758"/>
                  </a:cubicBezTo>
                  <a:cubicBezTo>
                    <a:pt x="9727" y="768444"/>
                    <a:pt x="0" y="744960"/>
                    <a:pt x="0" y="720474"/>
                  </a:cubicBezTo>
                  <a:lnTo>
                    <a:pt x="0" y="92326"/>
                  </a:lnTo>
                  <a:cubicBezTo>
                    <a:pt x="0" y="67839"/>
                    <a:pt x="9727" y="44356"/>
                    <a:pt x="27042" y="27042"/>
                  </a:cubicBezTo>
                  <a:cubicBezTo>
                    <a:pt x="44356" y="9727"/>
                    <a:pt x="67839" y="0"/>
                    <a:pt x="92326" y="0"/>
                  </a:cubicBezTo>
                  <a:close/>
                </a:path>
              </a:pathLst>
            </a:custGeom>
            <a:blipFill>
              <a:blip r:embed="rId2"/>
              <a:stretch>
                <a:fillRect l="-38691" r="-38691"/>
              </a:stretch>
            </a:blipFill>
          </p:spPr>
        </p:sp>
      </p:grpSp>
      <p:grpSp>
        <p:nvGrpSpPr>
          <p:cNvPr id="12" name="Group 12"/>
          <p:cNvGrpSpPr/>
          <p:nvPr/>
        </p:nvGrpSpPr>
        <p:grpSpPr>
          <a:xfrm rot="0">
            <a:off x="9430605" y="4750914"/>
            <a:ext cx="3521882" cy="535225"/>
            <a:chOff x="0" y="0"/>
            <a:chExt cx="872151" cy="132542"/>
          </a:xfrm>
        </p:grpSpPr>
        <p:sp>
          <p:nvSpPr>
            <p:cNvPr id="13" name="Freeform 13"/>
            <p:cNvSpPr/>
            <p:nvPr/>
          </p:nvSpPr>
          <p:spPr>
            <a:xfrm>
              <a:off x="0" y="0"/>
              <a:ext cx="872151" cy="132542"/>
            </a:xfrm>
            <a:custGeom>
              <a:avLst/>
              <a:gdLst/>
              <a:ahLst/>
              <a:cxnLst/>
              <a:rect l="l" t="t" r="r" b="b"/>
              <a:pathLst>
                <a:path w="872151" h="132542">
                  <a:moveTo>
                    <a:pt x="66271" y="0"/>
                  </a:moveTo>
                  <a:lnTo>
                    <a:pt x="805880" y="0"/>
                  </a:lnTo>
                  <a:cubicBezTo>
                    <a:pt x="842481" y="0"/>
                    <a:pt x="872151" y="29671"/>
                    <a:pt x="872151" y="66271"/>
                  </a:cubicBezTo>
                  <a:lnTo>
                    <a:pt x="872151" y="66271"/>
                  </a:lnTo>
                  <a:cubicBezTo>
                    <a:pt x="872151" y="102871"/>
                    <a:pt x="842481" y="132542"/>
                    <a:pt x="805880" y="132542"/>
                  </a:cubicBezTo>
                  <a:lnTo>
                    <a:pt x="66271" y="132542"/>
                  </a:lnTo>
                  <a:cubicBezTo>
                    <a:pt x="29671" y="132542"/>
                    <a:pt x="0" y="102871"/>
                    <a:pt x="0" y="66271"/>
                  </a:cubicBezTo>
                  <a:lnTo>
                    <a:pt x="0" y="66271"/>
                  </a:lnTo>
                  <a:cubicBezTo>
                    <a:pt x="0" y="29671"/>
                    <a:pt x="29671" y="0"/>
                    <a:pt x="66271" y="0"/>
                  </a:cubicBezTo>
                  <a:close/>
                </a:path>
              </a:pathLst>
            </a:custGeom>
            <a:solidFill>
              <a:srgbClr val="FFFFFF"/>
            </a:solidFill>
          </p:spPr>
        </p:sp>
        <p:sp>
          <p:nvSpPr>
            <p:cNvPr id="14" name="TextBox 14"/>
            <p:cNvSpPr txBox="1"/>
            <p:nvPr/>
          </p:nvSpPr>
          <p:spPr>
            <a:xfrm>
              <a:off x="0" y="-38100"/>
              <a:ext cx="872151" cy="170642"/>
            </a:xfrm>
            <a:prstGeom prst="rect">
              <a:avLst/>
            </a:prstGeom>
          </p:spPr>
          <p:txBody>
            <a:bodyPr lIns="50800" tIns="50800" rIns="50800" bIns="50800" rtlCol="0" anchor="ctr"/>
            <a:lstStyle/>
            <a:p>
              <a:pPr algn="ctr">
                <a:lnSpc>
                  <a:spcPts val="2775"/>
                </a:lnSpc>
              </a:pPr>
            </a:p>
          </p:txBody>
        </p:sp>
      </p:grpSp>
      <p:grpSp>
        <p:nvGrpSpPr>
          <p:cNvPr id="15" name="Group 15"/>
          <p:cNvGrpSpPr/>
          <p:nvPr/>
        </p:nvGrpSpPr>
        <p:grpSpPr>
          <a:xfrm rot="0">
            <a:off x="13985343" y="5736418"/>
            <a:ext cx="3521882" cy="3521882"/>
            <a:chOff x="0" y="0"/>
            <a:chExt cx="812800" cy="812800"/>
          </a:xfrm>
        </p:grpSpPr>
        <p:sp>
          <p:nvSpPr>
            <p:cNvPr id="16" name="Freeform 16"/>
            <p:cNvSpPr/>
            <p:nvPr/>
          </p:nvSpPr>
          <p:spPr>
            <a:xfrm>
              <a:off x="0" y="0"/>
              <a:ext cx="812800" cy="812800"/>
            </a:xfrm>
            <a:custGeom>
              <a:avLst/>
              <a:gdLst/>
              <a:ahLst/>
              <a:cxnLst/>
              <a:rect l="l" t="t" r="r" b="b"/>
              <a:pathLst>
                <a:path w="812800" h="812800">
                  <a:moveTo>
                    <a:pt x="92326" y="0"/>
                  </a:moveTo>
                  <a:lnTo>
                    <a:pt x="720474" y="0"/>
                  </a:lnTo>
                  <a:cubicBezTo>
                    <a:pt x="744960" y="0"/>
                    <a:pt x="768444" y="9727"/>
                    <a:pt x="785758" y="27042"/>
                  </a:cubicBezTo>
                  <a:cubicBezTo>
                    <a:pt x="803073" y="44356"/>
                    <a:pt x="812800" y="67839"/>
                    <a:pt x="812800" y="92326"/>
                  </a:cubicBezTo>
                  <a:lnTo>
                    <a:pt x="812800" y="720474"/>
                  </a:lnTo>
                  <a:cubicBezTo>
                    <a:pt x="812800" y="744960"/>
                    <a:pt x="803073" y="768444"/>
                    <a:pt x="785758" y="785758"/>
                  </a:cubicBezTo>
                  <a:cubicBezTo>
                    <a:pt x="768444" y="803073"/>
                    <a:pt x="744960" y="812800"/>
                    <a:pt x="720474" y="812800"/>
                  </a:cubicBezTo>
                  <a:lnTo>
                    <a:pt x="92326" y="812800"/>
                  </a:lnTo>
                  <a:cubicBezTo>
                    <a:pt x="67839" y="812800"/>
                    <a:pt x="44356" y="803073"/>
                    <a:pt x="27042" y="785758"/>
                  </a:cubicBezTo>
                  <a:cubicBezTo>
                    <a:pt x="9727" y="768444"/>
                    <a:pt x="0" y="744960"/>
                    <a:pt x="0" y="720474"/>
                  </a:cubicBezTo>
                  <a:lnTo>
                    <a:pt x="0" y="92326"/>
                  </a:lnTo>
                  <a:cubicBezTo>
                    <a:pt x="0" y="67839"/>
                    <a:pt x="9727" y="44356"/>
                    <a:pt x="27042" y="27042"/>
                  </a:cubicBezTo>
                  <a:cubicBezTo>
                    <a:pt x="44356" y="9727"/>
                    <a:pt x="67839" y="0"/>
                    <a:pt x="92326" y="0"/>
                  </a:cubicBezTo>
                  <a:close/>
                </a:path>
              </a:pathLst>
            </a:custGeom>
            <a:blipFill>
              <a:blip r:embed="rId3"/>
              <a:stretch>
                <a:fillRect l="-25000" r="-25000"/>
              </a:stretch>
            </a:blipFill>
          </p:spPr>
        </p:sp>
      </p:grpSp>
      <p:grpSp>
        <p:nvGrpSpPr>
          <p:cNvPr id="17" name="Group 17"/>
          <p:cNvGrpSpPr/>
          <p:nvPr/>
        </p:nvGrpSpPr>
        <p:grpSpPr>
          <a:xfrm rot="0">
            <a:off x="13985343" y="4750914"/>
            <a:ext cx="3521882" cy="535225"/>
            <a:chOff x="0" y="0"/>
            <a:chExt cx="872151" cy="132542"/>
          </a:xfrm>
        </p:grpSpPr>
        <p:sp>
          <p:nvSpPr>
            <p:cNvPr id="18" name="Freeform 18"/>
            <p:cNvSpPr/>
            <p:nvPr/>
          </p:nvSpPr>
          <p:spPr>
            <a:xfrm>
              <a:off x="0" y="0"/>
              <a:ext cx="872151" cy="132542"/>
            </a:xfrm>
            <a:custGeom>
              <a:avLst/>
              <a:gdLst/>
              <a:ahLst/>
              <a:cxnLst/>
              <a:rect l="l" t="t" r="r" b="b"/>
              <a:pathLst>
                <a:path w="872151" h="132542">
                  <a:moveTo>
                    <a:pt x="66271" y="0"/>
                  </a:moveTo>
                  <a:lnTo>
                    <a:pt x="805880" y="0"/>
                  </a:lnTo>
                  <a:cubicBezTo>
                    <a:pt x="842481" y="0"/>
                    <a:pt x="872151" y="29671"/>
                    <a:pt x="872151" y="66271"/>
                  </a:cubicBezTo>
                  <a:lnTo>
                    <a:pt x="872151" y="66271"/>
                  </a:lnTo>
                  <a:cubicBezTo>
                    <a:pt x="872151" y="102871"/>
                    <a:pt x="842481" y="132542"/>
                    <a:pt x="805880" y="132542"/>
                  </a:cubicBezTo>
                  <a:lnTo>
                    <a:pt x="66271" y="132542"/>
                  </a:lnTo>
                  <a:cubicBezTo>
                    <a:pt x="29671" y="132542"/>
                    <a:pt x="0" y="102871"/>
                    <a:pt x="0" y="66271"/>
                  </a:cubicBezTo>
                  <a:lnTo>
                    <a:pt x="0" y="66271"/>
                  </a:lnTo>
                  <a:cubicBezTo>
                    <a:pt x="0" y="29671"/>
                    <a:pt x="29671" y="0"/>
                    <a:pt x="66271" y="0"/>
                  </a:cubicBezTo>
                  <a:close/>
                </a:path>
              </a:pathLst>
            </a:custGeom>
            <a:solidFill>
              <a:srgbClr val="FFFFFF"/>
            </a:solidFill>
          </p:spPr>
        </p:sp>
        <p:sp>
          <p:nvSpPr>
            <p:cNvPr id="19" name="TextBox 19"/>
            <p:cNvSpPr txBox="1"/>
            <p:nvPr/>
          </p:nvSpPr>
          <p:spPr>
            <a:xfrm>
              <a:off x="0" y="-38100"/>
              <a:ext cx="872151" cy="170642"/>
            </a:xfrm>
            <a:prstGeom prst="rect">
              <a:avLst/>
            </a:prstGeom>
          </p:spPr>
          <p:txBody>
            <a:bodyPr lIns="50800" tIns="50800" rIns="50800" bIns="50800" rtlCol="0" anchor="ctr"/>
            <a:lstStyle/>
            <a:p>
              <a:pPr algn="ctr">
                <a:lnSpc>
                  <a:spcPts val="2775"/>
                </a:lnSpc>
              </a:pPr>
            </a:p>
          </p:txBody>
        </p:sp>
      </p:grpSp>
      <p:grpSp>
        <p:nvGrpSpPr>
          <p:cNvPr id="20" name="Group 20"/>
          <p:cNvGrpSpPr/>
          <p:nvPr/>
        </p:nvGrpSpPr>
        <p:grpSpPr>
          <a:xfrm rot="0">
            <a:off x="290449" y="5736418"/>
            <a:ext cx="3521882" cy="3521882"/>
            <a:chOff x="0" y="0"/>
            <a:chExt cx="812800" cy="812800"/>
          </a:xfrm>
        </p:grpSpPr>
        <p:sp>
          <p:nvSpPr>
            <p:cNvPr id="21" name="Freeform 21"/>
            <p:cNvSpPr/>
            <p:nvPr/>
          </p:nvSpPr>
          <p:spPr>
            <a:xfrm>
              <a:off x="0" y="0"/>
              <a:ext cx="812800" cy="812800"/>
            </a:xfrm>
            <a:custGeom>
              <a:avLst/>
              <a:gdLst/>
              <a:ahLst/>
              <a:cxnLst/>
              <a:rect l="l" t="t" r="r" b="b"/>
              <a:pathLst>
                <a:path w="812800" h="812800">
                  <a:moveTo>
                    <a:pt x="92326" y="0"/>
                  </a:moveTo>
                  <a:lnTo>
                    <a:pt x="720474" y="0"/>
                  </a:lnTo>
                  <a:cubicBezTo>
                    <a:pt x="744960" y="0"/>
                    <a:pt x="768444" y="9727"/>
                    <a:pt x="785758" y="27042"/>
                  </a:cubicBezTo>
                  <a:cubicBezTo>
                    <a:pt x="803073" y="44356"/>
                    <a:pt x="812800" y="67839"/>
                    <a:pt x="812800" y="92326"/>
                  </a:cubicBezTo>
                  <a:lnTo>
                    <a:pt x="812800" y="720474"/>
                  </a:lnTo>
                  <a:cubicBezTo>
                    <a:pt x="812800" y="744960"/>
                    <a:pt x="803073" y="768444"/>
                    <a:pt x="785758" y="785758"/>
                  </a:cubicBezTo>
                  <a:cubicBezTo>
                    <a:pt x="768444" y="803073"/>
                    <a:pt x="744960" y="812800"/>
                    <a:pt x="720474" y="812800"/>
                  </a:cubicBezTo>
                  <a:lnTo>
                    <a:pt x="92326" y="812800"/>
                  </a:lnTo>
                  <a:cubicBezTo>
                    <a:pt x="67839" y="812800"/>
                    <a:pt x="44356" y="803073"/>
                    <a:pt x="27042" y="785758"/>
                  </a:cubicBezTo>
                  <a:cubicBezTo>
                    <a:pt x="9727" y="768444"/>
                    <a:pt x="0" y="744960"/>
                    <a:pt x="0" y="720474"/>
                  </a:cubicBezTo>
                  <a:lnTo>
                    <a:pt x="0" y="92326"/>
                  </a:lnTo>
                  <a:cubicBezTo>
                    <a:pt x="0" y="67839"/>
                    <a:pt x="9727" y="44356"/>
                    <a:pt x="27042" y="27042"/>
                  </a:cubicBezTo>
                  <a:cubicBezTo>
                    <a:pt x="44356" y="9727"/>
                    <a:pt x="67839" y="0"/>
                    <a:pt x="92326" y="0"/>
                  </a:cubicBezTo>
                  <a:close/>
                </a:path>
              </a:pathLst>
            </a:custGeom>
            <a:blipFill>
              <a:blip r:embed="rId4"/>
              <a:stretch>
                <a:fillRect l="-31799" r="-31799"/>
              </a:stretch>
            </a:blipFill>
          </p:spPr>
        </p:sp>
      </p:grpSp>
      <p:sp>
        <p:nvSpPr>
          <p:cNvPr id="22" name="TextBox 22"/>
          <p:cNvSpPr txBox="1"/>
          <p:nvPr/>
        </p:nvSpPr>
        <p:spPr>
          <a:xfrm>
            <a:off x="495016" y="4780452"/>
            <a:ext cx="3203199" cy="385976"/>
          </a:xfrm>
          <a:prstGeom prst="rect">
            <a:avLst/>
          </a:prstGeom>
        </p:spPr>
        <p:txBody>
          <a:bodyPr lIns="0" tIns="0" rIns="0" bIns="0" rtlCol="0" anchor="t">
            <a:spAutoFit/>
          </a:bodyPr>
          <a:lstStyle/>
          <a:p>
            <a:pPr algn="just">
              <a:lnSpc>
                <a:spcPts val="3125"/>
              </a:lnSpc>
              <a:spcBef>
                <a:spcPct val="0"/>
              </a:spcBef>
            </a:pPr>
            <a:r>
              <a:rPr lang="en-US" sz="2235" spc="111">
                <a:solidFill>
                  <a:srgbClr val="6195B4"/>
                </a:solidFill>
                <a:latin typeface="Cormorant Garamond" panose="00000500000000000000"/>
                <a:ea typeface="Cormorant Garamond" panose="00000500000000000000"/>
                <a:cs typeface="Cormorant Garamond" panose="00000500000000000000"/>
                <a:sym typeface="Cormorant Garamond" panose="00000500000000000000"/>
              </a:rPr>
              <a:t>Transmission Savoir-faire</a:t>
            </a:r>
            <a:endParaRPr lang="en-US" sz="2235" spc="111">
              <a:solidFill>
                <a:srgbClr val="6195B4"/>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23" name="TextBox 23"/>
          <p:cNvSpPr txBox="1"/>
          <p:nvPr/>
        </p:nvSpPr>
        <p:spPr>
          <a:xfrm>
            <a:off x="5132002" y="4780452"/>
            <a:ext cx="3024158" cy="385976"/>
          </a:xfrm>
          <a:prstGeom prst="rect">
            <a:avLst/>
          </a:prstGeom>
        </p:spPr>
        <p:txBody>
          <a:bodyPr lIns="0" tIns="0" rIns="0" bIns="0" rtlCol="0" anchor="t">
            <a:spAutoFit/>
          </a:bodyPr>
          <a:lstStyle/>
          <a:p>
            <a:pPr algn="just">
              <a:lnSpc>
                <a:spcPts val="3125"/>
              </a:lnSpc>
              <a:spcBef>
                <a:spcPct val="0"/>
              </a:spcBef>
            </a:pPr>
            <a:r>
              <a:rPr lang="en-US" sz="2235" spc="111">
                <a:solidFill>
                  <a:srgbClr val="6195B4"/>
                </a:solidFill>
                <a:latin typeface="Cormorant Garamond" panose="00000500000000000000"/>
                <a:ea typeface="Cormorant Garamond" panose="00000500000000000000"/>
                <a:cs typeface="Cormorant Garamond" panose="00000500000000000000"/>
                <a:sym typeface="Cormorant Garamond" panose="00000500000000000000"/>
              </a:rPr>
              <a:t>Adaptation au Climat</a:t>
            </a:r>
            <a:endParaRPr lang="en-US" sz="2235" spc="111">
              <a:solidFill>
                <a:srgbClr val="6195B4"/>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24" name="TextBox 24"/>
          <p:cNvSpPr txBox="1"/>
          <p:nvPr/>
        </p:nvSpPr>
        <p:spPr>
          <a:xfrm>
            <a:off x="10070008" y="4801725"/>
            <a:ext cx="2243075" cy="385976"/>
          </a:xfrm>
          <a:prstGeom prst="rect">
            <a:avLst/>
          </a:prstGeom>
        </p:spPr>
        <p:txBody>
          <a:bodyPr lIns="0" tIns="0" rIns="0" bIns="0" rtlCol="0" anchor="t">
            <a:spAutoFit/>
          </a:bodyPr>
          <a:lstStyle/>
          <a:p>
            <a:pPr algn="just">
              <a:lnSpc>
                <a:spcPts val="3125"/>
              </a:lnSpc>
              <a:spcBef>
                <a:spcPct val="0"/>
              </a:spcBef>
            </a:pPr>
            <a:r>
              <a:rPr lang="en-US" sz="2235" spc="111">
                <a:solidFill>
                  <a:srgbClr val="6195B4"/>
                </a:solidFill>
                <a:latin typeface="Cormorant Garamond" panose="00000500000000000000"/>
                <a:ea typeface="Cormorant Garamond" panose="00000500000000000000"/>
                <a:cs typeface="Cormorant Garamond" panose="00000500000000000000"/>
                <a:sym typeface="Cormorant Garamond" panose="00000500000000000000"/>
              </a:rPr>
              <a:t>Matériaux Locaux</a:t>
            </a:r>
            <a:endParaRPr lang="en-US" sz="2235" spc="111">
              <a:solidFill>
                <a:srgbClr val="6195B4"/>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25" name="TextBox 25"/>
          <p:cNvSpPr txBox="1"/>
          <p:nvPr/>
        </p:nvSpPr>
        <p:spPr>
          <a:xfrm>
            <a:off x="14238600" y="4792925"/>
            <a:ext cx="3166794" cy="428524"/>
          </a:xfrm>
          <a:prstGeom prst="rect">
            <a:avLst/>
          </a:prstGeom>
        </p:spPr>
        <p:txBody>
          <a:bodyPr lIns="0" tIns="0" rIns="0" bIns="0" rtlCol="0" anchor="t">
            <a:spAutoFit/>
          </a:bodyPr>
          <a:lstStyle/>
          <a:p>
            <a:pPr algn="just">
              <a:lnSpc>
                <a:spcPts val="3575"/>
              </a:lnSpc>
              <a:spcBef>
                <a:spcPct val="0"/>
              </a:spcBef>
            </a:pPr>
            <a:r>
              <a:rPr lang="en-US" sz="2550" spc="127">
                <a:solidFill>
                  <a:srgbClr val="6195B4"/>
                </a:solidFill>
                <a:latin typeface="Cormorant Garamond" panose="00000500000000000000"/>
                <a:ea typeface="Cormorant Garamond" panose="00000500000000000000"/>
                <a:cs typeface="Cormorant Garamond" panose="00000500000000000000"/>
                <a:sym typeface="Cormorant Garamond" panose="00000500000000000000"/>
              </a:rPr>
              <a:t>Expression de valeurs</a:t>
            </a:r>
            <a:endParaRPr lang="en-US" sz="2550" spc="127">
              <a:solidFill>
                <a:srgbClr val="6195B4"/>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26" name="TextBox 26"/>
          <p:cNvSpPr txBox="1"/>
          <p:nvPr/>
        </p:nvSpPr>
        <p:spPr>
          <a:xfrm>
            <a:off x="780775" y="1849530"/>
            <a:ext cx="16726450" cy="936626"/>
          </a:xfrm>
          <a:prstGeom prst="rect">
            <a:avLst/>
          </a:prstGeom>
        </p:spPr>
        <p:txBody>
          <a:bodyPr lIns="0" tIns="0" rIns="0" bIns="0" rtlCol="0" anchor="t">
            <a:spAutoFit/>
          </a:bodyPr>
          <a:lstStyle/>
          <a:p>
            <a:pPr algn="ctr">
              <a:lnSpc>
                <a:spcPts val="7700"/>
              </a:lnSpc>
              <a:spcBef>
                <a:spcPct val="0"/>
              </a:spcBef>
            </a:pPr>
            <a:r>
              <a:rPr lang="en-US" sz="5500">
                <a:solidFill>
                  <a:srgbClr val="F4F3F3"/>
                </a:solidFill>
                <a:latin typeface="Cormorant SC" panose="00000500000000000000"/>
                <a:ea typeface="Cormorant SC" panose="00000500000000000000"/>
                <a:cs typeface="Cormorant SC" panose="00000500000000000000"/>
                <a:sym typeface="Cormorant SC" panose="00000500000000000000"/>
              </a:rPr>
              <a:t>Pourquoi c'ette architecture est traditionnelle ?</a:t>
            </a:r>
            <a:endParaRPr lang="en-US" sz="5500">
              <a:solidFill>
                <a:srgbClr val="F4F3F3"/>
              </a:solidFill>
              <a:latin typeface="Cormorant SC" panose="00000500000000000000"/>
              <a:ea typeface="Cormorant SC" panose="00000500000000000000"/>
              <a:cs typeface="Cormorant SC" panose="00000500000000000000"/>
              <a:sym typeface="Cormorant SC" panose="00000500000000000000"/>
            </a:endParaRPr>
          </a:p>
        </p:txBody>
      </p:sp>
      <p:sp>
        <p:nvSpPr>
          <p:cNvPr id="27" name="TextBox 27"/>
          <p:cNvSpPr txBox="1"/>
          <p:nvPr/>
        </p:nvSpPr>
        <p:spPr>
          <a:xfrm>
            <a:off x="1228048" y="3122740"/>
            <a:ext cx="15831904" cy="1243965"/>
          </a:xfrm>
          <a:prstGeom prst="rect">
            <a:avLst/>
          </a:prstGeom>
        </p:spPr>
        <p:txBody>
          <a:bodyPr lIns="0" tIns="0" rIns="0" bIns="0" rtlCol="0" anchor="t">
            <a:spAutoFit/>
          </a:bodyPr>
          <a:lstStyle/>
          <a:p>
            <a:pPr algn="just">
              <a:lnSpc>
                <a:spcPts val="3360"/>
              </a:lnSpc>
            </a:pPr>
            <a:r>
              <a:rPr lang="en-US" sz="2400" spc="12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rPr>
              <a:t>L’architecture des royaumes des Grands Lacs, notamment du Buganda, est considérée comme traditionnelle pour plusieurs raisons:</a:t>
            </a:r>
            <a:endParaRPr lang="en-US" sz="2400" spc="12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360"/>
              </a:lnSpc>
              <a:spcBef>
                <a:spcPct val="0"/>
              </a:spcBef>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01" b="-9201"/>
            </a:stretch>
          </a:blipFill>
        </p:spPr>
      </p:sp>
      <p:grpSp>
        <p:nvGrpSpPr>
          <p:cNvPr id="3" name="Group 3"/>
          <p:cNvGrpSpPr/>
          <p:nvPr/>
        </p:nvGrpSpPr>
        <p:grpSpPr>
          <a:xfrm rot="0">
            <a:off x="7097328" y="3413204"/>
            <a:ext cx="3046158" cy="304615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3F3"/>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775"/>
                </a:lnSpc>
              </a:pPr>
            </a:p>
          </p:txBody>
        </p:sp>
      </p:grpSp>
      <p:grpSp>
        <p:nvGrpSpPr>
          <p:cNvPr id="6" name="Group 6"/>
          <p:cNvGrpSpPr/>
          <p:nvPr/>
        </p:nvGrpSpPr>
        <p:grpSpPr>
          <a:xfrm rot="0">
            <a:off x="8344257" y="3663806"/>
            <a:ext cx="552300" cy="551111"/>
            <a:chOff x="0" y="0"/>
            <a:chExt cx="828385" cy="826601"/>
          </a:xfrm>
        </p:grpSpPr>
        <p:sp>
          <p:nvSpPr>
            <p:cNvPr id="7" name="Freeform 7"/>
            <p:cNvSpPr/>
            <p:nvPr/>
          </p:nvSpPr>
          <p:spPr>
            <a:xfrm>
              <a:off x="0" y="0"/>
              <a:ext cx="828385" cy="826601"/>
            </a:xfrm>
            <a:custGeom>
              <a:avLst/>
              <a:gdLst/>
              <a:ahLst/>
              <a:cxnLst/>
              <a:rect l="l" t="t" r="r" b="b"/>
              <a:pathLst>
                <a:path w="828385" h="826601">
                  <a:moveTo>
                    <a:pt x="413301" y="0"/>
                  </a:moveTo>
                  <a:lnTo>
                    <a:pt x="415085" y="0"/>
                  </a:lnTo>
                  <a:cubicBezTo>
                    <a:pt x="524699" y="0"/>
                    <a:pt x="629823" y="43544"/>
                    <a:pt x="707332" y="121053"/>
                  </a:cubicBezTo>
                  <a:cubicBezTo>
                    <a:pt x="784841" y="198562"/>
                    <a:pt x="828385" y="303687"/>
                    <a:pt x="828385" y="413301"/>
                  </a:cubicBezTo>
                  <a:lnTo>
                    <a:pt x="828385" y="413301"/>
                  </a:lnTo>
                  <a:cubicBezTo>
                    <a:pt x="828385" y="522915"/>
                    <a:pt x="784841" y="628040"/>
                    <a:pt x="707332" y="705548"/>
                  </a:cubicBezTo>
                  <a:cubicBezTo>
                    <a:pt x="629823" y="783057"/>
                    <a:pt x="524699" y="826601"/>
                    <a:pt x="415085" y="826601"/>
                  </a:cubicBezTo>
                  <a:lnTo>
                    <a:pt x="413301" y="826601"/>
                  </a:lnTo>
                  <a:cubicBezTo>
                    <a:pt x="303687" y="826601"/>
                    <a:pt x="198562" y="783057"/>
                    <a:pt x="121053" y="705548"/>
                  </a:cubicBezTo>
                  <a:cubicBezTo>
                    <a:pt x="43544" y="628040"/>
                    <a:pt x="0" y="522915"/>
                    <a:pt x="0" y="413301"/>
                  </a:cubicBezTo>
                  <a:lnTo>
                    <a:pt x="0" y="413301"/>
                  </a:lnTo>
                  <a:cubicBezTo>
                    <a:pt x="0" y="303687"/>
                    <a:pt x="43544" y="198562"/>
                    <a:pt x="121053" y="121053"/>
                  </a:cubicBezTo>
                  <a:cubicBezTo>
                    <a:pt x="198562" y="43544"/>
                    <a:pt x="303687" y="0"/>
                    <a:pt x="413301" y="0"/>
                  </a:cubicBezTo>
                  <a:close/>
                </a:path>
              </a:pathLst>
            </a:custGeom>
            <a:solidFill>
              <a:srgbClr val="6195B4"/>
            </a:solidFill>
          </p:spPr>
        </p:sp>
        <p:sp>
          <p:nvSpPr>
            <p:cNvPr id="8" name="TextBox 8"/>
            <p:cNvSpPr txBox="1"/>
            <p:nvPr/>
          </p:nvSpPr>
          <p:spPr>
            <a:xfrm>
              <a:off x="0" y="-38100"/>
              <a:ext cx="828385" cy="864701"/>
            </a:xfrm>
            <a:prstGeom prst="rect">
              <a:avLst/>
            </a:prstGeom>
          </p:spPr>
          <p:txBody>
            <a:bodyPr lIns="50800" tIns="50800" rIns="50800" bIns="50800" rtlCol="0" anchor="ctr"/>
            <a:lstStyle/>
            <a:p>
              <a:pPr algn="ctr">
                <a:lnSpc>
                  <a:spcPts val="2660"/>
                </a:lnSpc>
                <a:spcBef>
                  <a:spcPct val="0"/>
                </a:spcBef>
              </a:pPr>
            </a:p>
          </p:txBody>
        </p:sp>
      </p:grpSp>
      <p:grpSp>
        <p:nvGrpSpPr>
          <p:cNvPr id="9" name="Group 9"/>
          <p:cNvGrpSpPr/>
          <p:nvPr/>
        </p:nvGrpSpPr>
        <p:grpSpPr>
          <a:xfrm rot="0">
            <a:off x="13148937" y="5082626"/>
            <a:ext cx="3046158" cy="304615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3F3"/>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775"/>
                </a:lnSpc>
              </a:pPr>
            </a:p>
          </p:txBody>
        </p:sp>
      </p:grpSp>
      <p:grpSp>
        <p:nvGrpSpPr>
          <p:cNvPr id="12" name="Group 12"/>
          <p:cNvGrpSpPr/>
          <p:nvPr/>
        </p:nvGrpSpPr>
        <p:grpSpPr>
          <a:xfrm rot="0">
            <a:off x="14395866" y="5333227"/>
            <a:ext cx="552300" cy="551111"/>
            <a:chOff x="0" y="0"/>
            <a:chExt cx="828385" cy="826601"/>
          </a:xfrm>
        </p:grpSpPr>
        <p:sp>
          <p:nvSpPr>
            <p:cNvPr id="13" name="Freeform 13"/>
            <p:cNvSpPr/>
            <p:nvPr/>
          </p:nvSpPr>
          <p:spPr>
            <a:xfrm>
              <a:off x="0" y="0"/>
              <a:ext cx="828385" cy="826601"/>
            </a:xfrm>
            <a:custGeom>
              <a:avLst/>
              <a:gdLst/>
              <a:ahLst/>
              <a:cxnLst/>
              <a:rect l="l" t="t" r="r" b="b"/>
              <a:pathLst>
                <a:path w="828385" h="826601">
                  <a:moveTo>
                    <a:pt x="413301" y="0"/>
                  </a:moveTo>
                  <a:lnTo>
                    <a:pt x="415085" y="0"/>
                  </a:lnTo>
                  <a:cubicBezTo>
                    <a:pt x="524699" y="0"/>
                    <a:pt x="629823" y="43544"/>
                    <a:pt x="707332" y="121053"/>
                  </a:cubicBezTo>
                  <a:cubicBezTo>
                    <a:pt x="784841" y="198562"/>
                    <a:pt x="828385" y="303687"/>
                    <a:pt x="828385" y="413301"/>
                  </a:cubicBezTo>
                  <a:lnTo>
                    <a:pt x="828385" y="413301"/>
                  </a:lnTo>
                  <a:cubicBezTo>
                    <a:pt x="828385" y="522915"/>
                    <a:pt x="784841" y="628040"/>
                    <a:pt x="707332" y="705548"/>
                  </a:cubicBezTo>
                  <a:cubicBezTo>
                    <a:pt x="629823" y="783057"/>
                    <a:pt x="524699" y="826601"/>
                    <a:pt x="415085" y="826601"/>
                  </a:cubicBezTo>
                  <a:lnTo>
                    <a:pt x="413301" y="826601"/>
                  </a:lnTo>
                  <a:cubicBezTo>
                    <a:pt x="303687" y="826601"/>
                    <a:pt x="198562" y="783057"/>
                    <a:pt x="121053" y="705548"/>
                  </a:cubicBezTo>
                  <a:cubicBezTo>
                    <a:pt x="43544" y="628040"/>
                    <a:pt x="0" y="522915"/>
                    <a:pt x="0" y="413301"/>
                  </a:cubicBezTo>
                  <a:lnTo>
                    <a:pt x="0" y="413301"/>
                  </a:lnTo>
                  <a:cubicBezTo>
                    <a:pt x="0" y="303687"/>
                    <a:pt x="43544" y="198562"/>
                    <a:pt x="121053" y="121053"/>
                  </a:cubicBezTo>
                  <a:cubicBezTo>
                    <a:pt x="198562" y="43544"/>
                    <a:pt x="303687" y="0"/>
                    <a:pt x="413301" y="0"/>
                  </a:cubicBezTo>
                  <a:close/>
                </a:path>
              </a:pathLst>
            </a:custGeom>
            <a:solidFill>
              <a:srgbClr val="6195B4"/>
            </a:solidFill>
          </p:spPr>
        </p:sp>
        <p:sp>
          <p:nvSpPr>
            <p:cNvPr id="14" name="TextBox 14"/>
            <p:cNvSpPr txBox="1"/>
            <p:nvPr/>
          </p:nvSpPr>
          <p:spPr>
            <a:xfrm>
              <a:off x="0" y="-38100"/>
              <a:ext cx="828385" cy="864701"/>
            </a:xfrm>
            <a:prstGeom prst="rect">
              <a:avLst/>
            </a:prstGeom>
          </p:spPr>
          <p:txBody>
            <a:bodyPr lIns="50800" tIns="50800" rIns="50800" bIns="50800" rtlCol="0" anchor="ctr"/>
            <a:lstStyle/>
            <a:p>
              <a:pPr algn="ctr">
                <a:lnSpc>
                  <a:spcPts val="2660"/>
                </a:lnSpc>
                <a:spcBef>
                  <a:spcPct val="0"/>
                </a:spcBef>
              </a:pPr>
            </a:p>
          </p:txBody>
        </p:sp>
      </p:grpSp>
      <p:grpSp>
        <p:nvGrpSpPr>
          <p:cNvPr id="15" name="Group 15"/>
          <p:cNvGrpSpPr/>
          <p:nvPr/>
        </p:nvGrpSpPr>
        <p:grpSpPr>
          <a:xfrm rot="0">
            <a:off x="14377923" y="5974133"/>
            <a:ext cx="3046158" cy="304615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6666" r="-16666"/>
              </a:stretch>
            </a:blipFill>
          </p:spPr>
        </p:sp>
      </p:grpSp>
      <p:grpSp>
        <p:nvGrpSpPr>
          <p:cNvPr id="17" name="Group 17"/>
          <p:cNvGrpSpPr/>
          <p:nvPr/>
        </p:nvGrpSpPr>
        <p:grpSpPr>
          <a:xfrm rot="0">
            <a:off x="1028700" y="5082626"/>
            <a:ext cx="3046158" cy="304615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3F3"/>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775"/>
                </a:lnSpc>
              </a:pPr>
            </a:p>
          </p:txBody>
        </p:sp>
      </p:grpSp>
      <p:grpSp>
        <p:nvGrpSpPr>
          <p:cNvPr id="20" name="Group 20"/>
          <p:cNvGrpSpPr/>
          <p:nvPr/>
        </p:nvGrpSpPr>
        <p:grpSpPr>
          <a:xfrm rot="0">
            <a:off x="2257686" y="6138280"/>
            <a:ext cx="3046158" cy="304615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9694" t="-16876" r="-22262" b="-15080"/>
              </a:stretch>
            </a:blipFill>
          </p:spPr>
        </p:sp>
      </p:grpSp>
      <p:grpSp>
        <p:nvGrpSpPr>
          <p:cNvPr id="22" name="Group 22"/>
          <p:cNvGrpSpPr/>
          <p:nvPr/>
        </p:nvGrpSpPr>
        <p:grpSpPr>
          <a:xfrm rot="0">
            <a:off x="2275629" y="5333227"/>
            <a:ext cx="552300" cy="551111"/>
            <a:chOff x="0" y="0"/>
            <a:chExt cx="828385" cy="826601"/>
          </a:xfrm>
        </p:grpSpPr>
        <p:sp>
          <p:nvSpPr>
            <p:cNvPr id="23" name="Freeform 23"/>
            <p:cNvSpPr/>
            <p:nvPr/>
          </p:nvSpPr>
          <p:spPr>
            <a:xfrm>
              <a:off x="0" y="0"/>
              <a:ext cx="828385" cy="826601"/>
            </a:xfrm>
            <a:custGeom>
              <a:avLst/>
              <a:gdLst/>
              <a:ahLst/>
              <a:cxnLst/>
              <a:rect l="l" t="t" r="r" b="b"/>
              <a:pathLst>
                <a:path w="828385" h="826601">
                  <a:moveTo>
                    <a:pt x="413301" y="0"/>
                  </a:moveTo>
                  <a:lnTo>
                    <a:pt x="415085" y="0"/>
                  </a:lnTo>
                  <a:cubicBezTo>
                    <a:pt x="524699" y="0"/>
                    <a:pt x="629823" y="43544"/>
                    <a:pt x="707332" y="121053"/>
                  </a:cubicBezTo>
                  <a:cubicBezTo>
                    <a:pt x="784841" y="198562"/>
                    <a:pt x="828385" y="303687"/>
                    <a:pt x="828385" y="413301"/>
                  </a:cubicBezTo>
                  <a:lnTo>
                    <a:pt x="828385" y="413301"/>
                  </a:lnTo>
                  <a:cubicBezTo>
                    <a:pt x="828385" y="522915"/>
                    <a:pt x="784841" y="628040"/>
                    <a:pt x="707332" y="705548"/>
                  </a:cubicBezTo>
                  <a:cubicBezTo>
                    <a:pt x="629823" y="783057"/>
                    <a:pt x="524699" y="826601"/>
                    <a:pt x="415085" y="826601"/>
                  </a:cubicBezTo>
                  <a:lnTo>
                    <a:pt x="413301" y="826601"/>
                  </a:lnTo>
                  <a:cubicBezTo>
                    <a:pt x="303687" y="826601"/>
                    <a:pt x="198562" y="783057"/>
                    <a:pt x="121053" y="705548"/>
                  </a:cubicBezTo>
                  <a:cubicBezTo>
                    <a:pt x="43544" y="628040"/>
                    <a:pt x="0" y="522915"/>
                    <a:pt x="0" y="413301"/>
                  </a:cubicBezTo>
                  <a:lnTo>
                    <a:pt x="0" y="413301"/>
                  </a:lnTo>
                  <a:cubicBezTo>
                    <a:pt x="0" y="303687"/>
                    <a:pt x="43544" y="198562"/>
                    <a:pt x="121053" y="121053"/>
                  </a:cubicBezTo>
                  <a:cubicBezTo>
                    <a:pt x="198562" y="43544"/>
                    <a:pt x="303687" y="0"/>
                    <a:pt x="413301" y="0"/>
                  </a:cubicBezTo>
                  <a:close/>
                </a:path>
              </a:pathLst>
            </a:custGeom>
            <a:solidFill>
              <a:srgbClr val="6195B4"/>
            </a:solidFill>
          </p:spPr>
        </p:sp>
        <p:sp>
          <p:nvSpPr>
            <p:cNvPr id="24" name="TextBox 24"/>
            <p:cNvSpPr txBox="1"/>
            <p:nvPr/>
          </p:nvSpPr>
          <p:spPr>
            <a:xfrm>
              <a:off x="0" y="-38100"/>
              <a:ext cx="828385" cy="864701"/>
            </a:xfrm>
            <a:prstGeom prst="rect">
              <a:avLst/>
            </a:prstGeom>
          </p:spPr>
          <p:txBody>
            <a:bodyPr lIns="50800" tIns="50800" rIns="50800" bIns="50800" rtlCol="0" anchor="ctr"/>
            <a:lstStyle/>
            <a:p>
              <a:pPr algn="ctr">
                <a:lnSpc>
                  <a:spcPts val="2660"/>
                </a:lnSpc>
                <a:spcBef>
                  <a:spcPct val="0"/>
                </a:spcBef>
              </a:pPr>
            </a:p>
          </p:txBody>
        </p:sp>
      </p:grpSp>
      <p:grpSp>
        <p:nvGrpSpPr>
          <p:cNvPr id="25" name="Group 25"/>
          <p:cNvGrpSpPr/>
          <p:nvPr/>
        </p:nvGrpSpPr>
        <p:grpSpPr>
          <a:xfrm rot="0">
            <a:off x="8326314" y="4382843"/>
            <a:ext cx="3046158" cy="3046158"/>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r="-25046"/>
              </a:stretch>
            </a:blipFill>
          </p:spPr>
        </p:sp>
      </p:grpSp>
      <p:sp>
        <p:nvSpPr>
          <p:cNvPr id="27" name="TextBox 27"/>
          <p:cNvSpPr txBox="1"/>
          <p:nvPr/>
        </p:nvSpPr>
        <p:spPr>
          <a:xfrm>
            <a:off x="7391421" y="4602201"/>
            <a:ext cx="2457972" cy="522839"/>
          </a:xfrm>
          <a:prstGeom prst="rect">
            <a:avLst/>
          </a:prstGeom>
        </p:spPr>
        <p:txBody>
          <a:bodyPr lIns="0" tIns="0" rIns="0" bIns="0" rtlCol="0" anchor="t">
            <a:spAutoFit/>
          </a:bodyPr>
          <a:lstStyle/>
          <a:p>
            <a:pPr algn="ctr">
              <a:lnSpc>
                <a:spcPts val="2155"/>
              </a:lnSpc>
            </a:pPr>
            <a:r>
              <a:rPr lang="en-US" sz="1540" b="1">
                <a:solidFill>
                  <a:srgbClr val="0C0015"/>
                </a:solidFill>
                <a:latin typeface="Lato Bold" panose="020F0502020204030203"/>
                <a:ea typeface="Lato Bold" panose="020F0502020204030203"/>
                <a:cs typeface="Lato Bold" panose="020F0502020204030203"/>
                <a:sym typeface="Lato Bold" panose="020F0502020204030203"/>
              </a:rPr>
              <a:t>Reflétant la hiérarchie sociale et les croyances</a:t>
            </a:r>
            <a:endParaRPr lang="en-US" sz="1540" b="1">
              <a:solidFill>
                <a:srgbClr val="0C0015"/>
              </a:solidFill>
              <a:latin typeface="Lato Bold" panose="020F0502020204030203"/>
              <a:ea typeface="Lato Bold" panose="020F0502020204030203"/>
              <a:cs typeface="Lato Bold" panose="020F0502020204030203"/>
              <a:sym typeface="Lato Bold" panose="020F0502020204030203"/>
            </a:endParaRPr>
          </a:p>
        </p:txBody>
      </p:sp>
      <p:sp>
        <p:nvSpPr>
          <p:cNvPr id="28" name="TextBox 28"/>
          <p:cNvSpPr txBox="1"/>
          <p:nvPr/>
        </p:nvSpPr>
        <p:spPr>
          <a:xfrm>
            <a:off x="7373071" y="4276137"/>
            <a:ext cx="2494673" cy="224155"/>
          </a:xfrm>
          <a:prstGeom prst="rect">
            <a:avLst/>
          </a:prstGeom>
        </p:spPr>
        <p:txBody>
          <a:bodyPr lIns="0" tIns="0" rIns="0" bIns="0" rtlCol="0" anchor="t">
            <a:spAutoFit/>
          </a:bodyPr>
          <a:lstStyle/>
          <a:p>
            <a:pPr algn="ctr">
              <a:lnSpc>
                <a:spcPts val="1820"/>
              </a:lnSpc>
            </a:pPr>
            <a:r>
              <a:rPr lang="en-US" sz="1300" b="1">
                <a:solidFill>
                  <a:srgbClr val="6195B4"/>
                </a:solidFill>
                <a:latin typeface="Montserrat Bold" panose="00000800000000000000"/>
                <a:ea typeface="Montserrat Bold" panose="00000800000000000000"/>
                <a:cs typeface="Montserrat Bold" panose="00000800000000000000"/>
                <a:sym typeface="Montserrat Bold" panose="00000800000000000000"/>
              </a:rPr>
              <a:t>ORGANISATION SPATIALE </a:t>
            </a:r>
            <a:endParaRPr lang="en-US" sz="1300" b="1">
              <a:solidFill>
                <a:srgbClr val="6195B4"/>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9" name="TextBox 29"/>
          <p:cNvSpPr txBox="1"/>
          <p:nvPr/>
        </p:nvSpPr>
        <p:spPr>
          <a:xfrm>
            <a:off x="8420256" y="3770321"/>
            <a:ext cx="400302" cy="347604"/>
          </a:xfrm>
          <a:prstGeom prst="rect">
            <a:avLst/>
          </a:prstGeom>
        </p:spPr>
        <p:txBody>
          <a:bodyPr lIns="0" tIns="0" rIns="0" bIns="0" rtlCol="0" anchor="t">
            <a:spAutoFit/>
          </a:bodyPr>
          <a:lstStyle/>
          <a:p>
            <a:pPr algn="ctr">
              <a:lnSpc>
                <a:spcPts val="2615"/>
              </a:lnSpc>
            </a:pPr>
            <a:r>
              <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rPr>
              <a:t>2</a:t>
            </a:r>
            <a:endPar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0" name="TextBox 30"/>
          <p:cNvSpPr txBox="1"/>
          <p:nvPr/>
        </p:nvSpPr>
        <p:spPr>
          <a:xfrm>
            <a:off x="13424679" y="6271622"/>
            <a:ext cx="2457972" cy="522839"/>
          </a:xfrm>
          <a:prstGeom prst="rect">
            <a:avLst/>
          </a:prstGeom>
        </p:spPr>
        <p:txBody>
          <a:bodyPr lIns="0" tIns="0" rIns="0" bIns="0" rtlCol="0" anchor="t">
            <a:spAutoFit/>
          </a:bodyPr>
          <a:lstStyle/>
          <a:p>
            <a:pPr algn="ctr">
              <a:lnSpc>
                <a:spcPts val="2155"/>
              </a:lnSpc>
            </a:pPr>
            <a:r>
              <a:rPr lang="en-US" sz="1540" b="1">
                <a:solidFill>
                  <a:srgbClr val="545454"/>
                </a:solidFill>
                <a:latin typeface="Lato Bold" panose="020F0502020204030203"/>
                <a:ea typeface="Lato Bold" panose="020F0502020204030203"/>
                <a:cs typeface="Lato Bold" panose="020F0502020204030203"/>
                <a:sym typeface="Lato Bold" panose="020F0502020204030203"/>
              </a:rPr>
              <a:t>Dans les formes et les décorations</a:t>
            </a:r>
            <a:endParaRPr lang="en-US" sz="1540" b="1">
              <a:solidFill>
                <a:srgbClr val="545454"/>
              </a:solidFill>
              <a:latin typeface="Lato Bold" panose="020F0502020204030203"/>
              <a:ea typeface="Lato Bold" panose="020F0502020204030203"/>
              <a:cs typeface="Lato Bold" panose="020F0502020204030203"/>
              <a:sym typeface="Lato Bold" panose="020F0502020204030203"/>
            </a:endParaRPr>
          </a:p>
        </p:txBody>
      </p:sp>
      <p:sp>
        <p:nvSpPr>
          <p:cNvPr id="31" name="TextBox 31"/>
          <p:cNvSpPr txBox="1"/>
          <p:nvPr/>
        </p:nvSpPr>
        <p:spPr>
          <a:xfrm>
            <a:off x="13424679" y="5945558"/>
            <a:ext cx="2494673" cy="266605"/>
          </a:xfrm>
          <a:prstGeom prst="rect">
            <a:avLst/>
          </a:prstGeom>
        </p:spPr>
        <p:txBody>
          <a:bodyPr lIns="0" tIns="0" rIns="0" bIns="0" rtlCol="0" anchor="t">
            <a:spAutoFit/>
          </a:bodyPr>
          <a:lstStyle/>
          <a:p>
            <a:pPr algn="ctr">
              <a:lnSpc>
                <a:spcPts val="2250"/>
              </a:lnSpc>
            </a:pPr>
            <a:r>
              <a:rPr lang="en-US" sz="1605" b="1">
                <a:solidFill>
                  <a:srgbClr val="6195B4"/>
                </a:solidFill>
                <a:latin typeface="Montserrat Bold" panose="00000800000000000000"/>
                <a:ea typeface="Montserrat Bold" panose="00000800000000000000"/>
                <a:cs typeface="Montserrat Bold" panose="00000800000000000000"/>
                <a:sym typeface="Montserrat Bold" panose="00000800000000000000"/>
              </a:rPr>
              <a:t>SYMBOLISME</a:t>
            </a:r>
            <a:endParaRPr lang="en-US" sz="1605" b="1">
              <a:solidFill>
                <a:srgbClr val="6195B4"/>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2" name="TextBox 32"/>
          <p:cNvSpPr txBox="1"/>
          <p:nvPr/>
        </p:nvSpPr>
        <p:spPr>
          <a:xfrm>
            <a:off x="14471865" y="5439742"/>
            <a:ext cx="400302" cy="347604"/>
          </a:xfrm>
          <a:prstGeom prst="rect">
            <a:avLst/>
          </a:prstGeom>
        </p:spPr>
        <p:txBody>
          <a:bodyPr lIns="0" tIns="0" rIns="0" bIns="0" rtlCol="0" anchor="t">
            <a:spAutoFit/>
          </a:bodyPr>
          <a:lstStyle/>
          <a:p>
            <a:pPr algn="ctr">
              <a:lnSpc>
                <a:spcPts val="2615"/>
              </a:lnSpc>
            </a:pPr>
            <a:r>
              <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rPr>
              <a:t>3</a:t>
            </a:r>
            <a:endPar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3" name="TextBox 33"/>
          <p:cNvSpPr txBox="1"/>
          <p:nvPr/>
        </p:nvSpPr>
        <p:spPr>
          <a:xfrm>
            <a:off x="1322793" y="6372761"/>
            <a:ext cx="2457972" cy="1056239"/>
          </a:xfrm>
          <a:prstGeom prst="rect">
            <a:avLst/>
          </a:prstGeom>
        </p:spPr>
        <p:txBody>
          <a:bodyPr lIns="0" tIns="0" rIns="0" bIns="0" rtlCol="0" anchor="t">
            <a:spAutoFit/>
          </a:bodyPr>
          <a:lstStyle/>
          <a:p>
            <a:pPr algn="ctr">
              <a:lnSpc>
                <a:spcPts val="2155"/>
              </a:lnSpc>
            </a:pPr>
            <a:r>
              <a:rPr lang="en-US" sz="1540" b="1">
                <a:solidFill>
                  <a:srgbClr val="000000"/>
                </a:solidFill>
                <a:latin typeface="Lato Bold" panose="020F0502020204030203"/>
                <a:ea typeface="Lato Bold" panose="020F0502020204030203"/>
                <a:cs typeface="Lato Bold" panose="020F0502020204030203"/>
                <a:sym typeface="Lato Bold" panose="020F0502020204030203"/>
              </a:rPr>
              <a:t>Méthodes artisanales comme le torchis, le colombage, la terre battue, la charpente en bois,...</a:t>
            </a:r>
            <a:endParaRPr lang="en-US" sz="1540" b="1">
              <a:solidFill>
                <a:srgbClr val="000000"/>
              </a:solidFill>
              <a:latin typeface="Lato Bold" panose="020F0502020204030203"/>
              <a:ea typeface="Lato Bold" panose="020F0502020204030203"/>
              <a:cs typeface="Lato Bold" panose="020F0502020204030203"/>
              <a:sym typeface="Lato Bold" panose="020F0502020204030203"/>
            </a:endParaRPr>
          </a:p>
        </p:txBody>
      </p:sp>
      <p:sp>
        <p:nvSpPr>
          <p:cNvPr id="34" name="TextBox 34"/>
          <p:cNvSpPr txBox="1"/>
          <p:nvPr/>
        </p:nvSpPr>
        <p:spPr>
          <a:xfrm>
            <a:off x="964345" y="5965935"/>
            <a:ext cx="3174868" cy="224155"/>
          </a:xfrm>
          <a:prstGeom prst="rect">
            <a:avLst/>
          </a:prstGeom>
        </p:spPr>
        <p:txBody>
          <a:bodyPr lIns="0" tIns="0" rIns="0" bIns="0" rtlCol="0" anchor="t">
            <a:spAutoFit/>
          </a:bodyPr>
          <a:lstStyle/>
          <a:p>
            <a:pPr algn="ctr">
              <a:lnSpc>
                <a:spcPts val="1820"/>
              </a:lnSpc>
            </a:pPr>
            <a:r>
              <a:rPr lang="en-US" sz="1300" b="1">
                <a:solidFill>
                  <a:srgbClr val="6195B4"/>
                </a:solidFill>
                <a:latin typeface="Montserrat Bold" panose="00000800000000000000"/>
                <a:ea typeface="Montserrat Bold" panose="00000800000000000000"/>
                <a:cs typeface="Montserrat Bold" panose="00000800000000000000"/>
                <a:sym typeface="Montserrat Bold" panose="00000800000000000000"/>
              </a:rPr>
              <a:t>TECHNIQUES  CONSTRUCTION</a:t>
            </a:r>
            <a:endParaRPr lang="en-US" sz="1300" b="1">
              <a:solidFill>
                <a:srgbClr val="6195B4"/>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5" name="TextBox 35"/>
          <p:cNvSpPr txBox="1"/>
          <p:nvPr/>
        </p:nvSpPr>
        <p:spPr>
          <a:xfrm>
            <a:off x="1723188" y="6147805"/>
            <a:ext cx="400302" cy="347604"/>
          </a:xfrm>
          <a:prstGeom prst="rect">
            <a:avLst/>
          </a:prstGeom>
        </p:spPr>
        <p:txBody>
          <a:bodyPr lIns="0" tIns="0" rIns="0" bIns="0" rtlCol="0" anchor="t">
            <a:spAutoFit/>
          </a:bodyPr>
          <a:lstStyle/>
          <a:p>
            <a:pPr algn="ctr">
              <a:lnSpc>
                <a:spcPts val="2615"/>
              </a:lnSpc>
            </a:pPr>
            <a:r>
              <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rPr>
              <a:t>1</a:t>
            </a:r>
            <a:endPar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6" name="TextBox 36"/>
          <p:cNvSpPr txBox="1"/>
          <p:nvPr/>
        </p:nvSpPr>
        <p:spPr>
          <a:xfrm>
            <a:off x="780775" y="1305004"/>
            <a:ext cx="16726450" cy="936626"/>
          </a:xfrm>
          <a:prstGeom prst="rect">
            <a:avLst/>
          </a:prstGeom>
        </p:spPr>
        <p:txBody>
          <a:bodyPr lIns="0" tIns="0" rIns="0" bIns="0" rtlCol="0" anchor="t">
            <a:spAutoFit/>
          </a:bodyPr>
          <a:lstStyle/>
          <a:p>
            <a:pPr algn="ctr">
              <a:lnSpc>
                <a:spcPts val="7700"/>
              </a:lnSpc>
              <a:spcBef>
                <a:spcPct val="0"/>
              </a:spcBef>
            </a:pPr>
            <a:r>
              <a:rPr lang="en-US" sz="5500">
                <a:solidFill>
                  <a:srgbClr val="F4F3F3"/>
                </a:solidFill>
                <a:latin typeface="Cormorant SC" panose="00000500000000000000"/>
                <a:ea typeface="Cormorant SC" panose="00000500000000000000"/>
                <a:cs typeface="Cormorant SC" panose="00000500000000000000"/>
                <a:sym typeface="Cormorant SC" panose="00000500000000000000"/>
              </a:rPr>
              <a:t>En quoi est elle Traditionnelles ?</a:t>
            </a:r>
            <a:endParaRPr lang="en-US" sz="5500">
              <a:solidFill>
                <a:srgbClr val="F4F3F3"/>
              </a:solidFill>
              <a:latin typeface="Cormorant SC" panose="00000500000000000000"/>
              <a:ea typeface="Cormorant SC" panose="00000500000000000000"/>
              <a:cs typeface="Cormorant SC" panose="00000500000000000000"/>
              <a:sym typeface="Cormorant SC" panose="00000500000000000000"/>
            </a:endParaRPr>
          </a:p>
        </p:txBody>
      </p:sp>
      <p:sp>
        <p:nvSpPr>
          <p:cNvPr id="37" name="TextBox 37"/>
          <p:cNvSpPr txBox="1"/>
          <p:nvPr/>
        </p:nvSpPr>
        <p:spPr>
          <a:xfrm>
            <a:off x="2351628" y="5439742"/>
            <a:ext cx="400302" cy="347604"/>
          </a:xfrm>
          <a:prstGeom prst="rect">
            <a:avLst/>
          </a:prstGeom>
        </p:spPr>
        <p:txBody>
          <a:bodyPr lIns="0" tIns="0" rIns="0" bIns="0" rtlCol="0" anchor="t">
            <a:spAutoFit/>
          </a:bodyPr>
          <a:lstStyle/>
          <a:p>
            <a:pPr algn="ctr">
              <a:lnSpc>
                <a:spcPts val="2615"/>
              </a:lnSpc>
            </a:pPr>
            <a:r>
              <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rPr>
              <a:t>1</a:t>
            </a:r>
            <a:endParaRPr lang="en-US" sz="235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DD4E3"/>
        </a:solidFill>
        <a:effectLst/>
      </p:bgPr>
    </p:bg>
    <p:spTree>
      <p:nvGrpSpPr>
        <p:cNvPr id="1" name=""/>
        <p:cNvGrpSpPr/>
        <p:nvPr/>
      </p:nvGrpSpPr>
      <p:grpSpPr/>
      <p:sp>
        <p:nvSpPr>
          <p:cNvPr id="2" name="Zone de texte 1"/>
          <p:cNvSpPr txBox="1"/>
          <p:nvPr/>
        </p:nvSpPr>
        <p:spPr>
          <a:xfrm>
            <a:off x="2819400" y="1028700"/>
            <a:ext cx="12118340" cy="1219835"/>
          </a:xfrm>
          <a:prstGeom prst="rect">
            <a:avLst/>
          </a:prstGeom>
          <a:noFill/>
        </p:spPr>
        <p:txBody>
          <a:bodyPr wrap="square" rtlCol="0" anchor="t">
            <a:noAutofit/>
          </a:bodyPr>
          <a:p>
            <a:pPr algn="ctr">
              <a:lnSpc>
                <a:spcPts val="5600"/>
              </a:lnSpc>
            </a:pPr>
            <a:r>
              <a:rPr lang="en-US" altLang="fr-CA" sz="7200" spc="200">
                <a:solidFill>
                  <a:srgbClr val="6195B4"/>
                </a:solidFill>
                <a:latin typeface="Cormorant SC" panose="00000500000000000000"/>
                <a:ea typeface="Cormorant SC" panose="00000500000000000000"/>
                <a:cs typeface="Cormorant SC" panose="00000500000000000000"/>
                <a:sym typeface="Cormorant SC" panose="00000500000000000000"/>
              </a:rPr>
              <a:t>identit</a:t>
            </a:r>
            <a:r>
              <a:rPr lang="en-US" altLang="en-US" sz="7200" spc="200">
                <a:solidFill>
                  <a:srgbClr val="6195B4"/>
                </a:solidFill>
                <a:latin typeface="Cormorant SC" panose="00000500000000000000"/>
                <a:ea typeface="Cormorant SC" panose="00000500000000000000"/>
                <a:cs typeface="Cormorant SC" panose="00000500000000000000"/>
                <a:sym typeface="Cormorant SC" panose="00000500000000000000"/>
              </a:rPr>
              <a:t>é</a:t>
            </a:r>
            <a:r>
              <a:rPr lang="en-US" altLang="fr-CA" sz="7200" spc="200">
                <a:solidFill>
                  <a:srgbClr val="6195B4"/>
                </a:solidFill>
                <a:latin typeface="Cormorant SC" panose="00000500000000000000"/>
                <a:ea typeface="Cormorant SC" panose="00000500000000000000"/>
                <a:cs typeface="Cormorant SC" panose="00000500000000000000"/>
                <a:sym typeface="Cormorant SC" panose="00000500000000000000"/>
              </a:rPr>
              <a:t> architectural</a:t>
            </a:r>
            <a:r>
              <a:rPr lang="fr-FR" altLang="en-US" sz="7200" spc="200">
                <a:solidFill>
                  <a:srgbClr val="6195B4"/>
                </a:solidFill>
                <a:latin typeface="Cormorant SC" panose="00000500000000000000"/>
                <a:ea typeface="Cormorant SC" panose="00000500000000000000"/>
                <a:cs typeface="Cormorant SC" panose="00000500000000000000"/>
                <a:sym typeface="Cormorant SC" panose="00000500000000000000"/>
              </a:rPr>
              <a:t>e</a:t>
            </a:r>
            <a:r>
              <a:rPr lang="en-US" altLang="fr-CA" sz="4000" spc="200">
                <a:solidFill>
                  <a:srgbClr val="6195B4"/>
                </a:solidFill>
                <a:latin typeface="Cormorant SC" panose="00000500000000000000"/>
                <a:ea typeface="Cormorant SC" panose="00000500000000000000"/>
                <a:cs typeface="Cormorant SC" panose="00000500000000000000"/>
                <a:sym typeface="Cormorant SC" panose="00000500000000000000"/>
              </a:rPr>
              <a:t> </a:t>
            </a:r>
            <a:endParaRPr lang="en-US" altLang="fr-CA" sz="4000" spc="200">
              <a:solidFill>
                <a:srgbClr val="6195B4"/>
              </a:solidFill>
              <a:latin typeface="Cormorant SC" panose="00000500000000000000"/>
              <a:ea typeface="Cormorant SC" panose="00000500000000000000"/>
              <a:cs typeface="Cormorant SC" panose="00000500000000000000"/>
              <a:sym typeface="Cormorant SC" panose="00000500000000000000"/>
            </a:endParaRPr>
          </a:p>
        </p:txBody>
      </p:sp>
      <p:grpSp>
        <p:nvGrpSpPr>
          <p:cNvPr id="12" name="Group 12"/>
          <p:cNvGrpSpPr/>
          <p:nvPr/>
        </p:nvGrpSpPr>
        <p:grpSpPr>
          <a:xfrm rot="0">
            <a:off x="990600" y="3238500"/>
            <a:ext cx="4588510" cy="4716780"/>
            <a:chOff x="0" y="0"/>
            <a:chExt cx="1007912" cy="812800"/>
          </a:xfrm>
        </p:grpSpPr>
        <p:sp>
          <p:nvSpPr>
            <p:cNvPr id="13" name="Freeform 13"/>
            <p:cNvSpPr/>
            <p:nvPr/>
          </p:nvSpPr>
          <p:spPr>
            <a:xfrm>
              <a:off x="0" y="0"/>
              <a:ext cx="1007912" cy="812800"/>
            </a:xfrm>
            <a:custGeom>
              <a:avLst/>
              <a:gdLst/>
              <a:ahLst/>
              <a:cxnLst/>
              <a:rect l="l" t="t" r="r" b="b"/>
              <a:pathLst>
                <a:path w="1007912" h="812800">
                  <a:moveTo>
                    <a:pt x="79334" y="0"/>
                  </a:moveTo>
                  <a:lnTo>
                    <a:pt x="928578" y="0"/>
                  </a:lnTo>
                  <a:cubicBezTo>
                    <a:pt x="949618" y="0"/>
                    <a:pt x="969797" y="8358"/>
                    <a:pt x="984676" y="23237"/>
                  </a:cubicBezTo>
                  <a:cubicBezTo>
                    <a:pt x="999554" y="38115"/>
                    <a:pt x="1007912" y="58294"/>
                    <a:pt x="1007912" y="79334"/>
                  </a:cubicBezTo>
                  <a:lnTo>
                    <a:pt x="1007912" y="733466"/>
                  </a:lnTo>
                  <a:cubicBezTo>
                    <a:pt x="1007912" y="754506"/>
                    <a:pt x="999554" y="774685"/>
                    <a:pt x="984676" y="789563"/>
                  </a:cubicBezTo>
                  <a:cubicBezTo>
                    <a:pt x="969797" y="804442"/>
                    <a:pt x="949618" y="812800"/>
                    <a:pt x="928578" y="812800"/>
                  </a:cubicBezTo>
                  <a:lnTo>
                    <a:pt x="79334" y="812800"/>
                  </a:lnTo>
                  <a:cubicBezTo>
                    <a:pt x="58294" y="812800"/>
                    <a:pt x="38115" y="804442"/>
                    <a:pt x="23237" y="789563"/>
                  </a:cubicBezTo>
                  <a:cubicBezTo>
                    <a:pt x="8358" y="774685"/>
                    <a:pt x="0" y="754506"/>
                    <a:pt x="0" y="733466"/>
                  </a:cubicBezTo>
                  <a:lnTo>
                    <a:pt x="0" y="79334"/>
                  </a:lnTo>
                  <a:cubicBezTo>
                    <a:pt x="0" y="58294"/>
                    <a:pt x="8358" y="38115"/>
                    <a:pt x="23237" y="23237"/>
                  </a:cubicBezTo>
                  <a:cubicBezTo>
                    <a:pt x="38115" y="8358"/>
                    <a:pt x="58294" y="0"/>
                    <a:pt x="79334" y="0"/>
                  </a:cubicBezTo>
                  <a:close/>
                </a:path>
              </a:pathLst>
            </a:custGeom>
            <a:blipFill>
              <a:blip r:embed="rId1"/>
              <a:stretch>
                <a:fillRect l="-10540" r="-10540"/>
              </a:stretch>
            </a:blipFill>
          </p:spPr>
        </p:sp>
      </p:grpSp>
      <p:grpSp>
        <p:nvGrpSpPr>
          <p:cNvPr id="3" name="Group 12"/>
          <p:cNvGrpSpPr/>
          <p:nvPr/>
        </p:nvGrpSpPr>
        <p:grpSpPr>
          <a:xfrm rot="0">
            <a:off x="7162800" y="3239135"/>
            <a:ext cx="4575175" cy="4723130"/>
            <a:chOff x="0" y="0"/>
            <a:chExt cx="1007912" cy="812800"/>
          </a:xfrm>
        </p:grpSpPr>
        <p:sp>
          <p:nvSpPr>
            <p:cNvPr id="4" name="Freeform 13"/>
            <p:cNvSpPr/>
            <p:nvPr/>
          </p:nvSpPr>
          <p:spPr>
            <a:xfrm>
              <a:off x="0" y="0"/>
              <a:ext cx="1007912" cy="812800"/>
            </a:xfrm>
            <a:custGeom>
              <a:avLst/>
              <a:gdLst/>
              <a:ahLst/>
              <a:cxnLst/>
              <a:rect l="l" t="t" r="r" b="b"/>
              <a:pathLst>
                <a:path w="1007912" h="812800">
                  <a:moveTo>
                    <a:pt x="79334" y="0"/>
                  </a:moveTo>
                  <a:lnTo>
                    <a:pt x="928578" y="0"/>
                  </a:lnTo>
                  <a:cubicBezTo>
                    <a:pt x="949618" y="0"/>
                    <a:pt x="969797" y="8358"/>
                    <a:pt x="984676" y="23237"/>
                  </a:cubicBezTo>
                  <a:cubicBezTo>
                    <a:pt x="999554" y="38115"/>
                    <a:pt x="1007912" y="58294"/>
                    <a:pt x="1007912" y="79334"/>
                  </a:cubicBezTo>
                  <a:lnTo>
                    <a:pt x="1007912" y="733466"/>
                  </a:lnTo>
                  <a:cubicBezTo>
                    <a:pt x="1007912" y="754506"/>
                    <a:pt x="999554" y="774685"/>
                    <a:pt x="984676" y="789563"/>
                  </a:cubicBezTo>
                  <a:cubicBezTo>
                    <a:pt x="969797" y="804442"/>
                    <a:pt x="949618" y="812800"/>
                    <a:pt x="928578" y="812800"/>
                  </a:cubicBezTo>
                  <a:lnTo>
                    <a:pt x="79334" y="812800"/>
                  </a:lnTo>
                  <a:cubicBezTo>
                    <a:pt x="58294" y="812800"/>
                    <a:pt x="38115" y="804442"/>
                    <a:pt x="23237" y="789563"/>
                  </a:cubicBezTo>
                  <a:cubicBezTo>
                    <a:pt x="8358" y="774685"/>
                    <a:pt x="0" y="754506"/>
                    <a:pt x="0" y="733466"/>
                  </a:cubicBezTo>
                  <a:lnTo>
                    <a:pt x="0" y="79334"/>
                  </a:lnTo>
                  <a:cubicBezTo>
                    <a:pt x="0" y="58294"/>
                    <a:pt x="8358" y="38115"/>
                    <a:pt x="23237" y="23237"/>
                  </a:cubicBezTo>
                  <a:cubicBezTo>
                    <a:pt x="38115" y="8358"/>
                    <a:pt x="58294" y="0"/>
                    <a:pt x="79334" y="0"/>
                  </a:cubicBezTo>
                  <a:close/>
                </a:path>
              </a:pathLst>
            </a:custGeom>
            <a:blipFill rotWithShape="1">
              <a:blip r:embed="rId2"/>
              <a:stretch>
                <a:fillRect l="-10540" r="-10540"/>
              </a:stretch>
            </a:blipFill>
          </p:spPr>
          <p:txBody>
            <a:bodyPr/>
            <a:p>
              <a:endParaRPr lang="fr-CA" altLang="en-US"/>
            </a:p>
          </p:txBody>
        </p:sp>
      </p:grpSp>
      <p:grpSp>
        <p:nvGrpSpPr>
          <p:cNvPr id="5" name="Group 12"/>
          <p:cNvGrpSpPr/>
          <p:nvPr/>
        </p:nvGrpSpPr>
        <p:grpSpPr>
          <a:xfrm rot="0">
            <a:off x="13182600" y="3239770"/>
            <a:ext cx="4507865" cy="4696460"/>
            <a:chOff x="0" y="0"/>
            <a:chExt cx="1007912" cy="812800"/>
          </a:xfrm>
        </p:grpSpPr>
        <p:sp>
          <p:nvSpPr>
            <p:cNvPr id="6" name="Freeform 13"/>
            <p:cNvSpPr/>
            <p:nvPr/>
          </p:nvSpPr>
          <p:spPr>
            <a:xfrm>
              <a:off x="0" y="0"/>
              <a:ext cx="1007912" cy="812800"/>
            </a:xfrm>
            <a:custGeom>
              <a:avLst/>
              <a:gdLst/>
              <a:ahLst/>
              <a:cxnLst/>
              <a:rect l="l" t="t" r="r" b="b"/>
              <a:pathLst>
                <a:path w="1007912" h="812800">
                  <a:moveTo>
                    <a:pt x="79334" y="0"/>
                  </a:moveTo>
                  <a:lnTo>
                    <a:pt x="928578" y="0"/>
                  </a:lnTo>
                  <a:cubicBezTo>
                    <a:pt x="949618" y="0"/>
                    <a:pt x="969797" y="8358"/>
                    <a:pt x="984676" y="23237"/>
                  </a:cubicBezTo>
                  <a:cubicBezTo>
                    <a:pt x="999554" y="38115"/>
                    <a:pt x="1007912" y="58294"/>
                    <a:pt x="1007912" y="79334"/>
                  </a:cubicBezTo>
                  <a:lnTo>
                    <a:pt x="1007912" y="733466"/>
                  </a:lnTo>
                  <a:cubicBezTo>
                    <a:pt x="1007912" y="754506"/>
                    <a:pt x="999554" y="774685"/>
                    <a:pt x="984676" y="789563"/>
                  </a:cubicBezTo>
                  <a:cubicBezTo>
                    <a:pt x="969797" y="804442"/>
                    <a:pt x="949618" y="812800"/>
                    <a:pt x="928578" y="812800"/>
                  </a:cubicBezTo>
                  <a:lnTo>
                    <a:pt x="79334" y="812800"/>
                  </a:lnTo>
                  <a:cubicBezTo>
                    <a:pt x="58294" y="812800"/>
                    <a:pt x="38115" y="804442"/>
                    <a:pt x="23237" y="789563"/>
                  </a:cubicBezTo>
                  <a:cubicBezTo>
                    <a:pt x="8358" y="774685"/>
                    <a:pt x="0" y="754506"/>
                    <a:pt x="0" y="733466"/>
                  </a:cubicBezTo>
                  <a:lnTo>
                    <a:pt x="0" y="79334"/>
                  </a:lnTo>
                  <a:cubicBezTo>
                    <a:pt x="0" y="58294"/>
                    <a:pt x="8358" y="38115"/>
                    <a:pt x="23237" y="23237"/>
                  </a:cubicBezTo>
                  <a:cubicBezTo>
                    <a:pt x="38115" y="8358"/>
                    <a:pt x="58294" y="0"/>
                    <a:pt x="79334" y="0"/>
                  </a:cubicBezTo>
                  <a:close/>
                </a:path>
              </a:pathLst>
            </a:custGeom>
            <a:blipFill rotWithShape="1">
              <a:blip r:embed="rId3"/>
              <a:stretch>
                <a:fillRect l="-10540" r="-10540"/>
              </a:stretch>
            </a:blipFill>
          </p:spPr>
        </p:sp>
      </p:grpSp>
      <p:sp>
        <p:nvSpPr>
          <p:cNvPr id="7" name="Zone de texte 6"/>
          <p:cNvSpPr txBox="1"/>
          <p:nvPr/>
        </p:nvSpPr>
        <p:spPr>
          <a:xfrm>
            <a:off x="1200785" y="7962900"/>
            <a:ext cx="4389120" cy="460375"/>
          </a:xfrm>
          <a:prstGeom prst="rect">
            <a:avLst/>
          </a:prstGeom>
          <a:noFill/>
        </p:spPr>
        <p:txBody>
          <a:bodyPr wrap="square" rtlCol="0" anchor="t">
            <a:spAutoFit/>
          </a:bodyPr>
          <a:p>
            <a:r>
              <a:rPr lang="fr-FR" altLang="en-US" sz="2400" b="1">
                <a:solidFill>
                  <a:schemeClr val="tx2"/>
                </a:solidFill>
                <a:latin typeface="Cormorant Garamond" panose="00000500000000000000" charset="0"/>
                <a:cs typeface="Cormorant Garamond" panose="00000500000000000000" charset="0"/>
              </a:rPr>
              <a:t>L</a:t>
            </a:r>
            <a:r>
              <a:rPr lang="en-US" altLang="fr-CA" sz="2400" b="1">
                <a:solidFill>
                  <a:schemeClr val="tx2"/>
                </a:solidFill>
                <a:latin typeface="Cormorant Garamond" panose="00000500000000000000" charset="0"/>
                <a:cs typeface="Cormorant Garamond" panose="00000500000000000000" charset="0"/>
              </a:rPr>
              <a:t>e toit comme symbole des clans</a:t>
            </a:r>
            <a:endParaRPr lang="en-US" altLang="fr-CA" sz="2400" b="1">
              <a:solidFill>
                <a:schemeClr val="tx2"/>
              </a:solidFill>
              <a:latin typeface="Cormorant Garamond" panose="00000500000000000000" charset="0"/>
              <a:cs typeface="Cormorant Garamond" panose="00000500000000000000" charset="0"/>
            </a:endParaRPr>
          </a:p>
        </p:txBody>
      </p:sp>
      <p:sp>
        <p:nvSpPr>
          <p:cNvPr id="8" name="Zone de texte 7"/>
          <p:cNvSpPr txBox="1"/>
          <p:nvPr/>
        </p:nvSpPr>
        <p:spPr>
          <a:xfrm>
            <a:off x="6934200" y="8039100"/>
            <a:ext cx="5134610" cy="460375"/>
          </a:xfrm>
          <a:prstGeom prst="rect">
            <a:avLst/>
          </a:prstGeom>
          <a:noFill/>
        </p:spPr>
        <p:txBody>
          <a:bodyPr wrap="square" rtlCol="0" anchor="t">
            <a:spAutoFit/>
          </a:bodyPr>
          <a:p>
            <a:r>
              <a:rPr lang="fr-FR" altLang="en-US" sz="2400" b="1">
                <a:solidFill>
                  <a:schemeClr val="tx2"/>
                </a:solidFill>
                <a:latin typeface="Cormorant Garamond" panose="00000500000000000000" charset="0"/>
                <a:cs typeface="Cormorant Garamond" panose="00000500000000000000" charset="0"/>
              </a:rPr>
              <a:t>L</a:t>
            </a:r>
            <a:r>
              <a:rPr lang="en-US" altLang="fr-CA" sz="2400" b="1">
                <a:solidFill>
                  <a:schemeClr val="tx2"/>
                </a:solidFill>
                <a:latin typeface="Cormorant Garamond" panose="00000500000000000000" charset="0"/>
                <a:cs typeface="Cormorant Garamond" panose="00000500000000000000" charset="0"/>
              </a:rPr>
              <a:t>es poteaux comme force de la fondation </a:t>
            </a:r>
            <a:endParaRPr lang="en-US" altLang="fr-CA" sz="2400" b="1">
              <a:solidFill>
                <a:schemeClr val="tx2"/>
              </a:solidFill>
              <a:latin typeface="Cormorant Garamond" panose="00000500000000000000" charset="0"/>
              <a:cs typeface="Cormorant Garamond" panose="00000500000000000000" charset="0"/>
            </a:endParaRPr>
          </a:p>
        </p:txBody>
      </p:sp>
      <p:sp>
        <p:nvSpPr>
          <p:cNvPr id="9" name="Zone de texte 8"/>
          <p:cNvSpPr txBox="1"/>
          <p:nvPr/>
        </p:nvSpPr>
        <p:spPr>
          <a:xfrm>
            <a:off x="12767945" y="7962900"/>
            <a:ext cx="5337810" cy="460375"/>
          </a:xfrm>
          <a:prstGeom prst="rect">
            <a:avLst/>
          </a:prstGeom>
          <a:noFill/>
        </p:spPr>
        <p:txBody>
          <a:bodyPr wrap="square" rtlCol="0" anchor="t">
            <a:spAutoFit/>
          </a:bodyPr>
          <a:p>
            <a:r>
              <a:rPr lang="en-US" altLang="fr-CA" sz="2400" b="1">
                <a:solidFill>
                  <a:schemeClr val="tx2"/>
                </a:solidFill>
                <a:latin typeface="Cormorant Garamond" panose="00000500000000000000" charset="0"/>
                <a:cs typeface="Cormorant Garamond" panose="00000500000000000000" charset="0"/>
              </a:rPr>
              <a:t> </a:t>
            </a:r>
            <a:r>
              <a:rPr lang="fr-FR" altLang="en-US" sz="2400" b="1">
                <a:solidFill>
                  <a:schemeClr val="tx2"/>
                </a:solidFill>
                <a:latin typeface="Cormorant Garamond" panose="00000500000000000000" charset="0"/>
                <a:cs typeface="Cormorant Garamond" panose="00000500000000000000" charset="0"/>
              </a:rPr>
              <a:t>L</a:t>
            </a:r>
            <a:r>
              <a:rPr lang="en-US" altLang="fr-CA" sz="2400" b="1">
                <a:solidFill>
                  <a:schemeClr val="tx2"/>
                </a:solidFill>
                <a:latin typeface="Cormorant Garamond" panose="00000500000000000000" charset="0"/>
                <a:cs typeface="Cormorant Garamond" panose="00000500000000000000" charset="0"/>
              </a:rPr>
              <a:t>a croyance comme sens</a:t>
            </a:r>
            <a:r>
              <a:rPr lang="en-US" altLang="en-US" sz="2400" b="1">
                <a:solidFill>
                  <a:schemeClr val="tx2"/>
                </a:solidFill>
                <a:latin typeface="Cormorant Garamond" panose="00000500000000000000" charset="0"/>
                <a:cs typeface="Cormorant Garamond" panose="00000500000000000000" charset="0"/>
              </a:rPr>
              <a:t> </a:t>
            </a:r>
            <a:r>
              <a:rPr lang="en-US" altLang="fr-CA" sz="2400" b="1">
                <a:solidFill>
                  <a:schemeClr val="tx2"/>
                </a:solidFill>
                <a:latin typeface="Cormorant Garamond" panose="00000500000000000000" charset="0"/>
                <a:cs typeface="Cormorant Garamond" panose="00000500000000000000" charset="0"/>
              </a:rPr>
              <a:t>de</a:t>
            </a:r>
            <a:r>
              <a:rPr lang="en-US" altLang="en-US" sz="2400" b="1">
                <a:solidFill>
                  <a:schemeClr val="tx2"/>
                </a:solidFill>
                <a:latin typeface="Cormorant Garamond" panose="00000500000000000000" charset="0"/>
                <a:cs typeface="Cormorant Garamond" panose="00000500000000000000" charset="0"/>
              </a:rPr>
              <a:t> </a:t>
            </a:r>
            <a:r>
              <a:rPr lang="en-US" altLang="fr-CA" sz="2400" b="1">
                <a:solidFill>
                  <a:schemeClr val="tx2"/>
                </a:solidFill>
                <a:latin typeface="Cormorant Garamond" panose="00000500000000000000" charset="0"/>
                <a:cs typeface="Cormorant Garamond" panose="00000500000000000000" charset="0"/>
              </a:rPr>
              <a:t>construction</a:t>
            </a:r>
            <a:endParaRPr lang="en-US" altLang="fr-CA" sz="2400" b="1">
              <a:solidFill>
                <a:schemeClr val="tx2"/>
              </a:solidFill>
              <a:latin typeface="Cormorant Garamond" panose="00000500000000000000" charset="0"/>
              <a:cs typeface="Cormorant Garamond" panose="00000500000000000000"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 b="-8888"/>
            </a:stretch>
          </a:blipFill>
        </p:spPr>
      </p:sp>
      <p:sp>
        <p:nvSpPr>
          <p:cNvPr id="3" name="TextBox 3"/>
          <p:cNvSpPr txBox="1"/>
          <p:nvPr/>
        </p:nvSpPr>
        <p:spPr>
          <a:xfrm>
            <a:off x="1883174" y="923925"/>
            <a:ext cx="14521653" cy="936625"/>
          </a:xfrm>
          <a:prstGeom prst="rect">
            <a:avLst/>
          </a:prstGeom>
        </p:spPr>
        <p:txBody>
          <a:bodyPr lIns="0" tIns="0" rIns="0" bIns="0" rtlCol="0" anchor="t">
            <a:spAutoFit/>
          </a:bodyPr>
          <a:lstStyle/>
          <a:p>
            <a:pPr algn="l">
              <a:lnSpc>
                <a:spcPts val="7700"/>
              </a:lnSpc>
              <a:spcBef>
                <a:spcPct val="0"/>
              </a:spcBef>
            </a:pPr>
            <a:r>
              <a:rPr lang="en-US" sz="5500">
                <a:solidFill>
                  <a:srgbClr val="6195B4"/>
                </a:solidFill>
                <a:latin typeface="Cormorant SC" panose="00000500000000000000"/>
                <a:ea typeface="Cormorant SC" panose="00000500000000000000"/>
                <a:cs typeface="Cormorant SC" panose="00000500000000000000"/>
                <a:sym typeface="Cormorant SC" panose="00000500000000000000"/>
              </a:rPr>
              <a:t>III- Techniques et matériaux de construction</a:t>
            </a:r>
            <a:endParaRPr lang="en-US" sz="5500">
              <a:solidFill>
                <a:srgbClr val="6195B4"/>
              </a:solidFill>
              <a:latin typeface="Cormorant SC" panose="00000500000000000000"/>
              <a:ea typeface="Cormorant SC" panose="00000500000000000000"/>
              <a:cs typeface="Cormorant SC" panose="00000500000000000000"/>
              <a:sym typeface="Cormorant SC" panose="00000500000000000000"/>
            </a:endParaRPr>
          </a:p>
        </p:txBody>
      </p:sp>
      <p:sp>
        <p:nvSpPr>
          <p:cNvPr id="4" name="TextBox 4"/>
          <p:cNvSpPr txBox="1"/>
          <p:nvPr/>
        </p:nvSpPr>
        <p:spPr>
          <a:xfrm>
            <a:off x="5334239" y="2552389"/>
            <a:ext cx="7284838" cy="749907"/>
          </a:xfrm>
          <a:prstGeom prst="rect">
            <a:avLst/>
          </a:prstGeom>
        </p:spPr>
        <p:txBody>
          <a:bodyPr lIns="0" tIns="0" rIns="0" bIns="0" rtlCol="0" anchor="t">
            <a:spAutoFit/>
          </a:bodyPr>
          <a:lstStyle/>
          <a:p>
            <a:pPr algn="l">
              <a:lnSpc>
                <a:spcPts val="6120"/>
              </a:lnSpc>
              <a:spcBef>
                <a:spcPct val="0"/>
              </a:spcBef>
            </a:pPr>
            <a:r>
              <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rPr>
              <a:t>Matériaux de construction</a:t>
            </a:r>
            <a:endPar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endParaRPr>
          </a:p>
        </p:txBody>
      </p:sp>
      <p:grpSp>
        <p:nvGrpSpPr>
          <p:cNvPr id="5" name="Group 5"/>
          <p:cNvGrpSpPr/>
          <p:nvPr/>
        </p:nvGrpSpPr>
        <p:grpSpPr>
          <a:xfrm rot="0">
            <a:off x="1186973" y="3696005"/>
            <a:ext cx="15914053" cy="1637415"/>
            <a:chOff x="0" y="0"/>
            <a:chExt cx="21218738" cy="2183220"/>
          </a:xfrm>
        </p:grpSpPr>
        <p:sp>
          <p:nvSpPr>
            <p:cNvPr id="6" name="Freeform 6"/>
            <p:cNvSpPr/>
            <p:nvPr/>
          </p:nvSpPr>
          <p:spPr>
            <a:xfrm>
              <a:off x="0" y="0"/>
              <a:ext cx="21218738" cy="2183220"/>
            </a:xfrm>
            <a:custGeom>
              <a:avLst/>
              <a:gdLst/>
              <a:ahLst/>
              <a:cxnLst/>
              <a:rect l="l" t="t" r="r" b="b"/>
              <a:pathLst>
                <a:path w="21218738" h="2183220">
                  <a:moveTo>
                    <a:pt x="0" y="0"/>
                  </a:moveTo>
                  <a:lnTo>
                    <a:pt x="21218738" y="0"/>
                  </a:lnTo>
                  <a:lnTo>
                    <a:pt x="21218738" y="2183220"/>
                  </a:lnTo>
                  <a:lnTo>
                    <a:pt x="0" y="2183220"/>
                  </a:lnTo>
                  <a:lnTo>
                    <a:pt x="0" y="0"/>
                  </a:lnTo>
                  <a:close/>
                </a:path>
              </a:pathLst>
            </a:custGeom>
            <a:blipFill>
              <a:blip r:embed="rId3">
                <a:alphaModFix amt="60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624758" y="821455"/>
              <a:ext cx="1632225" cy="569172"/>
            </a:xfrm>
            <a:prstGeom prst="rect">
              <a:avLst/>
            </a:prstGeom>
          </p:spPr>
          <p:txBody>
            <a:bodyPr lIns="0" tIns="0" rIns="0" bIns="0" rtlCol="0" anchor="t">
              <a:spAutoFit/>
            </a:bodyPr>
            <a:lstStyle/>
            <a:p>
              <a:pPr algn="just">
                <a:lnSpc>
                  <a:spcPts val="3640"/>
                </a:lnSpc>
                <a:spcBef>
                  <a:spcPct val="0"/>
                </a:spcBef>
              </a:pPr>
              <a:r>
                <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rPr>
                <a:t>Chaume</a:t>
              </a:r>
              <a:endPar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8" name="TextBox 8"/>
            <p:cNvSpPr txBox="1"/>
            <p:nvPr/>
          </p:nvSpPr>
          <p:spPr>
            <a:xfrm>
              <a:off x="17560483" y="788995"/>
              <a:ext cx="3454084" cy="569172"/>
            </a:xfrm>
            <a:prstGeom prst="rect">
              <a:avLst/>
            </a:prstGeom>
          </p:spPr>
          <p:txBody>
            <a:bodyPr lIns="0" tIns="0" rIns="0" bIns="0" rtlCol="0" anchor="t">
              <a:spAutoFit/>
            </a:bodyPr>
            <a:lstStyle/>
            <a:p>
              <a:pPr algn="just">
                <a:lnSpc>
                  <a:spcPts val="3640"/>
                </a:lnSpc>
                <a:spcBef>
                  <a:spcPct val="0"/>
                </a:spcBef>
              </a:pPr>
              <a:r>
                <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rPr>
                <a:t>Terre et torchis</a:t>
              </a:r>
              <a:endPar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9" name="TextBox 9"/>
            <p:cNvSpPr txBox="1"/>
            <p:nvPr/>
          </p:nvSpPr>
          <p:spPr>
            <a:xfrm>
              <a:off x="13562603" y="788995"/>
              <a:ext cx="2944751" cy="569172"/>
            </a:xfrm>
            <a:prstGeom prst="rect">
              <a:avLst/>
            </a:prstGeom>
          </p:spPr>
          <p:txBody>
            <a:bodyPr lIns="0" tIns="0" rIns="0" bIns="0" rtlCol="0" anchor="t">
              <a:spAutoFit/>
            </a:bodyPr>
            <a:lstStyle/>
            <a:p>
              <a:pPr algn="just">
                <a:lnSpc>
                  <a:spcPts val="3640"/>
                </a:lnSpc>
                <a:spcBef>
                  <a:spcPct val="0"/>
                </a:spcBef>
              </a:pPr>
              <a:r>
                <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rPr>
                <a:t>Tissu d’écorce</a:t>
              </a:r>
              <a:endPar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10" name="TextBox 10"/>
            <p:cNvSpPr txBox="1"/>
            <p:nvPr/>
          </p:nvSpPr>
          <p:spPr>
            <a:xfrm>
              <a:off x="9827727" y="788995"/>
              <a:ext cx="2011399" cy="569172"/>
            </a:xfrm>
            <a:prstGeom prst="rect">
              <a:avLst/>
            </a:prstGeom>
          </p:spPr>
          <p:txBody>
            <a:bodyPr lIns="0" tIns="0" rIns="0" bIns="0" rtlCol="0" anchor="t">
              <a:spAutoFit/>
            </a:bodyPr>
            <a:lstStyle/>
            <a:p>
              <a:pPr algn="just">
                <a:lnSpc>
                  <a:spcPts val="3640"/>
                </a:lnSpc>
                <a:spcBef>
                  <a:spcPct val="0"/>
                </a:spcBef>
              </a:pPr>
              <a:r>
                <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rPr>
                <a:t>Roseaux</a:t>
              </a:r>
              <a:endPar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11" name="TextBox 11"/>
            <p:cNvSpPr txBox="1"/>
            <p:nvPr/>
          </p:nvSpPr>
          <p:spPr>
            <a:xfrm>
              <a:off x="6063683" y="788995"/>
              <a:ext cx="961378" cy="569172"/>
            </a:xfrm>
            <a:prstGeom prst="rect">
              <a:avLst/>
            </a:prstGeom>
          </p:spPr>
          <p:txBody>
            <a:bodyPr lIns="0" tIns="0" rIns="0" bIns="0" rtlCol="0" anchor="t">
              <a:spAutoFit/>
            </a:bodyPr>
            <a:lstStyle/>
            <a:p>
              <a:pPr algn="just">
                <a:lnSpc>
                  <a:spcPts val="3640"/>
                </a:lnSpc>
                <a:spcBef>
                  <a:spcPct val="0"/>
                </a:spcBef>
              </a:pPr>
              <a:r>
                <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rPr>
                <a:t>Bois</a:t>
              </a:r>
              <a:endParaRPr lang="en-US" sz="2600" b="1" spc="129">
                <a:solidFill>
                  <a:srgbClr val="FFFFFF"/>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grpSp>
      <p:sp>
        <p:nvSpPr>
          <p:cNvPr id="12" name="Rectangle 11"/>
          <p:cNvSpPr/>
          <p:nvPr/>
        </p:nvSpPr>
        <p:spPr>
          <a:xfrm>
            <a:off x="7467600" y="5700395"/>
            <a:ext cx="2777490" cy="2684780"/>
          </a:xfrm>
          <a:prstGeom prst="rect">
            <a:avLst/>
          </a:prstGeom>
          <a:blipFill rotWithShape="1">
            <a:blip r:embed="rId5"/>
            <a:stretch>
              <a:fillRect/>
            </a:stretch>
          </a:bli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
        <p:nvSpPr>
          <p:cNvPr id="13" name="Rectangle 12"/>
          <p:cNvSpPr/>
          <p:nvPr/>
        </p:nvSpPr>
        <p:spPr>
          <a:xfrm>
            <a:off x="4343400" y="5676900"/>
            <a:ext cx="2777490" cy="2684780"/>
          </a:xfrm>
          <a:prstGeom prst="rect">
            <a:avLst/>
          </a:prstGeom>
          <a:blipFill rotWithShape="1">
            <a:blip r:embed="rId6"/>
            <a:stretch>
              <a:fillRect/>
            </a:stretch>
          </a:bli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
        <p:nvSpPr>
          <p:cNvPr id="14" name="Rectangle 13"/>
          <p:cNvSpPr/>
          <p:nvPr/>
        </p:nvSpPr>
        <p:spPr>
          <a:xfrm>
            <a:off x="10591800" y="5727065"/>
            <a:ext cx="2777490" cy="2684780"/>
          </a:xfrm>
          <a:prstGeom prst="rect">
            <a:avLst/>
          </a:prstGeom>
          <a:blipFill rotWithShape="1">
            <a:blip r:embed="rId7"/>
            <a:stretch>
              <a:fillRect/>
            </a:stretch>
          </a:bli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
        <p:nvSpPr>
          <p:cNvPr id="15" name="Rectangle 14"/>
          <p:cNvSpPr/>
          <p:nvPr/>
        </p:nvSpPr>
        <p:spPr>
          <a:xfrm>
            <a:off x="1143000" y="5687060"/>
            <a:ext cx="2777490" cy="2684780"/>
          </a:xfrm>
          <a:prstGeom prst="rect">
            <a:avLst/>
          </a:prstGeom>
          <a:blipFill rotWithShape="1">
            <a:blip r:embed="rId8"/>
            <a:stretch>
              <a:fillRect/>
            </a:stretch>
          </a:bli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
        <p:nvSpPr>
          <p:cNvPr id="16" name="Rectangle 15"/>
          <p:cNvSpPr/>
          <p:nvPr/>
        </p:nvSpPr>
        <p:spPr>
          <a:xfrm>
            <a:off x="13868400" y="5687060"/>
            <a:ext cx="2777490" cy="2684780"/>
          </a:xfrm>
          <a:prstGeom prst="rect">
            <a:avLst/>
          </a:prstGeom>
          <a:blipFill rotWithShape="1">
            <a:blip r:embed="rId9"/>
            <a:stretch>
              <a:fillRect/>
            </a:stretch>
          </a:bli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43631" b="-43631"/>
            </a:stretch>
          </a:blipFill>
        </p:spPr>
      </p:sp>
      <p:grpSp>
        <p:nvGrpSpPr>
          <p:cNvPr id="3" name="Group 3"/>
          <p:cNvGrpSpPr/>
          <p:nvPr/>
        </p:nvGrpSpPr>
        <p:grpSpPr>
          <a:xfrm rot="0">
            <a:off x="0" y="2565701"/>
            <a:ext cx="5048293" cy="669202"/>
            <a:chOff x="0" y="0"/>
            <a:chExt cx="2072470" cy="274727"/>
          </a:xfrm>
        </p:grpSpPr>
        <p:sp>
          <p:nvSpPr>
            <p:cNvPr id="4" name="Freeform 4"/>
            <p:cNvSpPr/>
            <p:nvPr/>
          </p:nvSpPr>
          <p:spPr>
            <a:xfrm>
              <a:off x="0" y="0"/>
              <a:ext cx="2072470" cy="274727"/>
            </a:xfrm>
            <a:custGeom>
              <a:avLst/>
              <a:gdLst/>
              <a:ahLst/>
              <a:cxnLst/>
              <a:rect l="l" t="t" r="r" b="b"/>
              <a:pathLst>
                <a:path w="2072470" h="274727">
                  <a:moveTo>
                    <a:pt x="1869270" y="0"/>
                  </a:moveTo>
                  <a:lnTo>
                    <a:pt x="0" y="0"/>
                  </a:lnTo>
                  <a:lnTo>
                    <a:pt x="0" y="274727"/>
                  </a:lnTo>
                  <a:lnTo>
                    <a:pt x="1869270" y="274727"/>
                  </a:lnTo>
                  <a:lnTo>
                    <a:pt x="2072470" y="137363"/>
                  </a:lnTo>
                  <a:lnTo>
                    <a:pt x="1869270" y="0"/>
                  </a:lnTo>
                  <a:close/>
                </a:path>
              </a:pathLst>
            </a:custGeom>
            <a:solidFill>
              <a:srgbClr val="BDD4E3"/>
            </a:solidFill>
          </p:spPr>
        </p:sp>
        <p:sp>
          <p:nvSpPr>
            <p:cNvPr id="5" name="TextBox 5"/>
            <p:cNvSpPr txBox="1"/>
            <p:nvPr/>
          </p:nvSpPr>
          <p:spPr>
            <a:xfrm>
              <a:off x="0" y="-38100"/>
              <a:ext cx="1958170" cy="312827"/>
            </a:xfrm>
            <a:prstGeom prst="rect">
              <a:avLst/>
            </a:prstGeom>
          </p:spPr>
          <p:txBody>
            <a:bodyPr lIns="50800" tIns="50800" rIns="50800" bIns="50800" rtlCol="0" anchor="ctr"/>
            <a:lstStyle/>
            <a:p>
              <a:pPr algn="ctr">
                <a:lnSpc>
                  <a:spcPts val="2775"/>
                </a:lnSpc>
              </a:pPr>
            </a:p>
          </p:txBody>
        </p:sp>
      </p:grpSp>
      <p:grpSp>
        <p:nvGrpSpPr>
          <p:cNvPr id="6" name="Group 6"/>
          <p:cNvGrpSpPr/>
          <p:nvPr/>
        </p:nvGrpSpPr>
        <p:grpSpPr>
          <a:xfrm rot="0">
            <a:off x="6348506" y="2565701"/>
            <a:ext cx="4845720" cy="669202"/>
            <a:chOff x="0" y="0"/>
            <a:chExt cx="1276239" cy="176251"/>
          </a:xfrm>
        </p:grpSpPr>
        <p:sp>
          <p:nvSpPr>
            <p:cNvPr id="7" name="Freeform 7"/>
            <p:cNvSpPr/>
            <p:nvPr/>
          </p:nvSpPr>
          <p:spPr>
            <a:xfrm>
              <a:off x="0" y="0"/>
              <a:ext cx="1276239" cy="176251"/>
            </a:xfrm>
            <a:custGeom>
              <a:avLst/>
              <a:gdLst/>
              <a:ahLst/>
              <a:cxnLst/>
              <a:rect l="l" t="t" r="r" b="b"/>
              <a:pathLst>
                <a:path w="1276239" h="176251">
                  <a:moveTo>
                    <a:pt x="1276239" y="0"/>
                  </a:moveTo>
                  <a:lnTo>
                    <a:pt x="0" y="0"/>
                  </a:lnTo>
                  <a:lnTo>
                    <a:pt x="101600" y="88125"/>
                  </a:lnTo>
                  <a:lnTo>
                    <a:pt x="0" y="176251"/>
                  </a:lnTo>
                  <a:lnTo>
                    <a:pt x="1276239" y="176251"/>
                  </a:lnTo>
                  <a:lnTo>
                    <a:pt x="1174639" y="88125"/>
                  </a:lnTo>
                  <a:lnTo>
                    <a:pt x="1276239" y="0"/>
                  </a:lnTo>
                  <a:close/>
                </a:path>
              </a:pathLst>
            </a:custGeom>
            <a:solidFill>
              <a:srgbClr val="00719D"/>
            </a:solidFill>
          </p:spPr>
        </p:sp>
        <p:sp>
          <p:nvSpPr>
            <p:cNvPr id="8" name="TextBox 8"/>
            <p:cNvSpPr txBox="1"/>
            <p:nvPr/>
          </p:nvSpPr>
          <p:spPr>
            <a:xfrm>
              <a:off x="88900" y="-38100"/>
              <a:ext cx="1098439" cy="214351"/>
            </a:xfrm>
            <a:prstGeom prst="rect">
              <a:avLst/>
            </a:prstGeom>
          </p:spPr>
          <p:txBody>
            <a:bodyPr lIns="50800" tIns="50800" rIns="50800" bIns="50800" rtlCol="0" anchor="ctr"/>
            <a:lstStyle/>
            <a:p>
              <a:pPr algn="ctr">
                <a:lnSpc>
                  <a:spcPts val="2775"/>
                </a:lnSpc>
              </a:pPr>
            </a:p>
          </p:txBody>
        </p:sp>
      </p:grpSp>
      <p:grpSp>
        <p:nvGrpSpPr>
          <p:cNvPr id="9" name="Group 9"/>
          <p:cNvGrpSpPr/>
          <p:nvPr/>
        </p:nvGrpSpPr>
        <p:grpSpPr>
          <a:xfrm rot="-10800000">
            <a:off x="13172183" y="2565701"/>
            <a:ext cx="5115817" cy="669202"/>
            <a:chOff x="0" y="0"/>
            <a:chExt cx="2100190" cy="274727"/>
          </a:xfrm>
        </p:grpSpPr>
        <p:sp>
          <p:nvSpPr>
            <p:cNvPr id="10" name="Freeform 10"/>
            <p:cNvSpPr/>
            <p:nvPr/>
          </p:nvSpPr>
          <p:spPr>
            <a:xfrm>
              <a:off x="0" y="0"/>
              <a:ext cx="2100190" cy="274727"/>
            </a:xfrm>
            <a:custGeom>
              <a:avLst/>
              <a:gdLst/>
              <a:ahLst/>
              <a:cxnLst/>
              <a:rect l="l" t="t" r="r" b="b"/>
              <a:pathLst>
                <a:path w="2100190" h="274727">
                  <a:moveTo>
                    <a:pt x="1896990" y="0"/>
                  </a:moveTo>
                  <a:lnTo>
                    <a:pt x="0" y="0"/>
                  </a:lnTo>
                  <a:lnTo>
                    <a:pt x="0" y="274727"/>
                  </a:lnTo>
                  <a:lnTo>
                    <a:pt x="1896990" y="274727"/>
                  </a:lnTo>
                  <a:lnTo>
                    <a:pt x="2100190" y="137363"/>
                  </a:lnTo>
                  <a:lnTo>
                    <a:pt x="1896990" y="0"/>
                  </a:lnTo>
                  <a:close/>
                </a:path>
              </a:pathLst>
            </a:custGeom>
            <a:solidFill>
              <a:srgbClr val="BDD4E3"/>
            </a:solidFill>
          </p:spPr>
        </p:sp>
        <p:sp>
          <p:nvSpPr>
            <p:cNvPr id="11" name="TextBox 11"/>
            <p:cNvSpPr txBox="1"/>
            <p:nvPr/>
          </p:nvSpPr>
          <p:spPr>
            <a:xfrm>
              <a:off x="0" y="-38100"/>
              <a:ext cx="1985890" cy="312827"/>
            </a:xfrm>
            <a:prstGeom prst="rect">
              <a:avLst/>
            </a:prstGeom>
          </p:spPr>
          <p:txBody>
            <a:bodyPr lIns="50800" tIns="50800" rIns="50800" bIns="50800" rtlCol="0" anchor="ctr"/>
            <a:lstStyle/>
            <a:p>
              <a:pPr algn="ctr">
                <a:lnSpc>
                  <a:spcPts val="2775"/>
                </a:lnSpc>
              </a:pPr>
            </a:p>
          </p:txBody>
        </p:sp>
      </p:grpSp>
      <p:grpSp>
        <p:nvGrpSpPr>
          <p:cNvPr id="12" name="Group 12"/>
          <p:cNvGrpSpPr/>
          <p:nvPr/>
        </p:nvGrpSpPr>
        <p:grpSpPr>
          <a:xfrm rot="0">
            <a:off x="136893" y="3490901"/>
            <a:ext cx="4098608" cy="3305198"/>
            <a:chOff x="0" y="0"/>
            <a:chExt cx="1007912" cy="812800"/>
          </a:xfrm>
        </p:grpSpPr>
        <p:sp>
          <p:nvSpPr>
            <p:cNvPr id="13" name="Freeform 13"/>
            <p:cNvSpPr/>
            <p:nvPr/>
          </p:nvSpPr>
          <p:spPr>
            <a:xfrm>
              <a:off x="0" y="0"/>
              <a:ext cx="1007912" cy="812800"/>
            </a:xfrm>
            <a:custGeom>
              <a:avLst/>
              <a:gdLst/>
              <a:ahLst/>
              <a:cxnLst/>
              <a:rect l="l" t="t" r="r" b="b"/>
              <a:pathLst>
                <a:path w="1007912" h="812800">
                  <a:moveTo>
                    <a:pt x="79334" y="0"/>
                  </a:moveTo>
                  <a:lnTo>
                    <a:pt x="928578" y="0"/>
                  </a:lnTo>
                  <a:cubicBezTo>
                    <a:pt x="949618" y="0"/>
                    <a:pt x="969797" y="8358"/>
                    <a:pt x="984676" y="23237"/>
                  </a:cubicBezTo>
                  <a:cubicBezTo>
                    <a:pt x="999554" y="38115"/>
                    <a:pt x="1007912" y="58294"/>
                    <a:pt x="1007912" y="79334"/>
                  </a:cubicBezTo>
                  <a:lnTo>
                    <a:pt x="1007912" y="733466"/>
                  </a:lnTo>
                  <a:cubicBezTo>
                    <a:pt x="1007912" y="754506"/>
                    <a:pt x="999554" y="774685"/>
                    <a:pt x="984676" y="789563"/>
                  </a:cubicBezTo>
                  <a:cubicBezTo>
                    <a:pt x="969797" y="804442"/>
                    <a:pt x="949618" y="812800"/>
                    <a:pt x="928578" y="812800"/>
                  </a:cubicBezTo>
                  <a:lnTo>
                    <a:pt x="79334" y="812800"/>
                  </a:lnTo>
                  <a:cubicBezTo>
                    <a:pt x="58294" y="812800"/>
                    <a:pt x="38115" y="804442"/>
                    <a:pt x="23237" y="789563"/>
                  </a:cubicBezTo>
                  <a:cubicBezTo>
                    <a:pt x="8358" y="774685"/>
                    <a:pt x="0" y="754506"/>
                    <a:pt x="0" y="733466"/>
                  </a:cubicBezTo>
                  <a:lnTo>
                    <a:pt x="0" y="79334"/>
                  </a:lnTo>
                  <a:cubicBezTo>
                    <a:pt x="0" y="58294"/>
                    <a:pt x="8358" y="38115"/>
                    <a:pt x="23237" y="23237"/>
                  </a:cubicBezTo>
                  <a:cubicBezTo>
                    <a:pt x="38115" y="8358"/>
                    <a:pt x="58294" y="0"/>
                    <a:pt x="79334" y="0"/>
                  </a:cubicBezTo>
                  <a:close/>
                </a:path>
              </a:pathLst>
            </a:custGeom>
            <a:blipFill>
              <a:blip r:embed="rId2"/>
              <a:stretch>
                <a:fillRect l="-10540" r="-10540"/>
              </a:stretch>
            </a:blipFill>
          </p:spPr>
        </p:sp>
      </p:grpSp>
      <p:grpSp>
        <p:nvGrpSpPr>
          <p:cNvPr id="14" name="Group 14"/>
          <p:cNvGrpSpPr/>
          <p:nvPr/>
        </p:nvGrpSpPr>
        <p:grpSpPr>
          <a:xfrm rot="0">
            <a:off x="6602812" y="3490901"/>
            <a:ext cx="4098608" cy="3305198"/>
            <a:chOff x="0" y="0"/>
            <a:chExt cx="1007912" cy="812800"/>
          </a:xfrm>
        </p:grpSpPr>
        <p:sp>
          <p:nvSpPr>
            <p:cNvPr id="15" name="Freeform 15"/>
            <p:cNvSpPr/>
            <p:nvPr/>
          </p:nvSpPr>
          <p:spPr>
            <a:xfrm>
              <a:off x="0" y="0"/>
              <a:ext cx="1007912" cy="812800"/>
            </a:xfrm>
            <a:custGeom>
              <a:avLst/>
              <a:gdLst/>
              <a:ahLst/>
              <a:cxnLst/>
              <a:rect l="l" t="t" r="r" b="b"/>
              <a:pathLst>
                <a:path w="1007912" h="812800">
                  <a:moveTo>
                    <a:pt x="79334" y="0"/>
                  </a:moveTo>
                  <a:lnTo>
                    <a:pt x="928578" y="0"/>
                  </a:lnTo>
                  <a:cubicBezTo>
                    <a:pt x="949618" y="0"/>
                    <a:pt x="969797" y="8358"/>
                    <a:pt x="984676" y="23237"/>
                  </a:cubicBezTo>
                  <a:cubicBezTo>
                    <a:pt x="999554" y="38115"/>
                    <a:pt x="1007912" y="58294"/>
                    <a:pt x="1007912" y="79334"/>
                  </a:cubicBezTo>
                  <a:lnTo>
                    <a:pt x="1007912" y="733466"/>
                  </a:lnTo>
                  <a:cubicBezTo>
                    <a:pt x="1007912" y="754506"/>
                    <a:pt x="999554" y="774685"/>
                    <a:pt x="984676" y="789563"/>
                  </a:cubicBezTo>
                  <a:cubicBezTo>
                    <a:pt x="969797" y="804442"/>
                    <a:pt x="949618" y="812800"/>
                    <a:pt x="928578" y="812800"/>
                  </a:cubicBezTo>
                  <a:lnTo>
                    <a:pt x="79334" y="812800"/>
                  </a:lnTo>
                  <a:cubicBezTo>
                    <a:pt x="58294" y="812800"/>
                    <a:pt x="38115" y="804442"/>
                    <a:pt x="23237" y="789563"/>
                  </a:cubicBezTo>
                  <a:cubicBezTo>
                    <a:pt x="8358" y="774685"/>
                    <a:pt x="0" y="754506"/>
                    <a:pt x="0" y="733466"/>
                  </a:cubicBezTo>
                  <a:lnTo>
                    <a:pt x="0" y="79334"/>
                  </a:lnTo>
                  <a:cubicBezTo>
                    <a:pt x="0" y="58294"/>
                    <a:pt x="8358" y="38115"/>
                    <a:pt x="23237" y="23237"/>
                  </a:cubicBezTo>
                  <a:cubicBezTo>
                    <a:pt x="38115" y="8358"/>
                    <a:pt x="58294" y="0"/>
                    <a:pt x="79334" y="0"/>
                  </a:cubicBezTo>
                  <a:close/>
                </a:path>
              </a:pathLst>
            </a:custGeom>
            <a:blipFill>
              <a:blip r:embed="rId3"/>
              <a:stretch>
                <a:fillRect l="-11982" r="-2280" b="-9279"/>
              </a:stretch>
            </a:blipFill>
          </p:spPr>
        </p:sp>
      </p:grpSp>
      <p:grpSp>
        <p:nvGrpSpPr>
          <p:cNvPr id="16" name="Group 16"/>
          <p:cNvGrpSpPr/>
          <p:nvPr/>
        </p:nvGrpSpPr>
        <p:grpSpPr>
          <a:xfrm rot="0">
            <a:off x="14039092" y="3490901"/>
            <a:ext cx="4098608" cy="3305198"/>
            <a:chOff x="0" y="0"/>
            <a:chExt cx="1007912" cy="812800"/>
          </a:xfrm>
        </p:grpSpPr>
        <p:sp>
          <p:nvSpPr>
            <p:cNvPr id="17" name="Freeform 17"/>
            <p:cNvSpPr/>
            <p:nvPr/>
          </p:nvSpPr>
          <p:spPr>
            <a:xfrm>
              <a:off x="0" y="0"/>
              <a:ext cx="1007912" cy="812800"/>
            </a:xfrm>
            <a:custGeom>
              <a:avLst/>
              <a:gdLst/>
              <a:ahLst/>
              <a:cxnLst/>
              <a:rect l="l" t="t" r="r" b="b"/>
              <a:pathLst>
                <a:path w="1007912" h="812800">
                  <a:moveTo>
                    <a:pt x="79334" y="0"/>
                  </a:moveTo>
                  <a:lnTo>
                    <a:pt x="928578" y="0"/>
                  </a:lnTo>
                  <a:cubicBezTo>
                    <a:pt x="949618" y="0"/>
                    <a:pt x="969797" y="8358"/>
                    <a:pt x="984676" y="23237"/>
                  </a:cubicBezTo>
                  <a:cubicBezTo>
                    <a:pt x="999554" y="38115"/>
                    <a:pt x="1007912" y="58294"/>
                    <a:pt x="1007912" y="79334"/>
                  </a:cubicBezTo>
                  <a:lnTo>
                    <a:pt x="1007912" y="733466"/>
                  </a:lnTo>
                  <a:cubicBezTo>
                    <a:pt x="1007912" y="754506"/>
                    <a:pt x="999554" y="774685"/>
                    <a:pt x="984676" y="789563"/>
                  </a:cubicBezTo>
                  <a:cubicBezTo>
                    <a:pt x="969797" y="804442"/>
                    <a:pt x="949618" y="812800"/>
                    <a:pt x="928578" y="812800"/>
                  </a:cubicBezTo>
                  <a:lnTo>
                    <a:pt x="79334" y="812800"/>
                  </a:lnTo>
                  <a:cubicBezTo>
                    <a:pt x="58294" y="812800"/>
                    <a:pt x="38115" y="804442"/>
                    <a:pt x="23237" y="789563"/>
                  </a:cubicBezTo>
                  <a:cubicBezTo>
                    <a:pt x="8358" y="774685"/>
                    <a:pt x="0" y="754506"/>
                    <a:pt x="0" y="733466"/>
                  </a:cubicBezTo>
                  <a:lnTo>
                    <a:pt x="0" y="79334"/>
                  </a:lnTo>
                  <a:cubicBezTo>
                    <a:pt x="0" y="58294"/>
                    <a:pt x="8358" y="38115"/>
                    <a:pt x="23237" y="23237"/>
                  </a:cubicBezTo>
                  <a:cubicBezTo>
                    <a:pt x="38115" y="8358"/>
                    <a:pt x="58294" y="0"/>
                    <a:pt x="79334" y="0"/>
                  </a:cubicBezTo>
                  <a:close/>
                </a:path>
              </a:pathLst>
            </a:custGeom>
            <a:blipFill>
              <a:blip r:embed="rId4"/>
              <a:stretch>
                <a:fillRect t="-32669" b="-32669"/>
              </a:stretch>
            </a:blipFill>
          </p:spPr>
        </p:sp>
      </p:grpSp>
      <p:grpSp>
        <p:nvGrpSpPr>
          <p:cNvPr id="18" name="Group 18"/>
          <p:cNvGrpSpPr/>
          <p:nvPr/>
        </p:nvGrpSpPr>
        <p:grpSpPr>
          <a:xfrm rot="0">
            <a:off x="0" y="7672399"/>
            <a:ext cx="5048293" cy="669202"/>
            <a:chOff x="0" y="0"/>
            <a:chExt cx="2072470" cy="274727"/>
          </a:xfrm>
        </p:grpSpPr>
        <p:sp>
          <p:nvSpPr>
            <p:cNvPr id="19" name="Freeform 19"/>
            <p:cNvSpPr/>
            <p:nvPr/>
          </p:nvSpPr>
          <p:spPr>
            <a:xfrm>
              <a:off x="0" y="0"/>
              <a:ext cx="2072470" cy="274727"/>
            </a:xfrm>
            <a:custGeom>
              <a:avLst/>
              <a:gdLst/>
              <a:ahLst/>
              <a:cxnLst/>
              <a:rect l="l" t="t" r="r" b="b"/>
              <a:pathLst>
                <a:path w="2072470" h="274727">
                  <a:moveTo>
                    <a:pt x="1869270" y="0"/>
                  </a:moveTo>
                  <a:lnTo>
                    <a:pt x="0" y="0"/>
                  </a:lnTo>
                  <a:lnTo>
                    <a:pt x="0" y="274727"/>
                  </a:lnTo>
                  <a:lnTo>
                    <a:pt x="1869270" y="274727"/>
                  </a:lnTo>
                  <a:lnTo>
                    <a:pt x="2072470" y="137363"/>
                  </a:lnTo>
                  <a:lnTo>
                    <a:pt x="1869270" y="0"/>
                  </a:lnTo>
                  <a:close/>
                </a:path>
              </a:pathLst>
            </a:custGeom>
            <a:solidFill>
              <a:srgbClr val="BDD4E3"/>
            </a:solidFill>
          </p:spPr>
        </p:sp>
        <p:sp>
          <p:nvSpPr>
            <p:cNvPr id="20" name="TextBox 20"/>
            <p:cNvSpPr txBox="1"/>
            <p:nvPr/>
          </p:nvSpPr>
          <p:spPr>
            <a:xfrm>
              <a:off x="0" y="-38100"/>
              <a:ext cx="1958170" cy="312827"/>
            </a:xfrm>
            <a:prstGeom prst="rect">
              <a:avLst/>
            </a:prstGeom>
          </p:spPr>
          <p:txBody>
            <a:bodyPr lIns="50800" tIns="50800" rIns="50800" bIns="50800" rtlCol="0" anchor="ctr"/>
            <a:lstStyle/>
            <a:p>
              <a:pPr algn="ctr">
                <a:lnSpc>
                  <a:spcPts val="2775"/>
                </a:lnSpc>
              </a:pPr>
            </a:p>
          </p:txBody>
        </p:sp>
      </p:grpSp>
      <p:grpSp>
        <p:nvGrpSpPr>
          <p:cNvPr id="21" name="Group 21"/>
          <p:cNvGrpSpPr/>
          <p:nvPr/>
        </p:nvGrpSpPr>
        <p:grpSpPr>
          <a:xfrm rot="0">
            <a:off x="6348506" y="7672399"/>
            <a:ext cx="4845720" cy="669202"/>
            <a:chOff x="0" y="0"/>
            <a:chExt cx="1276239" cy="176251"/>
          </a:xfrm>
        </p:grpSpPr>
        <p:sp>
          <p:nvSpPr>
            <p:cNvPr id="22" name="Freeform 22"/>
            <p:cNvSpPr/>
            <p:nvPr/>
          </p:nvSpPr>
          <p:spPr>
            <a:xfrm>
              <a:off x="0" y="0"/>
              <a:ext cx="1276239" cy="176251"/>
            </a:xfrm>
            <a:custGeom>
              <a:avLst/>
              <a:gdLst/>
              <a:ahLst/>
              <a:cxnLst/>
              <a:rect l="l" t="t" r="r" b="b"/>
              <a:pathLst>
                <a:path w="1276239" h="176251">
                  <a:moveTo>
                    <a:pt x="1276239" y="0"/>
                  </a:moveTo>
                  <a:lnTo>
                    <a:pt x="0" y="0"/>
                  </a:lnTo>
                  <a:lnTo>
                    <a:pt x="101600" y="88125"/>
                  </a:lnTo>
                  <a:lnTo>
                    <a:pt x="0" y="176251"/>
                  </a:lnTo>
                  <a:lnTo>
                    <a:pt x="1276239" y="176251"/>
                  </a:lnTo>
                  <a:lnTo>
                    <a:pt x="1174639" y="88125"/>
                  </a:lnTo>
                  <a:lnTo>
                    <a:pt x="1276239" y="0"/>
                  </a:lnTo>
                  <a:close/>
                </a:path>
              </a:pathLst>
            </a:custGeom>
            <a:solidFill>
              <a:srgbClr val="00719D"/>
            </a:solidFill>
          </p:spPr>
        </p:sp>
        <p:sp>
          <p:nvSpPr>
            <p:cNvPr id="23" name="TextBox 23"/>
            <p:cNvSpPr txBox="1"/>
            <p:nvPr/>
          </p:nvSpPr>
          <p:spPr>
            <a:xfrm>
              <a:off x="88900" y="-38100"/>
              <a:ext cx="1098439" cy="214351"/>
            </a:xfrm>
            <a:prstGeom prst="rect">
              <a:avLst/>
            </a:prstGeom>
          </p:spPr>
          <p:txBody>
            <a:bodyPr lIns="50800" tIns="50800" rIns="50800" bIns="50800" rtlCol="0" anchor="ctr"/>
            <a:lstStyle/>
            <a:p>
              <a:pPr algn="ctr">
                <a:lnSpc>
                  <a:spcPts val="2775"/>
                </a:lnSpc>
              </a:pPr>
            </a:p>
          </p:txBody>
        </p:sp>
      </p:grpSp>
      <p:grpSp>
        <p:nvGrpSpPr>
          <p:cNvPr id="24" name="Group 24"/>
          <p:cNvGrpSpPr/>
          <p:nvPr/>
        </p:nvGrpSpPr>
        <p:grpSpPr>
          <a:xfrm rot="-10800000">
            <a:off x="13172183" y="7672399"/>
            <a:ext cx="5115817" cy="669202"/>
            <a:chOff x="0" y="0"/>
            <a:chExt cx="2100190" cy="274727"/>
          </a:xfrm>
        </p:grpSpPr>
        <p:sp>
          <p:nvSpPr>
            <p:cNvPr id="25" name="Freeform 25"/>
            <p:cNvSpPr/>
            <p:nvPr/>
          </p:nvSpPr>
          <p:spPr>
            <a:xfrm>
              <a:off x="0" y="0"/>
              <a:ext cx="2100190" cy="274727"/>
            </a:xfrm>
            <a:custGeom>
              <a:avLst/>
              <a:gdLst/>
              <a:ahLst/>
              <a:cxnLst/>
              <a:rect l="l" t="t" r="r" b="b"/>
              <a:pathLst>
                <a:path w="2100190" h="274727">
                  <a:moveTo>
                    <a:pt x="1896990" y="0"/>
                  </a:moveTo>
                  <a:lnTo>
                    <a:pt x="0" y="0"/>
                  </a:lnTo>
                  <a:lnTo>
                    <a:pt x="0" y="274727"/>
                  </a:lnTo>
                  <a:lnTo>
                    <a:pt x="1896990" y="274727"/>
                  </a:lnTo>
                  <a:lnTo>
                    <a:pt x="2100190" y="137363"/>
                  </a:lnTo>
                  <a:lnTo>
                    <a:pt x="1896990" y="0"/>
                  </a:lnTo>
                  <a:close/>
                </a:path>
              </a:pathLst>
            </a:custGeom>
            <a:solidFill>
              <a:srgbClr val="BDD4E3"/>
            </a:solidFill>
          </p:spPr>
        </p:sp>
        <p:sp>
          <p:nvSpPr>
            <p:cNvPr id="26" name="TextBox 26"/>
            <p:cNvSpPr txBox="1"/>
            <p:nvPr/>
          </p:nvSpPr>
          <p:spPr>
            <a:xfrm>
              <a:off x="0" y="-38100"/>
              <a:ext cx="1985890" cy="312827"/>
            </a:xfrm>
            <a:prstGeom prst="rect">
              <a:avLst/>
            </a:prstGeom>
          </p:spPr>
          <p:txBody>
            <a:bodyPr lIns="50800" tIns="50800" rIns="50800" bIns="50800" rtlCol="0" anchor="ctr"/>
            <a:lstStyle/>
            <a:p>
              <a:pPr algn="ctr">
                <a:lnSpc>
                  <a:spcPts val="2775"/>
                </a:lnSpc>
              </a:pPr>
            </a:p>
          </p:txBody>
        </p:sp>
      </p:grpSp>
      <p:sp>
        <p:nvSpPr>
          <p:cNvPr id="27" name="TextBox 27"/>
          <p:cNvSpPr txBox="1"/>
          <p:nvPr/>
        </p:nvSpPr>
        <p:spPr>
          <a:xfrm>
            <a:off x="5501581" y="942975"/>
            <a:ext cx="7284838" cy="749907"/>
          </a:xfrm>
          <a:prstGeom prst="rect">
            <a:avLst/>
          </a:prstGeom>
        </p:spPr>
        <p:txBody>
          <a:bodyPr lIns="0" tIns="0" rIns="0" bIns="0" rtlCol="0" anchor="t">
            <a:spAutoFit/>
          </a:bodyPr>
          <a:lstStyle/>
          <a:p>
            <a:pPr algn="l">
              <a:lnSpc>
                <a:spcPts val="6120"/>
              </a:lnSpc>
              <a:spcBef>
                <a:spcPct val="0"/>
              </a:spcBef>
            </a:pPr>
            <a:r>
              <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rPr>
              <a:t>Techniques de construction</a:t>
            </a:r>
            <a:endPar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endParaRPr>
          </a:p>
        </p:txBody>
      </p:sp>
      <p:sp>
        <p:nvSpPr>
          <p:cNvPr id="28" name="TextBox 28"/>
          <p:cNvSpPr txBox="1"/>
          <p:nvPr/>
        </p:nvSpPr>
        <p:spPr>
          <a:xfrm>
            <a:off x="503363" y="2694879"/>
            <a:ext cx="3597090" cy="356235"/>
          </a:xfrm>
          <a:prstGeom prst="rect">
            <a:avLst/>
          </a:prstGeom>
        </p:spPr>
        <p:txBody>
          <a:bodyPr lIns="0" tIns="0" rIns="0" bIns="0" rtlCol="0" anchor="t">
            <a:spAutoFit/>
          </a:bodyPr>
          <a:lstStyle/>
          <a:p>
            <a:pPr algn="just">
              <a:lnSpc>
                <a:spcPts val="2940"/>
              </a:lnSpc>
              <a:spcBef>
                <a:spcPct val="0"/>
              </a:spcBef>
            </a:pPr>
            <a:r>
              <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rPr>
              <a:t>Structure circulaire et dôme</a:t>
            </a:r>
            <a:endPar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29" name="TextBox 29"/>
          <p:cNvSpPr txBox="1"/>
          <p:nvPr/>
        </p:nvSpPr>
        <p:spPr>
          <a:xfrm>
            <a:off x="503363" y="6345563"/>
            <a:ext cx="3160683" cy="349250"/>
          </a:xfrm>
          <a:prstGeom prst="rect">
            <a:avLst/>
          </a:prstGeom>
        </p:spPr>
        <p:txBody>
          <a:bodyPr lIns="0" tIns="0" rIns="0" bIns="0" rtlCol="0" anchor="t">
            <a:spAutoFit/>
          </a:bodyPr>
          <a:lstStyle/>
          <a:p>
            <a:pPr algn="l">
              <a:lnSpc>
                <a:spcPts val="2800"/>
              </a:lnSpc>
              <a:spcBef>
                <a:spcPct val="0"/>
              </a:spcBef>
            </a:pPr>
            <a:r>
              <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rPr>
              <a:t>Le Muzibu-Azaala-Mpanga </a:t>
            </a:r>
            <a:endPar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30" name="TextBox 30"/>
          <p:cNvSpPr txBox="1"/>
          <p:nvPr/>
        </p:nvSpPr>
        <p:spPr>
          <a:xfrm>
            <a:off x="7192275" y="2694879"/>
            <a:ext cx="3158182" cy="356235"/>
          </a:xfrm>
          <a:prstGeom prst="rect">
            <a:avLst/>
          </a:prstGeom>
        </p:spPr>
        <p:txBody>
          <a:bodyPr lIns="0" tIns="0" rIns="0" bIns="0" rtlCol="0" anchor="t">
            <a:spAutoFit/>
          </a:bodyPr>
          <a:lstStyle/>
          <a:p>
            <a:pPr algn="just">
              <a:lnSpc>
                <a:spcPts val="2940"/>
              </a:lnSpc>
              <a:spcBef>
                <a:spcPct val="0"/>
              </a:spcBef>
            </a:pPr>
            <a:r>
              <a:rPr lang="en-US" sz="2100" b="1" spc="105">
                <a:solidFill>
                  <a:srgbClr val="F4F3F3"/>
                </a:solidFill>
                <a:latin typeface="Cormorant Garamond Bold" panose="00000800000000000000"/>
                <a:ea typeface="Cormorant Garamond Bold" panose="00000800000000000000"/>
                <a:cs typeface="Cormorant Garamond Bold" panose="00000800000000000000"/>
                <a:sym typeface="Cormorant Garamond Bold" panose="00000800000000000000"/>
              </a:rPr>
              <a:t>La technique de chaumage</a:t>
            </a:r>
            <a:endParaRPr lang="en-US" sz="2100" b="1" spc="105">
              <a:solidFill>
                <a:srgbClr val="F4F3F3"/>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31" name="TextBox 31"/>
          <p:cNvSpPr txBox="1"/>
          <p:nvPr/>
        </p:nvSpPr>
        <p:spPr>
          <a:xfrm>
            <a:off x="15063744" y="2694879"/>
            <a:ext cx="2049304" cy="356235"/>
          </a:xfrm>
          <a:prstGeom prst="rect">
            <a:avLst/>
          </a:prstGeom>
        </p:spPr>
        <p:txBody>
          <a:bodyPr lIns="0" tIns="0" rIns="0" bIns="0" rtlCol="0" anchor="t">
            <a:spAutoFit/>
          </a:bodyPr>
          <a:lstStyle/>
          <a:p>
            <a:pPr algn="just">
              <a:lnSpc>
                <a:spcPts val="2940"/>
              </a:lnSpc>
              <a:spcBef>
                <a:spcPct val="0"/>
              </a:spcBef>
            </a:pPr>
            <a:r>
              <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rPr>
              <a:t>Terre et Torchis</a:t>
            </a:r>
            <a:endPar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32" name="TextBox 32"/>
          <p:cNvSpPr txBox="1"/>
          <p:nvPr/>
        </p:nvSpPr>
        <p:spPr>
          <a:xfrm>
            <a:off x="136893" y="7801578"/>
            <a:ext cx="4544931" cy="356235"/>
          </a:xfrm>
          <a:prstGeom prst="rect">
            <a:avLst/>
          </a:prstGeom>
        </p:spPr>
        <p:txBody>
          <a:bodyPr lIns="0" tIns="0" rIns="0" bIns="0" rtlCol="0" anchor="t">
            <a:spAutoFit/>
          </a:bodyPr>
          <a:lstStyle/>
          <a:p>
            <a:pPr algn="just">
              <a:lnSpc>
                <a:spcPts val="2940"/>
              </a:lnSpc>
              <a:spcBef>
                <a:spcPct val="0"/>
              </a:spcBef>
            </a:pPr>
            <a:r>
              <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rPr>
              <a:t>Interieur en roseaux et tissu d’écorce </a:t>
            </a:r>
            <a:endPar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33" name="TextBox 33"/>
          <p:cNvSpPr txBox="1"/>
          <p:nvPr/>
        </p:nvSpPr>
        <p:spPr>
          <a:xfrm>
            <a:off x="7192275" y="7801578"/>
            <a:ext cx="3158182" cy="356235"/>
          </a:xfrm>
          <a:prstGeom prst="rect">
            <a:avLst/>
          </a:prstGeom>
        </p:spPr>
        <p:txBody>
          <a:bodyPr lIns="0" tIns="0" rIns="0" bIns="0" rtlCol="0" anchor="t">
            <a:spAutoFit/>
          </a:bodyPr>
          <a:lstStyle/>
          <a:p>
            <a:pPr algn="just">
              <a:lnSpc>
                <a:spcPts val="2940"/>
              </a:lnSpc>
              <a:spcBef>
                <a:spcPct val="0"/>
              </a:spcBef>
            </a:pPr>
            <a:r>
              <a:rPr lang="en-US" sz="2100" b="1" spc="105">
                <a:solidFill>
                  <a:srgbClr val="F4F3F3"/>
                </a:solidFill>
                <a:latin typeface="Cormorant Garamond Bold" panose="00000800000000000000"/>
                <a:ea typeface="Cormorant Garamond Bold" panose="00000800000000000000"/>
                <a:cs typeface="Cormorant Garamond Bold" panose="00000800000000000000"/>
                <a:sym typeface="Cormorant Garamond Bold" panose="00000800000000000000"/>
              </a:rPr>
              <a:t>Organisation spatiale </a:t>
            </a:r>
            <a:endParaRPr lang="en-US" sz="2100" b="1" spc="105">
              <a:solidFill>
                <a:srgbClr val="F4F3F3"/>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34" name="TextBox 34"/>
          <p:cNvSpPr txBox="1"/>
          <p:nvPr/>
        </p:nvSpPr>
        <p:spPr>
          <a:xfrm>
            <a:off x="14289851" y="7809833"/>
            <a:ext cx="3597090" cy="356235"/>
          </a:xfrm>
          <a:prstGeom prst="rect">
            <a:avLst/>
          </a:prstGeom>
        </p:spPr>
        <p:txBody>
          <a:bodyPr lIns="0" tIns="0" rIns="0" bIns="0" rtlCol="0" anchor="t">
            <a:spAutoFit/>
          </a:bodyPr>
          <a:lstStyle/>
          <a:p>
            <a:pPr algn="just">
              <a:lnSpc>
                <a:spcPts val="2940"/>
              </a:lnSpc>
              <a:spcBef>
                <a:spcPct val="0"/>
              </a:spcBef>
            </a:pPr>
            <a:r>
              <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rPr>
              <a:t>Entretien et renouvellement </a:t>
            </a:r>
            <a:endParaRPr lang="en-US" sz="2100" b="1" spc="105">
              <a:solidFill>
                <a:srgbClr val="00719D"/>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35" name="TextBox 35"/>
          <p:cNvSpPr txBox="1"/>
          <p:nvPr/>
        </p:nvSpPr>
        <p:spPr>
          <a:xfrm>
            <a:off x="136893" y="8374939"/>
            <a:ext cx="4720022" cy="1758950"/>
          </a:xfrm>
          <a:prstGeom prst="rect">
            <a:avLst/>
          </a:prstGeom>
        </p:spPr>
        <p:txBody>
          <a:bodyPr lIns="0" tIns="0" rIns="0" bIns="0" rtlCol="0" anchor="t">
            <a:spAutoFit/>
          </a:bodyPr>
          <a:lstStyle/>
          <a:p>
            <a:pPr algn="l">
              <a:lnSpc>
                <a:spcPts val="2800"/>
              </a:lnSpc>
            </a:pPr>
            <a:r>
              <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rPr>
              <a:t>Travaillés par le clan Ngo, qui se charge des décorations intérieures et des cloisons, intégrant des motifs symboliques.</a:t>
            </a:r>
            <a:endPar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endParaRPr>
          </a:p>
          <a:p>
            <a:pPr algn="l">
              <a:lnSpc>
                <a:spcPts val="2800"/>
              </a:lnSpc>
              <a:spcBef>
                <a:spcPct val="0"/>
              </a:spcBef>
            </a:pPr>
          </a:p>
        </p:txBody>
      </p:sp>
      <p:sp>
        <p:nvSpPr>
          <p:cNvPr id="36" name="TextBox 36"/>
          <p:cNvSpPr txBox="1"/>
          <p:nvPr/>
        </p:nvSpPr>
        <p:spPr>
          <a:xfrm>
            <a:off x="6348506" y="8374939"/>
            <a:ext cx="5085125" cy="1054100"/>
          </a:xfrm>
          <a:prstGeom prst="rect">
            <a:avLst/>
          </a:prstGeom>
        </p:spPr>
        <p:txBody>
          <a:bodyPr lIns="0" tIns="0" rIns="0" bIns="0" rtlCol="0" anchor="t">
            <a:spAutoFit/>
          </a:bodyPr>
          <a:lstStyle/>
          <a:p>
            <a:pPr algn="ctr">
              <a:lnSpc>
                <a:spcPts val="2800"/>
              </a:lnSpc>
              <a:spcBef>
                <a:spcPct val="0"/>
              </a:spcBef>
            </a:pPr>
            <a:r>
              <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rPr>
              <a:t>Entrée marquée par une maison des gardes, Cour centrale (Olugya) et bâtiment principal au sommet de la colline.</a:t>
            </a:r>
            <a:endPar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37" name="TextBox 37"/>
          <p:cNvSpPr txBox="1"/>
          <p:nvPr/>
        </p:nvSpPr>
        <p:spPr>
          <a:xfrm>
            <a:off x="13520570" y="8374939"/>
            <a:ext cx="4617130" cy="1054100"/>
          </a:xfrm>
          <a:prstGeom prst="rect">
            <a:avLst/>
          </a:prstGeom>
        </p:spPr>
        <p:txBody>
          <a:bodyPr lIns="0" tIns="0" rIns="0" bIns="0" rtlCol="0" anchor="t">
            <a:spAutoFit/>
          </a:bodyPr>
          <a:lstStyle/>
          <a:p>
            <a:pPr algn="r">
              <a:lnSpc>
                <a:spcPts val="2800"/>
              </a:lnSpc>
              <a:spcBef>
                <a:spcPct val="0"/>
              </a:spcBef>
            </a:pPr>
            <a:r>
              <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rPr>
              <a:t> Entretien régulier en raison de la nature périssable des matériaux organiques (la paille est remplacée périodiquement)</a:t>
            </a:r>
            <a:endParaRPr lang="en-US" sz="2000" spc="100">
              <a:solidFill>
                <a:srgbClr val="FFFFFF"/>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TextBox 3"/>
          <p:cNvSpPr txBox="1"/>
          <p:nvPr/>
        </p:nvSpPr>
        <p:spPr>
          <a:xfrm>
            <a:off x="1552599" y="4525027"/>
            <a:ext cx="15182801" cy="1113121"/>
          </a:xfrm>
          <a:prstGeom prst="rect">
            <a:avLst/>
          </a:prstGeom>
        </p:spPr>
        <p:txBody>
          <a:bodyPr lIns="0" tIns="0" rIns="0" bIns="0" rtlCol="0" anchor="t">
            <a:spAutoFit/>
          </a:bodyPr>
          <a:lstStyle/>
          <a:p>
            <a:pPr algn="ctr">
              <a:lnSpc>
                <a:spcPts val="9185"/>
              </a:lnSpc>
              <a:spcBef>
                <a:spcPct val="0"/>
              </a:spcBef>
            </a:pPr>
            <a:r>
              <a:rPr lang="en-US" sz="6560" spc="327">
                <a:solidFill>
                  <a:srgbClr val="00719D"/>
                </a:solidFill>
                <a:latin typeface="Cormorant SC" panose="00000500000000000000"/>
                <a:ea typeface="Cormorant SC" panose="00000500000000000000"/>
                <a:cs typeface="Cormorant SC" panose="00000500000000000000"/>
                <a:sym typeface="Cormorant SC" panose="00000500000000000000"/>
              </a:rPr>
              <a:t>IV- Époque et expansion dans l’espace</a:t>
            </a:r>
            <a:endParaRPr lang="en-US" sz="6560" spc="327">
              <a:solidFill>
                <a:srgbClr val="00719D"/>
              </a:solidFill>
              <a:latin typeface="Cormorant SC" panose="00000500000000000000"/>
              <a:ea typeface="Cormorant SC" panose="00000500000000000000"/>
              <a:cs typeface="Cormorant SC" panose="00000500000000000000"/>
              <a:sym typeface="Cormorant SC"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DD4E3"/>
        </a:solidFill>
        <a:effectLst/>
      </p:bgPr>
    </p:bg>
    <p:spTree>
      <p:nvGrpSpPr>
        <p:cNvPr id="1" name=""/>
        <p:cNvGrpSpPr/>
        <p:nvPr/>
      </p:nvGrpSpPr>
      <p:grpSpPr>
        <a:xfrm>
          <a:off x="0" y="0"/>
          <a:ext cx="0" cy="0"/>
          <a:chOff x="0" y="0"/>
          <a:chExt cx="0" cy="0"/>
        </a:xfrm>
      </p:grpSpPr>
      <p:sp>
        <p:nvSpPr>
          <p:cNvPr id="2" name="TextBox 2"/>
          <p:cNvSpPr txBox="1"/>
          <p:nvPr/>
        </p:nvSpPr>
        <p:spPr>
          <a:xfrm>
            <a:off x="3531863" y="1282546"/>
            <a:ext cx="4298645" cy="473423"/>
          </a:xfrm>
          <a:prstGeom prst="rect">
            <a:avLst/>
          </a:prstGeom>
        </p:spPr>
        <p:txBody>
          <a:bodyPr lIns="0" tIns="0" rIns="0" bIns="0" rtlCol="0" anchor="t">
            <a:spAutoFit/>
          </a:bodyPr>
          <a:lstStyle/>
          <a:p>
            <a:pPr algn="l">
              <a:lnSpc>
                <a:spcPts val="3830"/>
              </a:lnSpc>
            </a:pPr>
            <a:r>
              <a:rPr lang="en-US" sz="273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rPr>
              <a:t>Origines (XIVe-XVe siècles)</a:t>
            </a:r>
            <a:endParaRPr lang="en-US" sz="273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3" name="TextBox 3"/>
          <p:cNvSpPr txBox="1"/>
          <p:nvPr/>
        </p:nvSpPr>
        <p:spPr>
          <a:xfrm>
            <a:off x="1266876" y="1817772"/>
            <a:ext cx="7596301" cy="2715895"/>
          </a:xfrm>
          <a:prstGeom prst="rect">
            <a:avLst/>
          </a:prstGeom>
        </p:spPr>
        <p:txBody>
          <a:bodyPr lIns="0" tIns="0" rIns="0" bIns="0" rtlCol="0" anchor="t">
            <a:spAutoFit/>
          </a:bodyPr>
          <a:lstStyle/>
          <a:p>
            <a:pPr algn="just">
              <a:lnSpc>
                <a:spcPts val="3080"/>
              </a:lnSpc>
            </a:pPr>
            <a:r>
              <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Les premiers styles architecturaux apparaissent avec la structuration des royaumes, comme le Buganda, le Bunyoro ou le Rwanda, issus de l’hypothétique empire Kitara (une entité contestée mais souvent citée comme influence commune). Cette période voit l’adoption de techniques utilisant des matériaux locaux (bois, chaume, roseaux), influencées par la migration des peuples bantous dès le Ier millénaire.</a:t>
            </a:r>
            <a:endPar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080"/>
              </a:lnSpc>
            </a:pPr>
          </a:p>
        </p:txBody>
      </p:sp>
      <p:sp>
        <p:nvSpPr>
          <p:cNvPr id="4" name="AutoShape 4"/>
          <p:cNvSpPr/>
          <p:nvPr/>
        </p:nvSpPr>
        <p:spPr>
          <a:xfrm flipV="1">
            <a:off x="9262167" y="1182609"/>
            <a:ext cx="0" cy="8665640"/>
          </a:xfrm>
          <a:prstGeom prst="line">
            <a:avLst/>
          </a:prstGeom>
          <a:ln w="38100" cap="flat">
            <a:solidFill>
              <a:srgbClr val="000000"/>
            </a:solidFill>
            <a:prstDash val="solid"/>
            <a:headEnd type="none" w="sm" len="sm"/>
            <a:tailEnd type="none" w="sm" len="sm"/>
          </a:ln>
        </p:spPr>
      </p:sp>
      <p:sp>
        <p:nvSpPr>
          <p:cNvPr id="5" name="AutoShape 5"/>
          <p:cNvSpPr/>
          <p:nvPr/>
        </p:nvSpPr>
        <p:spPr>
          <a:xfrm>
            <a:off x="7479746" y="1547832"/>
            <a:ext cx="1782422" cy="0"/>
          </a:xfrm>
          <a:prstGeom prst="line">
            <a:avLst/>
          </a:prstGeom>
          <a:ln w="38100" cap="flat">
            <a:solidFill>
              <a:srgbClr val="000000"/>
            </a:solidFill>
            <a:prstDash val="solid"/>
            <a:headEnd type="diamond" w="lg" len="lg"/>
            <a:tailEnd type="none" w="sm" len="sm"/>
          </a:ln>
        </p:spPr>
      </p:sp>
      <p:sp>
        <p:nvSpPr>
          <p:cNvPr id="6" name="AutoShape 6"/>
          <p:cNvSpPr/>
          <p:nvPr/>
        </p:nvSpPr>
        <p:spPr>
          <a:xfrm flipH="1">
            <a:off x="9262167" y="4443705"/>
            <a:ext cx="1782422" cy="0"/>
          </a:xfrm>
          <a:prstGeom prst="line">
            <a:avLst/>
          </a:prstGeom>
          <a:ln w="38100" cap="flat">
            <a:solidFill>
              <a:srgbClr val="000000"/>
            </a:solidFill>
            <a:prstDash val="solid"/>
            <a:headEnd type="diamond" w="lg" len="lg"/>
            <a:tailEnd type="none" w="sm" len="sm"/>
          </a:ln>
        </p:spPr>
      </p:sp>
      <p:sp>
        <p:nvSpPr>
          <p:cNvPr id="7" name="TextBox 7"/>
          <p:cNvSpPr txBox="1"/>
          <p:nvPr/>
        </p:nvSpPr>
        <p:spPr>
          <a:xfrm>
            <a:off x="11171864" y="4178419"/>
            <a:ext cx="4298645" cy="473423"/>
          </a:xfrm>
          <a:prstGeom prst="rect">
            <a:avLst/>
          </a:prstGeom>
        </p:spPr>
        <p:txBody>
          <a:bodyPr lIns="0" tIns="0" rIns="0" bIns="0" rtlCol="0" anchor="t">
            <a:spAutoFit/>
          </a:bodyPr>
          <a:lstStyle/>
          <a:p>
            <a:pPr algn="l">
              <a:lnSpc>
                <a:spcPts val="3830"/>
              </a:lnSpc>
            </a:pPr>
            <a:r>
              <a:rPr lang="en-US" sz="273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rPr>
              <a:t>Apogée (XVIIe-XIXe siècles)</a:t>
            </a:r>
            <a:endParaRPr lang="en-US" sz="273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8" name="TextBox 8"/>
          <p:cNvSpPr txBox="1"/>
          <p:nvPr/>
        </p:nvSpPr>
        <p:spPr>
          <a:xfrm>
            <a:off x="9623475" y="4799434"/>
            <a:ext cx="7753993" cy="2325370"/>
          </a:xfrm>
          <a:prstGeom prst="rect">
            <a:avLst/>
          </a:prstGeom>
        </p:spPr>
        <p:txBody>
          <a:bodyPr lIns="0" tIns="0" rIns="0" bIns="0" rtlCol="0" anchor="t">
            <a:spAutoFit/>
          </a:bodyPr>
          <a:lstStyle/>
          <a:p>
            <a:pPr algn="just">
              <a:lnSpc>
                <a:spcPts val="3080"/>
              </a:lnSpc>
            </a:pPr>
            <a:r>
              <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L’architecture atteint son plein développement avec la consolidation des monarchies centralisées. Par exemple, au Buganda, les résidences royales et les tombes (comme celles de Kasubi, construites en 1882) illustrent cette maturité. Au Rwanda, les maisons en forme de ruche des Mwami témoignent d’un raffinement technique et symbolique.</a:t>
            </a:r>
            <a:endPar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080"/>
              </a:lnSpc>
            </a:pPr>
          </a:p>
        </p:txBody>
      </p:sp>
      <p:sp>
        <p:nvSpPr>
          <p:cNvPr id="9" name="AutoShape 9"/>
          <p:cNvSpPr/>
          <p:nvPr/>
        </p:nvSpPr>
        <p:spPr>
          <a:xfrm>
            <a:off x="7479746" y="7648117"/>
            <a:ext cx="1782422" cy="0"/>
          </a:xfrm>
          <a:prstGeom prst="line">
            <a:avLst/>
          </a:prstGeom>
          <a:ln w="38100" cap="flat">
            <a:solidFill>
              <a:srgbClr val="000000"/>
            </a:solidFill>
            <a:prstDash val="solid"/>
            <a:headEnd type="diamond" w="lg" len="lg"/>
            <a:tailEnd type="none" w="sm" len="sm"/>
          </a:ln>
        </p:spPr>
      </p:sp>
      <p:sp>
        <p:nvSpPr>
          <p:cNvPr id="10" name="TextBox 10"/>
          <p:cNvSpPr txBox="1"/>
          <p:nvPr/>
        </p:nvSpPr>
        <p:spPr>
          <a:xfrm>
            <a:off x="1651412" y="7382830"/>
            <a:ext cx="6037395" cy="473423"/>
          </a:xfrm>
          <a:prstGeom prst="rect">
            <a:avLst/>
          </a:prstGeom>
        </p:spPr>
        <p:txBody>
          <a:bodyPr lIns="0" tIns="0" rIns="0" bIns="0" rtlCol="0" anchor="t">
            <a:spAutoFit/>
          </a:bodyPr>
          <a:lstStyle/>
          <a:p>
            <a:pPr algn="l">
              <a:lnSpc>
                <a:spcPts val="3830"/>
              </a:lnSpc>
            </a:pPr>
            <a:r>
              <a:rPr lang="en-US" sz="273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rPr>
              <a:t>Déclin et transition (fin XIXe-XXe siècle)</a:t>
            </a:r>
            <a:endParaRPr lang="en-US" sz="273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endParaRPr>
          </a:p>
        </p:txBody>
      </p:sp>
      <p:sp>
        <p:nvSpPr>
          <p:cNvPr id="11" name="TextBox 11"/>
          <p:cNvSpPr txBox="1"/>
          <p:nvPr/>
        </p:nvSpPr>
        <p:spPr>
          <a:xfrm>
            <a:off x="1266876" y="7913404"/>
            <a:ext cx="7596301" cy="1934845"/>
          </a:xfrm>
          <a:prstGeom prst="rect">
            <a:avLst/>
          </a:prstGeom>
        </p:spPr>
        <p:txBody>
          <a:bodyPr lIns="0" tIns="0" rIns="0" bIns="0" rtlCol="0" anchor="t">
            <a:spAutoFit/>
          </a:bodyPr>
          <a:lstStyle/>
          <a:p>
            <a:pPr algn="just">
              <a:lnSpc>
                <a:spcPts val="3080"/>
              </a:lnSpc>
            </a:pPr>
            <a:r>
              <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L’arrivée des Européens, notamment avec la colonisation à partir des années 1880-1890, marque un tournant. Les influences coloniales (brique, métal) supplantent progressivement les styles traditionnels, bien que certains éléments persistent dans des reconstructions ou des pratiques culturelles.</a:t>
            </a:r>
            <a:endPar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12" name="TextBox 12"/>
          <p:cNvSpPr txBox="1"/>
          <p:nvPr/>
        </p:nvSpPr>
        <p:spPr>
          <a:xfrm>
            <a:off x="14769288" y="278793"/>
            <a:ext cx="3182738" cy="784225"/>
          </a:xfrm>
          <a:prstGeom prst="rect">
            <a:avLst/>
          </a:prstGeom>
        </p:spPr>
        <p:txBody>
          <a:bodyPr lIns="0" tIns="0" rIns="0" bIns="0" rtlCol="0" anchor="t">
            <a:spAutoFit/>
          </a:bodyPr>
          <a:lstStyle/>
          <a:p>
            <a:pPr algn="l">
              <a:lnSpc>
                <a:spcPts val="6120"/>
              </a:lnSpc>
              <a:spcBef>
                <a:spcPct val="0"/>
              </a:spcBef>
            </a:pPr>
            <a:r>
              <a:rPr lang="fr-FR" alt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rPr>
              <a:t>1</a:t>
            </a:r>
            <a:r>
              <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rPr>
              <a:t> - Epoques</a:t>
            </a:r>
            <a:endPar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DD4E3"/>
        </a:solidFill>
        <a:effectLst/>
      </p:bgPr>
    </p:bg>
    <p:spTree>
      <p:nvGrpSpPr>
        <p:cNvPr id="1" name=""/>
        <p:cNvGrpSpPr/>
        <p:nvPr/>
      </p:nvGrpSpPr>
      <p:grpSpPr>
        <a:xfrm>
          <a:off x="0" y="0"/>
          <a:ext cx="0" cy="0"/>
          <a:chOff x="0" y="0"/>
          <a:chExt cx="0" cy="0"/>
        </a:xfrm>
      </p:grpSpPr>
      <p:sp>
        <p:nvSpPr>
          <p:cNvPr id="2" name="Freeform 2"/>
          <p:cNvSpPr/>
          <p:nvPr/>
        </p:nvSpPr>
        <p:spPr>
          <a:xfrm>
            <a:off x="916860" y="1238250"/>
            <a:ext cx="7405556" cy="4306345"/>
          </a:xfrm>
          <a:custGeom>
            <a:avLst/>
            <a:gdLst/>
            <a:ahLst/>
            <a:cxnLst/>
            <a:rect l="l" t="t" r="r" b="b"/>
            <a:pathLst>
              <a:path w="7405556" h="4306345">
                <a:moveTo>
                  <a:pt x="0" y="0"/>
                </a:moveTo>
                <a:lnTo>
                  <a:pt x="7405557" y="0"/>
                </a:lnTo>
                <a:lnTo>
                  <a:pt x="7405557" y="4306345"/>
                </a:lnTo>
                <a:lnTo>
                  <a:pt x="0" y="4306345"/>
                </a:lnTo>
                <a:lnTo>
                  <a:pt x="0" y="0"/>
                </a:lnTo>
                <a:close/>
              </a:path>
            </a:pathLst>
          </a:custGeom>
          <a:blipFill>
            <a:blip r:embed="rId1"/>
            <a:stretch>
              <a:fillRect l="-58" r="-58" b="-1296"/>
            </a:stretch>
          </a:blipFill>
        </p:spPr>
      </p:sp>
      <p:grpSp>
        <p:nvGrpSpPr>
          <p:cNvPr id="3" name="Group 3"/>
          <p:cNvGrpSpPr/>
          <p:nvPr/>
        </p:nvGrpSpPr>
        <p:grpSpPr>
          <a:xfrm rot="0">
            <a:off x="2936516" y="1787721"/>
            <a:ext cx="3366245" cy="505426"/>
            <a:chOff x="0" y="0"/>
            <a:chExt cx="4488327" cy="673901"/>
          </a:xfrm>
        </p:grpSpPr>
        <p:grpSp>
          <p:nvGrpSpPr>
            <p:cNvPr id="4" name="Group 4"/>
            <p:cNvGrpSpPr/>
            <p:nvPr/>
          </p:nvGrpSpPr>
          <p:grpSpPr>
            <a:xfrm rot="0">
              <a:off x="0" y="0"/>
              <a:ext cx="4488327" cy="673901"/>
              <a:chOff x="0" y="0"/>
              <a:chExt cx="872151" cy="130949"/>
            </a:xfrm>
          </p:grpSpPr>
          <p:sp>
            <p:nvSpPr>
              <p:cNvPr id="5" name="Freeform 5"/>
              <p:cNvSpPr/>
              <p:nvPr/>
            </p:nvSpPr>
            <p:spPr>
              <a:xfrm>
                <a:off x="0" y="0"/>
                <a:ext cx="872151" cy="130949"/>
              </a:xfrm>
              <a:custGeom>
                <a:avLst/>
                <a:gdLst/>
                <a:ahLst/>
                <a:cxnLst/>
                <a:rect l="l" t="t" r="r" b="b"/>
                <a:pathLst>
                  <a:path w="872151" h="130949">
                    <a:moveTo>
                      <a:pt x="65475" y="0"/>
                    </a:moveTo>
                    <a:lnTo>
                      <a:pt x="806677" y="0"/>
                    </a:lnTo>
                    <a:cubicBezTo>
                      <a:pt x="842837" y="0"/>
                      <a:pt x="872151" y="29314"/>
                      <a:pt x="872151" y="65475"/>
                    </a:cubicBezTo>
                    <a:lnTo>
                      <a:pt x="872151" y="65475"/>
                    </a:lnTo>
                    <a:cubicBezTo>
                      <a:pt x="872151" y="82840"/>
                      <a:pt x="865253" y="99493"/>
                      <a:pt x="852974" y="111772"/>
                    </a:cubicBezTo>
                    <a:cubicBezTo>
                      <a:pt x="840695" y="124051"/>
                      <a:pt x="824042" y="130949"/>
                      <a:pt x="806677" y="130949"/>
                    </a:cubicBezTo>
                    <a:lnTo>
                      <a:pt x="65475" y="130949"/>
                    </a:lnTo>
                    <a:cubicBezTo>
                      <a:pt x="48110" y="130949"/>
                      <a:pt x="31456" y="124051"/>
                      <a:pt x="19177" y="111772"/>
                    </a:cubicBezTo>
                    <a:cubicBezTo>
                      <a:pt x="6898" y="99493"/>
                      <a:pt x="0" y="82840"/>
                      <a:pt x="0" y="65475"/>
                    </a:cubicBezTo>
                    <a:lnTo>
                      <a:pt x="0" y="65475"/>
                    </a:lnTo>
                    <a:cubicBezTo>
                      <a:pt x="0" y="48110"/>
                      <a:pt x="6898" y="31456"/>
                      <a:pt x="19177" y="19177"/>
                    </a:cubicBezTo>
                    <a:cubicBezTo>
                      <a:pt x="31456" y="6898"/>
                      <a:pt x="48110" y="0"/>
                      <a:pt x="65475" y="0"/>
                    </a:cubicBezTo>
                    <a:close/>
                  </a:path>
                </a:pathLst>
              </a:custGeom>
              <a:solidFill>
                <a:srgbClr val="FFFFFF"/>
              </a:solidFill>
            </p:spPr>
          </p:sp>
          <p:sp>
            <p:nvSpPr>
              <p:cNvPr id="6" name="TextBox 6"/>
              <p:cNvSpPr txBox="1"/>
              <p:nvPr/>
            </p:nvSpPr>
            <p:spPr>
              <a:xfrm>
                <a:off x="0" y="-38100"/>
                <a:ext cx="872151" cy="169049"/>
              </a:xfrm>
              <a:prstGeom prst="rect">
                <a:avLst/>
              </a:prstGeom>
            </p:spPr>
            <p:txBody>
              <a:bodyPr lIns="50800" tIns="50800" rIns="50800" bIns="50800" rtlCol="0" anchor="ctr"/>
              <a:lstStyle/>
              <a:p>
                <a:pPr algn="ctr">
                  <a:lnSpc>
                    <a:spcPts val="2775"/>
                  </a:lnSpc>
                </a:pPr>
              </a:p>
            </p:txBody>
          </p:sp>
        </p:grpSp>
        <p:sp>
          <p:nvSpPr>
            <p:cNvPr id="7" name="TextBox 7"/>
            <p:cNvSpPr txBox="1"/>
            <p:nvPr/>
          </p:nvSpPr>
          <p:spPr>
            <a:xfrm>
              <a:off x="203066" y="60237"/>
              <a:ext cx="4082194" cy="461103"/>
            </a:xfrm>
            <a:prstGeom prst="rect">
              <a:avLst/>
            </a:prstGeom>
          </p:spPr>
          <p:txBody>
            <a:bodyPr lIns="0" tIns="0" rIns="0" bIns="0" rtlCol="0" anchor="t">
              <a:spAutoFit/>
            </a:bodyPr>
            <a:lstStyle/>
            <a:p>
              <a:pPr algn="ctr">
                <a:lnSpc>
                  <a:spcPts val="2990"/>
                </a:lnSpc>
                <a:spcBef>
                  <a:spcPct val="0"/>
                </a:spcBef>
              </a:pPr>
              <a:r>
                <a:rPr lang="en-US" sz="2135" spc="106">
                  <a:solidFill>
                    <a:srgbClr val="6195B4"/>
                  </a:solidFill>
                  <a:latin typeface="Cormorant Garamond" panose="00000500000000000000"/>
                  <a:ea typeface="Cormorant Garamond" panose="00000500000000000000"/>
                  <a:cs typeface="Cormorant Garamond" panose="00000500000000000000"/>
                  <a:sym typeface="Cormorant Garamond" panose="00000500000000000000"/>
                </a:rPr>
                <a:t>Diffusion régionale </a:t>
              </a:r>
              <a:endParaRPr lang="en-US" sz="2135" spc="106">
                <a:solidFill>
                  <a:srgbClr val="6195B4"/>
                </a:solidFill>
                <a:latin typeface="Cormorant Garamond" panose="00000500000000000000"/>
                <a:ea typeface="Cormorant Garamond" panose="00000500000000000000"/>
                <a:cs typeface="Cormorant Garamond" panose="00000500000000000000"/>
                <a:sym typeface="Cormorant Garamond" panose="00000500000000000000"/>
              </a:endParaRPr>
            </a:p>
          </p:txBody>
        </p:sp>
      </p:grpSp>
      <p:sp>
        <p:nvSpPr>
          <p:cNvPr id="8" name="TextBox 8"/>
          <p:cNvSpPr txBox="1"/>
          <p:nvPr/>
        </p:nvSpPr>
        <p:spPr>
          <a:xfrm>
            <a:off x="1268170" y="2643201"/>
            <a:ext cx="6534533" cy="2585085"/>
          </a:xfrm>
          <a:prstGeom prst="rect">
            <a:avLst/>
          </a:prstGeom>
        </p:spPr>
        <p:txBody>
          <a:bodyPr lIns="0" tIns="0" rIns="0" bIns="0" rtlCol="0" anchor="t">
            <a:spAutoFit/>
          </a:bodyPr>
          <a:lstStyle/>
          <a:p>
            <a:pPr algn="just">
              <a:lnSpc>
                <a:spcPts val="2940"/>
              </a:lnSpc>
            </a:pPr>
            <a:r>
              <a:rPr lang="en-US" sz="21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 style architectural, caractérisé par des bases circulaires, des toits coniques en chaume et des structures en matériaux végétaux, s’est répandu à travers la région grâce aux échanges entre royaumes. Par exemple, le Buganda a influencé le Bunyoro et le Toro, tandis que le Rwanda partageait des similitudes avec le Burundi et les royaumes du Kivu.</a:t>
            </a:r>
            <a:endParaRPr lang="en-US" sz="21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2940"/>
              </a:lnSpc>
            </a:pPr>
          </a:p>
        </p:txBody>
      </p:sp>
      <p:sp>
        <p:nvSpPr>
          <p:cNvPr id="9" name="Freeform 9"/>
          <p:cNvSpPr/>
          <p:nvPr/>
        </p:nvSpPr>
        <p:spPr>
          <a:xfrm>
            <a:off x="9965583" y="1238250"/>
            <a:ext cx="7405556" cy="4306345"/>
          </a:xfrm>
          <a:custGeom>
            <a:avLst/>
            <a:gdLst/>
            <a:ahLst/>
            <a:cxnLst/>
            <a:rect l="l" t="t" r="r" b="b"/>
            <a:pathLst>
              <a:path w="7405556" h="4306345">
                <a:moveTo>
                  <a:pt x="0" y="0"/>
                </a:moveTo>
                <a:lnTo>
                  <a:pt x="7405557" y="0"/>
                </a:lnTo>
                <a:lnTo>
                  <a:pt x="7405557" y="4306345"/>
                </a:lnTo>
                <a:lnTo>
                  <a:pt x="0" y="4306345"/>
                </a:lnTo>
                <a:lnTo>
                  <a:pt x="0" y="0"/>
                </a:lnTo>
                <a:close/>
              </a:path>
            </a:pathLst>
          </a:custGeom>
          <a:blipFill>
            <a:blip r:embed="rId1"/>
            <a:stretch>
              <a:fillRect l="-58" r="-58" b="-1296"/>
            </a:stretch>
          </a:blipFill>
        </p:spPr>
      </p:sp>
      <p:grpSp>
        <p:nvGrpSpPr>
          <p:cNvPr id="10" name="Group 10"/>
          <p:cNvGrpSpPr/>
          <p:nvPr/>
        </p:nvGrpSpPr>
        <p:grpSpPr>
          <a:xfrm rot="0">
            <a:off x="11985239" y="1787721"/>
            <a:ext cx="3366245" cy="505426"/>
            <a:chOff x="0" y="0"/>
            <a:chExt cx="4488327" cy="673901"/>
          </a:xfrm>
        </p:grpSpPr>
        <p:grpSp>
          <p:nvGrpSpPr>
            <p:cNvPr id="11" name="Group 11"/>
            <p:cNvGrpSpPr/>
            <p:nvPr/>
          </p:nvGrpSpPr>
          <p:grpSpPr>
            <a:xfrm rot="0">
              <a:off x="0" y="0"/>
              <a:ext cx="4488327" cy="673901"/>
              <a:chOff x="0" y="0"/>
              <a:chExt cx="872151" cy="130949"/>
            </a:xfrm>
          </p:grpSpPr>
          <p:sp>
            <p:nvSpPr>
              <p:cNvPr id="12" name="Freeform 12"/>
              <p:cNvSpPr/>
              <p:nvPr/>
            </p:nvSpPr>
            <p:spPr>
              <a:xfrm>
                <a:off x="0" y="0"/>
                <a:ext cx="872151" cy="130949"/>
              </a:xfrm>
              <a:custGeom>
                <a:avLst/>
                <a:gdLst/>
                <a:ahLst/>
                <a:cxnLst/>
                <a:rect l="l" t="t" r="r" b="b"/>
                <a:pathLst>
                  <a:path w="872151" h="130949">
                    <a:moveTo>
                      <a:pt x="65475" y="0"/>
                    </a:moveTo>
                    <a:lnTo>
                      <a:pt x="806677" y="0"/>
                    </a:lnTo>
                    <a:cubicBezTo>
                      <a:pt x="842837" y="0"/>
                      <a:pt x="872151" y="29314"/>
                      <a:pt x="872151" y="65475"/>
                    </a:cubicBezTo>
                    <a:lnTo>
                      <a:pt x="872151" y="65475"/>
                    </a:lnTo>
                    <a:cubicBezTo>
                      <a:pt x="872151" y="82840"/>
                      <a:pt x="865253" y="99493"/>
                      <a:pt x="852974" y="111772"/>
                    </a:cubicBezTo>
                    <a:cubicBezTo>
                      <a:pt x="840695" y="124051"/>
                      <a:pt x="824042" y="130949"/>
                      <a:pt x="806677" y="130949"/>
                    </a:cubicBezTo>
                    <a:lnTo>
                      <a:pt x="65475" y="130949"/>
                    </a:lnTo>
                    <a:cubicBezTo>
                      <a:pt x="48110" y="130949"/>
                      <a:pt x="31456" y="124051"/>
                      <a:pt x="19177" y="111772"/>
                    </a:cubicBezTo>
                    <a:cubicBezTo>
                      <a:pt x="6898" y="99493"/>
                      <a:pt x="0" y="82840"/>
                      <a:pt x="0" y="65475"/>
                    </a:cubicBezTo>
                    <a:lnTo>
                      <a:pt x="0" y="65475"/>
                    </a:lnTo>
                    <a:cubicBezTo>
                      <a:pt x="0" y="48110"/>
                      <a:pt x="6898" y="31456"/>
                      <a:pt x="19177" y="19177"/>
                    </a:cubicBezTo>
                    <a:cubicBezTo>
                      <a:pt x="31456" y="6898"/>
                      <a:pt x="48110" y="0"/>
                      <a:pt x="65475" y="0"/>
                    </a:cubicBezTo>
                    <a:close/>
                  </a:path>
                </a:pathLst>
              </a:custGeom>
              <a:solidFill>
                <a:srgbClr val="FFFFFF"/>
              </a:solidFill>
            </p:spPr>
          </p:sp>
          <p:sp>
            <p:nvSpPr>
              <p:cNvPr id="13" name="TextBox 13"/>
              <p:cNvSpPr txBox="1"/>
              <p:nvPr/>
            </p:nvSpPr>
            <p:spPr>
              <a:xfrm>
                <a:off x="0" y="-38100"/>
                <a:ext cx="872151" cy="169049"/>
              </a:xfrm>
              <a:prstGeom prst="rect">
                <a:avLst/>
              </a:prstGeom>
            </p:spPr>
            <p:txBody>
              <a:bodyPr lIns="50800" tIns="50800" rIns="50800" bIns="50800" rtlCol="0" anchor="ctr"/>
              <a:lstStyle/>
              <a:p>
                <a:pPr algn="ctr">
                  <a:lnSpc>
                    <a:spcPts val="2775"/>
                  </a:lnSpc>
                </a:pPr>
              </a:p>
            </p:txBody>
          </p:sp>
        </p:grpSp>
        <p:sp>
          <p:nvSpPr>
            <p:cNvPr id="14" name="TextBox 14"/>
            <p:cNvSpPr txBox="1"/>
            <p:nvPr/>
          </p:nvSpPr>
          <p:spPr>
            <a:xfrm>
              <a:off x="203066" y="60237"/>
              <a:ext cx="4082194" cy="461103"/>
            </a:xfrm>
            <a:prstGeom prst="rect">
              <a:avLst/>
            </a:prstGeom>
          </p:spPr>
          <p:txBody>
            <a:bodyPr lIns="0" tIns="0" rIns="0" bIns="0" rtlCol="0" anchor="t">
              <a:spAutoFit/>
            </a:bodyPr>
            <a:lstStyle/>
            <a:p>
              <a:pPr algn="ctr">
                <a:lnSpc>
                  <a:spcPts val="2990"/>
                </a:lnSpc>
                <a:spcBef>
                  <a:spcPct val="0"/>
                </a:spcBef>
              </a:pPr>
              <a:r>
                <a:rPr lang="en-US" sz="2135" spc="106">
                  <a:solidFill>
                    <a:srgbClr val="6195B4"/>
                  </a:solidFill>
                  <a:latin typeface="Cormorant Garamond" panose="00000500000000000000"/>
                  <a:ea typeface="Cormorant Garamond" panose="00000500000000000000"/>
                  <a:cs typeface="Cormorant Garamond" panose="00000500000000000000"/>
                  <a:sym typeface="Cormorant Garamond" panose="00000500000000000000"/>
                </a:rPr>
                <a:t>Variations locales</a:t>
              </a:r>
              <a:endParaRPr lang="en-US" sz="2135" spc="106">
                <a:solidFill>
                  <a:srgbClr val="6195B4"/>
                </a:solidFill>
                <a:latin typeface="Cormorant Garamond" panose="00000500000000000000"/>
                <a:ea typeface="Cormorant Garamond" panose="00000500000000000000"/>
                <a:cs typeface="Cormorant Garamond" panose="00000500000000000000"/>
                <a:sym typeface="Cormorant Garamond" panose="00000500000000000000"/>
              </a:endParaRPr>
            </a:p>
          </p:txBody>
        </p:sp>
      </p:grpSp>
      <p:sp>
        <p:nvSpPr>
          <p:cNvPr id="15" name="TextBox 15"/>
          <p:cNvSpPr txBox="1"/>
          <p:nvPr/>
        </p:nvSpPr>
        <p:spPr>
          <a:xfrm>
            <a:off x="10316893" y="2643201"/>
            <a:ext cx="6534533" cy="2213610"/>
          </a:xfrm>
          <a:prstGeom prst="rect">
            <a:avLst/>
          </a:prstGeom>
        </p:spPr>
        <p:txBody>
          <a:bodyPr lIns="0" tIns="0" rIns="0" bIns="0" rtlCol="0" anchor="t">
            <a:spAutoFit/>
          </a:bodyPr>
          <a:lstStyle/>
          <a:p>
            <a:pPr algn="just">
              <a:lnSpc>
                <a:spcPts val="2940"/>
              </a:lnSpc>
            </a:pPr>
            <a:r>
              <a:rPr lang="en-US" sz="21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Bien que le modèle soit cohérent (forme circulaire, usage de bois et chaume), des adaptations locales émergent. Au Rwanda, les toits sont plus pointus pour résister aux pluies abondantes ; au Buganda, les structures royales intègrent des espaces plus vastes pour refléter le pouvoir centralisé.</a:t>
            </a:r>
            <a:endParaRPr lang="en-US" sz="21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2940"/>
              </a:lnSpc>
            </a:pPr>
          </a:p>
        </p:txBody>
      </p:sp>
      <p:sp>
        <p:nvSpPr>
          <p:cNvPr id="16" name="Freeform 16"/>
          <p:cNvSpPr/>
          <p:nvPr/>
        </p:nvSpPr>
        <p:spPr>
          <a:xfrm>
            <a:off x="5441222" y="5725570"/>
            <a:ext cx="7405556" cy="4306345"/>
          </a:xfrm>
          <a:custGeom>
            <a:avLst/>
            <a:gdLst/>
            <a:ahLst/>
            <a:cxnLst/>
            <a:rect l="l" t="t" r="r" b="b"/>
            <a:pathLst>
              <a:path w="7405556" h="4306345">
                <a:moveTo>
                  <a:pt x="0" y="0"/>
                </a:moveTo>
                <a:lnTo>
                  <a:pt x="7405556" y="0"/>
                </a:lnTo>
                <a:lnTo>
                  <a:pt x="7405556" y="4306345"/>
                </a:lnTo>
                <a:lnTo>
                  <a:pt x="0" y="4306345"/>
                </a:lnTo>
                <a:lnTo>
                  <a:pt x="0" y="0"/>
                </a:lnTo>
                <a:close/>
              </a:path>
            </a:pathLst>
          </a:custGeom>
          <a:blipFill>
            <a:blip r:embed="rId1"/>
            <a:stretch>
              <a:fillRect l="-58" r="-58" b="-1296"/>
            </a:stretch>
          </a:blipFill>
        </p:spPr>
      </p:sp>
      <p:grpSp>
        <p:nvGrpSpPr>
          <p:cNvPr id="17" name="Group 17"/>
          <p:cNvGrpSpPr/>
          <p:nvPr/>
        </p:nvGrpSpPr>
        <p:grpSpPr>
          <a:xfrm rot="0">
            <a:off x="7460877" y="6275040"/>
            <a:ext cx="3366245" cy="505426"/>
            <a:chOff x="0" y="0"/>
            <a:chExt cx="4488327" cy="673901"/>
          </a:xfrm>
        </p:grpSpPr>
        <p:grpSp>
          <p:nvGrpSpPr>
            <p:cNvPr id="18" name="Group 18"/>
            <p:cNvGrpSpPr/>
            <p:nvPr/>
          </p:nvGrpSpPr>
          <p:grpSpPr>
            <a:xfrm rot="0">
              <a:off x="0" y="0"/>
              <a:ext cx="4488327" cy="673901"/>
              <a:chOff x="0" y="0"/>
              <a:chExt cx="872151" cy="130949"/>
            </a:xfrm>
          </p:grpSpPr>
          <p:sp>
            <p:nvSpPr>
              <p:cNvPr id="19" name="Freeform 19"/>
              <p:cNvSpPr/>
              <p:nvPr/>
            </p:nvSpPr>
            <p:spPr>
              <a:xfrm>
                <a:off x="0" y="0"/>
                <a:ext cx="872151" cy="130949"/>
              </a:xfrm>
              <a:custGeom>
                <a:avLst/>
                <a:gdLst/>
                <a:ahLst/>
                <a:cxnLst/>
                <a:rect l="l" t="t" r="r" b="b"/>
                <a:pathLst>
                  <a:path w="872151" h="130949">
                    <a:moveTo>
                      <a:pt x="65475" y="0"/>
                    </a:moveTo>
                    <a:lnTo>
                      <a:pt x="806677" y="0"/>
                    </a:lnTo>
                    <a:cubicBezTo>
                      <a:pt x="842837" y="0"/>
                      <a:pt x="872151" y="29314"/>
                      <a:pt x="872151" y="65475"/>
                    </a:cubicBezTo>
                    <a:lnTo>
                      <a:pt x="872151" y="65475"/>
                    </a:lnTo>
                    <a:cubicBezTo>
                      <a:pt x="872151" y="82840"/>
                      <a:pt x="865253" y="99493"/>
                      <a:pt x="852974" y="111772"/>
                    </a:cubicBezTo>
                    <a:cubicBezTo>
                      <a:pt x="840695" y="124051"/>
                      <a:pt x="824042" y="130949"/>
                      <a:pt x="806677" y="130949"/>
                    </a:cubicBezTo>
                    <a:lnTo>
                      <a:pt x="65475" y="130949"/>
                    </a:lnTo>
                    <a:cubicBezTo>
                      <a:pt x="48110" y="130949"/>
                      <a:pt x="31456" y="124051"/>
                      <a:pt x="19177" y="111772"/>
                    </a:cubicBezTo>
                    <a:cubicBezTo>
                      <a:pt x="6898" y="99493"/>
                      <a:pt x="0" y="82840"/>
                      <a:pt x="0" y="65475"/>
                    </a:cubicBezTo>
                    <a:lnTo>
                      <a:pt x="0" y="65475"/>
                    </a:lnTo>
                    <a:cubicBezTo>
                      <a:pt x="0" y="48110"/>
                      <a:pt x="6898" y="31456"/>
                      <a:pt x="19177" y="19177"/>
                    </a:cubicBezTo>
                    <a:cubicBezTo>
                      <a:pt x="31456" y="6898"/>
                      <a:pt x="48110" y="0"/>
                      <a:pt x="65475" y="0"/>
                    </a:cubicBezTo>
                    <a:close/>
                  </a:path>
                </a:pathLst>
              </a:custGeom>
              <a:solidFill>
                <a:srgbClr val="FFFFFF"/>
              </a:solidFill>
            </p:spPr>
          </p:sp>
          <p:sp>
            <p:nvSpPr>
              <p:cNvPr id="20" name="TextBox 20"/>
              <p:cNvSpPr txBox="1"/>
              <p:nvPr/>
            </p:nvSpPr>
            <p:spPr>
              <a:xfrm>
                <a:off x="0" y="-38100"/>
                <a:ext cx="872151" cy="169049"/>
              </a:xfrm>
              <a:prstGeom prst="rect">
                <a:avLst/>
              </a:prstGeom>
            </p:spPr>
            <p:txBody>
              <a:bodyPr lIns="50800" tIns="50800" rIns="50800" bIns="50800" rtlCol="0" anchor="ctr"/>
              <a:lstStyle/>
              <a:p>
                <a:pPr algn="ctr">
                  <a:lnSpc>
                    <a:spcPts val="2775"/>
                  </a:lnSpc>
                </a:pPr>
              </a:p>
            </p:txBody>
          </p:sp>
        </p:grpSp>
        <p:sp>
          <p:nvSpPr>
            <p:cNvPr id="21" name="TextBox 21"/>
            <p:cNvSpPr txBox="1"/>
            <p:nvPr/>
          </p:nvSpPr>
          <p:spPr>
            <a:xfrm>
              <a:off x="203066" y="60237"/>
              <a:ext cx="4082194" cy="461103"/>
            </a:xfrm>
            <a:prstGeom prst="rect">
              <a:avLst/>
            </a:prstGeom>
          </p:spPr>
          <p:txBody>
            <a:bodyPr lIns="0" tIns="0" rIns="0" bIns="0" rtlCol="0" anchor="t">
              <a:spAutoFit/>
            </a:bodyPr>
            <a:lstStyle/>
            <a:p>
              <a:pPr algn="ctr">
                <a:lnSpc>
                  <a:spcPts val="2990"/>
                </a:lnSpc>
                <a:spcBef>
                  <a:spcPct val="0"/>
                </a:spcBef>
              </a:pPr>
              <a:r>
                <a:rPr lang="en-US" sz="2135" spc="106">
                  <a:solidFill>
                    <a:srgbClr val="6195B4"/>
                  </a:solidFill>
                  <a:latin typeface="Cormorant Garamond" panose="00000500000000000000"/>
                  <a:ea typeface="Cormorant Garamond" panose="00000500000000000000"/>
                  <a:cs typeface="Cormorant Garamond" panose="00000500000000000000"/>
                  <a:sym typeface="Cormorant Garamond" panose="00000500000000000000"/>
                </a:rPr>
                <a:t>Limites de l’expansion</a:t>
              </a:r>
              <a:endParaRPr lang="en-US" sz="2135" spc="106">
                <a:solidFill>
                  <a:srgbClr val="6195B4"/>
                </a:solidFill>
                <a:latin typeface="Cormorant Garamond" panose="00000500000000000000"/>
                <a:ea typeface="Cormorant Garamond" panose="00000500000000000000"/>
                <a:cs typeface="Cormorant Garamond" panose="00000500000000000000"/>
                <a:sym typeface="Cormorant Garamond" panose="00000500000000000000"/>
              </a:endParaRPr>
            </a:p>
          </p:txBody>
        </p:sp>
      </p:grpSp>
      <p:sp>
        <p:nvSpPr>
          <p:cNvPr id="22" name="TextBox 22"/>
          <p:cNvSpPr txBox="1"/>
          <p:nvPr/>
        </p:nvSpPr>
        <p:spPr>
          <a:xfrm>
            <a:off x="5876734" y="6925905"/>
            <a:ext cx="6534533" cy="2585085"/>
          </a:xfrm>
          <a:prstGeom prst="rect">
            <a:avLst/>
          </a:prstGeom>
        </p:spPr>
        <p:txBody>
          <a:bodyPr lIns="0" tIns="0" rIns="0" bIns="0" rtlCol="0" anchor="t">
            <a:spAutoFit/>
          </a:bodyPr>
          <a:lstStyle/>
          <a:p>
            <a:pPr algn="just">
              <a:lnSpc>
                <a:spcPts val="2940"/>
              </a:lnSpc>
            </a:pPr>
            <a:r>
              <a:rPr lang="en-US" sz="21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L’influence reste confinée à la région des Grands Lacs, car les matériaux périssables (contrairement à la pierre du Grand Zimbabwe) et l’absence d’urbanisation massive limitent sa portée au-delà. L’arrivée du commerce à longue distance (XIXe siècle, via les côtes swahilies) et la colonisation freinent son développement, orientant les royaumes vers des styles hybrides.</a:t>
            </a:r>
            <a:endParaRPr lang="en-US" sz="21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23" name="TextBox 23"/>
          <p:cNvSpPr txBox="1"/>
          <p:nvPr/>
        </p:nvSpPr>
        <p:spPr>
          <a:xfrm>
            <a:off x="5788559" y="307368"/>
            <a:ext cx="6710881" cy="749907"/>
          </a:xfrm>
          <a:prstGeom prst="rect">
            <a:avLst/>
          </a:prstGeom>
        </p:spPr>
        <p:txBody>
          <a:bodyPr lIns="0" tIns="0" rIns="0" bIns="0" rtlCol="0" anchor="t">
            <a:spAutoFit/>
          </a:bodyPr>
          <a:lstStyle/>
          <a:p>
            <a:pPr algn="l">
              <a:lnSpc>
                <a:spcPts val="6120"/>
              </a:lnSpc>
              <a:spcBef>
                <a:spcPct val="0"/>
              </a:spcBef>
            </a:pPr>
            <a:r>
              <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rPr>
              <a:t>2- expansion dans l’espace</a:t>
            </a:r>
            <a:endParaRPr lang="en-US" sz="4375" b="1">
              <a:solidFill>
                <a:srgbClr val="FFFFFF"/>
              </a:solidFill>
              <a:latin typeface="Cormorant SC Bold" panose="00000800000000000000"/>
              <a:ea typeface="Cormorant SC Bold" panose="00000800000000000000"/>
              <a:cs typeface="Cormorant SC Bold" panose="00000800000000000000"/>
              <a:sym typeface="Cormorant SC Bold" panose="000008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0" y="6071959"/>
            <a:ext cx="18288000" cy="4215041"/>
            <a:chOff x="0" y="0"/>
            <a:chExt cx="4816593" cy="1110134"/>
          </a:xfrm>
        </p:grpSpPr>
        <p:sp>
          <p:nvSpPr>
            <p:cNvPr id="4" name="Freeform 4"/>
            <p:cNvSpPr/>
            <p:nvPr/>
          </p:nvSpPr>
          <p:spPr>
            <a:xfrm>
              <a:off x="0" y="0"/>
              <a:ext cx="4816592" cy="1110134"/>
            </a:xfrm>
            <a:custGeom>
              <a:avLst/>
              <a:gdLst/>
              <a:ahLst/>
              <a:cxnLst/>
              <a:rect l="l" t="t" r="r" b="b"/>
              <a:pathLst>
                <a:path w="4816592" h="1110134">
                  <a:moveTo>
                    <a:pt x="0" y="0"/>
                  </a:moveTo>
                  <a:lnTo>
                    <a:pt x="4816592" y="0"/>
                  </a:lnTo>
                  <a:lnTo>
                    <a:pt x="4816592" y="1110134"/>
                  </a:lnTo>
                  <a:lnTo>
                    <a:pt x="0" y="1110134"/>
                  </a:lnTo>
                  <a:close/>
                </a:path>
              </a:pathLst>
            </a:custGeom>
            <a:solidFill>
              <a:srgbClr val="6195B4"/>
            </a:solidFill>
          </p:spPr>
        </p:sp>
        <p:sp>
          <p:nvSpPr>
            <p:cNvPr id="5" name="TextBox 5"/>
            <p:cNvSpPr txBox="1"/>
            <p:nvPr/>
          </p:nvSpPr>
          <p:spPr>
            <a:xfrm>
              <a:off x="0" y="-19050"/>
              <a:ext cx="4816593" cy="1129184"/>
            </a:xfrm>
            <a:prstGeom prst="rect">
              <a:avLst/>
            </a:prstGeom>
          </p:spPr>
          <p:txBody>
            <a:bodyPr lIns="50800" tIns="50800" rIns="50800" bIns="50800" rtlCol="0" anchor="ctr"/>
            <a:lstStyle/>
            <a:p>
              <a:pPr algn="ctr">
                <a:lnSpc>
                  <a:spcPts val="2240"/>
                </a:lnSpc>
              </a:pPr>
            </a:p>
          </p:txBody>
        </p:sp>
      </p:grpSp>
      <p:sp>
        <p:nvSpPr>
          <p:cNvPr id="6" name="TextBox 6"/>
          <p:cNvSpPr txBox="1"/>
          <p:nvPr/>
        </p:nvSpPr>
        <p:spPr>
          <a:xfrm>
            <a:off x="897739" y="6639604"/>
            <a:ext cx="16492523" cy="3041650"/>
          </a:xfrm>
          <a:prstGeom prst="rect">
            <a:avLst/>
          </a:prstGeom>
        </p:spPr>
        <p:txBody>
          <a:bodyPr lIns="0" tIns="0" rIns="0" bIns="0" rtlCol="0" anchor="t">
            <a:spAutoFit/>
          </a:bodyPr>
          <a:lstStyle/>
          <a:p>
            <a:pPr algn="just">
              <a:lnSpc>
                <a:spcPts val="3500"/>
              </a:lnSpc>
            </a:pPr>
            <a:r>
              <a:rPr lang="en-US" sz="2500" spc="124">
                <a:solidFill>
                  <a:srgbClr val="FFFFFF"/>
                </a:solidFill>
                <a:latin typeface="Cormorant Garamond" panose="00000500000000000000"/>
                <a:ea typeface="Cormorant Garamond" panose="00000500000000000000"/>
                <a:cs typeface="Cormorant Garamond" panose="00000500000000000000"/>
                <a:sym typeface="Cormorant Garamond" panose="00000500000000000000"/>
              </a:rPr>
              <a:t> les Tombes du Buganda se dressent comme des symboles durables de fierté culturelle et de patrimoine, incarnant les traditions, les croyances et l'histoire du royaume. À travers leurs caractéristiques traditionnelles, leurs techniques de construction et leurs matériaux, ces joyaux architecturaux fournissent un aperçu du passé du Buganda tout en façonnant son avenir. En reconnaissant l'importance de préserver et de promouvoir les Tombes du Buganda, nous honorons non seulement l'héritage du royaume, mais enrichissons également la diversité de notre patrimoine humain commun.</a:t>
            </a:r>
            <a:endParaRPr lang="en-US" sz="2500" spc="124">
              <a:solidFill>
                <a:srgbClr val="FFFFFF"/>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500"/>
              </a:lnSpc>
              <a:spcBef>
                <a:spcPct val="0"/>
              </a:spcBef>
            </a:pPr>
          </a:p>
        </p:txBody>
      </p:sp>
      <p:sp>
        <p:nvSpPr>
          <p:cNvPr id="7" name="TextBox 7"/>
          <p:cNvSpPr txBox="1"/>
          <p:nvPr/>
        </p:nvSpPr>
        <p:spPr>
          <a:xfrm>
            <a:off x="5207000" y="3829050"/>
            <a:ext cx="9126855" cy="1835785"/>
          </a:xfrm>
          <a:prstGeom prst="rect">
            <a:avLst/>
          </a:prstGeom>
        </p:spPr>
        <p:txBody>
          <a:bodyPr wrap="square" lIns="0" tIns="0" rIns="0" bIns="0" rtlCol="0" anchor="t">
            <a:spAutoFit/>
          </a:bodyPr>
          <a:lstStyle/>
          <a:p>
            <a:pPr algn="ctr">
              <a:lnSpc>
                <a:spcPts val="14315"/>
              </a:lnSpc>
              <a:spcBef>
                <a:spcPct val="0"/>
              </a:spcBef>
            </a:pPr>
            <a:r>
              <a:rPr lang="en-US" sz="10225" spc="511">
                <a:solidFill>
                  <a:srgbClr val="00719D"/>
                </a:solidFill>
                <a:latin typeface="Cormorant SC" panose="00000500000000000000"/>
                <a:ea typeface="Cormorant SC" panose="00000500000000000000"/>
                <a:cs typeface="Cormorant SC" panose="00000500000000000000"/>
                <a:sym typeface="Cormorant SC" panose="00000500000000000000"/>
              </a:rPr>
              <a:t>Conclusion</a:t>
            </a:r>
            <a:endParaRPr lang="en-US" sz="10225" spc="511">
              <a:solidFill>
                <a:srgbClr val="00719D"/>
              </a:solidFill>
              <a:latin typeface="Cormorant SC" panose="00000500000000000000"/>
              <a:ea typeface="Cormorant SC" panose="00000500000000000000"/>
              <a:cs typeface="Cormorant SC" panose="00000500000000000000"/>
              <a:sym typeface="Cormorant SC" panose="00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6140</Words>
  <Application>WPS Presentation</Application>
  <PresentationFormat>On-screen Show (4:3)</PresentationFormat>
  <Paragraphs>158</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SimSun</vt:lpstr>
      <vt:lpstr>Wingdings</vt:lpstr>
      <vt:lpstr>Cormorant SC</vt:lpstr>
      <vt:lpstr>Cormorant SC Bold</vt:lpstr>
      <vt:lpstr>Quicksand</vt:lpstr>
      <vt:lpstr>Cormorant Garamond</vt:lpstr>
      <vt:lpstr>Lato Bold</vt:lpstr>
      <vt:lpstr>Montserrat Bold</vt:lpstr>
      <vt:lpstr>Cormorant Garamond</vt:lpstr>
      <vt:lpstr>Cormorant Garamond 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Historical Landmarks Presentation in Colorful Photographic Style</dc:title>
  <dc:creator/>
  <cp:lastModifiedBy>WPS_1742032848</cp:lastModifiedBy>
  <cp:revision>3</cp:revision>
  <dcterms:created xsi:type="dcterms:W3CDTF">2006-08-16T00:00:00Z</dcterms:created>
  <dcterms:modified xsi:type="dcterms:W3CDTF">2025-03-17T12:37:45Z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7D95AE3416534725AA29B31CB1F0B797_12</vt:lpwstr>
  </property>
  <property fmtid="{D5CDD505-2E9C-101B-9397-08002B2CF9AE}" pid="3" name="KSOProductBuildVer">
    <vt:lpwstr>1036-12.2.0.20326</vt:lpwstr>
  </property>
</Properties>
</file>