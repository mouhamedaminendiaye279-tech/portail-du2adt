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6"/>
  </p:notesMasterIdLst>
  <p:handoutMasterIdLst>
    <p:handoutMasterId r:id="rId17"/>
  </p:handoutMasterIdLst>
  <p:sldIdLst>
    <p:sldId id="289" r:id="rId5"/>
    <p:sldId id="288" r:id="rId6"/>
    <p:sldId id="283" r:id="rId7"/>
    <p:sldId id="264" r:id="rId8"/>
    <p:sldId id="263" r:id="rId9"/>
    <p:sldId id="290" r:id="rId10"/>
    <p:sldId id="293" r:id="rId11"/>
    <p:sldId id="265" r:id="rId12"/>
    <p:sldId id="261" r:id="rId13"/>
    <p:sldId id="292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556" autoAdjust="0"/>
    <p:restoredTop sz="94694" autoAdjust="0"/>
  </p:normalViewPr>
  <p:slideViewPr>
    <p:cSldViewPr snapToGrid="0">
      <p:cViewPr>
        <p:scale>
          <a:sx n="66" d="100"/>
          <a:sy n="66" d="100"/>
        </p:scale>
        <p:origin x="30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D6F61F-93A2-471D-BFEE-212D7882C697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EB096838-A5C6-4E9F-AE4F-D6B618F869F5}" type="pres">
      <dgm:prSet presAssocID="{DBD6F61F-93A2-471D-BFEE-212D7882C697}" presName="Name0" presStyleCnt="0">
        <dgm:presLayoutVars>
          <dgm:dir/>
          <dgm:resizeHandles val="exact"/>
        </dgm:presLayoutVars>
      </dgm:prSet>
      <dgm:spPr/>
    </dgm:pt>
  </dgm:ptLst>
  <dgm:cxnLst>
    <dgm:cxn modelId="{D573BF4D-B67C-4698-8A06-11075CCBDFA3}" type="presOf" srcId="{DBD6F61F-93A2-471D-BFEE-212D7882C697}" destId="{EB096838-A5C6-4E9F-AE4F-D6B618F869F5}" srcOrd="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D6F61F-93A2-471D-BFEE-212D7882C697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EB096838-A5C6-4E9F-AE4F-D6B618F869F5}" type="pres">
      <dgm:prSet presAssocID="{DBD6F61F-93A2-471D-BFEE-212D7882C697}" presName="Name0" presStyleCnt="0">
        <dgm:presLayoutVars>
          <dgm:dir/>
          <dgm:resizeHandles val="exact"/>
        </dgm:presLayoutVars>
      </dgm:prSet>
      <dgm:spPr/>
    </dgm:pt>
  </dgm:ptLst>
  <dgm:cxnLst>
    <dgm:cxn modelId="{D573BF4D-B67C-4698-8A06-11075CCBDFA3}" type="presOf" srcId="{DBD6F61F-93A2-471D-BFEE-212D7882C697}" destId="{EB096838-A5C6-4E9F-AE4F-D6B618F869F5}" srcOrd="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99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9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10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03/16/2025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5" r:id="rId17"/>
    <p:sldLayoutId id="2147483686" r:id="rId18"/>
    <p:sldLayoutId id="2147483687" r:id="rId19"/>
    <p:sldLayoutId id="2147483691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Connector 6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6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7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7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7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7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7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8" name="Rectangle 80">
            <a:extLst>
              <a:ext uri="{FF2B5EF4-FFF2-40B4-BE49-F238E27FC236}">
                <a16:creationId xmlns:a16="http://schemas.microsoft.com/office/drawing/2014/main" id="{A221245A-B93D-45A8-B0FA-EC2AEE26E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Placeholder 10" descr="A model of a building&#10;&#10;Description automatically generated">
            <a:extLst>
              <a:ext uri="{FF2B5EF4-FFF2-40B4-BE49-F238E27FC236}">
                <a16:creationId xmlns:a16="http://schemas.microsoft.com/office/drawing/2014/main" id="{D027E65F-C0BC-4C59-9A1E-D79FC557D9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6" b="13043"/>
          <a:stretch/>
        </p:blipFill>
        <p:spPr>
          <a:xfrm>
            <a:off x="42884" y="-10453"/>
            <a:ext cx="12191979" cy="6857989"/>
          </a:xfrm>
          <a:prstGeom prst="rect">
            <a:avLst/>
          </a:prstGeom>
        </p:spPr>
      </p:pic>
      <p:sp>
        <p:nvSpPr>
          <p:cNvPr id="99" name="Rectangle 82">
            <a:extLst>
              <a:ext uri="{FF2B5EF4-FFF2-40B4-BE49-F238E27FC236}">
                <a16:creationId xmlns:a16="http://schemas.microsoft.com/office/drawing/2014/main" id="{A60A95D1-194E-4E4E-8C67-30F91F8E7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0"/>
            <a:ext cx="8521995" cy="6858000"/>
          </a:xfrm>
          <a:prstGeom prst="rect">
            <a:avLst/>
          </a:prstGeom>
          <a:gradFill>
            <a:gsLst>
              <a:gs pos="58000">
                <a:srgbClr val="000000">
                  <a:alpha val="30000"/>
                </a:srgbClr>
              </a:gs>
              <a:gs pos="33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871538"/>
            <a:ext cx="6515100" cy="32029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i="1" kern="1200" cap="all" baseline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Les </a:t>
            </a:r>
            <a:r>
              <a:rPr lang="en-US" sz="6600" i="1" kern="1200" cap="all" baseline="0" dirty="0" err="1">
                <a:solidFill>
                  <a:schemeClr val="bg2"/>
                </a:solidFill>
                <a:latin typeface="+mj-lt"/>
                <a:ea typeface="+mj-ea"/>
                <a:cs typeface="+mj-cs"/>
              </a:rPr>
              <a:t>Voûtes</a:t>
            </a:r>
            <a:r>
              <a:rPr lang="en-US" sz="6600" i="1" kern="1200" cap="all" baseline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i="1" kern="1200" cap="all" baseline="0" dirty="0" err="1">
                <a:solidFill>
                  <a:schemeClr val="bg2"/>
                </a:solidFill>
                <a:latin typeface="+mj-lt"/>
                <a:ea typeface="+mj-ea"/>
                <a:cs typeface="+mj-cs"/>
              </a:rPr>
              <a:t>nubiennes</a:t>
            </a:r>
            <a:endParaRPr lang="en-US" sz="6600" i="1" kern="1200" cap="all" baseline="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0" name="Straight Connector 84">
            <a:extLst>
              <a:ext uri="{FF2B5EF4-FFF2-40B4-BE49-F238E27FC236}">
                <a16:creationId xmlns:a16="http://schemas.microsoft.com/office/drawing/2014/main" id="{64C0A835-9AC9-4D0F-A529-BE4789E12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39206" y="3065930"/>
            <a:ext cx="2852793" cy="37977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86">
            <a:extLst>
              <a:ext uri="{FF2B5EF4-FFF2-40B4-BE49-F238E27FC236}">
                <a16:creationId xmlns:a16="http://schemas.microsoft.com/office/drawing/2014/main" id="{7CF67ECC-797A-4CA0-87E3-360466498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172700" y="0"/>
            <a:ext cx="1358310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8B2BAECB-35E2-4DD9-8B8C-22D215DD0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Placeholder 10" descr="A building with green shutters&#10;&#10;Description automatically generated">
            <a:extLst>
              <a:ext uri="{FF2B5EF4-FFF2-40B4-BE49-F238E27FC236}">
                <a16:creationId xmlns:a16="http://schemas.microsoft.com/office/drawing/2014/main" id="{96681BC1-2F97-4A63-ABCA-C6F7E50964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0" r="30850"/>
          <a:stretch/>
        </p:blipFill>
        <p:spPr>
          <a:xfrm>
            <a:off x="6938682" y="10"/>
            <a:ext cx="5253320" cy="6857990"/>
          </a:xfrm>
          <a:custGeom>
            <a:avLst/>
            <a:gdLst/>
            <a:ahLst/>
            <a:cxnLst/>
            <a:rect l="l" t="t" r="r" b="b"/>
            <a:pathLst>
              <a:path w="5253320" h="6858000">
                <a:moveTo>
                  <a:pt x="722088" y="0"/>
                </a:moveTo>
                <a:lnTo>
                  <a:pt x="5253320" y="0"/>
                </a:lnTo>
                <a:lnTo>
                  <a:pt x="525332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467834"/>
            <a:ext cx="6132605" cy="1738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Sommaire</a:t>
            </a:r>
            <a:endParaRPr lang="en-US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5528235" y="0"/>
            <a:ext cx="6663765" cy="99209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388" y="1751861"/>
            <a:ext cx="5632647" cy="411834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Introduction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Pourquoi</a:t>
            </a:r>
            <a:r>
              <a:rPr lang="en-US" sz="2400" dirty="0"/>
              <a:t> c’est une architecture traditionnelle ?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Quels types de construction ?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Matériaux utilisés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Techniques de </a:t>
            </a:r>
            <a:r>
              <a:rPr lang="fr-FR" sz="2400" dirty="0"/>
              <a:t>construction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Son époque, son expansion dans le temps et dans l’espace</a:t>
            </a:r>
          </a:p>
        </p:txBody>
      </p:sp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1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1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1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1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1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2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2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25">
            <a:extLst>
              <a:ext uri="{FF2B5EF4-FFF2-40B4-BE49-F238E27FC236}">
                <a16:creationId xmlns:a16="http://schemas.microsoft.com/office/drawing/2014/main" id="{EA3B6404-C37D-4FE3-8124-9FC5ECE56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1406" y="1199288"/>
            <a:ext cx="5450958" cy="3520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600"/>
              <a:t>En quoi Les voûtes nubiennes sont-ils des architectures Traditionnelles ?</a:t>
            </a:r>
          </a:p>
        </p:txBody>
      </p:sp>
      <p:sp>
        <p:nvSpPr>
          <p:cNvPr id="46" name="Freeform: Shape 27">
            <a:extLst>
              <a:ext uri="{FF2B5EF4-FFF2-40B4-BE49-F238E27FC236}">
                <a16:creationId xmlns:a16="http://schemas.microsoft.com/office/drawing/2014/main" id="{ED61EC8C-9F54-4671-8E82-4AE6101D6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965"/>
            <a:ext cx="4584879" cy="6863976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4879" h="6863976">
                <a:moveTo>
                  <a:pt x="0" y="0"/>
                </a:moveTo>
                <a:lnTo>
                  <a:pt x="4584879" y="0"/>
                </a:lnTo>
                <a:lnTo>
                  <a:pt x="2493114" y="6863976"/>
                </a:lnTo>
                <a:lnTo>
                  <a:pt x="0" y="686397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7" name="Straight Connector 29">
            <a:extLst>
              <a:ext uri="{FF2B5EF4-FFF2-40B4-BE49-F238E27FC236}">
                <a16:creationId xmlns:a16="http://schemas.microsoft.com/office/drawing/2014/main" id="{8557940A-71CE-48E1-BD71-2BEF1561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10013" y="-8965"/>
            <a:ext cx="708298" cy="68699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31">
            <a:extLst>
              <a:ext uri="{FF2B5EF4-FFF2-40B4-BE49-F238E27FC236}">
                <a16:creationId xmlns:a16="http://schemas.microsoft.com/office/drawing/2014/main" id="{4777C915-01E5-4C85-B3BF-7BF7CC3F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401236"/>
            <a:ext cx="4011413" cy="345676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Placeholder 6" descr="A group of people working in a stone building&#10;&#10;Description automatically generated">
            <a:extLst>
              <a:ext uri="{FF2B5EF4-FFF2-40B4-BE49-F238E27FC236}">
                <a16:creationId xmlns:a16="http://schemas.microsoft.com/office/drawing/2014/main" id="{E18FF0A6-91B6-462F-8995-469495B594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33400" y="1644572"/>
            <a:ext cx="4764606" cy="356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732" y="-152399"/>
            <a:ext cx="10447867" cy="1382156"/>
          </a:xfrm>
          <a:noFill/>
        </p:spPr>
        <p:txBody>
          <a:bodyPr/>
          <a:lstStyle/>
          <a:p>
            <a:r>
              <a:rPr lang="fr-FR" dirty="0"/>
              <a:t>Quels types de construction 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37336" y="1154115"/>
            <a:ext cx="4463005" cy="5265935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pPr lvl="1"/>
            <a:r>
              <a:rPr lang="fr-FR" sz="8000" dirty="0"/>
              <a:t>Des maisons privées </a:t>
            </a:r>
          </a:p>
          <a:p>
            <a:pPr lvl="1"/>
            <a:r>
              <a:rPr lang="fr-FR" sz="8000" dirty="0"/>
              <a:t>Des centres de santé</a:t>
            </a:r>
          </a:p>
          <a:p>
            <a:pPr lvl="1"/>
            <a:r>
              <a:rPr lang="fr-FR" sz="8000" dirty="0"/>
              <a:t>Des bâtiments d’élevage </a:t>
            </a:r>
          </a:p>
          <a:p>
            <a:pPr lvl="1"/>
            <a:r>
              <a:rPr lang="fr-FR" sz="8000" dirty="0"/>
              <a:t>Des hôtels</a:t>
            </a:r>
          </a:p>
          <a:p>
            <a:pPr lvl="1"/>
            <a:r>
              <a:rPr lang="fr-FR" sz="8000" dirty="0"/>
              <a:t>⁠Des écoles </a:t>
            </a:r>
          </a:p>
          <a:p>
            <a:pPr lvl="1"/>
            <a:r>
              <a:rPr lang="fr-FR" sz="8000" dirty="0"/>
              <a:t>Des ⁠centres culturels</a:t>
            </a:r>
          </a:p>
          <a:p>
            <a:pPr lvl="1"/>
            <a:r>
              <a:rPr lang="fr-FR" sz="8000" dirty="0"/>
              <a:t>⁠Des bâtiments religieux </a:t>
            </a:r>
          </a:p>
          <a:p>
            <a:pPr lvl="1"/>
            <a:r>
              <a:rPr lang="fr-FR" sz="8000" dirty="0"/>
              <a:t>⁠Des bureaux</a:t>
            </a:r>
          </a:p>
          <a:p>
            <a:pPr lvl="1"/>
            <a:r>
              <a:rPr lang="fr-FR" sz="8000" dirty="0"/>
              <a:t>Des boutiques </a:t>
            </a:r>
          </a:p>
          <a:p>
            <a:pPr lvl="1"/>
            <a:r>
              <a:rPr lang="fr-FR" sz="8000" dirty="0"/>
              <a:t>Des bâtiments de transformation et de commercialisation</a:t>
            </a:r>
          </a:p>
          <a:p>
            <a:pPr lvl="1"/>
            <a:r>
              <a:rPr lang="fr-FR" sz="8000" dirty="0"/>
              <a:t>Des bibliothèques </a:t>
            </a:r>
            <a:endParaRPr lang="en-US" sz="8000" dirty="0"/>
          </a:p>
          <a:p>
            <a:pPr lvl="1"/>
            <a:endParaRPr lang="fr-FR" dirty="0"/>
          </a:p>
        </p:txBody>
      </p:sp>
      <p:pic>
        <p:nvPicPr>
          <p:cNvPr id="7" name="Picture 6" descr="A group of people walking in front of a building&#10;&#10;Description automatically generated">
            <a:extLst>
              <a:ext uri="{FF2B5EF4-FFF2-40B4-BE49-F238E27FC236}">
                <a16:creationId xmlns:a16="http://schemas.microsoft.com/office/drawing/2014/main" id="{42CDC8B2-7018-4FC5-ACD2-7D2FC7145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05" y="1229757"/>
            <a:ext cx="2063591" cy="1382156"/>
          </a:xfrm>
          <a:prstGeom prst="rect">
            <a:avLst/>
          </a:prstGeom>
        </p:spPr>
      </p:pic>
      <p:pic>
        <p:nvPicPr>
          <p:cNvPr id="9" name="Picture 8" descr="A teacher teaching a class&#10;&#10;Description automatically generated">
            <a:extLst>
              <a:ext uri="{FF2B5EF4-FFF2-40B4-BE49-F238E27FC236}">
                <a16:creationId xmlns:a16="http://schemas.microsoft.com/office/drawing/2014/main" id="{EA3624EA-1641-4E45-8B1C-D2188BCAF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05" y="2832100"/>
            <a:ext cx="2063591" cy="1331954"/>
          </a:xfrm>
          <a:prstGeom prst="rect">
            <a:avLst/>
          </a:prstGeom>
        </p:spPr>
      </p:pic>
      <p:pic>
        <p:nvPicPr>
          <p:cNvPr id="13" name="Picture 12" descr="A group of people sitting on a bench in a courtyard&#10;&#10;Description automatically generated">
            <a:extLst>
              <a:ext uri="{FF2B5EF4-FFF2-40B4-BE49-F238E27FC236}">
                <a16:creationId xmlns:a16="http://schemas.microsoft.com/office/drawing/2014/main" id="{A82D4018-809A-4205-B25D-5B861A4157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05" y="4384241"/>
            <a:ext cx="1996937" cy="1375599"/>
          </a:xfrm>
          <a:prstGeom prst="rect">
            <a:avLst/>
          </a:prstGeom>
        </p:spPr>
      </p:pic>
      <p:pic>
        <p:nvPicPr>
          <p:cNvPr id="14" name="Picture 13" descr="A group of people sitting on a bench in a courtyard&#10;&#10;Description automatically generated">
            <a:extLst>
              <a:ext uri="{FF2B5EF4-FFF2-40B4-BE49-F238E27FC236}">
                <a16:creationId xmlns:a16="http://schemas.microsoft.com/office/drawing/2014/main" id="{6DDF14E3-DF95-4C76-87FE-54D4E63F81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811" y="1229758"/>
            <a:ext cx="2075855" cy="1429962"/>
          </a:xfrm>
          <a:prstGeom prst="rect">
            <a:avLst/>
          </a:prstGeom>
        </p:spPr>
      </p:pic>
      <p:pic>
        <p:nvPicPr>
          <p:cNvPr id="15" name="Picture 14" descr="A brown building with a door and windows&#10;&#10;Description automatically generated">
            <a:extLst>
              <a:ext uri="{FF2B5EF4-FFF2-40B4-BE49-F238E27FC236}">
                <a16:creationId xmlns:a16="http://schemas.microsoft.com/office/drawing/2014/main" id="{A2B1B687-8E94-46B9-A771-4240E23D9C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812" y="2832101"/>
            <a:ext cx="1361080" cy="1339814"/>
          </a:xfrm>
          <a:prstGeom prst="rect">
            <a:avLst/>
          </a:prstGeom>
        </p:spPr>
      </p:pic>
      <p:pic>
        <p:nvPicPr>
          <p:cNvPr id="17" name="Picture 16" descr="A building with grass on the roof&#10;&#10;Description automatically generated">
            <a:extLst>
              <a:ext uri="{FF2B5EF4-FFF2-40B4-BE49-F238E27FC236}">
                <a16:creationId xmlns:a16="http://schemas.microsoft.com/office/drawing/2014/main" id="{1A56286D-D338-4116-986B-0CFEA131AF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811" y="4384242"/>
            <a:ext cx="2075855" cy="117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D754093-5EB6-D6D5-A367-BAD8779E2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197929"/>
            <a:ext cx="2875207" cy="166007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802AC5E-C272-FF0E-4CAE-3088435F0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6033977"/>
            <a:ext cx="7151914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Placeholder 8" descr="A person bending over bricks&#10;&#10;Description automatically generated">
            <a:extLst>
              <a:ext uri="{FF2B5EF4-FFF2-40B4-BE49-F238E27FC236}">
                <a16:creationId xmlns:a16="http://schemas.microsoft.com/office/drawing/2014/main" id="{5D459E25-191B-413B-AD9B-6025C2C049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9" r="17411"/>
          <a:stretch/>
        </p:blipFill>
        <p:spPr>
          <a:xfrm>
            <a:off x="731521" y="2011679"/>
            <a:ext cx="4684352" cy="4297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1"/>
            <a:ext cx="4779572" cy="129844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300" dirty="0"/>
              <a:t>Quels </a:t>
            </a:r>
            <a:r>
              <a:rPr lang="fr-FR" sz="3300" dirty="0"/>
              <a:t>sont</a:t>
            </a:r>
            <a:r>
              <a:rPr lang="en-US" sz="3300" dirty="0"/>
              <a:t> les Matériaux utilisés ?</a:t>
            </a:r>
          </a:p>
        </p:txBody>
      </p:sp>
      <p:graphicFrame>
        <p:nvGraphicFramePr>
          <p:cNvPr id="116" name="Content Placeholder 2">
            <a:extLst>
              <a:ext uri="{FF2B5EF4-FFF2-40B4-BE49-F238E27FC236}">
                <a16:creationId xmlns:a16="http://schemas.microsoft.com/office/drawing/2014/main" id="{F17BCC74-6145-E3E7-3BA4-A29892E3561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73476385"/>
              </p:ext>
            </p:extLst>
          </p:nvPr>
        </p:nvGraphicFramePr>
        <p:xfrm>
          <a:off x="6030551" y="548638"/>
          <a:ext cx="5546770" cy="5760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E7C594A-1D5B-4C95-96E9-9D3C2BF1594F}"/>
              </a:ext>
            </a:extLst>
          </p:cNvPr>
          <p:cNvSpPr txBox="1"/>
          <p:nvPr/>
        </p:nvSpPr>
        <p:spPr>
          <a:xfrm>
            <a:off x="5654772" y="529655"/>
            <a:ext cx="648192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✔ </a:t>
            </a:r>
            <a:r>
              <a:rPr lang="fr-FR" sz="2000" b="1" dirty="0"/>
              <a:t>Terre crue (argileuse)</a:t>
            </a:r>
            <a:r>
              <a:rPr lang="fr-FR" sz="2000" dirty="0"/>
              <a:t> :</a:t>
            </a:r>
          </a:p>
          <a:p>
            <a:r>
              <a:rPr lang="fr-FR" sz="2000" dirty="0"/>
              <a:t>Matériau principal (briques d’adobe, enduits).</a:t>
            </a:r>
          </a:p>
          <a:p>
            <a:r>
              <a:rPr lang="fr-FR" sz="2000" dirty="0"/>
              <a:t>Excellente isolation thermique et écologique.</a:t>
            </a:r>
          </a:p>
          <a:p>
            <a:endParaRPr lang="fr-FR" sz="2000" dirty="0"/>
          </a:p>
          <a:p>
            <a:r>
              <a:rPr lang="fr-FR" sz="2000" dirty="0"/>
              <a:t>✔ </a:t>
            </a:r>
            <a:r>
              <a:rPr lang="fr-FR" sz="2000" b="1" dirty="0"/>
              <a:t>Eau</a:t>
            </a:r>
            <a:r>
              <a:rPr lang="fr-FR" sz="2000" dirty="0"/>
              <a:t> :</a:t>
            </a:r>
          </a:p>
          <a:p>
            <a:r>
              <a:rPr lang="fr-FR" sz="2000" dirty="0"/>
              <a:t>Utilisée pour le mélange des briques et des enduits.</a:t>
            </a:r>
          </a:p>
          <a:p>
            <a:r>
              <a:rPr lang="fr-FR" sz="2000" dirty="0"/>
              <a:t>Assure la cohésion des éléments.</a:t>
            </a:r>
          </a:p>
          <a:p>
            <a:endParaRPr lang="fr-FR" sz="2000" dirty="0"/>
          </a:p>
          <a:p>
            <a:r>
              <a:rPr lang="fr-FR" sz="2000" dirty="0"/>
              <a:t>✔ </a:t>
            </a:r>
            <a:r>
              <a:rPr lang="fr-FR" sz="2000" b="1" dirty="0"/>
              <a:t>Fibres végétales (paille, balle de riz, etc.)</a:t>
            </a:r>
            <a:r>
              <a:rPr lang="fr-FR" sz="2000" dirty="0"/>
              <a:t> :</a:t>
            </a:r>
          </a:p>
          <a:p>
            <a:r>
              <a:rPr lang="fr-FR" sz="2000" dirty="0"/>
              <a:t>Renforce les briques et limite les fissures.</a:t>
            </a:r>
          </a:p>
          <a:p>
            <a:endParaRPr lang="fr-FR" sz="2000" dirty="0"/>
          </a:p>
          <a:p>
            <a:r>
              <a:rPr lang="fr-FR" sz="2000" dirty="0"/>
              <a:t>✔ </a:t>
            </a:r>
            <a:r>
              <a:rPr lang="fr-FR" sz="2000" b="1" dirty="0"/>
              <a:t>Pierre et graviers</a:t>
            </a:r>
            <a:r>
              <a:rPr lang="fr-FR" sz="2000" dirty="0"/>
              <a:t> :</a:t>
            </a:r>
          </a:p>
          <a:p>
            <a:r>
              <a:rPr lang="fr-FR" sz="2000" dirty="0"/>
              <a:t>Assurent la stabilité et protègent contre l’humidité.</a:t>
            </a:r>
          </a:p>
          <a:p>
            <a:endParaRPr lang="fr-FR" sz="2000" dirty="0"/>
          </a:p>
          <a:p>
            <a:r>
              <a:rPr lang="fr-FR" sz="2000" dirty="0"/>
              <a:t>✔ </a:t>
            </a:r>
            <a:r>
              <a:rPr lang="fr-FR" sz="2000" b="1" dirty="0"/>
              <a:t>Enduits et revêtements</a:t>
            </a:r>
            <a:r>
              <a:rPr lang="fr-FR" sz="2000" dirty="0"/>
              <a:t> :</a:t>
            </a:r>
          </a:p>
          <a:p>
            <a:r>
              <a:rPr lang="fr-FR" sz="2000" b="1" dirty="0"/>
              <a:t>Terre</a:t>
            </a:r>
            <a:r>
              <a:rPr lang="fr-FR" sz="2000" dirty="0"/>
              <a:t> : Protège et embellit.</a:t>
            </a:r>
          </a:p>
          <a:p>
            <a:r>
              <a:rPr lang="fr-FR" sz="2000" b="1" dirty="0"/>
              <a:t>Chaux (optionnel)</a:t>
            </a:r>
            <a:r>
              <a:rPr lang="fr-FR" sz="2000" dirty="0"/>
              <a:t> : Renforce l’imperméabilité.</a:t>
            </a:r>
          </a:p>
          <a:p>
            <a:r>
              <a:rPr lang="fr-FR" sz="2000" b="1" dirty="0"/>
              <a:t>Toiture protectrice (optionnelle)</a:t>
            </a:r>
            <a:r>
              <a:rPr lang="fr-FR" sz="2000" dirty="0"/>
              <a:t> : Protège des fortes pluies.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D754093-5EB6-D6D5-A367-BAD8779E2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197929"/>
            <a:ext cx="2875207" cy="166007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802AC5E-C272-FF0E-4CAE-3088435F0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6033977"/>
            <a:ext cx="7151914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D459E25-191B-413B-AD9B-6025C2C049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679" y="2170192"/>
            <a:ext cx="4684352" cy="3203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55" y="666271"/>
            <a:ext cx="4779572" cy="1298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dirty="0"/>
              <a:t>Techniques de construction</a:t>
            </a:r>
          </a:p>
        </p:txBody>
      </p:sp>
      <p:graphicFrame>
        <p:nvGraphicFramePr>
          <p:cNvPr id="116" name="Content Placeholder 2">
            <a:extLst>
              <a:ext uri="{FF2B5EF4-FFF2-40B4-BE49-F238E27FC236}">
                <a16:creationId xmlns:a16="http://schemas.microsoft.com/office/drawing/2014/main" id="{F17BCC74-6145-E3E7-3BA4-A29892E3561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030551" y="548638"/>
          <a:ext cx="5546770" cy="5760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E7C594A-1D5B-4C95-96E9-9D3C2BF1594F}"/>
              </a:ext>
            </a:extLst>
          </p:cNvPr>
          <p:cNvSpPr txBox="1"/>
          <p:nvPr/>
        </p:nvSpPr>
        <p:spPr>
          <a:xfrm>
            <a:off x="5420995" y="919825"/>
            <a:ext cx="648192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✔ </a:t>
            </a:r>
            <a:r>
              <a:rPr lang="fr-FR" sz="2000" b="1" dirty="0"/>
              <a:t>Fondations</a:t>
            </a:r>
            <a:r>
              <a:rPr lang="fr-FR" sz="2000" dirty="0"/>
              <a:t> :</a:t>
            </a:r>
          </a:p>
          <a:p>
            <a:r>
              <a:rPr lang="fr-FR" sz="2000" dirty="0"/>
              <a:t>Creusement d’une base en pierre et gravier pour stabiliser la structure.</a:t>
            </a:r>
          </a:p>
          <a:p>
            <a:r>
              <a:rPr lang="fr-FR" sz="2000" dirty="0"/>
              <a:t>Protection contre l’humidité et l’érosion.</a:t>
            </a:r>
          </a:p>
          <a:p>
            <a:endParaRPr lang="fr-FR" sz="2000" dirty="0"/>
          </a:p>
          <a:p>
            <a:r>
              <a:rPr lang="fr-FR" sz="2000" dirty="0"/>
              <a:t>✔ </a:t>
            </a:r>
            <a:r>
              <a:rPr lang="fr-FR" sz="2000" b="1" dirty="0"/>
              <a:t>Élévation des murs</a:t>
            </a:r>
            <a:r>
              <a:rPr lang="fr-FR" sz="2000" dirty="0"/>
              <a:t> :</a:t>
            </a:r>
          </a:p>
          <a:p>
            <a:r>
              <a:rPr lang="fr-FR" sz="2000" dirty="0"/>
              <a:t>Utilisation de </a:t>
            </a:r>
            <a:r>
              <a:rPr lang="fr-FR" sz="2000" b="1" dirty="0"/>
              <a:t>briques d’adobe</a:t>
            </a:r>
            <a:r>
              <a:rPr lang="fr-FR" sz="2000" dirty="0"/>
              <a:t> posées avec du mortier de terre.</a:t>
            </a:r>
          </a:p>
          <a:p>
            <a:r>
              <a:rPr lang="fr-FR" sz="2000" dirty="0"/>
              <a:t>Murs épais pour assurer une bonne isolation thermique.</a:t>
            </a:r>
          </a:p>
          <a:p>
            <a:endParaRPr lang="fr-FR" sz="2000" dirty="0"/>
          </a:p>
          <a:p>
            <a:r>
              <a:rPr lang="fr-FR" sz="2000" dirty="0"/>
              <a:t>✔ </a:t>
            </a:r>
            <a:r>
              <a:rPr lang="fr-FR" sz="2000" b="1" dirty="0"/>
              <a:t>Construction de la voûte</a:t>
            </a:r>
            <a:r>
              <a:rPr lang="fr-FR" sz="2000" dirty="0"/>
              <a:t> </a:t>
            </a:r>
            <a:r>
              <a:rPr lang="fr-FR" sz="2000" i="1" dirty="0"/>
              <a:t>(sans coffrage)</a:t>
            </a:r>
            <a:r>
              <a:rPr lang="fr-FR" sz="2000" dirty="0"/>
              <a:t> :</a:t>
            </a:r>
          </a:p>
          <a:p>
            <a:r>
              <a:rPr lang="fr-FR" sz="2000" dirty="0"/>
              <a:t>Pose des briques en encorbellement, inclinées progressivement.</a:t>
            </a:r>
          </a:p>
          <a:p>
            <a:r>
              <a:rPr lang="fr-FR" sz="2000" dirty="0"/>
              <a:t>Autoportante grâce à la forme en arc qui répartit le poids.</a:t>
            </a:r>
          </a:p>
          <a:p>
            <a:endParaRPr lang="fr-FR" sz="2000" dirty="0"/>
          </a:p>
          <a:p>
            <a:r>
              <a:rPr lang="fr-FR" sz="2000" dirty="0"/>
              <a:t>✔ </a:t>
            </a:r>
            <a:r>
              <a:rPr lang="fr-FR" sz="2000" b="1" dirty="0"/>
              <a:t>Enduits de finition</a:t>
            </a:r>
            <a:r>
              <a:rPr lang="fr-FR" sz="2000" dirty="0"/>
              <a:t> :</a:t>
            </a:r>
          </a:p>
          <a:p>
            <a:r>
              <a:rPr lang="fr-FR" sz="2000" dirty="0"/>
              <a:t>Application d’</a:t>
            </a:r>
            <a:r>
              <a:rPr lang="fr-FR" sz="2000" b="1" dirty="0"/>
              <a:t>enduits de terre</a:t>
            </a:r>
            <a:r>
              <a:rPr lang="fr-FR" sz="2000" dirty="0"/>
              <a:t> ou de chaux pour protéger la structure.</a:t>
            </a:r>
          </a:p>
          <a:p>
            <a:r>
              <a:rPr lang="fr-FR" sz="2000" dirty="0"/>
              <a:t>Optionnel : Toiture légère en tôle ou végétale pour limiter l’érosion.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908997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350" y="-1116879"/>
            <a:ext cx="9144000" cy="3361254"/>
          </a:xfrm>
          <a:noFill/>
        </p:spPr>
        <p:txBody>
          <a:bodyPr anchor="b"/>
          <a:lstStyle/>
          <a:p>
            <a:r>
              <a:rPr lang="en-US" dirty="0"/>
              <a:t>Son époque, Son expansion dans le temps et dans l’espace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A9115-CDC9-4161-A37F-2B2D211FF511}"/>
              </a:ext>
            </a:extLst>
          </p:cNvPr>
          <p:cNvSpPr txBox="1"/>
          <p:nvPr/>
        </p:nvSpPr>
        <p:spPr>
          <a:xfrm>
            <a:off x="1233486" y="2319635"/>
            <a:ext cx="3964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ÉPOQUE PHARAONIQUE (3000 _ -30).</a:t>
            </a:r>
          </a:p>
          <a:p>
            <a:r>
              <a:rPr lang="fr-FR" dirty="0"/>
              <a:t>Origines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01771-BAD5-4F1B-8972-C9994EE970BA}"/>
              </a:ext>
            </a:extLst>
          </p:cNvPr>
          <p:cNvSpPr txBox="1"/>
          <p:nvPr/>
        </p:nvSpPr>
        <p:spPr>
          <a:xfrm>
            <a:off x="1233487" y="3571873"/>
            <a:ext cx="4262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PÉRIODE ROMAINE ET BYZANTINE (-30 _ -500) . </a:t>
            </a:r>
          </a:p>
          <a:p>
            <a:r>
              <a:rPr lang="fr-FR" dirty="0"/>
              <a:t>Influence</a:t>
            </a:r>
          </a:p>
          <a:p>
            <a:r>
              <a:rPr lang="fr-FR" dirty="0"/>
              <a:t>Adaptation </a:t>
            </a:r>
          </a:p>
          <a:p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AF9017-AB5B-45B8-A123-C558E983DA0A}"/>
              </a:ext>
            </a:extLst>
          </p:cNvPr>
          <p:cNvSpPr txBox="1"/>
          <p:nvPr/>
        </p:nvSpPr>
        <p:spPr>
          <a:xfrm>
            <a:off x="1233487" y="4772202"/>
            <a:ext cx="3762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MOYEN Âge (500 _ 1500). </a:t>
            </a:r>
          </a:p>
          <a:p>
            <a:r>
              <a:rPr lang="fr-FR" dirty="0"/>
              <a:t>Propagation</a:t>
            </a:r>
          </a:p>
          <a:p>
            <a:r>
              <a:rPr lang="fr-FR" dirty="0"/>
              <a:t>Élaboration </a:t>
            </a:r>
          </a:p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982C61-7E65-4B7E-A3CA-1150A037ABCC}"/>
              </a:ext>
            </a:extLst>
          </p:cNvPr>
          <p:cNvSpPr txBox="1"/>
          <p:nvPr/>
        </p:nvSpPr>
        <p:spPr>
          <a:xfrm>
            <a:off x="7391402" y="2319635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RENAISSANCE (1500 _ 1700). </a:t>
            </a:r>
          </a:p>
          <a:p>
            <a:r>
              <a:rPr lang="fr-FR" dirty="0"/>
              <a:t>Redécouverte</a:t>
            </a:r>
          </a:p>
          <a:p>
            <a:r>
              <a:rPr lang="fr-FR" dirty="0"/>
              <a:t>Intégration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473FF-471A-4CD2-9E33-1CFF73096B3F}"/>
              </a:ext>
            </a:extLst>
          </p:cNvPr>
          <p:cNvSpPr txBox="1"/>
          <p:nvPr/>
        </p:nvSpPr>
        <p:spPr>
          <a:xfrm>
            <a:off x="7391402" y="3752850"/>
            <a:ext cx="3067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ÉPOQUE MODERNE (1700 _ 1900). Industrialisation</a:t>
            </a:r>
          </a:p>
          <a:p>
            <a:r>
              <a:rPr lang="fr-FR" dirty="0"/>
              <a:t>Préservation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52BC-899B-4ABD-B70A-B610E7C5843B}"/>
              </a:ext>
            </a:extLst>
          </p:cNvPr>
          <p:cNvSpPr/>
          <p:nvPr/>
        </p:nvSpPr>
        <p:spPr>
          <a:xfrm>
            <a:off x="914400" y="2342555"/>
            <a:ext cx="233360" cy="676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FA1635-42B3-46F3-BDC7-982F8178E576}"/>
              </a:ext>
            </a:extLst>
          </p:cNvPr>
          <p:cNvSpPr/>
          <p:nvPr/>
        </p:nvSpPr>
        <p:spPr>
          <a:xfrm>
            <a:off x="914400" y="3668541"/>
            <a:ext cx="219076" cy="657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E56710-A6FD-4F09-BD26-CDEBD6307035}"/>
              </a:ext>
            </a:extLst>
          </p:cNvPr>
          <p:cNvSpPr/>
          <p:nvPr/>
        </p:nvSpPr>
        <p:spPr>
          <a:xfrm>
            <a:off x="921542" y="4886325"/>
            <a:ext cx="219076" cy="657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C47B71-AA3B-4B7B-9673-48E63FED4AF2}"/>
              </a:ext>
            </a:extLst>
          </p:cNvPr>
          <p:cNvSpPr/>
          <p:nvPr/>
        </p:nvSpPr>
        <p:spPr>
          <a:xfrm>
            <a:off x="7105649" y="3843426"/>
            <a:ext cx="219076" cy="657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933453-39D1-4867-91C0-96DDD09A5553}"/>
              </a:ext>
            </a:extLst>
          </p:cNvPr>
          <p:cNvSpPr/>
          <p:nvPr/>
        </p:nvSpPr>
        <p:spPr>
          <a:xfrm>
            <a:off x="7158038" y="2342555"/>
            <a:ext cx="147637" cy="791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35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8576E04-BA34-4597-8F97-B162CC6EB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042673-822C-46F2-A208-165D88D07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6BEB57C-767A-46B2-9BA5-F4F819024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C3477A7-8AEF-46BF-AC02-D5FC1E680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018B765-6717-4B34-BFEF-724385420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299548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5F12F5-726F-4271-BC7E-64F830BAD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5DB7FB-9146-42E5-86F5-98E06A0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399"/>
            <a:ext cx="8279559" cy="10955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/>
              <a:t>Son époque, Son expansion dans le temps et dans l’espace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96FB07B-2FCF-46DD-933B-15CB99718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-14436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381377-2B0F-40E1-9528-84F17010D38F}"/>
              </a:ext>
            </a:extLst>
          </p:cNvPr>
          <p:cNvSpPr txBox="1"/>
          <p:nvPr/>
        </p:nvSpPr>
        <p:spPr>
          <a:xfrm>
            <a:off x="1930232" y="2219633"/>
            <a:ext cx="2223689" cy="526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buSzPct val="80000"/>
            </a:pPr>
            <a:r>
              <a:rPr lang="en-US" b="1" dirty="0">
                <a:solidFill>
                  <a:schemeClr val="tx2"/>
                </a:solidFill>
              </a:rPr>
              <a:t>Renaissance</a:t>
            </a:r>
          </a:p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A56B93-D510-4BC1-95DF-FDD5079D223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48784" y="2705441"/>
            <a:ext cx="2478266" cy="1623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9F664E-7167-4B59-8CF8-40A174DE057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48784" y="4481882"/>
            <a:ext cx="2478266" cy="1480763"/>
          </a:xfrm>
          <a:prstGeom prst="rect">
            <a:avLst/>
          </a:prstGeom>
        </p:spPr>
      </p:pic>
      <p:pic>
        <p:nvPicPr>
          <p:cNvPr id="46" name="Picture 45" descr="A table of numbers and numbers&#10;&#10;Description automatically generated">
            <a:extLst>
              <a:ext uri="{FF2B5EF4-FFF2-40B4-BE49-F238E27FC236}">
                <a16:creationId xmlns:a16="http://schemas.microsoft.com/office/drawing/2014/main" id="{BE22B66B-7848-4D50-9187-361760A712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575" y="2914665"/>
            <a:ext cx="5398135" cy="27369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3C7192-B06C-420E-84EF-1DEEBC8ADF60}"/>
              </a:ext>
            </a:extLst>
          </p:cNvPr>
          <p:cNvSpPr txBox="1"/>
          <p:nvPr/>
        </p:nvSpPr>
        <p:spPr>
          <a:xfrm>
            <a:off x="7047556" y="218042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Expansion au XXI siècle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8E6AC5-6844-489F-B6AA-B3128AD73DE0}"/>
              </a:ext>
            </a:extLst>
          </p:cNvPr>
          <p:cNvSpPr/>
          <p:nvPr/>
        </p:nvSpPr>
        <p:spPr>
          <a:xfrm>
            <a:off x="5395733" y="2243355"/>
            <a:ext cx="278314" cy="410496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B91F9D5-9618-4A1D-B8CC-380140BD2213}"/>
              </a:ext>
            </a:extLst>
          </p:cNvPr>
          <p:cNvSpPr/>
          <p:nvPr/>
        </p:nvSpPr>
        <p:spPr>
          <a:xfrm>
            <a:off x="1167336" y="2243355"/>
            <a:ext cx="278314" cy="410496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B2BAECB-35E2-4DD9-8B8C-22D215DD0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3" y="41253"/>
            <a:ext cx="12192000" cy="1738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Son expansion dans le temps et dans l’espace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5528235" y="0"/>
            <a:ext cx="6663765" cy="99209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D258B4E-D1CB-4C3A-9A47-B17A3F43EE1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494163" y="4316709"/>
            <a:ext cx="4037437" cy="14881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FE02DD-B92D-4C36-B642-9F3DAC8153C8}"/>
              </a:ext>
            </a:extLst>
          </p:cNvPr>
          <p:cNvPicPr/>
          <p:nvPr/>
        </p:nvPicPr>
        <p:blipFill rotWithShape="1">
          <a:blip r:embed="rId4"/>
          <a:srcRect r="1997"/>
          <a:stretch/>
        </p:blipFill>
        <p:spPr>
          <a:xfrm>
            <a:off x="9227675" y="1502002"/>
            <a:ext cx="2341748" cy="29190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15A2E3-5EE6-4E5A-8902-72F8544908B2}"/>
              </a:ext>
            </a:extLst>
          </p:cNvPr>
          <p:cNvSpPr txBox="1"/>
          <p:nvPr/>
        </p:nvSpPr>
        <p:spPr>
          <a:xfrm>
            <a:off x="9734040" y="4590783"/>
            <a:ext cx="22389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salle à manger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cuisine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remise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chambre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salle de bain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vestibule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véranda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bassin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four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piscine</a:t>
            </a:r>
            <a:endParaRPr lang="fr-FR" altLang="en-US" sz="1200" dirty="0"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local technique</a:t>
            </a:r>
            <a:endParaRPr lang="fr-FR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27B7752-2838-4411-AF74-51B030FA4627}"/>
              </a:ext>
            </a:extLst>
          </p:cNvPr>
          <p:cNvPicPr/>
          <p:nvPr/>
        </p:nvPicPr>
        <p:blipFill rotWithShape="1">
          <a:blip r:embed="rId5"/>
          <a:srcRect t="62199" r="30936" b="12298"/>
          <a:stretch/>
        </p:blipFill>
        <p:spPr>
          <a:xfrm rot="168931">
            <a:off x="4226873" y="1462636"/>
            <a:ext cx="4553224" cy="22626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C4A5572-1B3F-405B-B520-77AA0CD7BBCF}"/>
              </a:ext>
            </a:extLst>
          </p:cNvPr>
          <p:cNvPicPr/>
          <p:nvPr/>
        </p:nvPicPr>
        <p:blipFill rotWithShape="1">
          <a:blip r:embed="rId5"/>
          <a:srcRect r="32861" b="39239"/>
          <a:stretch/>
        </p:blipFill>
        <p:spPr>
          <a:xfrm rot="150258">
            <a:off x="170088" y="1505170"/>
            <a:ext cx="4110831" cy="486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Straight Connector 23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23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23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239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24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243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24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6" name="Rectangle 247">
            <a:extLst>
              <a:ext uri="{FF2B5EF4-FFF2-40B4-BE49-F238E27FC236}">
                <a16:creationId xmlns:a16="http://schemas.microsoft.com/office/drawing/2014/main" id="{B4C4609F-1704-4634-B647-1E4A212F3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249">
            <a:extLst>
              <a:ext uri="{FF2B5EF4-FFF2-40B4-BE49-F238E27FC236}">
                <a16:creationId xmlns:a16="http://schemas.microsoft.com/office/drawing/2014/main" id="{C59ED05E-B1A7-472C-A411-3F2CB744F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1"/>
            <a:ext cx="502617" cy="515333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251">
            <a:extLst>
              <a:ext uri="{FF2B5EF4-FFF2-40B4-BE49-F238E27FC236}">
                <a16:creationId xmlns:a16="http://schemas.microsoft.com/office/drawing/2014/main" id="{4D75E230-5F44-4D4A-90D5-C511DCD22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2790967" cy="9007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33402"/>
            <a:ext cx="9548812" cy="1542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/>
              <a:t>Son époque, Son expansion dans le temps et dans l’espace</a:t>
            </a:r>
          </a:p>
        </p:txBody>
      </p:sp>
      <p:pic>
        <p:nvPicPr>
          <p:cNvPr id="25" name="Picture 24" descr="A group of people in a classroom&#10;&#10;Description automatically generated">
            <a:extLst>
              <a:ext uri="{FF2B5EF4-FFF2-40B4-BE49-F238E27FC236}">
                <a16:creationId xmlns:a16="http://schemas.microsoft.com/office/drawing/2014/main" id="{B1C0BA84-53F0-4E4A-8E44-74AF8BAE2C9A}"/>
              </a:ext>
            </a:extLst>
          </p:cNvPr>
          <p:cNvPicPr/>
          <p:nvPr/>
        </p:nvPicPr>
        <p:blipFill>
          <a:blip r:embed="rId3"/>
          <a:srcRect t="13319" r="6" b="6"/>
          <a:stretch/>
        </p:blipFill>
        <p:spPr>
          <a:xfrm>
            <a:off x="1150317" y="2352575"/>
            <a:ext cx="2323043" cy="1510213"/>
          </a:xfrm>
          <a:prstGeom prst="rect">
            <a:avLst/>
          </a:prstGeom>
        </p:spPr>
      </p:pic>
      <p:pic>
        <p:nvPicPr>
          <p:cNvPr id="27" name="Picture 26" descr="A building with people walking&#10;&#10;Description automatically generated">
            <a:extLst>
              <a:ext uri="{FF2B5EF4-FFF2-40B4-BE49-F238E27FC236}">
                <a16:creationId xmlns:a16="http://schemas.microsoft.com/office/drawing/2014/main" id="{D5B45F4C-10E8-4D6F-8082-C5883C5BA280}"/>
              </a:ext>
            </a:extLst>
          </p:cNvPr>
          <p:cNvPicPr/>
          <p:nvPr/>
        </p:nvPicPr>
        <p:blipFill>
          <a:blip r:embed="rId4"/>
          <a:srcRect l="10741" r="7736" b="2"/>
          <a:stretch/>
        </p:blipFill>
        <p:spPr>
          <a:xfrm>
            <a:off x="3690275" y="2352565"/>
            <a:ext cx="2323043" cy="1510233"/>
          </a:xfrm>
          <a:prstGeom prst="rect">
            <a:avLst/>
          </a:prstGeom>
        </p:spPr>
      </p:pic>
      <p:pic>
        <p:nvPicPr>
          <p:cNvPr id="29" name="Picture 28" descr="A couple of people standing in front of a building&#10;&#10;Description automatically generated">
            <a:extLst>
              <a:ext uri="{FF2B5EF4-FFF2-40B4-BE49-F238E27FC236}">
                <a16:creationId xmlns:a16="http://schemas.microsoft.com/office/drawing/2014/main" id="{3740D49C-BF47-493B-8693-D34C59DB591D}"/>
              </a:ext>
            </a:extLst>
          </p:cNvPr>
          <p:cNvPicPr/>
          <p:nvPr/>
        </p:nvPicPr>
        <p:blipFill>
          <a:blip r:embed="rId5"/>
          <a:srcRect l="17067" r="12948" b="5"/>
          <a:stretch/>
        </p:blipFill>
        <p:spPr>
          <a:xfrm>
            <a:off x="6221635" y="2352569"/>
            <a:ext cx="2323043" cy="1510225"/>
          </a:xfrm>
          <a:prstGeom prst="rect">
            <a:avLst/>
          </a:prstGeom>
        </p:spPr>
      </p:pic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8B6ED9F-C017-420E-813A-58D34F8EC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49000" y="0"/>
            <a:ext cx="1143000" cy="44014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floor plan of a building&#10;&#10;Description automatically generated">
            <a:extLst>
              <a:ext uri="{FF2B5EF4-FFF2-40B4-BE49-F238E27FC236}">
                <a16:creationId xmlns:a16="http://schemas.microsoft.com/office/drawing/2014/main" id="{8A2E1F19-CDF9-4BAD-A59C-FEB1CA40686B}"/>
              </a:ext>
            </a:extLst>
          </p:cNvPr>
          <p:cNvPicPr/>
          <p:nvPr/>
        </p:nvPicPr>
        <p:blipFill>
          <a:blip r:embed="rId6"/>
          <a:srcRect l="21827" r="23382" b="-2"/>
          <a:stretch/>
        </p:blipFill>
        <p:spPr>
          <a:xfrm>
            <a:off x="8762827" y="2333899"/>
            <a:ext cx="2323043" cy="1547566"/>
          </a:xfrm>
          <a:prstGeom prst="rect">
            <a:avLst/>
          </a:prstGeom>
        </p:spPr>
      </p:pic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6E891714-64F2-4ED3-AB26-443F54DA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497690" y="6233891"/>
            <a:ext cx="5694310" cy="62410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2">
            <a:extLst>
              <a:ext uri="{FF2B5EF4-FFF2-40B4-BE49-F238E27FC236}">
                <a16:creationId xmlns:a16="http://schemas.microsoft.com/office/drawing/2014/main" id="{BBE56904-FD02-4FA0-B580-1BEF2666E5D8}"/>
              </a:ext>
            </a:extLst>
          </p:cNvPr>
          <p:cNvSpPr txBox="1"/>
          <p:nvPr/>
        </p:nvSpPr>
        <p:spPr>
          <a:xfrm>
            <a:off x="1143000" y="4257107"/>
            <a:ext cx="9906000" cy="2067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57150" indent="-285750">
              <a:spcAft>
                <a:spcPts val="600"/>
              </a:spcAft>
              <a:buSzPct val="80000"/>
              <a:buFont typeface="Wingdings" panose="05000000000000000000" pitchFamily="2" charset="2"/>
              <a:buChar char="§"/>
            </a:pPr>
            <a:r>
              <a:rPr lang="en-US" noProof="1">
                <a:solidFill>
                  <a:schemeClr val="tx2"/>
                </a:solidFill>
              </a:rPr>
              <a:t>Démarche initié dans la saison 2016-2017</a:t>
            </a:r>
          </a:p>
          <a:p>
            <a:pPr>
              <a:spcAft>
                <a:spcPts val="600"/>
              </a:spcAft>
              <a:buSzPct val="80000"/>
            </a:pPr>
            <a:r>
              <a:rPr lang="en-US" noProof="1">
                <a:solidFill>
                  <a:schemeClr val="tx2"/>
                </a:solidFill>
              </a:rPr>
              <a:t>Soudan – Côte d'Ivoire – Tchad</a:t>
            </a:r>
          </a:p>
          <a:p>
            <a:pPr marL="57150" indent="-285750">
              <a:spcAft>
                <a:spcPts val="600"/>
              </a:spcAft>
              <a:buSzPct val="80000"/>
              <a:buFont typeface="Wingdings" panose="05000000000000000000" pitchFamily="2" charset="2"/>
              <a:buChar char="§"/>
            </a:pPr>
            <a:r>
              <a:rPr lang="en-US" noProof="1">
                <a:solidFill>
                  <a:schemeClr val="tx2"/>
                </a:solidFill>
              </a:rPr>
              <a:t>Échanges avec des organisations </a:t>
            </a:r>
          </a:p>
          <a:p>
            <a:pPr>
              <a:spcAft>
                <a:spcPts val="600"/>
              </a:spcAft>
              <a:buSzPct val="80000"/>
            </a:pPr>
            <a:r>
              <a:rPr lang="en-US" noProof="1">
                <a:solidFill>
                  <a:schemeClr val="tx2"/>
                </a:solidFill>
              </a:rPr>
              <a:t>Tanzanie – Kenya – Maroc – Togo</a:t>
            </a:r>
          </a:p>
          <a:p>
            <a:pPr marL="57150" indent="-285750">
              <a:spcAft>
                <a:spcPts val="600"/>
              </a:spcAft>
              <a:buSzPct val="80000"/>
              <a:buFont typeface="Wingdings" panose="05000000000000000000" pitchFamily="2" charset="2"/>
              <a:buChar char="§"/>
            </a:pPr>
            <a:r>
              <a:rPr lang="en-US" noProof="1">
                <a:solidFill>
                  <a:schemeClr val="tx2"/>
                </a:solidFill>
              </a:rPr>
              <a:t>Déploiements hors pays d'implantation</a:t>
            </a:r>
          </a:p>
          <a:p>
            <a:pPr>
              <a:spcAft>
                <a:spcPts val="600"/>
              </a:spcAft>
              <a:buSzPct val="80000"/>
            </a:pPr>
            <a:r>
              <a:rPr lang="en-US" noProof="1">
                <a:solidFill>
                  <a:schemeClr val="tx2"/>
                </a:solidFill>
              </a:rPr>
              <a:t>Zambie – Madagascar –  Rwanda Mexique</a:t>
            </a:r>
          </a:p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86DD79F-F375-4218-9514-0D52F599D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20500" y="1955968"/>
            <a:ext cx="571500" cy="490203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19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fr-FR"/>
              <a:t>Merci de votre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373217"/>
            <a:ext cx="4902843" cy="1753221"/>
          </a:xfrm>
          <a:noFill/>
        </p:spPr>
        <p:txBody>
          <a:bodyPr anchor="t">
            <a:normAutofit fontScale="77500" lnSpcReduction="20000"/>
          </a:bodyPr>
          <a:lstStyle/>
          <a:p>
            <a:r>
              <a:rPr lang="fr-FR" dirty="0"/>
              <a:t>Présentées</a:t>
            </a:r>
            <a:r>
              <a:rPr lang="en-US" dirty="0"/>
              <a:t> par :</a:t>
            </a:r>
          </a:p>
          <a:p>
            <a:r>
              <a:rPr lang="en-US" dirty="0"/>
              <a:t>Ramatoulaye Ba</a:t>
            </a:r>
          </a:p>
          <a:p>
            <a:r>
              <a:rPr lang="fr-FR" dirty="0"/>
              <a:t>Mame Maty Bousso</a:t>
            </a:r>
          </a:p>
          <a:p>
            <a:r>
              <a:rPr lang="fr-FR" dirty="0"/>
              <a:t>Meredith Cécile Ciss</a:t>
            </a:r>
          </a:p>
          <a:p>
            <a:r>
              <a:rPr lang="fr-FR" dirty="0"/>
              <a:t>Rokhaya Dème</a:t>
            </a:r>
          </a:p>
          <a:p>
            <a:r>
              <a:rPr lang="fr-FR" dirty="0"/>
              <a:t>Ndeye Mayé Diallo</a:t>
            </a:r>
          </a:p>
        </p:txBody>
      </p:sp>
      <p:pic>
        <p:nvPicPr>
          <p:cNvPr id="7" name="Picture Placeholder 6" descr="A structure on the ground&#10;&#10;Description automatically generated">
            <a:extLst>
              <a:ext uri="{FF2B5EF4-FFF2-40B4-BE49-F238E27FC236}">
                <a16:creationId xmlns:a16="http://schemas.microsoft.com/office/drawing/2014/main" id="{33851362-B377-4C31-B156-0F6CB4CE940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5" r="18085"/>
          <a:stretch>
            <a:fillRect/>
          </a:stretch>
        </p:blipFill>
        <p:spPr>
          <a:xfrm>
            <a:off x="3810" y="0"/>
            <a:ext cx="8225790" cy="6858000"/>
          </a:xfrm>
        </p:spPr>
      </p:pic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477</Words>
  <Application>Microsoft Office PowerPoint</Application>
  <PresentationFormat>Widescreen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Neue Haas Grotesk Text Pro</vt:lpstr>
      <vt:lpstr>Univers Condensed Light</vt:lpstr>
      <vt:lpstr>Walbaum Display Light</vt:lpstr>
      <vt:lpstr>Wingdings</vt:lpstr>
      <vt:lpstr>AngleLinesVTI</vt:lpstr>
      <vt:lpstr>Les Voûtes nubiennes</vt:lpstr>
      <vt:lpstr>Sommaire</vt:lpstr>
      <vt:lpstr>En quoi Les voûtes nubiennes sont-ils des architectures Traditionnelles ?</vt:lpstr>
      <vt:lpstr>Quels types de construction ?</vt:lpstr>
      <vt:lpstr>Quels sont les Matériaux utilisés ?</vt:lpstr>
      <vt:lpstr>Techniques de construction</vt:lpstr>
      <vt:lpstr>Son époque, Son expansion dans le temps et dans l’espace</vt:lpstr>
      <vt:lpstr>Son époque, Son expansion dans le temps et dans l’espace</vt:lpstr>
      <vt:lpstr>Son expansion dans le temps et dans l’espace</vt:lpstr>
      <vt:lpstr>Son époque, Son expansion dans le temps et dans l’espace</vt:lpstr>
      <vt:lpstr>Merci de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Voûtes nubiennes</dc:title>
  <dc:creator>KYA</dc:creator>
  <cp:lastModifiedBy>KYA</cp:lastModifiedBy>
  <cp:revision>1</cp:revision>
  <dcterms:created xsi:type="dcterms:W3CDTF">2025-03-17T04:59:47Z</dcterms:created>
  <dcterms:modified xsi:type="dcterms:W3CDTF">2025-03-17T05:02:13Z</dcterms:modified>
</cp:coreProperties>
</file>