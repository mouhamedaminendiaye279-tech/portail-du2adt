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D5ADB-F574-41A4-9359-10DBCFC56014}" type="datetimeFigureOut">
              <a:rPr lang="fr-FR" smtClean="0"/>
              <a:t>25/05/2023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DE610-8091-46BD-A2A7-DE3C6F4FA4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5930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D5ADB-F574-41A4-9359-10DBCFC56014}" type="datetimeFigureOut">
              <a:rPr lang="fr-FR" smtClean="0"/>
              <a:t>25/05/2023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DE610-8091-46BD-A2A7-DE3C6F4FA4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6198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D5ADB-F574-41A4-9359-10DBCFC56014}" type="datetimeFigureOut">
              <a:rPr lang="fr-FR" smtClean="0"/>
              <a:t>25/05/2023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DE610-8091-46BD-A2A7-DE3C6F4FA4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5292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D5ADB-F574-41A4-9359-10DBCFC56014}" type="datetimeFigureOut">
              <a:rPr lang="fr-FR" smtClean="0"/>
              <a:t>25/05/2023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DE610-8091-46BD-A2A7-DE3C6F4FA4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2117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D5ADB-F574-41A4-9359-10DBCFC56014}" type="datetimeFigureOut">
              <a:rPr lang="fr-FR" smtClean="0"/>
              <a:t>25/05/2023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DE610-8091-46BD-A2A7-DE3C6F4FA4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870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D5ADB-F574-41A4-9359-10DBCFC56014}" type="datetimeFigureOut">
              <a:rPr lang="fr-FR" smtClean="0"/>
              <a:t>25/05/2023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DE610-8091-46BD-A2A7-DE3C6F4FA4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4029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D5ADB-F574-41A4-9359-10DBCFC56014}" type="datetimeFigureOut">
              <a:rPr lang="fr-FR" smtClean="0"/>
              <a:t>25/05/2023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DE610-8091-46BD-A2A7-DE3C6F4FA4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5155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D5ADB-F574-41A4-9359-10DBCFC56014}" type="datetimeFigureOut">
              <a:rPr lang="fr-FR" smtClean="0"/>
              <a:t>25/05/2023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DE610-8091-46BD-A2A7-DE3C6F4FA4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9718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D5ADB-F574-41A4-9359-10DBCFC56014}" type="datetimeFigureOut">
              <a:rPr lang="fr-FR" smtClean="0"/>
              <a:t>25/05/2023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DE610-8091-46BD-A2A7-DE3C6F4FA4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8129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D5ADB-F574-41A4-9359-10DBCFC56014}" type="datetimeFigureOut">
              <a:rPr lang="fr-FR" smtClean="0"/>
              <a:t>25/05/2023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DE610-8091-46BD-A2A7-DE3C6F4FA4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1622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D5ADB-F574-41A4-9359-10DBCFC56014}" type="datetimeFigureOut">
              <a:rPr lang="fr-FR" smtClean="0"/>
              <a:t>25/05/2023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DE610-8091-46BD-A2A7-DE3C6F4FA4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3704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ED5ADB-F574-41A4-9359-10DBCFC56014}" type="datetimeFigureOut">
              <a:rPr lang="fr-FR" smtClean="0"/>
              <a:t>25/05/2023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9DE610-8091-46BD-A2A7-DE3C6F4FA4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5408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764705"/>
            <a:ext cx="7772400" cy="1872208"/>
          </a:xfrm>
        </p:spPr>
        <p:txBody>
          <a:bodyPr>
            <a:normAutofit/>
          </a:bodyPr>
          <a:lstStyle/>
          <a:p>
            <a:r>
              <a:rPr lang="fr-FR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PRACTICING </a:t>
            </a:r>
            <a:r>
              <a:rPr lang="fr-FR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PRONUNCIATION: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4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fr-FR" sz="2400" b="1" i="1" dirty="0" smtClean="0">
                <a:latin typeface="Times New Roman" pitchFamily="18" charset="0"/>
                <a:cs typeface="Times New Roman" pitchFamily="18" charset="0"/>
              </a:rPr>
              <a:t>ED</a:t>
            </a:r>
            <a:r>
              <a:rPr lang="fr-FR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FORM) VERB IN THE SIMPLE PAST OR PAST PARTICIPLE WITH REGULAR VERBS</a:t>
            </a:r>
            <a:endParaRPr lang="fr-FR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0553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fr-FR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/ED/  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PRONOUNCED AS  /</a:t>
            </a:r>
            <a:r>
              <a:rPr lang="fr-FR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T/ , /D/ or /ID/ 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sz="24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fr-FR" sz="2400" b="1" dirty="0" err="1" smtClean="0">
                <a:latin typeface="Times New Roman" pitchFamily="18" charset="0"/>
                <a:cs typeface="Times New Roman" pitchFamily="18" charset="0"/>
              </a:rPr>
              <a:t>depends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 on the </a:t>
            </a:r>
            <a:r>
              <a:rPr lang="fr-FR" sz="24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final</a:t>
            </a:r>
            <a:r>
              <a:rPr lang="fr-FR" sz="2400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4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consonant </a:t>
            </a:r>
            <a:r>
              <a:rPr lang="fr-FR" sz="2400" b="1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sound</a:t>
            </a:r>
            <a:r>
              <a:rPr lang="fr-FR" sz="24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fr-FR" sz="2400" b="1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544616"/>
          </a:xfrm>
        </p:spPr>
        <p:txBody>
          <a:bodyPr>
            <a:normAutofit/>
          </a:bodyPr>
          <a:lstStyle/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fr-FR" sz="2400" dirty="0" err="1" smtClean="0">
                <a:latin typeface="Times New Roman" pitchFamily="18" charset="0"/>
                <a:cs typeface="Times New Roman" pitchFamily="18" charset="0"/>
              </a:rPr>
              <a:t>past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400" dirty="0" err="1" smtClean="0">
                <a:latin typeface="Times New Roman" pitchFamily="18" charset="0"/>
                <a:cs typeface="Times New Roman" pitchFamily="18" charset="0"/>
              </a:rPr>
              <a:t>participle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fr-FR" sz="2400" dirty="0" err="1" smtClean="0">
                <a:latin typeface="Times New Roman" pitchFamily="18" charset="0"/>
                <a:cs typeface="Times New Roman" pitchFamily="18" charset="0"/>
              </a:rPr>
              <a:t>Preterite</a:t>
            </a:r>
            <a:r>
              <a:rPr lang="fr-FR" sz="2400" b="1" i="1" dirty="0" smtClean="0">
                <a:latin typeface="Times New Roman" pitchFamily="18" charset="0"/>
                <a:cs typeface="Times New Roman" pitchFamily="18" charset="0"/>
              </a:rPr>
              <a:t> /</a:t>
            </a:r>
            <a:r>
              <a:rPr lang="fr-FR" sz="2400" b="1" dirty="0" err="1" smtClean="0">
                <a:latin typeface="Times New Roman" pitchFamily="18" charset="0"/>
                <a:cs typeface="Times New Roman" pitchFamily="18" charset="0"/>
              </a:rPr>
              <a:t>ed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/ </a:t>
            </a:r>
            <a:r>
              <a:rPr lang="fr-FR" sz="2400" dirty="0" err="1" smtClean="0">
                <a:latin typeface="Times New Roman" pitchFamily="18" charset="0"/>
                <a:cs typeface="Times New Roman" pitchFamily="18" charset="0"/>
              </a:rPr>
              <a:t>is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400" dirty="0" err="1" smtClean="0">
                <a:latin typeface="Times New Roman" pitchFamily="18" charset="0"/>
                <a:cs typeface="Times New Roman" pitchFamily="18" charset="0"/>
              </a:rPr>
              <a:t>pronounced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fr-FR" sz="2400" b="1" i="1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/t/  </a:t>
            </a:r>
            <a:r>
              <a:rPr lang="fr-FR" sz="2400" dirty="0" err="1" smtClean="0">
                <a:latin typeface="Times New Roman" pitchFamily="18" charset="0"/>
                <a:cs typeface="Times New Roman" pitchFamily="18" charset="0"/>
              </a:rPr>
              <a:t>after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400" b="1" dirty="0" err="1" smtClean="0">
                <a:latin typeface="Times New Roman" pitchFamily="18" charset="0"/>
                <a:cs typeface="Times New Roman" pitchFamily="18" charset="0"/>
              </a:rPr>
              <a:t>voiceless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400" b="1" dirty="0" err="1" smtClean="0">
                <a:latin typeface="Times New Roman" pitchFamily="18" charset="0"/>
                <a:cs typeface="Times New Roman" pitchFamily="18" charset="0"/>
              </a:rPr>
              <a:t>consonnants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400" dirty="0" err="1" smtClean="0">
                <a:latin typeface="Times New Roman" pitchFamily="18" charset="0"/>
                <a:cs typeface="Times New Roman" pitchFamily="18" charset="0"/>
              </a:rPr>
              <a:t>which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 are </a:t>
            </a:r>
            <a:r>
              <a:rPr lang="fr-FR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fr-FR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p/, /k/, /c/ , /f/, / </a:t>
            </a:r>
            <a:r>
              <a:rPr lang="fr-FR" sz="24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</a:t>
            </a:r>
            <a:r>
              <a:rPr lang="fr-FR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 </a:t>
            </a:r>
            <a:r>
              <a:rPr lang="fr-FR" sz="24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ss</a:t>
            </a:r>
            <a:r>
              <a:rPr lang="fr-FR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fr-FR" sz="24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gh</a:t>
            </a:r>
            <a:r>
              <a:rPr lang="fr-FR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 x/ h 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/: </a:t>
            </a:r>
            <a:r>
              <a:rPr lang="fr-FR" sz="2400" dirty="0" err="1" smtClean="0">
                <a:latin typeface="Times New Roman" pitchFamily="18" charset="0"/>
                <a:cs typeface="Times New Roman" pitchFamily="18" charset="0"/>
              </a:rPr>
              <a:t>develop</a:t>
            </a:r>
            <a:r>
              <a:rPr lang="fr-FR" sz="2400" b="1" i="1" dirty="0" err="1" smtClean="0">
                <a:latin typeface="Times New Roman" pitchFamily="18" charset="0"/>
                <a:cs typeface="Times New Roman" pitchFamily="18" charset="0"/>
              </a:rPr>
              <a:t>ed</a:t>
            </a:r>
            <a:r>
              <a:rPr lang="fr-FR" sz="2400" b="1" i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2400" dirty="0" err="1" smtClean="0">
                <a:latin typeface="Times New Roman" pitchFamily="18" charset="0"/>
                <a:cs typeface="Times New Roman" pitchFamily="18" charset="0"/>
              </a:rPr>
              <a:t>produc</a:t>
            </a:r>
            <a:r>
              <a:rPr lang="fr-FR" sz="2400" b="1" i="1" dirty="0" err="1" smtClean="0">
                <a:latin typeface="Times New Roman" pitchFamily="18" charset="0"/>
                <a:cs typeface="Times New Roman" pitchFamily="18" charset="0"/>
              </a:rPr>
              <a:t>ed</a:t>
            </a:r>
            <a:r>
              <a:rPr lang="fr-FR" sz="2400" b="1" i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2400" i="1" dirty="0" err="1" smtClean="0">
                <a:latin typeface="Times New Roman" pitchFamily="18" charset="0"/>
                <a:cs typeface="Times New Roman" pitchFamily="18" charset="0"/>
              </a:rPr>
              <a:t>work</a:t>
            </a:r>
            <a:r>
              <a:rPr lang="fr-FR" sz="2400" b="1" i="1" dirty="0" err="1" smtClean="0">
                <a:latin typeface="Times New Roman" pitchFamily="18" charset="0"/>
                <a:cs typeface="Times New Roman" pitchFamily="18" charset="0"/>
              </a:rPr>
              <a:t>ed</a:t>
            </a:r>
            <a:r>
              <a:rPr lang="fr-FR" sz="2400" b="1" i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2400" i="1" dirty="0" err="1" smtClean="0">
                <a:latin typeface="Times New Roman" pitchFamily="18" charset="0"/>
                <a:cs typeface="Times New Roman" pitchFamily="18" charset="0"/>
              </a:rPr>
              <a:t>watch</a:t>
            </a:r>
            <a:r>
              <a:rPr lang="fr-FR" sz="2400" b="1" i="1" dirty="0" err="1" smtClean="0">
                <a:latin typeface="Times New Roman" pitchFamily="18" charset="0"/>
                <a:cs typeface="Times New Roman" pitchFamily="18" charset="0"/>
              </a:rPr>
              <a:t>ed</a:t>
            </a:r>
            <a:r>
              <a:rPr lang="fr-FR" sz="2400" b="1" i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2400" i="1" dirty="0" err="1" smtClean="0">
                <a:latin typeface="Times New Roman" pitchFamily="18" charset="0"/>
                <a:cs typeface="Times New Roman" pitchFamily="18" charset="0"/>
              </a:rPr>
              <a:t>fix</a:t>
            </a:r>
            <a:r>
              <a:rPr lang="fr-FR" sz="2400" b="1" i="1" dirty="0" err="1" smtClean="0">
                <a:latin typeface="Times New Roman" pitchFamily="18" charset="0"/>
                <a:cs typeface="Times New Roman" pitchFamily="18" charset="0"/>
              </a:rPr>
              <a:t>ed</a:t>
            </a:r>
            <a:r>
              <a:rPr lang="fr-FR" sz="2400" b="1" i="1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fr-FR" sz="2400" b="1" i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fr-FR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d/ </a:t>
            </a:r>
            <a:r>
              <a:rPr lang="fr-FR" sz="2400" dirty="0" err="1" smtClean="0">
                <a:latin typeface="Times New Roman" pitchFamily="18" charset="0"/>
                <a:cs typeface="Times New Roman" pitchFamily="18" charset="0"/>
              </a:rPr>
              <a:t>after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400" b="1" dirty="0" err="1" smtClean="0">
                <a:latin typeface="Times New Roman" pitchFamily="18" charset="0"/>
                <a:cs typeface="Times New Roman" pitchFamily="18" charset="0"/>
              </a:rPr>
              <a:t>voiced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400" b="1" dirty="0" err="1" smtClean="0">
                <a:latin typeface="Times New Roman" pitchFamily="18" charset="0"/>
                <a:cs typeface="Times New Roman" pitchFamily="18" charset="0"/>
              </a:rPr>
              <a:t>sounds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fr-FR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b/, /g/ /z/, /v/, /l/ , /r/</a:t>
            </a:r>
            <a:r>
              <a:rPr lang="fr-FR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nasal </a:t>
            </a:r>
            <a:r>
              <a:rPr lang="fr-FR" sz="2400" b="1" dirty="0" err="1" smtClean="0">
                <a:latin typeface="Times New Roman" pitchFamily="18" charset="0"/>
                <a:cs typeface="Times New Roman" pitchFamily="18" charset="0"/>
              </a:rPr>
              <a:t>sounds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fr-FR" sz="2400" b="1" dirty="0" err="1" smtClean="0">
                <a:latin typeface="Times New Roman" pitchFamily="18" charset="0"/>
                <a:cs typeface="Times New Roman" pitchFamily="18" charset="0"/>
              </a:rPr>
              <a:t>consonnants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fr-FR" sz="24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vowels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fr-FR" sz="2400" dirty="0" err="1" smtClean="0">
                <a:latin typeface="Times New Roman" pitchFamily="18" charset="0"/>
                <a:cs typeface="Times New Roman" pitchFamily="18" charset="0"/>
              </a:rPr>
              <a:t>that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 are /</a:t>
            </a:r>
            <a:r>
              <a:rPr lang="fr-FR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m/ , /n/ 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or </a:t>
            </a:r>
            <a:r>
              <a:rPr lang="fr-FR" sz="2400" b="1" dirty="0" err="1" smtClean="0">
                <a:latin typeface="Times New Roman" pitchFamily="18" charset="0"/>
                <a:cs typeface="Times New Roman" pitchFamily="18" charset="0"/>
              </a:rPr>
              <a:t>after</a:t>
            </a:r>
            <a:r>
              <a:rPr lang="fr-FR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/S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/ 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fr-FR" sz="2400" b="1" dirty="0" err="1" smtClean="0">
                <a:latin typeface="Times New Roman" pitchFamily="18" charset="0"/>
                <a:cs typeface="Times New Roman" pitchFamily="18" charset="0"/>
              </a:rPr>
              <a:t>improved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2400" b="1" dirty="0" err="1" smtClean="0">
                <a:latin typeface="Times New Roman" pitchFamily="18" charset="0"/>
                <a:cs typeface="Times New Roman" pitchFamily="18" charset="0"/>
              </a:rPr>
              <a:t>monitored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2400" b="1" dirty="0" err="1" smtClean="0">
                <a:latin typeface="Times New Roman" pitchFamily="18" charset="0"/>
                <a:cs typeface="Times New Roman" pitchFamily="18" charset="0"/>
              </a:rPr>
              <a:t>designed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2400" b="1" dirty="0" err="1" smtClean="0">
                <a:latin typeface="Times New Roman" pitchFamily="18" charset="0"/>
                <a:cs typeface="Times New Roman" pitchFamily="18" charset="0"/>
              </a:rPr>
              <a:t>supervised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2400" b="1" dirty="0" err="1" smtClean="0">
                <a:latin typeface="Times New Roman" pitchFamily="18" charset="0"/>
                <a:cs typeface="Times New Roman" pitchFamily="18" charset="0"/>
              </a:rPr>
              <a:t>achieved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2400" b="1" dirty="0" err="1" smtClean="0">
                <a:latin typeface="Times New Roman" pitchFamily="18" charset="0"/>
                <a:cs typeface="Times New Roman" pitchFamily="18" charset="0"/>
              </a:rPr>
              <a:t>planned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2400" b="1" dirty="0" err="1" smtClean="0">
                <a:latin typeface="Times New Roman" pitchFamily="18" charset="0"/>
                <a:cs typeface="Times New Roman" pitchFamily="18" charset="0"/>
              </a:rPr>
              <a:t>administered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2400" dirty="0" err="1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fr-FR" sz="2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fr-FR" sz="2400" dirty="0" err="1" smtClean="0">
                <a:latin typeface="Times New Roman" pitchFamily="18" charset="0"/>
                <a:cs typeface="Times New Roman" pitchFamily="18" charset="0"/>
              </a:rPr>
              <a:t>ed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2400" dirty="0" err="1" smtClean="0">
                <a:latin typeface="Times New Roman" pitchFamily="18" charset="0"/>
                <a:cs typeface="Times New Roman" pitchFamily="18" charset="0"/>
              </a:rPr>
              <a:t>enjoy</a:t>
            </a:r>
            <a:r>
              <a:rPr lang="fr-FR" sz="2400" b="1" dirty="0" err="1" smtClean="0">
                <a:latin typeface="Times New Roman" pitchFamily="18" charset="0"/>
                <a:cs typeface="Times New Roman" pitchFamily="18" charset="0"/>
              </a:rPr>
              <a:t>ed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fr-FR" sz="24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fr-FR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fr-FR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/   </a:t>
            </a:r>
            <a:r>
              <a:rPr lang="fr-FR" sz="2400" dirty="0" err="1" smtClean="0">
                <a:latin typeface="Times New Roman" pitchFamily="18" charset="0"/>
                <a:cs typeface="Times New Roman" pitchFamily="18" charset="0"/>
              </a:rPr>
              <a:t>after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fr-FR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/t/     and    /d/</a:t>
            </a:r>
          </a:p>
          <a:p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For instance: </a:t>
            </a:r>
            <a:r>
              <a:rPr lang="fr-FR" sz="2400" b="1" dirty="0" err="1" smtClean="0">
                <a:latin typeface="Times New Roman" pitchFamily="18" charset="0"/>
                <a:cs typeface="Times New Roman" pitchFamily="18" charset="0"/>
              </a:rPr>
              <a:t>promoted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2400" b="1" dirty="0" err="1" smtClean="0">
                <a:latin typeface="Times New Roman" pitchFamily="18" charset="0"/>
                <a:cs typeface="Times New Roman" pitchFamily="18" charset="0"/>
              </a:rPr>
              <a:t>tested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2400" b="1" dirty="0" err="1" smtClean="0">
                <a:latin typeface="Times New Roman" pitchFamily="18" charset="0"/>
                <a:cs typeface="Times New Roman" pitchFamily="18" charset="0"/>
              </a:rPr>
              <a:t>implemented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2400" b="1" dirty="0" err="1" smtClean="0">
                <a:latin typeface="Times New Roman" pitchFamily="18" charset="0"/>
                <a:cs typeface="Times New Roman" pitchFamily="18" charset="0"/>
              </a:rPr>
              <a:t>conducted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2400" b="1" dirty="0" err="1" smtClean="0">
                <a:latin typeface="Times New Roman" pitchFamily="18" charset="0"/>
                <a:cs typeface="Times New Roman" pitchFamily="18" charset="0"/>
              </a:rPr>
              <a:t>evaluated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2400" b="1" dirty="0" err="1" smtClean="0">
                <a:latin typeface="Times New Roman" pitchFamily="18" charset="0"/>
                <a:cs typeface="Times New Roman" pitchFamily="18" charset="0"/>
              </a:rPr>
              <a:t>downloaded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2400" b="1" dirty="0" err="1" smtClean="0">
                <a:latin typeface="Times New Roman" pitchFamily="18" charset="0"/>
                <a:cs typeface="Times New Roman" pitchFamily="18" charset="0"/>
              </a:rPr>
              <a:t>uploaded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2400" b="1" dirty="0" err="1" smtClean="0">
                <a:latin typeface="Times New Roman" pitchFamily="18" charset="0"/>
                <a:cs typeface="Times New Roman" pitchFamily="18" charset="0"/>
              </a:rPr>
              <a:t>decided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868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 fontScale="90000"/>
          </a:bodyPr>
          <a:lstStyle/>
          <a:p>
            <a:pPr algn="l"/>
            <a:r>
              <a:rPr lang="fr-FR" sz="2400" b="1" dirty="0" err="1" smtClean="0">
                <a:latin typeface="Times New Roman" pitchFamily="18" charset="0"/>
                <a:cs typeface="Times New Roman" pitchFamily="18" charset="0"/>
              </a:rPr>
              <a:t>Task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Put the </a:t>
            </a:r>
            <a:r>
              <a:rPr lang="fr-FR" sz="2400" dirty="0" err="1" smtClean="0">
                <a:latin typeface="Times New Roman" pitchFamily="18" charset="0"/>
                <a:cs typeface="Times New Roman" pitchFamily="18" charset="0"/>
              </a:rPr>
              <a:t>verb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 in the correct </a:t>
            </a:r>
            <a:r>
              <a:rPr lang="fr-FR" sz="2400" dirty="0" err="1" smtClean="0">
                <a:latin typeface="Times New Roman" pitchFamily="18" charset="0"/>
                <a:cs typeface="Times New Roman" pitchFamily="18" charset="0"/>
              </a:rPr>
              <a:t>column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400" dirty="0" err="1" smtClean="0">
                <a:latin typeface="Times New Roman" pitchFamily="18" charset="0"/>
                <a:cs typeface="Times New Roman" pitchFamily="18" charset="0"/>
              </a:rPr>
              <a:t>according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 to the right </a:t>
            </a:r>
            <a:r>
              <a:rPr lang="fr-FR" sz="2400" dirty="0" err="1" smtClean="0">
                <a:latin typeface="Times New Roman" pitchFamily="18" charset="0"/>
                <a:cs typeface="Times New Roman" pitchFamily="18" charset="0"/>
              </a:rPr>
              <a:t>pronuciaton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fr-FR" sz="2400" dirty="0" err="1" smtClean="0">
                <a:latin typeface="Times New Roman" pitchFamily="18" charset="0"/>
                <a:cs typeface="Times New Roman" pitchFamily="18" charset="0"/>
              </a:rPr>
              <a:t>Try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 first to </a:t>
            </a:r>
            <a:r>
              <a:rPr lang="fr-FR" sz="2400" dirty="0" err="1" smtClean="0">
                <a:latin typeface="Times New Roman" pitchFamily="18" charset="0"/>
                <a:cs typeface="Times New Roman" pitchFamily="18" charset="0"/>
              </a:rPr>
              <a:t>pronunce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400" dirty="0" err="1" smtClean="0">
                <a:latin typeface="Times New Roman" pitchFamily="18" charset="0"/>
                <a:cs typeface="Times New Roman" pitchFamily="18" charset="0"/>
              </a:rPr>
              <a:t>it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400" dirty="0" err="1" smtClean="0">
                <a:latin typeface="Times New Roman" pitchFamily="18" charset="0"/>
                <a:cs typeface="Times New Roman" pitchFamily="18" charset="0"/>
              </a:rPr>
              <a:t>before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400" dirty="0" err="1" smtClean="0">
                <a:latin typeface="Times New Roman" pitchFamily="18" charset="0"/>
                <a:cs typeface="Times New Roman" pitchFamily="18" charset="0"/>
              </a:rPr>
              <a:t>filling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 in the </a:t>
            </a:r>
            <a:r>
              <a:rPr lang="fr-FR" sz="2400" dirty="0" err="1" smtClean="0">
                <a:latin typeface="Times New Roman" pitchFamily="18" charset="0"/>
                <a:cs typeface="Times New Roman" pitchFamily="18" charset="0"/>
              </a:rPr>
              <a:t>columns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fr-FR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713387"/>
          </a:xfrm>
        </p:spPr>
        <p:txBody>
          <a:bodyPr>
            <a:normAutofit fontScale="3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fr-FR" dirty="0" smtClean="0"/>
              <a:t> </a:t>
            </a:r>
          </a:p>
          <a:p>
            <a:pPr algn="just">
              <a:lnSpc>
                <a:spcPct val="150000"/>
              </a:lnSpc>
            </a:pPr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fr-FR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fr-FR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fr-FR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fr-FR" sz="3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fr-FR" sz="4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fr-FR" sz="60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fr-FR" sz="6000" b="1" dirty="0" err="1" smtClean="0">
                <a:latin typeface="Times New Roman" pitchFamily="18" charset="0"/>
                <a:cs typeface="Times New Roman" pitchFamily="18" charset="0"/>
              </a:rPr>
              <a:t>Managed</a:t>
            </a:r>
            <a:r>
              <a:rPr lang="fr-FR" sz="60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6000" b="1" dirty="0" err="1" smtClean="0">
                <a:latin typeface="Times New Roman" pitchFamily="18" charset="0"/>
                <a:cs typeface="Times New Roman" pitchFamily="18" charset="0"/>
              </a:rPr>
              <a:t>published</a:t>
            </a:r>
            <a:r>
              <a:rPr lang="fr-FR" sz="60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6000" b="1" dirty="0" err="1" smtClean="0">
                <a:latin typeface="Times New Roman" pitchFamily="18" charset="0"/>
                <a:cs typeface="Times New Roman" pitchFamily="18" charset="0"/>
              </a:rPr>
              <a:t>saved</a:t>
            </a:r>
            <a:r>
              <a:rPr lang="fr-FR" sz="60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6000" b="1" dirty="0" err="1" smtClean="0">
                <a:latin typeface="Times New Roman" pitchFamily="18" charset="0"/>
                <a:cs typeface="Times New Roman" pitchFamily="18" charset="0"/>
              </a:rPr>
              <a:t>applied</a:t>
            </a:r>
            <a:r>
              <a:rPr lang="fr-FR" sz="60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6000" b="1" dirty="0" err="1" smtClean="0">
                <a:latin typeface="Times New Roman" pitchFamily="18" charset="0"/>
                <a:cs typeface="Times New Roman" pitchFamily="18" charset="0"/>
              </a:rPr>
              <a:t>programmed</a:t>
            </a:r>
            <a:r>
              <a:rPr lang="fr-FR" sz="60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6000" b="1" dirty="0" err="1" smtClean="0">
                <a:latin typeface="Times New Roman" pitchFamily="18" charset="0"/>
                <a:cs typeface="Times New Roman" pitchFamily="18" charset="0"/>
              </a:rPr>
              <a:t>converted</a:t>
            </a:r>
            <a:r>
              <a:rPr lang="fr-FR" sz="60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6000" b="1" dirty="0" err="1" smtClean="0">
                <a:latin typeface="Times New Roman" pitchFamily="18" charset="0"/>
                <a:cs typeface="Times New Roman" pitchFamily="18" charset="0"/>
              </a:rPr>
              <a:t>trained</a:t>
            </a:r>
            <a:r>
              <a:rPr lang="fr-FR" sz="60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6000" b="1" dirty="0" err="1" smtClean="0">
                <a:latin typeface="Times New Roman" pitchFamily="18" charset="0"/>
                <a:cs typeface="Times New Roman" pitchFamily="18" charset="0"/>
              </a:rPr>
              <a:t>invested</a:t>
            </a:r>
            <a:r>
              <a:rPr lang="fr-FR" sz="60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6000" b="1" dirty="0" err="1" smtClean="0">
                <a:latin typeface="Times New Roman" pitchFamily="18" charset="0"/>
                <a:cs typeface="Times New Roman" pitchFamily="18" charset="0"/>
              </a:rPr>
              <a:t>enclosed</a:t>
            </a:r>
            <a:r>
              <a:rPr lang="fr-FR" sz="60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6000" b="1" dirty="0" err="1" smtClean="0">
                <a:latin typeface="Times New Roman" pitchFamily="18" charset="0"/>
                <a:cs typeface="Times New Roman" pitchFamily="18" charset="0"/>
              </a:rPr>
              <a:t>advertised</a:t>
            </a:r>
            <a:r>
              <a:rPr lang="fr-FR" sz="60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6000" b="1" dirty="0" err="1" smtClean="0">
                <a:latin typeface="Times New Roman" pitchFamily="18" charset="0"/>
                <a:cs typeface="Times New Roman" pitchFamily="18" charset="0"/>
              </a:rPr>
              <a:t>manufactured</a:t>
            </a:r>
            <a:r>
              <a:rPr lang="fr-FR" sz="60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6000" b="1" dirty="0" err="1" smtClean="0">
                <a:latin typeface="Times New Roman" pitchFamily="18" charset="0"/>
                <a:cs typeface="Times New Roman" pitchFamily="18" charset="0"/>
              </a:rPr>
              <a:t>retailed</a:t>
            </a:r>
            <a:r>
              <a:rPr lang="fr-FR" sz="60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6000" b="1" dirty="0" err="1" smtClean="0">
                <a:latin typeface="Times New Roman" pitchFamily="18" charset="0"/>
                <a:cs typeface="Times New Roman" pitchFamily="18" charset="0"/>
              </a:rPr>
              <a:t>stored</a:t>
            </a:r>
            <a:r>
              <a:rPr lang="fr-FR" sz="60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6000" b="1" dirty="0" err="1" smtClean="0">
                <a:latin typeface="Times New Roman" pitchFamily="18" charset="0"/>
                <a:cs typeface="Times New Roman" pitchFamily="18" charset="0"/>
              </a:rPr>
              <a:t>subsidised</a:t>
            </a:r>
            <a:r>
              <a:rPr lang="fr-FR" sz="60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6000" b="1" dirty="0" err="1" smtClean="0">
                <a:latin typeface="Times New Roman" pitchFamily="18" charset="0"/>
                <a:cs typeface="Times New Roman" pitchFamily="18" charset="0"/>
              </a:rPr>
              <a:t>subcontracted</a:t>
            </a:r>
            <a:r>
              <a:rPr lang="fr-FR" sz="60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6000" b="1" dirty="0" err="1" smtClean="0">
                <a:latin typeface="Times New Roman" pitchFamily="18" charset="0"/>
                <a:cs typeface="Times New Roman" pitchFamily="18" charset="0"/>
              </a:rPr>
              <a:t>supervised</a:t>
            </a:r>
            <a:r>
              <a:rPr lang="fr-FR" sz="60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6000" b="1" dirty="0" err="1" smtClean="0">
                <a:latin typeface="Times New Roman" pitchFamily="18" charset="0"/>
                <a:cs typeface="Times New Roman" pitchFamily="18" charset="0"/>
              </a:rPr>
              <a:t>involved</a:t>
            </a:r>
            <a:r>
              <a:rPr lang="fr-FR" sz="60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6000" b="1" dirty="0" err="1" smtClean="0">
                <a:latin typeface="Times New Roman" pitchFamily="18" charset="0"/>
                <a:cs typeface="Times New Roman" pitchFamily="18" charset="0"/>
              </a:rPr>
              <a:t>accommodated</a:t>
            </a:r>
            <a:r>
              <a:rPr lang="fr-FR" sz="60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6000" b="1" dirty="0" err="1" smtClean="0">
                <a:latin typeface="Times New Roman" pitchFamily="18" charset="0"/>
                <a:cs typeface="Times New Roman" pitchFamily="18" charset="0"/>
              </a:rPr>
              <a:t>forwarded</a:t>
            </a:r>
            <a:r>
              <a:rPr lang="fr-FR" sz="60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6000" b="1" dirty="0" err="1" smtClean="0">
                <a:latin typeface="Times New Roman" pitchFamily="18" charset="0"/>
                <a:cs typeface="Times New Roman" pitchFamily="18" charset="0"/>
              </a:rPr>
              <a:t>published</a:t>
            </a:r>
            <a:r>
              <a:rPr lang="fr-FR" sz="60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6000" b="1" dirty="0" err="1" smtClean="0">
                <a:latin typeface="Times New Roman" pitchFamily="18" charset="0"/>
                <a:cs typeface="Times New Roman" pitchFamily="18" charset="0"/>
              </a:rPr>
              <a:t>susbcribed</a:t>
            </a:r>
            <a:r>
              <a:rPr lang="fr-FR" sz="60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6000" b="1" dirty="0" err="1" smtClean="0">
                <a:latin typeface="Times New Roman" pitchFamily="18" charset="0"/>
                <a:cs typeface="Times New Roman" pitchFamily="18" charset="0"/>
              </a:rPr>
              <a:t>controlled</a:t>
            </a:r>
            <a:r>
              <a:rPr lang="fr-FR" sz="60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6000" b="1" dirty="0" err="1" smtClean="0">
                <a:latin typeface="Times New Roman" pitchFamily="18" charset="0"/>
                <a:cs typeface="Times New Roman" pitchFamily="18" charset="0"/>
              </a:rPr>
              <a:t>trained</a:t>
            </a:r>
            <a:r>
              <a:rPr lang="fr-FR" sz="60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6000" b="1" dirty="0" err="1" smtClean="0">
                <a:latin typeface="Times New Roman" pitchFamily="18" charset="0"/>
                <a:cs typeface="Times New Roman" pitchFamily="18" charset="0"/>
              </a:rPr>
              <a:t>solved</a:t>
            </a:r>
            <a:r>
              <a:rPr lang="fr-FR" sz="60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6000" b="1" dirty="0" err="1" smtClean="0">
                <a:latin typeface="Times New Roman" pitchFamily="18" charset="0"/>
                <a:cs typeface="Times New Roman" pitchFamily="18" charset="0"/>
              </a:rPr>
              <a:t>established</a:t>
            </a:r>
            <a:r>
              <a:rPr lang="fr-FR" sz="60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6000" b="1" dirty="0" err="1" smtClean="0">
                <a:latin typeface="Times New Roman" pitchFamily="18" charset="0"/>
                <a:cs typeface="Times New Roman" pitchFamily="18" charset="0"/>
              </a:rPr>
              <a:t>involved</a:t>
            </a:r>
            <a:r>
              <a:rPr lang="fr-FR" sz="60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6000" b="1" dirty="0" err="1" smtClean="0">
                <a:latin typeface="Times New Roman" pitchFamily="18" charset="0"/>
                <a:cs typeface="Times New Roman" pitchFamily="18" charset="0"/>
              </a:rPr>
              <a:t>included</a:t>
            </a:r>
            <a:r>
              <a:rPr lang="fr-FR" sz="60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6000" b="1" dirty="0" err="1" smtClean="0">
                <a:latin typeface="Times New Roman" pitchFamily="18" charset="0"/>
                <a:cs typeface="Times New Roman" pitchFamily="18" charset="0"/>
              </a:rPr>
              <a:t>attended</a:t>
            </a:r>
            <a:r>
              <a:rPr lang="fr-FR" sz="60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6000" b="1" dirty="0" err="1" smtClean="0">
                <a:latin typeface="Times New Roman" pitchFamily="18" charset="0"/>
                <a:cs typeface="Times New Roman" pitchFamily="18" charset="0"/>
              </a:rPr>
              <a:t>executed</a:t>
            </a:r>
            <a:r>
              <a:rPr lang="fr-FR" sz="60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6000" b="1" dirty="0" err="1" smtClean="0">
                <a:latin typeface="Times New Roman" pitchFamily="18" charset="0"/>
                <a:cs typeface="Times New Roman" pitchFamily="18" charset="0"/>
              </a:rPr>
              <a:t>configured</a:t>
            </a:r>
            <a:r>
              <a:rPr lang="fr-FR" sz="60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6000" b="1" dirty="0" err="1" smtClean="0">
                <a:latin typeface="Times New Roman" pitchFamily="18" charset="0"/>
                <a:cs typeface="Times New Roman" pitchFamily="18" charset="0"/>
              </a:rPr>
              <a:t>needed</a:t>
            </a:r>
            <a:r>
              <a:rPr lang="fr-FR" sz="6000" b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fr-FR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2695633"/>
              </p:ext>
            </p:extLst>
          </p:nvPr>
        </p:nvGraphicFramePr>
        <p:xfrm>
          <a:off x="1547664" y="908720"/>
          <a:ext cx="6096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800" dirty="0" smtClean="0"/>
                        <a:t>            /t/ </a:t>
                      </a:r>
                      <a:endParaRPr lang="fr-F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dirty="0" smtClean="0"/>
                        <a:t>            /d/ </a:t>
                      </a:r>
                      <a:endParaRPr lang="fr-F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           /id/ 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3389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706</TotalTime>
  <Words>273</Words>
  <Application>Microsoft Office PowerPoint</Application>
  <PresentationFormat>Affichage à l'écran (4:3)</PresentationFormat>
  <Paragraphs>21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Arial</vt:lpstr>
      <vt:lpstr>Calibri</vt:lpstr>
      <vt:lpstr>Times New Roman</vt:lpstr>
      <vt:lpstr>Thème Office</vt:lpstr>
      <vt:lpstr>PRACTICING PRONUNCIATION: THE (ED FORM) VERB IN THE SIMPLE PAST OR PAST PARTICIPLE WITH REGULAR VERBS</vt:lpstr>
      <vt:lpstr>The /ED/  PRONOUNCED AS  /T/ , /D/ or /ID/  It depends on the final consonant sound.</vt:lpstr>
      <vt:lpstr>Task: Put the verb in the correct column according to the right pronuciaton. Try first to pronunce it before filling in the columns. 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 language pronunciation: the ED FORM</dc:title>
  <dc:creator>user</dc:creator>
  <cp:lastModifiedBy>Utilisateur Windows</cp:lastModifiedBy>
  <cp:revision>227</cp:revision>
  <dcterms:created xsi:type="dcterms:W3CDTF">2016-11-09T07:10:04Z</dcterms:created>
  <dcterms:modified xsi:type="dcterms:W3CDTF">2023-05-25T10:03:44Z</dcterms:modified>
</cp:coreProperties>
</file>