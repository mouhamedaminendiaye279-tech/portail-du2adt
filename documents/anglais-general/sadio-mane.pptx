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5"/>
  </p:notesMasterIdLst>
  <p:sldIdLst>
    <p:sldId id="265" r:id="rId3"/>
    <p:sldId id="256" r:id="rId4"/>
    <p:sldId id="257" r:id="rId6"/>
    <p:sldId id="258" r:id="rId7"/>
    <p:sldId id="259" r:id="rId8"/>
    <p:sldId id="260" r:id="rId9"/>
    <p:sldId id="261" r:id="rId10"/>
    <p:sldId id="262" r:id="rId11"/>
    <p:sldId id="263" r:id="rId12"/>
    <p:sldId id="264" r:id="rId13"/>
  </p:sldIdLst>
  <p:sldSz cx="14630400" cy="8229600"/>
  <p:notesSz cx="8229600" cy="14630400"/>
  <p:embeddedFontLst>
    <p:embeddedFont>
      <p:font typeface="Lora" pitchFamily="34" charset="0"/>
      <p:bold r:id="rId17"/>
    </p:embeddedFont>
    <p:embeddedFont>
      <p:font typeface="Lora" pitchFamily="34" charset="-122"/>
      <p:bold r:id="rId18"/>
    </p:embeddedFont>
    <p:embeddedFont>
      <p:font typeface="Lora" pitchFamily="34" charset="-120"/>
      <p:bold r:id="rId19"/>
    </p:embeddedFont>
    <p:embeddedFont>
      <p:font typeface="Calibri" panose="020F0502020204030204" charset="0"/>
      <p:regular r:id="rId20"/>
      <p:bold r:id="rId21"/>
      <p:italic r:id="rId22"/>
      <p:boldItalic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2833"/>
    <a:srgbClr val="D6E5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font" Target="fonts/font7.fntdata"/><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p:spPr>
      </p:sp>
      <p:sp>
        <p:nvSpPr>
          <p:cNvPr id="3" name="Shape 1"/>
          <p:cNvSpPr/>
          <p:nvPr/>
        </p:nvSpPr>
        <p:spPr>
          <a:xfrm>
            <a:off x="0" y="0"/>
            <a:ext cx="14630400" cy="8229600"/>
          </a:xfrm>
          <a:prstGeom prst="rect">
            <a:avLst/>
          </a:prstGeom>
          <a:solidFill>
            <a:srgbClr val="25283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p:spPr>
      </p:sp>
      <p:sp>
        <p:nvSpPr>
          <p:cNvPr id="3" name="Shape 1"/>
          <p:cNvSpPr/>
          <p:nvPr/>
        </p:nvSpPr>
        <p:spPr>
          <a:xfrm>
            <a:off x="0" y="0"/>
            <a:ext cx="14630400" cy="8229600"/>
          </a:xfrm>
          <a:prstGeom prst="rect">
            <a:avLst/>
          </a:prstGeom>
          <a:solidFill>
            <a:srgbClr val="25283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p:spPr>
      </p:sp>
      <p:sp>
        <p:nvSpPr>
          <p:cNvPr id="3" name="Shape 1"/>
          <p:cNvSpPr/>
          <p:nvPr/>
        </p:nvSpPr>
        <p:spPr>
          <a:xfrm>
            <a:off x="0" y="0"/>
            <a:ext cx="14630400" cy="8229600"/>
          </a:xfrm>
          <a:prstGeom prst="rect">
            <a:avLst/>
          </a:prstGeom>
          <a:solidFill>
            <a:srgbClr val="25283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p:spPr>
      </p:sp>
      <p:sp>
        <p:nvSpPr>
          <p:cNvPr id="3" name="Shape 1"/>
          <p:cNvSpPr/>
          <p:nvPr/>
        </p:nvSpPr>
        <p:spPr>
          <a:xfrm>
            <a:off x="0" y="0"/>
            <a:ext cx="14630400" cy="8229600"/>
          </a:xfrm>
          <a:prstGeom prst="rect">
            <a:avLst/>
          </a:prstGeom>
          <a:solidFill>
            <a:srgbClr val="25283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p:spPr>
      </p:sp>
      <p:sp>
        <p:nvSpPr>
          <p:cNvPr id="3" name="Shape 1"/>
          <p:cNvSpPr/>
          <p:nvPr/>
        </p:nvSpPr>
        <p:spPr>
          <a:xfrm>
            <a:off x="0" y="0"/>
            <a:ext cx="14630400" cy="8229600"/>
          </a:xfrm>
          <a:prstGeom prst="rect">
            <a:avLst/>
          </a:prstGeom>
          <a:solidFill>
            <a:srgbClr val="25283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p:spPr>
      </p:sp>
      <p:sp>
        <p:nvSpPr>
          <p:cNvPr id="3" name="Shape 1"/>
          <p:cNvSpPr/>
          <p:nvPr/>
        </p:nvSpPr>
        <p:spPr>
          <a:xfrm>
            <a:off x="0" y="0"/>
            <a:ext cx="14630400" cy="8229600"/>
          </a:xfrm>
          <a:prstGeom prst="rect">
            <a:avLst/>
          </a:prstGeom>
          <a:solidFill>
            <a:srgbClr val="25283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p:spPr>
      </p:sp>
      <p:sp>
        <p:nvSpPr>
          <p:cNvPr id="3" name="Shape 1"/>
          <p:cNvSpPr/>
          <p:nvPr/>
        </p:nvSpPr>
        <p:spPr>
          <a:xfrm>
            <a:off x="0" y="0"/>
            <a:ext cx="14630400" cy="8229600"/>
          </a:xfrm>
          <a:prstGeom prst="rect">
            <a:avLst/>
          </a:prstGeom>
          <a:solidFill>
            <a:srgbClr val="25283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p:spPr>
      </p:sp>
      <p:sp>
        <p:nvSpPr>
          <p:cNvPr id="3" name="Shape 1"/>
          <p:cNvSpPr/>
          <p:nvPr/>
        </p:nvSpPr>
        <p:spPr>
          <a:xfrm>
            <a:off x="0" y="0"/>
            <a:ext cx="14630400" cy="8229600"/>
          </a:xfrm>
          <a:prstGeom prst="rect">
            <a:avLst/>
          </a:prstGeom>
          <a:solidFill>
            <a:srgbClr val="25283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p:spPr>
      </p:sp>
      <p:sp>
        <p:nvSpPr>
          <p:cNvPr id="3" name="Shape 1"/>
          <p:cNvSpPr/>
          <p:nvPr/>
        </p:nvSpPr>
        <p:spPr>
          <a:xfrm>
            <a:off x="0" y="0"/>
            <a:ext cx="14630400" cy="8229600"/>
          </a:xfrm>
          <a:prstGeom prst="rect">
            <a:avLst/>
          </a:prstGeom>
          <a:solidFill>
            <a:srgbClr val="25283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5.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6.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8.xml"/><Relationship Id="rId7" Type="http://schemas.openxmlformats.org/officeDocument/2006/relationships/image" Target="../media/image20.jpeg"/><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9.xml"/><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pic>
        <p:nvPicPr>
          <p:cNvPr id="9" name="Image 8" descr="ea03265f-038b-401a-9bf5-00a97e105d43"/>
          <p:cNvPicPr>
            <a:picLocks noChangeAspect="1"/>
          </p:cNvPicPr>
          <p:nvPr/>
        </p:nvPicPr>
        <p:blipFill>
          <a:blip r:embed="rId1"/>
          <a:stretch>
            <a:fillRect/>
          </a:stretch>
        </p:blipFill>
        <p:spPr>
          <a:xfrm>
            <a:off x="-59690" y="-24130"/>
            <a:ext cx="14689455" cy="8255635"/>
          </a:xfrm>
          <a:prstGeom prst="rect">
            <a:avLst/>
          </a:prstGeom>
        </p:spPr>
      </p:pic>
      <p:sp>
        <p:nvSpPr>
          <p:cNvPr id="10" name="Shape 0"/>
          <p:cNvSpPr/>
          <p:nvPr/>
        </p:nvSpPr>
        <p:spPr>
          <a:xfrm>
            <a:off x="-64135" y="-15240"/>
            <a:ext cx="14694535" cy="8249285"/>
          </a:xfrm>
          <a:prstGeom prst="rect">
            <a:avLst/>
          </a:prstGeom>
          <a:solidFill>
            <a:srgbClr val="252833">
              <a:alpha val="80000"/>
            </a:srgbClr>
          </a:solidFill>
        </p:spPr>
      </p:sp>
      <p:sp>
        <p:nvSpPr>
          <p:cNvPr id="3" name="Text 0"/>
          <p:cNvSpPr/>
          <p:nvPr/>
        </p:nvSpPr>
        <p:spPr>
          <a:xfrm>
            <a:off x="1105535" y="1228090"/>
            <a:ext cx="12419965" cy="1407795"/>
          </a:xfrm>
          <a:prstGeom prst="rect">
            <a:avLst/>
          </a:prstGeom>
          <a:noFill/>
        </p:spPr>
        <p:txBody>
          <a:bodyPr wrap="square" lIns="0" tIns="0" rIns="0" bIns="0" rtlCol="0" anchor="t"/>
          <a:p>
            <a:pPr marL="0" indent="0" algn="ctr">
              <a:lnSpc>
                <a:spcPct val="150000"/>
              </a:lnSpc>
              <a:buNone/>
            </a:pPr>
            <a:r>
              <a:rPr lang="fr-FR" altLang="en-US" sz="6600" dirty="0">
                <a:solidFill>
                  <a:srgbClr val="F98AC7"/>
                </a:solidFill>
                <a:latin typeface="Lora" pitchFamily="34" charset="0"/>
                <a:ea typeface="Lora" pitchFamily="34" charset="-122"/>
                <a:cs typeface="Lora" pitchFamily="34" charset="-120"/>
              </a:rPr>
              <a:t>Sadio Mane’s Success Story</a:t>
            </a:r>
            <a:endParaRPr lang="fr-FR" altLang="en-US" sz="6600" dirty="0">
              <a:solidFill>
                <a:srgbClr val="F98AC7"/>
              </a:solidFill>
              <a:latin typeface="Lora" pitchFamily="34" charset="0"/>
              <a:ea typeface="Lora" pitchFamily="34" charset="-122"/>
              <a:cs typeface="Lora" pitchFamily="34" charset="-120"/>
            </a:endParaRPr>
          </a:p>
        </p:txBody>
      </p:sp>
      <p:sp>
        <p:nvSpPr>
          <p:cNvPr id="2" name="Text 0"/>
          <p:cNvSpPr/>
          <p:nvPr/>
        </p:nvSpPr>
        <p:spPr>
          <a:xfrm>
            <a:off x="1412875" y="3679190"/>
            <a:ext cx="2263140" cy="761365"/>
          </a:xfrm>
          <a:prstGeom prst="rect">
            <a:avLst/>
          </a:prstGeom>
          <a:noFill/>
        </p:spPr>
        <p:txBody>
          <a:bodyPr wrap="square" lIns="0" tIns="0" rIns="0" bIns="0" rtlCol="0" anchor="t"/>
          <a:p>
            <a:pPr marL="0" indent="0" algn="l">
              <a:lnSpc>
                <a:spcPts val="5500"/>
              </a:lnSpc>
              <a:buNone/>
            </a:pPr>
            <a:r>
              <a:rPr lang="fr-FR" altLang="en-US" sz="4800" dirty="0">
                <a:solidFill>
                  <a:srgbClr val="F98AC7"/>
                </a:solidFill>
                <a:latin typeface="Lora" pitchFamily="34" charset="0"/>
                <a:ea typeface="Lora" pitchFamily="34" charset="-122"/>
                <a:cs typeface="Lora" pitchFamily="34" charset="-120"/>
              </a:rPr>
              <a:t>Plan</a:t>
            </a:r>
            <a:endParaRPr lang="fr-FR" altLang="en-US" sz="4800" dirty="0">
              <a:solidFill>
                <a:srgbClr val="F98AC7"/>
              </a:solidFill>
              <a:latin typeface="Lora" pitchFamily="34" charset="0"/>
              <a:ea typeface="Lora" pitchFamily="34" charset="-122"/>
              <a:cs typeface="Lora" pitchFamily="34" charset="-120"/>
            </a:endParaRPr>
          </a:p>
        </p:txBody>
      </p:sp>
      <p:sp>
        <p:nvSpPr>
          <p:cNvPr id="5" name="Text 2"/>
          <p:cNvSpPr/>
          <p:nvPr/>
        </p:nvSpPr>
        <p:spPr>
          <a:xfrm>
            <a:off x="1195705" y="4440555"/>
            <a:ext cx="4566920" cy="1239520"/>
          </a:xfrm>
          <a:prstGeom prst="rect">
            <a:avLst/>
          </a:prstGeom>
          <a:noFill/>
        </p:spPr>
        <p:txBody>
          <a:bodyPr wrap="none" lIns="0" tIns="0" rIns="0" bIns="0" rtlCol="0" anchor="t"/>
          <a:p>
            <a:pPr marL="0" indent="0" algn="l">
              <a:lnSpc>
                <a:spcPct val="150000"/>
              </a:lnSpc>
              <a:buNone/>
            </a:pPr>
            <a:r>
              <a:rPr lang="fr-FR" altLang="en-US" sz="3200" dirty="0">
                <a:solidFill>
                  <a:srgbClr val="D6E5EF"/>
                </a:solidFill>
                <a:latin typeface="Lora" pitchFamily="34" charset="0"/>
                <a:ea typeface="Lora" pitchFamily="34" charset="-122"/>
                <a:cs typeface="Lora" pitchFamily="34" charset="-120"/>
              </a:rPr>
              <a:t>Abdoulahi Top</a:t>
            </a:r>
            <a:endParaRPr lang="fr-FR" altLang="en-US" sz="3200" dirty="0">
              <a:solidFill>
                <a:srgbClr val="D6E5EF"/>
              </a:solidFill>
              <a:latin typeface="Lora" pitchFamily="34" charset="0"/>
              <a:ea typeface="Lora" pitchFamily="34" charset="-122"/>
              <a:cs typeface="Lora" pitchFamily="34" charset="-120"/>
            </a:endParaRPr>
          </a:p>
          <a:p>
            <a:pPr marL="0" indent="0" algn="l">
              <a:lnSpc>
                <a:spcPct val="150000"/>
              </a:lnSpc>
              <a:buNone/>
            </a:pPr>
            <a:r>
              <a:rPr lang="fr-FR" altLang="en-US" sz="3200" dirty="0">
                <a:solidFill>
                  <a:srgbClr val="D6E5EF"/>
                </a:solidFill>
                <a:latin typeface="Lora" pitchFamily="34" charset="0"/>
                <a:ea typeface="Lora" pitchFamily="34" charset="-122"/>
                <a:cs typeface="Lora" pitchFamily="34" charset="-120"/>
              </a:rPr>
              <a:t>Mouhamed Samb</a:t>
            </a:r>
            <a:endParaRPr lang="fr-FR" altLang="en-US" sz="3200" dirty="0">
              <a:solidFill>
                <a:srgbClr val="D6E5EF"/>
              </a:solidFill>
              <a:latin typeface="Lora" pitchFamily="34" charset="0"/>
              <a:ea typeface="Lora" pitchFamily="34" charset="-122"/>
              <a:cs typeface="Lora" pitchFamily="34" charset="-120"/>
            </a:endParaRPr>
          </a:p>
          <a:p>
            <a:pPr marL="0" indent="0" algn="l">
              <a:lnSpc>
                <a:spcPct val="150000"/>
              </a:lnSpc>
              <a:buNone/>
            </a:pPr>
            <a:r>
              <a:rPr lang="fr-FR" altLang="en-US" sz="3200" dirty="0">
                <a:solidFill>
                  <a:srgbClr val="D6E5EF"/>
                </a:solidFill>
                <a:latin typeface="Lora" pitchFamily="34" charset="0"/>
                <a:ea typeface="Lora" pitchFamily="34" charset="-122"/>
                <a:cs typeface="Lora" pitchFamily="34" charset="-120"/>
              </a:rPr>
              <a:t>Papa Gaydel Gaye</a:t>
            </a:r>
            <a:endParaRPr lang="fr-FR" altLang="en-US" sz="3200" dirty="0">
              <a:solidFill>
                <a:srgbClr val="D6E5EF"/>
              </a:solidFill>
              <a:latin typeface="Lora" pitchFamily="34" charset="0"/>
              <a:ea typeface="Lora" pitchFamily="34" charset="-122"/>
              <a:cs typeface="Lora" pitchFamily="34" charset="-120"/>
            </a:endParaRPr>
          </a:p>
          <a:p>
            <a:pPr marL="0" indent="0" algn="l">
              <a:lnSpc>
                <a:spcPct val="150000"/>
              </a:lnSpc>
              <a:buNone/>
            </a:pPr>
            <a:r>
              <a:rPr lang="fr-FR" altLang="en-US" sz="3200" dirty="0">
                <a:solidFill>
                  <a:srgbClr val="D6E5EF"/>
                </a:solidFill>
                <a:latin typeface="Lora" pitchFamily="34" charset="0"/>
                <a:ea typeface="Lora" pitchFamily="34" charset="-122"/>
                <a:cs typeface="Lora" pitchFamily="34" charset="-120"/>
              </a:rPr>
              <a:t>Henry Moustapha Ngom</a:t>
            </a:r>
            <a:endParaRPr lang="fr-FR" altLang="en-US" sz="3200" dirty="0">
              <a:solidFill>
                <a:srgbClr val="D6E5EF"/>
              </a:solidFill>
              <a:latin typeface="Lora" pitchFamily="34" charset="0"/>
              <a:ea typeface="Lora" pitchFamily="34" charset="-122"/>
              <a:cs typeface="Lora" pitchFamily="34" charset="-120"/>
            </a:endParaRPr>
          </a:p>
          <a:p>
            <a:pPr marL="0" indent="0" algn="l">
              <a:lnSpc>
                <a:spcPts val="2750"/>
              </a:lnSpc>
              <a:buNone/>
            </a:pPr>
            <a:endParaRPr lang="fr-FR" altLang="en-US" sz="3200" dirty="0">
              <a:solidFill>
                <a:srgbClr val="D6E5EF"/>
              </a:solidFill>
              <a:latin typeface="Lora" pitchFamily="34" charset="0"/>
              <a:ea typeface="Lora" pitchFamily="34" charset="-122"/>
              <a:cs typeface="Lora" pitchFamily="34" charset="-120"/>
            </a:endParaRPr>
          </a:p>
        </p:txBody>
      </p:sp>
      <p:cxnSp>
        <p:nvCxnSpPr>
          <p:cNvPr id="4" name="Connecteur droit 3"/>
          <p:cNvCxnSpPr/>
          <p:nvPr/>
        </p:nvCxnSpPr>
        <p:spPr>
          <a:xfrm>
            <a:off x="2116455" y="2898140"/>
            <a:ext cx="10125075" cy="0"/>
          </a:xfrm>
          <a:prstGeom prst="line">
            <a:avLst/>
          </a:prstGeom>
          <a:ln w="31750" cap="rnd">
            <a:solidFill>
              <a:srgbClr val="D6E5EF"/>
            </a:solidFill>
            <a:round/>
          </a:ln>
        </p:spPr>
        <p:style>
          <a:lnRef idx="0">
            <a:srgbClr val="FFFFFF"/>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peelOff"/>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24124" y="2273737"/>
            <a:ext cx="7468553" cy="1408033"/>
          </a:xfrm>
          <a:prstGeom prst="rect">
            <a:avLst/>
          </a:prstGeom>
          <a:noFill/>
        </p:spPr>
        <p:txBody>
          <a:bodyPr wrap="squar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Sadio Man</a:t>
            </a:r>
            <a:r>
              <a:rPr lang="fr-FR" altLang="en-US" sz="4400" dirty="0">
                <a:solidFill>
                  <a:srgbClr val="F98AC7"/>
                </a:solidFill>
                <a:latin typeface="Lora" pitchFamily="34" charset="0"/>
                <a:ea typeface="Lora" pitchFamily="34" charset="-122"/>
                <a:cs typeface="Lora" pitchFamily="34" charset="-120"/>
              </a:rPr>
              <a:t>e</a:t>
            </a:r>
            <a:r>
              <a:rPr lang="en-US" sz="4400" dirty="0">
                <a:solidFill>
                  <a:srgbClr val="F98AC7"/>
                </a:solidFill>
                <a:latin typeface="Lora" pitchFamily="34" charset="0"/>
                <a:ea typeface="Lora" pitchFamily="34" charset="-122"/>
                <a:cs typeface="Lora" pitchFamily="34" charset="-120"/>
              </a:rPr>
              <a:t>: From Bambali to Global Icon</a:t>
            </a:r>
            <a:endParaRPr lang="en-US" sz="4400" dirty="0"/>
          </a:p>
        </p:txBody>
      </p:sp>
      <p:sp>
        <p:nvSpPr>
          <p:cNvPr id="4" name="Text 1"/>
          <p:cNvSpPr/>
          <p:nvPr/>
        </p:nvSpPr>
        <p:spPr>
          <a:xfrm>
            <a:off x="6324124" y="4040743"/>
            <a:ext cx="7468553" cy="1915120"/>
          </a:xfrm>
          <a:prstGeom prst="rect">
            <a:avLst/>
          </a:prstGeom>
          <a:noFill/>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The story of Sadio Man</a:t>
            </a:r>
            <a:r>
              <a:rPr lang="fr-FR" altLang="en-US" sz="1850" dirty="0">
                <a:solidFill>
                  <a:srgbClr val="D6E5EF"/>
                </a:solidFill>
                <a:latin typeface="Source Sans Pro" pitchFamily="34" charset="0"/>
                <a:ea typeface="Source Sans Pro" pitchFamily="34" charset="-122"/>
                <a:cs typeface="Source Sans Pro" pitchFamily="34" charset="-120"/>
              </a:rPr>
              <a:t>e</a:t>
            </a:r>
            <a:r>
              <a:rPr lang="en-US" sz="1850" dirty="0">
                <a:solidFill>
                  <a:srgbClr val="D6E5EF"/>
                </a:solidFill>
                <a:latin typeface="Source Sans Pro" pitchFamily="34" charset="0"/>
                <a:ea typeface="Source Sans Pro" pitchFamily="34" charset="-122"/>
                <a:cs typeface="Source Sans Pro" pitchFamily="34" charset="-120"/>
              </a:rPr>
              <a:t> is an epic of talent, perseverance, and generosity. From a remote village in Senegal, he conquered Europe's stadiums. He inspired a generation through exceptional talent. He showed unwavering commitment to his community. His journey illustrates how passion and hard work can transform dreams.</a:t>
            </a:r>
            <a:endParaRPr lang="en-US" sz="1850" dirty="0"/>
          </a:p>
        </p:txBody>
      </p:sp>
      <p:sp>
        <p:nvSpPr>
          <p:cNvPr id="26" name="Rectangle 25"/>
          <p:cNvSpPr/>
          <p:nvPr/>
        </p:nvSpPr>
        <p:spPr>
          <a:xfrm>
            <a:off x="12755880" y="7562850"/>
            <a:ext cx="1874520" cy="671195"/>
          </a:xfrm>
          <a:prstGeom prst="rect">
            <a:avLst/>
          </a:prstGeom>
          <a:solidFill>
            <a:srgbClr val="25283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CA" altLang="en-US"/>
          </a:p>
        </p:txBody>
      </p:sp>
    </p:spTree>
  </p:cSld>
  <p:clrMapOvr>
    <a:masterClrMapping/>
  </p:clrMapOvr>
  <mc:AlternateContent xmlns:mc="http://schemas.openxmlformats.org/markup-compatibility/2006">
    <mc:Choice xmlns:p14="http://schemas.microsoft.com/office/powerpoint/2010/main" Requires="p14">
      <p:transition spd="slow" p14:dur="2000">
        <p:split orient="vert" dir="in"/>
      </p:transition>
    </mc:Choice>
    <mc:Fallback>
      <p:transition spd="slow">
        <p:split orient="vert" dir="in"/>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24124" y="1580793"/>
            <a:ext cx="7468553" cy="1408033"/>
          </a:xfrm>
          <a:prstGeom prst="rect">
            <a:avLst/>
          </a:prstGeom>
          <a:noFill/>
        </p:spPr>
        <p:txBody>
          <a:bodyPr wrap="squar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Youth and Dreams Forged in Senegal</a:t>
            </a:r>
            <a:endParaRPr lang="en-US" sz="4400" dirty="0"/>
          </a:p>
        </p:txBody>
      </p:sp>
      <p:sp>
        <p:nvSpPr>
          <p:cNvPr id="4" name="Shape 1"/>
          <p:cNvSpPr/>
          <p:nvPr/>
        </p:nvSpPr>
        <p:spPr>
          <a:xfrm>
            <a:off x="6324124" y="3617000"/>
            <a:ext cx="538520" cy="538520"/>
          </a:xfrm>
          <a:prstGeom prst="roundRect">
            <a:avLst>
              <a:gd name="adj" fmla="val 6668"/>
            </a:avLst>
          </a:prstGeom>
          <a:solidFill>
            <a:srgbClr val="444752"/>
          </a:solidFill>
        </p:spPr>
      </p:sp>
      <p:sp>
        <p:nvSpPr>
          <p:cNvPr id="5" name="Text 2"/>
          <p:cNvSpPr/>
          <p:nvPr/>
        </p:nvSpPr>
        <p:spPr>
          <a:xfrm>
            <a:off x="7101959" y="3617000"/>
            <a:ext cx="2816185" cy="351949"/>
          </a:xfrm>
          <a:prstGeom prst="rect">
            <a:avLst/>
          </a:prstGeom>
          <a:noFill/>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Humble Beginnings</a:t>
            </a:r>
            <a:endParaRPr lang="en-US" sz="2200" dirty="0"/>
          </a:p>
        </p:txBody>
      </p:sp>
      <p:sp>
        <p:nvSpPr>
          <p:cNvPr id="6" name="Text 3"/>
          <p:cNvSpPr/>
          <p:nvPr/>
        </p:nvSpPr>
        <p:spPr>
          <a:xfrm>
            <a:off x="7101840" y="4112260"/>
            <a:ext cx="3027045" cy="1149350"/>
          </a:xfrm>
          <a:prstGeom prst="rect">
            <a:avLst/>
          </a:prstGeom>
          <a:noFill/>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Born in Bambali, Senegal, Man</a:t>
            </a:r>
            <a:r>
              <a:rPr lang="fr-FR" altLang="en-US" sz="1850" dirty="0">
                <a:solidFill>
                  <a:srgbClr val="D6E5EF"/>
                </a:solidFill>
                <a:latin typeface="Source Sans Pro" pitchFamily="34" charset="0"/>
                <a:ea typeface="Source Sans Pro" pitchFamily="34" charset="-122"/>
                <a:cs typeface="Source Sans Pro" pitchFamily="34" charset="-120"/>
              </a:rPr>
              <a:t>e</a:t>
            </a:r>
            <a:r>
              <a:rPr lang="en-US" sz="1850" dirty="0">
                <a:solidFill>
                  <a:srgbClr val="D6E5EF"/>
                </a:solidFill>
                <a:latin typeface="Source Sans Pro" pitchFamily="34" charset="0"/>
                <a:ea typeface="Source Sans Pro" pitchFamily="34" charset="-122"/>
                <a:cs typeface="Source Sans Pro" pitchFamily="34" charset="-120"/>
              </a:rPr>
              <a:t> grew up in a religious household.</a:t>
            </a:r>
            <a:endParaRPr lang="en-US" sz="1850" dirty="0"/>
          </a:p>
        </p:txBody>
      </p:sp>
      <p:sp>
        <p:nvSpPr>
          <p:cNvPr id="7" name="Shape 4"/>
          <p:cNvSpPr/>
          <p:nvPr/>
        </p:nvSpPr>
        <p:spPr>
          <a:xfrm>
            <a:off x="10178058" y="3617000"/>
            <a:ext cx="538520" cy="538520"/>
          </a:xfrm>
          <a:prstGeom prst="roundRect">
            <a:avLst>
              <a:gd name="adj" fmla="val 6668"/>
            </a:avLst>
          </a:prstGeom>
          <a:solidFill>
            <a:srgbClr val="444752"/>
          </a:solidFill>
        </p:spPr>
      </p:sp>
      <p:sp>
        <p:nvSpPr>
          <p:cNvPr id="8" name="Text 5"/>
          <p:cNvSpPr/>
          <p:nvPr/>
        </p:nvSpPr>
        <p:spPr>
          <a:xfrm>
            <a:off x="10955893" y="3617000"/>
            <a:ext cx="2816185" cy="351949"/>
          </a:xfrm>
          <a:prstGeom prst="rect">
            <a:avLst/>
          </a:prstGeom>
          <a:noFill/>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Passion for Football</a:t>
            </a:r>
            <a:endParaRPr lang="en-US" sz="2200" dirty="0"/>
          </a:p>
        </p:txBody>
      </p:sp>
      <p:sp>
        <p:nvSpPr>
          <p:cNvPr id="9" name="Text 6"/>
          <p:cNvSpPr/>
          <p:nvPr/>
        </p:nvSpPr>
        <p:spPr>
          <a:xfrm>
            <a:off x="10955893" y="4112538"/>
            <a:ext cx="2836783" cy="1149072"/>
          </a:xfrm>
          <a:prstGeom prst="rect">
            <a:avLst/>
          </a:prstGeom>
          <a:noFill/>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His love for the game started from a young age, playing barefoot.</a:t>
            </a:r>
            <a:endParaRPr lang="en-US" sz="1850" dirty="0"/>
          </a:p>
        </p:txBody>
      </p:sp>
      <p:sp>
        <p:nvSpPr>
          <p:cNvPr id="10" name="Shape 7"/>
          <p:cNvSpPr/>
          <p:nvPr/>
        </p:nvSpPr>
        <p:spPr>
          <a:xfrm>
            <a:off x="6324124" y="5770126"/>
            <a:ext cx="538520" cy="538520"/>
          </a:xfrm>
          <a:prstGeom prst="roundRect">
            <a:avLst>
              <a:gd name="adj" fmla="val 6668"/>
            </a:avLst>
          </a:prstGeom>
          <a:solidFill>
            <a:srgbClr val="444752"/>
          </a:solidFill>
        </p:spPr>
      </p:sp>
      <p:sp>
        <p:nvSpPr>
          <p:cNvPr id="11" name="Text 8"/>
          <p:cNvSpPr/>
          <p:nvPr/>
        </p:nvSpPr>
        <p:spPr>
          <a:xfrm>
            <a:off x="7101959" y="5770126"/>
            <a:ext cx="2816185" cy="351949"/>
          </a:xfrm>
          <a:prstGeom prst="rect">
            <a:avLst/>
          </a:prstGeom>
          <a:noFill/>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Leaving for Dakar</a:t>
            </a:r>
            <a:endParaRPr lang="en-US" sz="2200" dirty="0"/>
          </a:p>
        </p:txBody>
      </p:sp>
      <p:sp>
        <p:nvSpPr>
          <p:cNvPr id="12" name="Text 9"/>
          <p:cNvSpPr/>
          <p:nvPr/>
        </p:nvSpPr>
        <p:spPr>
          <a:xfrm>
            <a:off x="7101959" y="6265664"/>
            <a:ext cx="6690717" cy="383024"/>
          </a:xfrm>
          <a:prstGeom prst="rect">
            <a:avLst/>
          </a:prstGeom>
          <a:noFill/>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At 15, he left his village for Dakar to pursue his dream.</a:t>
            </a:r>
            <a:endParaRPr lang="en-US" sz="1850" dirty="0"/>
          </a:p>
        </p:txBody>
      </p:sp>
      <p:sp>
        <p:nvSpPr>
          <p:cNvPr id="26" name="Rectangle 25"/>
          <p:cNvSpPr/>
          <p:nvPr/>
        </p:nvSpPr>
        <p:spPr>
          <a:xfrm>
            <a:off x="12755880" y="7558405"/>
            <a:ext cx="1874520" cy="671195"/>
          </a:xfrm>
          <a:prstGeom prst="rect">
            <a:avLst/>
          </a:prstGeom>
          <a:solidFill>
            <a:srgbClr val="25283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CA"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37724" y="2159675"/>
            <a:ext cx="9836825" cy="704017"/>
          </a:xfrm>
          <a:prstGeom prst="rect">
            <a:avLst/>
          </a:prstGeom>
          <a:noFill/>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Beginning of the European Adventure</a:t>
            </a:r>
            <a:endParaRPr lang="en-US" sz="4400" dirty="0"/>
          </a:p>
        </p:txBody>
      </p:sp>
      <p:sp>
        <p:nvSpPr>
          <p:cNvPr id="3" name="Text 1"/>
          <p:cNvSpPr/>
          <p:nvPr/>
        </p:nvSpPr>
        <p:spPr>
          <a:xfrm>
            <a:off x="837724" y="3461980"/>
            <a:ext cx="2816185" cy="351949"/>
          </a:xfrm>
          <a:prstGeom prst="rect">
            <a:avLst/>
          </a:prstGeom>
          <a:noFill/>
        </p:spPr>
        <p:txBody>
          <a:bodyPr wrap="none" lIns="0" tIns="0" rIns="0" bIns="0" rtlCol="0" anchor="t"/>
          <a:lstStyle/>
          <a:p>
            <a:pPr marL="0" indent="0" algn="l">
              <a:lnSpc>
                <a:spcPts val="2750"/>
              </a:lnSpc>
              <a:buNone/>
            </a:pPr>
            <a:r>
              <a:rPr lang="en-US" sz="2200" dirty="0">
                <a:solidFill>
                  <a:srgbClr val="F98AC7"/>
                </a:solidFill>
                <a:latin typeface="Lora" pitchFamily="34" charset="0"/>
                <a:ea typeface="Lora" pitchFamily="34" charset="-122"/>
                <a:cs typeface="Lora" pitchFamily="34" charset="-120"/>
              </a:rPr>
              <a:t>FC Metz</a:t>
            </a:r>
            <a:endParaRPr lang="en-US" sz="2200" dirty="0"/>
          </a:p>
        </p:txBody>
      </p:sp>
      <p:sp>
        <p:nvSpPr>
          <p:cNvPr id="4" name="Text 2"/>
          <p:cNvSpPr/>
          <p:nvPr/>
        </p:nvSpPr>
        <p:spPr>
          <a:xfrm>
            <a:off x="837724" y="4053245"/>
            <a:ext cx="6185535" cy="766048"/>
          </a:xfrm>
          <a:prstGeom prst="rect">
            <a:avLst/>
          </a:prstGeom>
          <a:noFill/>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In 2011, Man</a:t>
            </a:r>
            <a:r>
              <a:rPr lang="fr-FR" altLang="en-US" sz="1850" dirty="0">
                <a:solidFill>
                  <a:srgbClr val="D6E5EF"/>
                </a:solidFill>
                <a:latin typeface="Source Sans Pro" pitchFamily="34" charset="0"/>
                <a:ea typeface="Source Sans Pro" pitchFamily="34" charset="-122"/>
                <a:cs typeface="Source Sans Pro" pitchFamily="34" charset="-120"/>
              </a:rPr>
              <a:t>e</a:t>
            </a:r>
            <a:r>
              <a:rPr lang="en-US" sz="1850" dirty="0">
                <a:solidFill>
                  <a:srgbClr val="D6E5EF"/>
                </a:solidFill>
                <a:latin typeface="Source Sans Pro" pitchFamily="34" charset="0"/>
                <a:ea typeface="Source Sans Pro" pitchFamily="34" charset="-122"/>
                <a:cs typeface="Source Sans Pro" pitchFamily="34" charset="-120"/>
              </a:rPr>
              <a:t> joined FC Metz in France. This marked his start in European football.</a:t>
            </a:r>
            <a:endParaRPr lang="en-US" sz="1850" dirty="0"/>
          </a:p>
        </p:txBody>
      </p:sp>
      <p:sp>
        <p:nvSpPr>
          <p:cNvPr id="5" name="Text 3"/>
          <p:cNvSpPr/>
          <p:nvPr/>
        </p:nvSpPr>
        <p:spPr>
          <a:xfrm>
            <a:off x="7614761" y="3461980"/>
            <a:ext cx="2816185" cy="351949"/>
          </a:xfrm>
          <a:prstGeom prst="rect">
            <a:avLst/>
          </a:prstGeom>
          <a:noFill/>
        </p:spPr>
        <p:txBody>
          <a:bodyPr wrap="none" lIns="0" tIns="0" rIns="0" bIns="0" rtlCol="0" anchor="t"/>
          <a:lstStyle/>
          <a:p>
            <a:pPr marL="0" indent="0" algn="l">
              <a:lnSpc>
                <a:spcPts val="2750"/>
              </a:lnSpc>
              <a:buNone/>
            </a:pPr>
            <a:r>
              <a:rPr lang="en-US" sz="2200" dirty="0">
                <a:solidFill>
                  <a:srgbClr val="F98AC7"/>
                </a:solidFill>
                <a:latin typeface="Lora" pitchFamily="34" charset="0"/>
                <a:ea typeface="Lora" pitchFamily="34" charset="-122"/>
                <a:cs typeface="Lora" pitchFamily="34" charset="-120"/>
              </a:rPr>
              <a:t>Red Bull Salzburg</a:t>
            </a:r>
            <a:endParaRPr lang="en-US" sz="2200" dirty="0"/>
          </a:p>
        </p:txBody>
      </p:sp>
      <p:sp>
        <p:nvSpPr>
          <p:cNvPr id="6" name="Text 4"/>
          <p:cNvSpPr/>
          <p:nvPr/>
        </p:nvSpPr>
        <p:spPr>
          <a:xfrm>
            <a:off x="7614761" y="4053245"/>
            <a:ext cx="6185535" cy="766048"/>
          </a:xfrm>
          <a:prstGeom prst="rect">
            <a:avLst/>
          </a:prstGeom>
          <a:noFill/>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In 2012, he transferred to Red Bull Salzburg. Here, his potential truly exploded.</a:t>
            </a:r>
            <a:endParaRPr lang="en-US" sz="1850" dirty="0"/>
          </a:p>
        </p:txBody>
      </p:sp>
      <p:sp>
        <p:nvSpPr>
          <p:cNvPr id="7" name="Text 5"/>
          <p:cNvSpPr/>
          <p:nvPr/>
        </p:nvSpPr>
        <p:spPr>
          <a:xfrm>
            <a:off x="837724" y="5303877"/>
            <a:ext cx="12954952" cy="766048"/>
          </a:xfrm>
          <a:prstGeom prst="rect">
            <a:avLst/>
          </a:prstGeom>
          <a:noFill/>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Despite challenges at Metz, his talent shone. At Salzburg, he became a key player. He contributed to a historic double, winning the league and cup.</a:t>
            </a:r>
            <a:endParaRPr lang="en-US" sz="1850" dirty="0"/>
          </a:p>
        </p:txBody>
      </p:sp>
      <p:sp>
        <p:nvSpPr>
          <p:cNvPr id="26" name="Rectangle 25"/>
          <p:cNvSpPr/>
          <p:nvPr/>
        </p:nvSpPr>
        <p:spPr>
          <a:xfrm>
            <a:off x="12755880" y="7558405"/>
            <a:ext cx="1874520" cy="671195"/>
          </a:xfrm>
          <a:prstGeom prst="rect">
            <a:avLst/>
          </a:prstGeom>
          <a:solidFill>
            <a:srgbClr val="25283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CA"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peelOff"/>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24124" y="843796"/>
            <a:ext cx="7468553" cy="1408033"/>
          </a:xfrm>
          <a:prstGeom prst="rect">
            <a:avLst/>
          </a:prstGeom>
          <a:noFill/>
        </p:spPr>
        <p:txBody>
          <a:bodyPr wrap="squar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Breakthrough in the Premier League</a:t>
            </a:r>
            <a:endParaRPr lang="en-US" sz="4400" dirty="0"/>
          </a:p>
        </p:txBody>
      </p:sp>
      <p:sp>
        <p:nvSpPr>
          <p:cNvPr id="5" name="Text 1"/>
          <p:cNvSpPr/>
          <p:nvPr/>
        </p:nvSpPr>
        <p:spPr>
          <a:xfrm>
            <a:off x="7161848" y="2610803"/>
            <a:ext cx="2816185" cy="351949"/>
          </a:xfrm>
          <a:prstGeom prst="rect">
            <a:avLst/>
          </a:prstGeom>
          <a:noFill/>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Blistering Speed</a:t>
            </a:r>
            <a:endParaRPr lang="en-US" sz="2200" dirty="0"/>
          </a:p>
        </p:txBody>
      </p:sp>
      <p:pic>
        <p:nvPicPr>
          <p:cNvPr id="6" name="Image 2" descr="preencoded.png"/>
          <p:cNvPicPr>
            <a:picLocks noChangeAspect="1"/>
          </p:cNvPicPr>
          <p:nvPr/>
        </p:nvPicPr>
        <p:blipFill>
          <a:blip r:embed="rId2"/>
          <a:stretch>
            <a:fillRect/>
          </a:stretch>
        </p:blipFill>
        <p:spPr>
          <a:xfrm>
            <a:off x="6324124" y="4010858"/>
            <a:ext cx="598408" cy="598408"/>
          </a:xfrm>
          <a:prstGeom prst="rect">
            <a:avLst/>
          </a:prstGeom>
        </p:spPr>
      </p:pic>
      <p:sp>
        <p:nvSpPr>
          <p:cNvPr id="7" name="Text 2"/>
          <p:cNvSpPr/>
          <p:nvPr/>
        </p:nvSpPr>
        <p:spPr>
          <a:xfrm>
            <a:off x="7161848" y="3969067"/>
            <a:ext cx="2816185" cy="351949"/>
          </a:xfrm>
          <a:prstGeom prst="rect">
            <a:avLst/>
          </a:prstGeom>
          <a:noFill/>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Dazzling Dribbling</a:t>
            </a:r>
            <a:endParaRPr lang="en-US" sz="2200" dirty="0"/>
          </a:p>
        </p:txBody>
      </p:sp>
      <p:pic>
        <p:nvPicPr>
          <p:cNvPr id="8" name="Image 3" descr="preencoded.png"/>
          <p:cNvPicPr>
            <a:picLocks noChangeAspect="1"/>
          </p:cNvPicPr>
          <p:nvPr/>
        </p:nvPicPr>
        <p:blipFill>
          <a:blip r:embed="rId3"/>
          <a:stretch>
            <a:fillRect/>
          </a:stretch>
        </p:blipFill>
        <p:spPr>
          <a:xfrm>
            <a:off x="6324124" y="5369123"/>
            <a:ext cx="598408" cy="598408"/>
          </a:xfrm>
          <a:prstGeom prst="rect">
            <a:avLst/>
          </a:prstGeom>
        </p:spPr>
      </p:pic>
      <p:sp>
        <p:nvSpPr>
          <p:cNvPr id="9" name="Text 3"/>
          <p:cNvSpPr/>
          <p:nvPr/>
        </p:nvSpPr>
        <p:spPr>
          <a:xfrm>
            <a:off x="7161848" y="5327332"/>
            <a:ext cx="2816185" cy="351949"/>
          </a:xfrm>
          <a:prstGeom prst="rect">
            <a:avLst/>
          </a:prstGeom>
          <a:noFill/>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Crucial Goals</a:t>
            </a:r>
            <a:endParaRPr lang="en-US" sz="2200" dirty="0"/>
          </a:p>
        </p:txBody>
      </p:sp>
      <p:sp>
        <p:nvSpPr>
          <p:cNvPr id="10" name="Text 4"/>
          <p:cNvSpPr/>
          <p:nvPr/>
        </p:nvSpPr>
        <p:spPr>
          <a:xfrm>
            <a:off x="6324124" y="6236732"/>
            <a:ext cx="7468553" cy="1149072"/>
          </a:xfrm>
          <a:prstGeom prst="rect">
            <a:avLst/>
          </a:prstGeom>
          <a:noFill/>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Man</a:t>
            </a:r>
            <a:r>
              <a:rPr lang="fr-FR" altLang="en-US" sz="1850" dirty="0">
                <a:solidFill>
                  <a:srgbClr val="D6E5EF"/>
                </a:solidFill>
                <a:latin typeface="Source Sans Pro" pitchFamily="34" charset="0"/>
                <a:ea typeface="Source Sans Pro" pitchFamily="34" charset="-122"/>
                <a:cs typeface="Source Sans Pro" pitchFamily="34" charset="-120"/>
              </a:rPr>
              <a:t>e</a:t>
            </a:r>
            <a:r>
              <a:rPr lang="en-US" sz="1850" dirty="0">
                <a:solidFill>
                  <a:srgbClr val="D6E5EF"/>
                </a:solidFill>
                <a:latin typeface="Source Sans Pro" pitchFamily="34" charset="0"/>
                <a:ea typeface="Source Sans Pro" pitchFamily="34" charset="-122"/>
                <a:cs typeface="Source Sans Pro" pitchFamily="34" charset="-120"/>
              </a:rPr>
              <a:t> joined Southampton in 2014. His impact was immediate. He set a Premier League record with a hat-trick in 2 minutes and 56 seconds. He became one of the league's most exciting players.</a:t>
            </a:r>
            <a:endParaRPr lang="en-US" sz="1850" dirty="0"/>
          </a:p>
        </p:txBody>
      </p:sp>
      <p:pic>
        <p:nvPicPr>
          <p:cNvPr id="11" name="Image 1" descr="preencoded.png"/>
          <p:cNvPicPr>
            <a:picLocks noChangeAspect="1"/>
          </p:cNvPicPr>
          <p:nvPr/>
        </p:nvPicPr>
        <p:blipFill>
          <a:blip r:embed="rId4"/>
          <a:stretch>
            <a:fillRect/>
          </a:stretch>
        </p:blipFill>
        <p:spPr>
          <a:xfrm>
            <a:off x="6324124" y="2652593"/>
            <a:ext cx="598408" cy="598408"/>
          </a:xfrm>
          <a:prstGeom prst="rect">
            <a:avLst/>
          </a:prstGeom>
        </p:spPr>
      </p:pic>
      <p:sp>
        <p:nvSpPr>
          <p:cNvPr id="26" name="Rectangle 25"/>
          <p:cNvSpPr/>
          <p:nvPr/>
        </p:nvSpPr>
        <p:spPr>
          <a:xfrm>
            <a:off x="12755880" y="7558405"/>
            <a:ext cx="1874520" cy="671195"/>
          </a:xfrm>
          <a:prstGeom prst="rect">
            <a:avLst/>
          </a:prstGeom>
          <a:solidFill>
            <a:srgbClr val="25283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CA"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pageCurlDoubl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37724" y="1428869"/>
            <a:ext cx="5632490" cy="704017"/>
          </a:xfrm>
          <a:prstGeom prst="rect">
            <a:avLst/>
          </a:prstGeom>
          <a:noFill/>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Legend of Anfield</a:t>
            </a:r>
            <a:endParaRPr lang="en-US" sz="4400" dirty="0"/>
          </a:p>
        </p:txBody>
      </p:sp>
      <p:pic>
        <p:nvPicPr>
          <p:cNvPr id="4" name="Image 1" descr="preencoded.png"/>
          <p:cNvPicPr>
            <a:picLocks noChangeAspect="1"/>
          </p:cNvPicPr>
          <p:nvPr/>
        </p:nvPicPr>
        <p:blipFill>
          <a:blip r:embed="rId2"/>
          <a:stretch>
            <a:fillRect/>
          </a:stretch>
        </p:blipFill>
        <p:spPr>
          <a:xfrm>
            <a:off x="837724" y="2491859"/>
            <a:ext cx="1196816" cy="1436251"/>
          </a:xfrm>
          <a:prstGeom prst="rect">
            <a:avLst/>
          </a:prstGeom>
        </p:spPr>
      </p:pic>
      <p:sp>
        <p:nvSpPr>
          <p:cNvPr id="5" name="Text 1"/>
          <p:cNvSpPr/>
          <p:nvPr/>
        </p:nvSpPr>
        <p:spPr>
          <a:xfrm>
            <a:off x="2393513" y="2731175"/>
            <a:ext cx="2816185" cy="351949"/>
          </a:xfrm>
          <a:prstGeom prst="rect">
            <a:avLst/>
          </a:prstGeom>
          <a:noFill/>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Formidable Trio</a:t>
            </a:r>
            <a:endParaRPr lang="en-US" sz="2200" dirty="0"/>
          </a:p>
        </p:txBody>
      </p:sp>
      <p:sp>
        <p:nvSpPr>
          <p:cNvPr id="6" name="Text 2"/>
          <p:cNvSpPr/>
          <p:nvPr/>
        </p:nvSpPr>
        <p:spPr>
          <a:xfrm>
            <a:off x="2393513" y="3226713"/>
            <a:ext cx="5912763" cy="383024"/>
          </a:xfrm>
          <a:prstGeom prst="rect">
            <a:avLst/>
          </a:prstGeom>
          <a:noFill/>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Formed with Salah and Firmino, named the "Fab Three".</a:t>
            </a:r>
            <a:endParaRPr lang="en-US" sz="1850" dirty="0"/>
          </a:p>
        </p:txBody>
      </p:sp>
      <p:pic>
        <p:nvPicPr>
          <p:cNvPr id="7" name="Image 2" descr="preencoded.png"/>
          <p:cNvPicPr>
            <a:picLocks noChangeAspect="1"/>
          </p:cNvPicPr>
          <p:nvPr/>
        </p:nvPicPr>
        <p:blipFill>
          <a:blip r:embed="rId3"/>
          <a:stretch>
            <a:fillRect/>
          </a:stretch>
        </p:blipFill>
        <p:spPr>
          <a:xfrm>
            <a:off x="837724" y="3928110"/>
            <a:ext cx="1196816" cy="1436251"/>
          </a:xfrm>
          <a:prstGeom prst="rect">
            <a:avLst/>
          </a:prstGeom>
        </p:spPr>
      </p:pic>
      <p:sp>
        <p:nvSpPr>
          <p:cNvPr id="8" name="Text 3"/>
          <p:cNvSpPr/>
          <p:nvPr/>
        </p:nvSpPr>
        <p:spPr>
          <a:xfrm>
            <a:off x="2393513" y="4167426"/>
            <a:ext cx="2816185" cy="351949"/>
          </a:xfrm>
          <a:prstGeom prst="rect">
            <a:avLst/>
          </a:prstGeom>
          <a:noFill/>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Premier League Title</a:t>
            </a:r>
            <a:endParaRPr lang="en-US" sz="2200" dirty="0"/>
          </a:p>
        </p:txBody>
      </p:sp>
      <p:sp>
        <p:nvSpPr>
          <p:cNvPr id="9" name="Text 4"/>
          <p:cNvSpPr/>
          <p:nvPr/>
        </p:nvSpPr>
        <p:spPr>
          <a:xfrm>
            <a:off x="2393513" y="4662964"/>
            <a:ext cx="5912763" cy="383024"/>
          </a:xfrm>
          <a:prstGeom prst="rect">
            <a:avLst/>
          </a:prstGeom>
          <a:noFill/>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Won in 2019-2020, ending a 30-year wait.</a:t>
            </a:r>
            <a:endParaRPr lang="en-US" sz="1850" dirty="0"/>
          </a:p>
        </p:txBody>
      </p:sp>
      <p:pic>
        <p:nvPicPr>
          <p:cNvPr id="10" name="Image 3" descr="preencoded.png"/>
          <p:cNvPicPr>
            <a:picLocks noChangeAspect="1"/>
          </p:cNvPicPr>
          <p:nvPr/>
        </p:nvPicPr>
        <p:blipFill>
          <a:blip r:embed="rId4"/>
          <a:stretch>
            <a:fillRect/>
          </a:stretch>
        </p:blipFill>
        <p:spPr>
          <a:xfrm>
            <a:off x="837724" y="5364361"/>
            <a:ext cx="1196816" cy="1436251"/>
          </a:xfrm>
          <a:prstGeom prst="rect">
            <a:avLst/>
          </a:prstGeom>
        </p:spPr>
      </p:pic>
      <p:sp>
        <p:nvSpPr>
          <p:cNvPr id="11" name="Text 5"/>
          <p:cNvSpPr/>
          <p:nvPr/>
        </p:nvSpPr>
        <p:spPr>
          <a:xfrm>
            <a:off x="2393513" y="5603677"/>
            <a:ext cx="3515201" cy="351949"/>
          </a:xfrm>
          <a:prstGeom prst="rect">
            <a:avLst/>
          </a:prstGeom>
          <a:noFill/>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Champions League Victory</a:t>
            </a:r>
            <a:endParaRPr lang="en-US" sz="2200" dirty="0"/>
          </a:p>
        </p:txBody>
      </p:sp>
      <p:sp>
        <p:nvSpPr>
          <p:cNvPr id="12" name="Text 6"/>
          <p:cNvSpPr/>
          <p:nvPr/>
        </p:nvSpPr>
        <p:spPr>
          <a:xfrm>
            <a:off x="2393513" y="6099215"/>
            <a:ext cx="5912763" cy="383024"/>
          </a:xfrm>
          <a:prstGeom prst="rect">
            <a:avLst/>
          </a:prstGeom>
          <a:noFill/>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Won in 2019 against Tottenham.</a:t>
            </a:r>
            <a:endParaRPr lang="en-US" sz="185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24124" y="961430"/>
            <a:ext cx="6730960" cy="704017"/>
          </a:xfrm>
          <a:prstGeom prst="rect">
            <a:avLst/>
          </a:prstGeom>
          <a:noFill/>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Trophies and Recognition</a:t>
            </a:r>
            <a:endParaRPr lang="en-US" sz="4400" dirty="0"/>
          </a:p>
        </p:txBody>
      </p:sp>
      <p:sp>
        <p:nvSpPr>
          <p:cNvPr id="4" name="Shape 1"/>
          <p:cNvSpPr/>
          <p:nvPr/>
        </p:nvSpPr>
        <p:spPr>
          <a:xfrm>
            <a:off x="6324124" y="2024420"/>
            <a:ext cx="7468553" cy="3825478"/>
          </a:xfrm>
          <a:prstGeom prst="roundRect">
            <a:avLst>
              <a:gd name="adj" fmla="val 939"/>
            </a:avLst>
          </a:prstGeom>
          <a:noFill/>
          <a:ln w="7620">
            <a:solidFill>
              <a:srgbClr val="FFFFFF">
                <a:alpha val="24000"/>
              </a:srgbClr>
            </a:solidFill>
            <a:prstDash val="solid"/>
          </a:ln>
        </p:spPr>
      </p:sp>
      <p:sp>
        <p:nvSpPr>
          <p:cNvPr id="5" name="Shape 2"/>
          <p:cNvSpPr/>
          <p:nvPr/>
        </p:nvSpPr>
        <p:spPr>
          <a:xfrm>
            <a:off x="6331744" y="2032040"/>
            <a:ext cx="7452479" cy="685443"/>
          </a:xfrm>
          <a:prstGeom prst="rect">
            <a:avLst/>
          </a:prstGeom>
          <a:solidFill>
            <a:srgbClr val="FFFFFF">
              <a:alpha val="4000"/>
            </a:srgbClr>
          </a:solidFill>
        </p:spPr>
      </p:sp>
      <p:sp>
        <p:nvSpPr>
          <p:cNvPr id="6" name="Text 3"/>
          <p:cNvSpPr/>
          <p:nvPr/>
        </p:nvSpPr>
        <p:spPr>
          <a:xfrm>
            <a:off x="6571893" y="2183249"/>
            <a:ext cx="2001441" cy="383024"/>
          </a:xfrm>
          <a:prstGeom prst="rect">
            <a:avLst/>
          </a:prstGeom>
          <a:noFill/>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Club</a:t>
            </a:r>
            <a:endParaRPr lang="en-US" sz="1850" dirty="0"/>
          </a:p>
        </p:txBody>
      </p:sp>
      <p:sp>
        <p:nvSpPr>
          <p:cNvPr id="7" name="Text 4"/>
          <p:cNvSpPr/>
          <p:nvPr/>
        </p:nvSpPr>
        <p:spPr>
          <a:xfrm>
            <a:off x="9059585" y="2183249"/>
            <a:ext cx="1997631" cy="383024"/>
          </a:xfrm>
          <a:prstGeom prst="rect">
            <a:avLst/>
          </a:prstGeom>
          <a:noFill/>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Competition</a:t>
            </a:r>
            <a:endParaRPr lang="en-US" sz="1850" dirty="0"/>
          </a:p>
        </p:txBody>
      </p:sp>
      <p:sp>
        <p:nvSpPr>
          <p:cNvPr id="8" name="Text 5"/>
          <p:cNvSpPr/>
          <p:nvPr/>
        </p:nvSpPr>
        <p:spPr>
          <a:xfrm>
            <a:off x="11543467" y="2183249"/>
            <a:ext cx="2001441" cy="383024"/>
          </a:xfrm>
          <a:prstGeom prst="rect">
            <a:avLst/>
          </a:prstGeom>
          <a:noFill/>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Year</a:t>
            </a:r>
            <a:endParaRPr lang="en-US" sz="1850" dirty="0"/>
          </a:p>
        </p:txBody>
      </p:sp>
      <p:sp>
        <p:nvSpPr>
          <p:cNvPr id="9" name="Shape 6"/>
          <p:cNvSpPr/>
          <p:nvPr/>
        </p:nvSpPr>
        <p:spPr>
          <a:xfrm>
            <a:off x="6331744" y="2717483"/>
            <a:ext cx="7452479" cy="685443"/>
          </a:xfrm>
          <a:prstGeom prst="rect">
            <a:avLst/>
          </a:prstGeom>
          <a:solidFill>
            <a:srgbClr val="000000">
              <a:alpha val="4000"/>
            </a:srgbClr>
          </a:solidFill>
        </p:spPr>
      </p:sp>
      <p:sp>
        <p:nvSpPr>
          <p:cNvPr id="10" name="Text 7"/>
          <p:cNvSpPr/>
          <p:nvPr/>
        </p:nvSpPr>
        <p:spPr>
          <a:xfrm>
            <a:off x="6571893" y="2868692"/>
            <a:ext cx="2001441" cy="383024"/>
          </a:xfrm>
          <a:prstGeom prst="rect">
            <a:avLst/>
          </a:prstGeom>
          <a:noFill/>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Red Bull Salzburg</a:t>
            </a:r>
            <a:endParaRPr lang="en-US" sz="1850" dirty="0"/>
          </a:p>
        </p:txBody>
      </p:sp>
      <p:sp>
        <p:nvSpPr>
          <p:cNvPr id="11" name="Text 8"/>
          <p:cNvSpPr/>
          <p:nvPr/>
        </p:nvSpPr>
        <p:spPr>
          <a:xfrm>
            <a:off x="9059585" y="2868692"/>
            <a:ext cx="1997631" cy="383024"/>
          </a:xfrm>
          <a:prstGeom prst="rect">
            <a:avLst/>
          </a:prstGeom>
          <a:noFill/>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Austrian Bundesliga</a:t>
            </a:r>
            <a:endParaRPr lang="en-US" sz="1850" dirty="0"/>
          </a:p>
        </p:txBody>
      </p:sp>
      <p:sp>
        <p:nvSpPr>
          <p:cNvPr id="12" name="Text 9"/>
          <p:cNvSpPr/>
          <p:nvPr/>
        </p:nvSpPr>
        <p:spPr>
          <a:xfrm>
            <a:off x="11543467" y="2868692"/>
            <a:ext cx="2001441" cy="383024"/>
          </a:xfrm>
          <a:prstGeom prst="rect">
            <a:avLst/>
          </a:prstGeom>
          <a:noFill/>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2013-2014</a:t>
            </a:r>
            <a:endParaRPr lang="en-US" sz="1850" dirty="0"/>
          </a:p>
        </p:txBody>
      </p:sp>
      <p:sp>
        <p:nvSpPr>
          <p:cNvPr id="13" name="Shape 10"/>
          <p:cNvSpPr/>
          <p:nvPr/>
        </p:nvSpPr>
        <p:spPr>
          <a:xfrm>
            <a:off x="6331744" y="3402925"/>
            <a:ext cx="7452479" cy="685443"/>
          </a:xfrm>
          <a:prstGeom prst="rect">
            <a:avLst/>
          </a:prstGeom>
          <a:solidFill>
            <a:srgbClr val="FFFFFF">
              <a:alpha val="4000"/>
            </a:srgbClr>
          </a:solidFill>
        </p:spPr>
      </p:sp>
      <p:sp>
        <p:nvSpPr>
          <p:cNvPr id="14" name="Text 11"/>
          <p:cNvSpPr/>
          <p:nvPr/>
        </p:nvSpPr>
        <p:spPr>
          <a:xfrm>
            <a:off x="6571893" y="3554135"/>
            <a:ext cx="2001441" cy="383024"/>
          </a:xfrm>
          <a:prstGeom prst="rect">
            <a:avLst/>
          </a:prstGeom>
          <a:noFill/>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Liverpool</a:t>
            </a:r>
            <a:endParaRPr lang="en-US" sz="1850" dirty="0"/>
          </a:p>
        </p:txBody>
      </p:sp>
      <p:sp>
        <p:nvSpPr>
          <p:cNvPr id="15" name="Text 12"/>
          <p:cNvSpPr/>
          <p:nvPr/>
        </p:nvSpPr>
        <p:spPr>
          <a:xfrm>
            <a:off x="9059585" y="3554135"/>
            <a:ext cx="1997631" cy="383024"/>
          </a:xfrm>
          <a:prstGeom prst="rect">
            <a:avLst/>
          </a:prstGeom>
          <a:noFill/>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Premier League</a:t>
            </a:r>
            <a:endParaRPr lang="en-US" sz="1850" dirty="0"/>
          </a:p>
        </p:txBody>
      </p:sp>
      <p:sp>
        <p:nvSpPr>
          <p:cNvPr id="16" name="Text 13"/>
          <p:cNvSpPr/>
          <p:nvPr/>
        </p:nvSpPr>
        <p:spPr>
          <a:xfrm>
            <a:off x="11543467" y="3554135"/>
            <a:ext cx="2001441" cy="383024"/>
          </a:xfrm>
          <a:prstGeom prst="rect">
            <a:avLst/>
          </a:prstGeom>
          <a:noFill/>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2019-2020</a:t>
            </a:r>
            <a:endParaRPr lang="en-US" sz="1850" dirty="0"/>
          </a:p>
        </p:txBody>
      </p:sp>
      <p:sp>
        <p:nvSpPr>
          <p:cNvPr id="17" name="Shape 14"/>
          <p:cNvSpPr/>
          <p:nvPr/>
        </p:nvSpPr>
        <p:spPr>
          <a:xfrm>
            <a:off x="6331744" y="4088368"/>
            <a:ext cx="7452479" cy="1068467"/>
          </a:xfrm>
          <a:prstGeom prst="rect">
            <a:avLst/>
          </a:prstGeom>
          <a:solidFill>
            <a:srgbClr val="000000">
              <a:alpha val="4000"/>
            </a:srgbClr>
          </a:solidFill>
        </p:spPr>
      </p:sp>
      <p:sp>
        <p:nvSpPr>
          <p:cNvPr id="18" name="Text 15"/>
          <p:cNvSpPr/>
          <p:nvPr/>
        </p:nvSpPr>
        <p:spPr>
          <a:xfrm>
            <a:off x="6571893" y="4239578"/>
            <a:ext cx="2001441" cy="383024"/>
          </a:xfrm>
          <a:prstGeom prst="rect">
            <a:avLst/>
          </a:prstGeom>
          <a:noFill/>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Liverpool</a:t>
            </a:r>
            <a:endParaRPr lang="en-US" sz="1850" dirty="0"/>
          </a:p>
        </p:txBody>
      </p:sp>
      <p:sp>
        <p:nvSpPr>
          <p:cNvPr id="19" name="Text 16"/>
          <p:cNvSpPr/>
          <p:nvPr/>
        </p:nvSpPr>
        <p:spPr>
          <a:xfrm>
            <a:off x="9059585" y="4239578"/>
            <a:ext cx="1997631" cy="766048"/>
          </a:xfrm>
          <a:prstGeom prst="rect">
            <a:avLst/>
          </a:prstGeom>
          <a:noFill/>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UEFA Champions League</a:t>
            </a:r>
            <a:endParaRPr lang="en-US" sz="1850" dirty="0"/>
          </a:p>
        </p:txBody>
      </p:sp>
      <p:sp>
        <p:nvSpPr>
          <p:cNvPr id="20" name="Text 17"/>
          <p:cNvSpPr/>
          <p:nvPr/>
        </p:nvSpPr>
        <p:spPr>
          <a:xfrm>
            <a:off x="11543467" y="4239578"/>
            <a:ext cx="2001441" cy="383024"/>
          </a:xfrm>
          <a:prstGeom prst="rect">
            <a:avLst/>
          </a:prstGeom>
          <a:noFill/>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2018-2019</a:t>
            </a:r>
            <a:endParaRPr lang="en-US" sz="1850" dirty="0"/>
          </a:p>
        </p:txBody>
      </p:sp>
      <p:sp>
        <p:nvSpPr>
          <p:cNvPr id="21" name="Shape 18"/>
          <p:cNvSpPr/>
          <p:nvPr/>
        </p:nvSpPr>
        <p:spPr>
          <a:xfrm>
            <a:off x="6331744" y="5156835"/>
            <a:ext cx="7452479" cy="685443"/>
          </a:xfrm>
          <a:prstGeom prst="rect">
            <a:avLst/>
          </a:prstGeom>
          <a:solidFill>
            <a:srgbClr val="FFFFFF">
              <a:alpha val="4000"/>
            </a:srgbClr>
          </a:solidFill>
        </p:spPr>
      </p:sp>
      <p:sp>
        <p:nvSpPr>
          <p:cNvPr id="22" name="Text 19"/>
          <p:cNvSpPr/>
          <p:nvPr/>
        </p:nvSpPr>
        <p:spPr>
          <a:xfrm>
            <a:off x="6571893" y="5308044"/>
            <a:ext cx="2001441" cy="383024"/>
          </a:xfrm>
          <a:prstGeom prst="rect">
            <a:avLst/>
          </a:prstGeom>
          <a:noFill/>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Bayern Munich</a:t>
            </a:r>
            <a:endParaRPr lang="en-US" sz="1850" dirty="0"/>
          </a:p>
        </p:txBody>
      </p:sp>
      <p:sp>
        <p:nvSpPr>
          <p:cNvPr id="23" name="Text 20"/>
          <p:cNvSpPr/>
          <p:nvPr/>
        </p:nvSpPr>
        <p:spPr>
          <a:xfrm>
            <a:off x="9059585" y="5308044"/>
            <a:ext cx="1997631" cy="383024"/>
          </a:xfrm>
          <a:prstGeom prst="rect">
            <a:avLst/>
          </a:prstGeom>
          <a:noFill/>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Bundesliga</a:t>
            </a:r>
            <a:endParaRPr lang="en-US" sz="1850" dirty="0"/>
          </a:p>
        </p:txBody>
      </p:sp>
      <p:sp>
        <p:nvSpPr>
          <p:cNvPr id="24" name="Text 21"/>
          <p:cNvSpPr/>
          <p:nvPr/>
        </p:nvSpPr>
        <p:spPr>
          <a:xfrm>
            <a:off x="11543467" y="5308044"/>
            <a:ext cx="2001441" cy="383024"/>
          </a:xfrm>
          <a:prstGeom prst="rect">
            <a:avLst/>
          </a:prstGeom>
          <a:noFill/>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2022-2023</a:t>
            </a:r>
            <a:endParaRPr lang="en-US" sz="1850" dirty="0"/>
          </a:p>
        </p:txBody>
      </p:sp>
      <p:sp>
        <p:nvSpPr>
          <p:cNvPr id="25" name="Text 22"/>
          <p:cNvSpPr/>
          <p:nvPr/>
        </p:nvSpPr>
        <p:spPr>
          <a:xfrm>
            <a:off x="6324124" y="6119098"/>
            <a:ext cx="7468553" cy="1149072"/>
          </a:xfrm>
          <a:prstGeom prst="rect">
            <a:avLst/>
          </a:prstGeom>
          <a:noFill/>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Man</a:t>
            </a:r>
            <a:r>
              <a:rPr lang="fr-FR" altLang="en-US" sz="1850" dirty="0">
                <a:solidFill>
                  <a:srgbClr val="D6E5EF"/>
                </a:solidFill>
                <a:latin typeface="Source Sans Pro" pitchFamily="34" charset="0"/>
                <a:ea typeface="Source Sans Pro" pitchFamily="34" charset="-122"/>
                <a:cs typeface="Source Sans Pro" pitchFamily="34" charset="-120"/>
              </a:rPr>
              <a:t>e</a:t>
            </a:r>
            <a:r>
              <a:rPr lang="en-US" sz="1850" dirty="0">
                <a:solidFill>
                  <a:srgbClr val="D6E5EF"/>
                </a:solidFill>
                <a:latin typeface="Source Sans Pro" pitchFamily="34" charset="0"/>
                <a:ea typeface="Source Sans Pro" pitchFamily="34" charset="-122"/>
                <a:cs typeface="Source Sans Pro" pitchFamily="34" charset="-120"/>
              </a:rPr>
              <a:t>'s career is marked by numerous trophies. He won the African Footballer of the Year twice. He has been selected multiple times in the PFA Team of the Year. He led Senegal to its first Africa Cup of Nations victory.</a:t>
            </a:r>
            <a:endParaRPr lang="en-US" sz="1850" dirty="0"/>
          </a:p>
        </p:txBody>
      </p:sp>
      <p:sp>
        <p:nvSpPr>
          <p:cNvPr id="26" name="Rectangle 25"/>
          <p:cNvSpPr/>
          <p:nvPr/>
        </p:nvSpPr>
        <p:spPr>
          <a:xfrm>
            <a:off x="12755880" y="7558405"/>
            <a:ext cx="1874520" cy="671195"/>
          </a:xfrm>
          <a:prstGeom prst="rect">
            <a:avLst/>
          </a:prstGeom>
          <a:solidFill>
            <a:srgbClr val="25283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fr-CA"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pageCurlDoubl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22" name="Shape 0"/>
          <p:cNvSpPr/>
          <p:nvPr/>
        </p:nvSpPr>
        <p:spPr>
          <a:xfrm>
            <a:off x="0" y="0"/>
            <a:ext cx="14630400" cy="8229600"/>
          </a:xfrm>
          <a:prstGeom prst="rect">
            <a:avLst/>
          </a:prstGeom>
          <a:solidFill>
            <a:srgbClr val="252833">
              <a:alpha val="80000"/>
            </a:srgbClr>
          </a:solidFill>
        </p:spPr>
      </p:sp>
      <p:sp>
        <p:nvSpPr>
          <p:cNvPr id="23" name="Text 1"/>
          <p:cNvSpPr/>
          <p:nvPr/>
        </p:nvSpPr>
        <p:spPr>
          <a:xfrm>
            <a:off x="898049" y="1399858"/>
            <a:ext cx="10430470" cy="704017"/>
          </a:xfrm>
          <a:prstGeom prst="rect">
            <a:avLst/>
          </a:prstGeom>
          <a:noFill/>
        </p:spPr>
        <p:txBody>
          <a:bodyPr wrap="none" lIns="0" tIns="0" rIns="0" bIns="0" rtlCol="0" anchor="t"/>
          <a:p>
            <a:pPr marL="0" indent="0" algn="l">
              <a:lnSpc>
                <a:spcPts val="5500"/>
              </a:lnSpc>
              <a:buNone/>
            </a:pPr>
            <a:r>
              <a:rPr lang="en-US" sz="4400" dirty="0">
                <a:solidFill>
                  <a:srgbClr val="F98AC7"/>
                </a:solidFill>
                <a:latin typeface="Lora" pitchFamily="34" charset="0"/>
                <a:ea typeface="Lora" pitchFamily="34" charset="-122"/>
                <a:cs typeface="Lora" pitchFamily="34" charset="-120"/>
              </a:rPr>
              <a:t>Beyond the Pitch: A Philanthropic Heart</a:t>
            </a:r>
            <a:endParaRPr lang="en-US" sz="4400" dirty="0"/>
          </a:p>
        </p:txBody>
      </p:sp>
      <p:sp>
        <p:nvSpPr>
          <p:cNvPr id="24" name="Shape 2"/>
          <p:cNvSpPr/>
          <p:nvPr/>
        </p:nvSpPr>
        <p:spPr>
          <a:xfrm flipH="1">
            <a:off x="7277100" y="2552065"/>
            <a:ext cx="76200" cy="5189855"/>
          </a:xfrm>
          <a:prstGeom prst="roundRect">
            <a:avLst>
              <a:gd name="adj" fmla="val 117806"/>
            </a:avLst>
          </a:prstGeom>
          <a:solidFill>
            <a:srgbClr val="5D606B"/>
          </a:solidFill>
        </p:spPr>
      </p:sp>
      <p:sp>
        <p:nvSpPr>
          <p:cNvPr id="25" name="Shape 3"/>
          <p:cNvSpPr/>
          <p:nvPr/>
        </p:nvSpPr>
        <p:spPr>
          <a:xfrm>
            <a:off x="6358354" y="3074908"/>
            <a:ext cx="718066" cy="30480"/>
          </a:xfrm>
          <a:prstGeom prst="roundRect">
            <a:avLst>
              <a:gd name="adj" fmla="val 117806"/>
            </a:avLst>
          </a:prstGeom>
          <a:solidFill>
            <a:srgbClr val="5D606B"/>
          </a:solidFill>
        </p:spPr>
      </p:sp>
      <p:sp>
        <p:nvSpPr>
          <p:cNvPr id="26" name="Shape 4"/>
          <p:cNvSpPr/>
          <p:nvPr/>
        </p:nvSpPr>
        <p:spPr>
          <a:xfrm>
            <a:off x="7045940" y="2820948"/>
            <a:ext cx="538520" cy="538520"/>
          </a:xfrm>
          <a:prstGeom prst="roundRect">
            <a:avLst>
              <a:gd name="adj" fmla="val 6668"/>
            </a:avLst>
          </a:prstGeom>
          <a:solidFill>
            <a:srgbClr val="444752"/>
          </a:solidFill>
        </p:spPr>
      </p:sp>
      <p:pic>
        <p:nvPicPr>
          <p:cNvPr id="27" name="Image 1" descr="preencoded.png"/>
          <p:cNvPicPr>
            <a:picLocks noChangeAspect="1"/>
          </p:cNvPicPr>
          <p:nvPr/>
        </p:nvPicPr>
        <p:blipFill>
          <a:blip r:embed="rId2"/>
          <a:stretch>
            <a:fillRect/>
          </a:stretch>
        </p:blipFill>
        <p:spPr>
          <a:xfrm>
            <a:off x="7146191" y="2878931"/>
            <a:ext cx="337899" cy="422434"/>
          </a:xfrm>
          <a:prstGeom prst="rect">
            <a:avLst/>
          </a:prstGeom>
        </p:spPr>
      </p:pic>
      <p:sp>
        <p:nvSpPr>
          <p:cNvPr id="28" name="Text 5"/>
          <p:cNvSpPr/>
          <p:nvPr/>
        </p:nvSpPr>
        <p:spPr>
          <a:xfrm>
            <a:off x="3302198" y="2791063"/>
            <a:ext cx="2816185" cy="351949"/>
          </a:xfrm>
          <a:prstGeom prst="rect">
            <a:avLst/>
          </a:prstGeom>
          <a:noFill/>
        </p:spPr>
        <p:txBody>
          <a:bodyPr wrap="none" lIns="0" tIns="0" rIns="0" bIns="0" rtlCol="0" anchor="t"/>
          <a:p>
            <a:pPr marL="0" indent="0" algn="r">
              <a:lnSpc>
                <a:spcPts val="2750"/>
              </a:lnSpc>
              <a:buNone/>
            </a:pPr>
            <a:r>
              <a:rPr lang="en-US" sz="2200" dirty="0">
                <a:solidFill>
                  <a:srgbClr val="D6E5EF"/>
                </a:solidFill>
                <a:latin typeface="Lora" pitchFamily="34" charset="0"/>
                <a:ea typeface="Lora" pitchFamily="34" charset="-122"/>
                <a:cs typeface="Lora" pitchFamily="34" charset="-120"/>
              </a:rPr>
              <a:t>Built a School</a:t>
            </a:r>
            <a:endParaRPr lang="en-US" sz="2200" dirty="0"/>
          </a:p>
        </p:txBody>
      </p:sp>
      <p:sp>
        <p:nvSpPr>
          <p:cNvPr id="29" name="Text 6"/>
          <p:cNvSpPr/>
          <p:nvPr/>
        </p:nvSpPr>
        <p:spPr>
          <a:xfrm>
            <a:off x="837724" y="3286601"/>
            <a:ext cx="5280660" cy="383024"/>
          </a:xfrm>
          <a:prstGeom prst="rect">
            <a:avLst/>
          </a:prstGeom>
          <a:noFill/>
        </p:spPr>
        <p:txBody>
          <a:bodyPr wrap="none" lIns="0" tIns="0" rIns="0" bIns="0" rtlCol="0" anchor="t"/>
          <a:p>
            <a:pPr marL="0" indent="0" algn="r">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Donated to build a school in Bambali.</a:t>
            </a:r>
            <a:endParaRPr lang="en-US" sz="1850" dirty="0"/>
          </a:p>
        </p:txBody>
      </p:sp>
      <p:sp>
        <p:nvSpPr>
          <p:cNvPr id="30" name="Shape 7"/>
          <p:cNvSpPr/>
          <p:nvPr/>
        </p:nvSpPr>
        <p:spPr>
          <a:xfrm>
            <a:off x="7553980" y="4730194"/>
            <a:ext cx="718066" cy="30480"/>
          </a:xfrm>
          <a:prstGeom prst="roundRect">
            <a:avLst>
              <a:gd name="adj" fmla="val 117806"/>
            </a:avLst>
          </a:prstGeom>
          <a:solidFill>
            <a:srgbClr val="5D606B"/>
          </a:solidFill>
        </p:spPr>
      </p:sp>
      <p:sp>
        <p:nvSpPr>
          <p:cNvPr id="31" name="Shape 8"/>
          <p:cNvSpPr/>
          <p:nvPr/>
        </p:nvSpPr>
        <p:spPr>
          <a:xfrm>
            <a:off x="7045940" y="4476234"/>
            <a:ext cx="538520" cy="538520"/>
          </a:xfrm>
          <a:prstGeom prst="roundRect">
            <a:avLst>
              <a:gd name="adj" fmla="val 6668"/>
            </a:avLst>
          </a:prstGeom>
          <a:solidFill>
            <a:srgbClr val="444752"/>
          </a:solidFill>
        </p:spPr>
      </p:sp>
      <p:pic>
        <p:nvPicPr>
          <p:cNvPr id="32" name="Image 2" descr="preencoded.png"/>
          <p:cNvPicPr>
            <a:picLocks noChangeAspect="1"/>
          </p:cNvPicPr>
          <p:nvPr/>
        </p:nvPicPr>
        <p:blipFill>
          <a:blip r:embed="rId3"/>
          <a:stretch>
            <a:fillRect/>
          </a:stretch>
        </p:blipFill>
        <p:spPr>
          <a:xfrm>
            <a:off x="7146191" y="4534218"/>
            <a:ext cx="337899" cy="422434"/>
          </a:xfrm>
          <a:prstGeom prst="rect">
            <a:avLst/>
          </a:prstGeom>
        </p:spPr>
      </p:pic>
      <p:sp>
        <p:nvSpPr>
          <p:cNvPr id="33" name="Text 9"/>
          <p:cNvSpPr/>
          <p:nvPr/>
        </p:nvSpPr>
        <p:spPr>
          <a:xfrm>
            <a:off x="8512016" y="4446349"/>
            <a:ext cx="2816185" cy="351949"/>
          </a:xfrm>
          <a:prstGeom prst="rect">
            <a:avLst/>
          </a:prstGeom>
          <a:noFill/>
        </p:spPr>
        <p:txBody>
          <a:bodyPr wrap="none" lIns="0" tIns="0" rIns="0" bIns="0" rtlCol="0" anchor="t"/>
          <a:p>
            <a:pPr marL="0" indent="0" algn="l">
              <a:lnSpc>
                <a:spcPts val="2750"/>
              </a:lnSpc>
              <a:buNone/>
            </a:pPr>
            <a:r>
              <a:rPr lang="en-US" sz="2200" dirty="0">
                <a:solidFill>
                  <a:srgbClr val="D6E5EF"/>
                </a:solidFill>
                <a:latin typeface="Lora" pitchFamily="34" charset="0"/>
                <a:ea typeface="Lora" pitchFamily="34" charset="-122"/>
                <a:cs typeface="Lora" pitchFamily="34" charset="-120"/>
              </a:rPr>
              <a:t>Built a Hospital</a:t>
            </a:r>
            <a:endParaRPr lang="en-US" sz="2200" dirty="0"/>
          </a:p>
        </p:txBody>
      </p:sp>
      <p:sp>
        <p:nvSpPr>
          <p:cNvPr id="34" name="Text 10"/>
          <p:cNvSpPr/>
          <p:nvPr/>
        </p:nvSpPr>
        <p:spPr>
          <a:xfrm>
            <a:off x="8512016" y="4941888"/>
            <a:ext cx="5280660" cy="383024"/>
          </a:xfrm>
          <a:prstGeom prst="rect">
            <a:avLst/>
          </a:prstGeom>
          <a:noFill/>
        </p:spPr>
        <p:txBody>
          <a:bodyPr wrap="none" lIns="0" tIns="0" rIns="0" bIns="0" rtlCol="0" anchor="t"/>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Offered funds for a hospital.</a:t>
            </a:r>
            <a:endParaRPr lang="en-US" sz="1850" dirty="0"/>
          </a:p>
        </p:txBody>
      </p:sp>
      <p:sp>
        <p:nvSpPr>
          <p:cNvPr id="35" name="Shape 11"/>
          <p:cNvSpPr/>
          <p:nvPr/>
        </p:nvSpPr>
        <p:spPr>
          <a:xfrm>
            <a:off x="6358354" y="6385203"/>
            <a:ext cx="718066" cy="30480"/>
          </a:xfrm>
          <a:prstGeom prst="roundRect">
            <a:avLst>
              <a:gd name="adj" fmla="val 117806"/>
            </a:avLst>
          </a:prstGeom>
          <a:solidFill>
            <a:srgbClr val="5D606B"/>
          </a:solidFill>
        </p:spPr>
      </p:sp>
      <p:sp>
        <p:nvSpPr>
          <p:cNvPr id="36" name="Shape 12"/>
          <p:cNvSpPr/>
          <p:nvPr/>
        </p:nvSpPr>
        <p:spPr>
          <a:xfrm>
            <a:off x="7045940" y="6131243"/>
            <a:ext cx="538520" cy="538520"/>
          </a:xfrm>
          <a:prstGeom prst="roundRect">
            <a:avLst>
              <a:gd name="adj" fmla="val 6668"/>
            </a:avLst>
          </a:prstGeom>
          <a:solidFill>
            <a:srgbClr val="444752"/>
          </a:solidFill>
        </p:spPr>
      </p:sp>
      <p:pic>
        <p:nvPicPr>
          <p:cNvPr id="37" name="Image 3" descr="preencoded.png"/>
          <p:cNvPicPr>
            <a:picLocks noChangeAspect="1"/>
          </p:cNvPicPr>
          <p:nvPr/>
        </p:nvPicPr>
        <p:blipFill>
          <a:blip r:embed="rId4"/>
          <a:stretch>
            <a:fillRect/>
          </a:stretch>
        </p:blipFill>
        <p:spPr>
          <a:xfrm>
            <a:off x="7146191" y="6189226"/>
            <a:ext cx="337899" cy="422434"/>
          </a:xfrm>
          <a:prstGeom prst="rect">
            <a:avLst/>
          </a:prstGeom>
        </p:spPr>
      </p:pic>
      <p:sp>
        <p:nvSpPr>
          <p:cNvPr id="38" name="Text 13"/>
          <p:cNvSpPr/>
          <p:nvPr/>
        </p:nvSpPr>
        <p:spPr>
          <a:xfrm>
            <a:off x="3302198" y="6101358"/>
            <a:ext cx="2816185" cy="351949"/>
          </a:xfrm>
          <a:prstGeom prst="rect">
            <a:avLst/>
          </a:prstGeom>
          <a:noFill/>
        </p:spPr>
        <p:txBody>
          <a:bodyPr wrap="none" lIns="0" tIns="0" rIns="0" bIns="0" rtlCol="0" anchor="t"/>
          <a:p>
            <a:pPr marL="0" indent="0" algn="r">
              <a:lnSpc>
                <a:spcPts val="2750"/>
              </a:lnSpc>
              <a:buNone/>
            </a:pPr>
            <a:r>
              <a:rPr lang="en-US" sz="2200" dirty="0">
                <a:solidFill>
                  <a:srgbClr val="D6E5EF"/>
                </a:solidFill>
                <a:latin typeface="Lora" pitchFamily="34" charset="0"/>
                <a:ea typeface="Lora" pitchFamily="34" charset="-122"/>
                <a:cs typeface="Lora" pitchFamily="34" charset="-120"/>
              </a:rPr>
              <a:t>Built a Stadium</a:t>
            </a:r>
            <a:endParaRPr lang="en-US" sz="2200" dirty="0"/>
          </a:p>
        </p:txBody>
      </p:sp>
      <p:sp>
        <p:nvSpPr>
          <p:cNvPr id="39" name="Text 14"/>
          <p:cNvSpPr/>
          <p:nvPr/>
        </p:nvSpPr>
        <p:spPr>
          <a:xfrm>
            <a:off x="837724" y="6596896"/>
            <a:ext cx="5280660" cy="383024"/>
          </a:xfrm>
          <a:prstGeom prst="rect">
            <a:avLst/>
          </a:prstGeom>
          <a:noFill/>
        </p:spPr>
        <p:txBody>
          <a:bodyPr wrap="none" lIns="0" tIns="0" rIns="0" bIns="0" rtlCol="0" anchor="t"/>
          <a:p>
            <a:pPr marL="0" indent="0" algn="r">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Built a mini-football stadium.</a:t>
            </a:r>
            <a:endParaRPr lang="en-US" sz="1850" dirty="0"/>
          </a:p>
        </p:txBody>
      </p:sp>
      <p:pic>
        <p:nvPicPr>
          <p:cNvPr id="40" name="Image 1" descr="preencoded.png"/>
          <p:cNvPicPr>
            <a:picLocks noChangeAspect="1"/>
          </p:cNvPicPr>
          <p:nvPr/>
        </p:nvPicPr>
        <p:blipFill>
          <a:blip r:embed="rId5"/>
          <a:stretch>
            <a:fillRect/>
          </a:stretch>
        </p:blipFill>
        <p:spPr>
          <a:xfrm>
            <a:off x="7860665" y="2354580"/>
            <a:ext cx="2440305" cy="1509395"/>
          </a:xfrm>
          <a:prstGeom prst="rect">
            <a:avLst/>
          </a:prstGeom>
        </p:spPr>
      </p:pic>
      <p:pic>
        <p:nvPicPr>
          <p:cNvPr id="41" name="Image 0" descr="preencoded.png"/>
          <p:cNvPicPr>
            <a:picLocks noChangeAspect="1"/>
          </p:cNvPicPr>
          <p:nvPr/>
        </p:nvPicPr>
        <p:blipFill>
          <a:blip r:embed="rId6"/>
          <a:stretch>
            <a:fillRect/>
          </a:stretch>
        </p:blipFill>
        <p:spPr>
          <a:xfrm>
            <a:off x="4406900" y="4010660"/>
            <a:ext cx="2437765" cy="1506855"/>
          </a:xfrm>
          <a:prstGeom prst="rect">
            <a:avLst/>
          </a:prstGeom>
        </p:spPr>
      </p:pic>
      <p:pic>
        <p:nvPicPr>
          <p:cNvPr id="42" name="Image 1" descr="C:/Users/ngom4/Downloads/terrain-1024x768-1.jpgterrain-1024x768-1"/>
          <p:cNvPicPr>
            <a:picLocks noChangeAspect="1"/>
          </p:cNvPicPr>
          <p:nvPr/>
        </p:nvPicPr>
        <p:blipFill>
          <a:blip r:embed="rId7"/>
          <a:srcRect t="8769" b="8769"/>
          <a:stretch>
            <a:fillRect/>
          </a:stretch>
        </p:blipFill>
        <p:spPr>
          <a:xfrm>
            <a:off x="7860665" y="5646420"/>
            <a:ext cx="2440305" cy="150939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peelOff"/>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833">
              <a:alpha val="80000"/>
            </a:srgbClr>
          </a:solidFill>
        </p:spPr>
      </p:sp>
      <p:sp>
        <p:nvSpPr>
          <p:cNvPr id="4" name="Text 1"/>
          <p:cNvSpPr/>
          <p:nvPr/>
        </p:nvSpPr>
        <p:spPr>
          <a:xfrm>
            <a:off x="837724" y="798552"/>
            <a:ext cx="5632490" cy="704017"/>
          </a:xfrm>
          <a:prstGeom prst="rect">
            <a:avLst/>
          </a:prstGeom>
          <a:noFill/>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A Beacon of Hope</a:t>
            </a:r>
            <a:endParaRPr lang="en-US" sz="4400" dirty="0"/>
          </a:p>
        </p:txBody>
      </p:sp>
      <p:sp>
        <p:nvSpPr>
          <p:cNvPr id="5" name="Text 2"/>
          <p:cNvSpPr/>
          <p:nvPr/>
        </p:nvSpPr>
        <p:spPr>
          <a:xfrm>
            <a:off x="1753195" y="3689271"/>
            <a:ext cx="2816185" cy="351949"/>
          </a:xfrm>
          <a:prstGeom prst="rect">
            <a:avLst/>
          </a:prstGeom>
          <a:noFill/>
        </p:spPr>
        <p:txBody>
          <a:bodyPr wrap="none" lIns="0" tIns="0" rIns="0" bIns="0" rtlCol="0" anchor="t"/>
          <a:lstStyle/>
          <a:p>
            <a:pPr marL="0" indent="0" algn="r">
              <a:lnSpc>
                <a:spcPts val="2750"/>
              </a:lnSpc>
              <a:buNone/>
            </a:pPr>
            <a:r>
              <a:rPr lang="en-US" sz="2200" dirty="0">
                <a:solidFill>
                  <a:srgbClr val="D6E5EF"/>
                </a:solidFill>
                <a:latin typeface="Lora" pitchFamily="34" charset="0"/>
                <a:ea typeface="Lora" pitchFamily="34" charset="-122"/>
                <a:cs typeface="Lora" pitchFamily="34" charset="-120"/>
              </a:rPr>
              <a:t>Inspiration</a:t>
            </a:r>
            <a:endParaRPr lang="en-US" sz="2200" dirty="0"/>
          </a:p>
        </p:txBody>
      </p:sp>
      <p:sp>
        <p:nvSpPr>
          <p:cNvPr id="6" name="Text 3"/>
          <p:cNvSpPr/>
          <p:nvPr/>
        </p:nvSpPr>
        <p:spPr>
          <a:xfrm>
            <a:off x="837724" y="4184809"/>
            <a:ext cx="3731657" cy="383024"/>
          </a:xfrm>
          <a:prstGeom prst="rect">
            <a:avLst/>
          </a:prstGeom>
          <a:noFill/>
        </p:spPr>
        <p:txBody>
          <a:bodyPr wrap="none" lIns="0" tIns="0" rIns="0" bIns="0" rtlCol="0" anchor="t"/>
          <a:lstStyle/>
          <a:p>
            <a:pPr marL="0" indent="0" algn="r">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Inspires young African players.</a:t>
            </a:r>
            <a:endParaRPr lang="en-US" sz="1850" dirty="0"/>
          </a:p>
        </p:txBody>
      </p:sp>
      <p:pic>
        <p:nvPicPr>
          <p:cNvPr id="7" name="Image 1" descr="preencoded.png"/>
          <p:cNvPicPr>
            <a:picLocks noChangeAspect="1"/>
          </p:cNvPicPr>
          <p:nvPr/>
        </p:nvPicPr>
        <p:blipFill>
          <a:blip r:embed="rId2"/>
          <a:stretch>
            <a:fillRect/>
          </a:stretch>
        </p:blipFill>
        <p:spPr>
          <a:xfrm>
            <a:off x="5048131" y="1861542"/>
            <a:ext cx="4534138" cy="4534138"/>
          </a:xfrm>
          <a:prstGeom prst="rect">
            <a:avLst/>
          </a:prstGeom>
        </p:spPr>
      </p:pic>
      <p:sp>
        <p:nvSpPr>
          <p:cNvPr id="8" name="Text 4"/>
          <p:cNvSpPr/>
          <p:nvPr/>
        </p:nvSpPr>
        <p:spPr>
          <a:xfrm>
            <a:off x="5572720" y="3631883"/>
            <a:ext cx="358140" cy="447675"/>
          </a:xfrm>
          <a:prstGeom prst="rect">
            <a:avLst/>
          </a:prstGeom>
          <a:noFill/>
        </p:spPr>
        <p:txBody>
          <a:bodyPr wrap="none" lIns="0" tIns="0" rIns="0" bIns="0" rtlCol="0" anchor="t"/>
          <a:lstStyle/>
          <a:p>
            <a:pPr marL="0" indent="0" algn="l">
              <a:lnSpc>
                <a:spcPts val="4500"/>
              </a:lnSpc>
              <a:buNone/>
            </a:pPr>
            <a:r>
              <a:rPr lang="en-US" sz="2800" dirty="0">
                <a:solidFill>
                  <a:srgbClr val="D6E5EF"/>
                </a:solidFill>
                <a:latin typeface="Lora" pitchFamily="34" charset="0"/>
                <a:ea typeface="Lora" pitchFamily="34" charset="-122"/>
                <a:cs typeface="Lora" pitchFamily="34" charset="-120"/>
              </a:rPr>
              <a:t>1</a:t>
            </a:r>
            <a:endParaRPr lang="en-US" sz="2800" dirty="0"/>
          </a:p>
        </p:txBody>
      </p:sp>
      <p:sp>
        <p:nvSpPr>
          <p:cNvPr id="9" name="Text 5"/>
          <p:cNvSpPr/>
          <p:nvPr/>
        </p:nvSpPr>
        <p:spPr>
          <a:xfrm>
            <a:off x="9941243" y="2466023"/>
            <a:ext cx="2816185" cy="351949"/>
          </a:xfrm>
          <a:prstGeom prst="rect">
            <a:avLst/>
          </a:prstGeom>
          <a:noFill/>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National Pride</a:t>
            </a:r>
            <a:endParaRPr lang="en-US" sz="2200" dirty="0"/>
          </a:p>
        </p:txBody>
      </p:sp>
      <p:sp>
        <p:nvSpPr>
          <p:cNvPr id="10" name="Text 6"/>
          <p:cNvSpPr/>
          <p:nvPr/>
        </p:nvSpPr>
        <p:spPr>
          <a:xfrm>
            <a:off x="9941243" y="2961561"/>
            <a:ext cx="3851434" cy="383024"/>
          </a:xfrm>
          <a:prstGeom prst="rect">
            <a:avLst/>
          </a:prstGeom>
          <a:noFill/>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Impacts national pride in Senegal.</a:t>
            </a:r>
            <a:endParaRPr lang="en-US" sz="1850" dirty="0"/>
          </a:p>
        </p:txBody>
      </p:sp>
      <p:pic>
        <p:nvPicPr>
          <p:cNvPr id="11" name="Image 2" descr="preencoded.png"/>
          <p:cNvPicPr>
            <a:picLocks noChangeAspect="1"/>
          </p:cNvPicPr>
          <p:nvPr/>
        </p:nvPicPr>
        <p:blipFill>
          <a:blip r:embed="rId3"/>
          <a:stretch>
            <a:fillRect/>
          </a:stretch>
        </p:blipFill>
        <p:spPr>
          <a:xfrm>
            <a:off x="5048131" y="1861542"/>
            <a:ext cx="4534138" cy="4534138"/>
          </a:xfrm>
          <a:prstGeom prst="rect">
            <a:avLst/>
          </a:prstGeom>
        </p:spPr>
      </p:pic>
      <p:sp>
        <p:nvSpPr>
          <p:cNvPr id="12" name="Text 7"/>
          <p:cNvSpPr/>
          <p:nvPr/>
        </p:nvSpPr>
        <p:spPr>
          <a:xfrm>
            <a:off x="8153995" y="2687241"/>
            <a:ext cx="358140" cy="447675"/>
          </a:xfrm>
          <a:prstGeom prst="rect">
            <a:avLst/>
          </a:prstGeom>
          <a:noFill/>
        </p:spPr>
        <p:txBody>
          <a:bodyPr wrap="none" lIns="0" tIns="0" rIns="0" bIns="0" rtlCol="0" anchor="t"/>
          <a:lstStyle/>
          <a:p>
            <a:pPr marL="0" indent="0" algn="l">
              <a:lnSpc>
                <a:spcPts val="4500"/>
              </a:lnSpc>
              <a:buNone/>
            </a:pPr>
            <a:r>
              <a:rPr lang="en-US" sz="2800" dirty="0">
                <a:solidFill>
                  <a:srgbClr val="D6E5EF"/>
                </a:solidFill>
                <a:latin typeface="Lora" pitchFamily="34" charset="0"/>
                <a:ea typeface="Lora" pitchFamily="34" charset="-122"/>
                <a:cs typeface="Lora" pitchFamily="34" charset="-120"/>
              </a:rPr>
              <a:t>2</a:t>
            </a:r>
            <a:endParaRPr lang="en-US" sz="2800" dirty="0"/>
          </a:p>
        </p:txBody>
      </p:sp>
      <p:sp>
        <p:nvSpPr>
          <p:cNvPr id="13" name="Text 8"/>
          <p:cNvSpPr/>
          <p:nvPr/>
        </p:nvSpPr>
        <p:spPr>
          <a:xfrm>
            <a:off x="9941243" y="4912519"/>
            <a:ext cx="2816185" cy="351949"/>
          </a:xfrm>
          <a:prstGeom prst="rect">
            <a:avLst/>
          </a:prstGeom>
          <a:noFill/>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Global Role Model</a:t>
            </a:r>
            <a:endParaRPr lang="en-US" sz="2200" dirty="0"/>
          </a:p>
        </p:txBody>
      </p:sp>
      <p:sp>
        <p:nvSpPr>
          <p:cNvPr id="14" name="Text 9"/>
          <p:cNvSpPr/>
          <p:nvPr/>
        </p:nvSpPr>
        <p:spPr>
          <a:xfrm>
            <a:off x="9941243" y="5408057"/>
            <a:ext cx="3851434" cy="383024"/>
          </a:xfrm>
          <a:prstGeom prst="rect">
            <a:avLst/>
          </a:prstGeom>
          <a:noFill/>
        </p:spPr>
        <p:txBody>
          <a:bodyPr wrap="non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Breaks barriers for African players.</a:t>
            </a:r>
            <a:endParaRPr lang="en-US" sz="1850" dirty="0"/>
          </a:p>
        </p:txBody>
      </p:sp>
      <p:pic>
        <p:nvPicPr>
          <p:cNvPr id="15" name="Image 3" descr="preencoded.png"/>
          <p:cNvPicPr>
            <a:picLocks noChangeAspect="1"/>
          </p:cNvPicPr>
          <p:nvPr/>
        </p:nvPicPr>
        <p:blipFill>
          <a:blip r:embed="rId4"/>
          <a:stretch>
            <a:fillRect/>
          </a:stretch>
        </p:blipFill>
        <p:spPr>
          <a:xfrm>
            <a:off x="5048131" y="1861542"/>
            <a:ext cx="4534138" cy="4534138"/>
          </a:xfrm>
          <a:prstGeom prst="rect">
            <a:avLst/>
          </a:prstGeom>
        </p:spPr>
      </p:pic>
      <p:sp>
        <p:nvSpPr>
          <p:cNvPr id="16" name="Text 10"/>
          <p:cNvSpPr/>
          <p:nvPr/>
        </p:nvSpPr>
        <p:spPr>
          <a:xfrm>
            <a:off x="7681436" y="5394960"/>
            <a:ext cx="358140" cy="447675"/>
          </a:xfrm>
          <a:prstGeom prst="rect">
            <a:avLst/>
          </a:prstGeom>
          <a:noFill/>
        </p:spPr>
        <p:txBody>
          <a:bodyPr wrap="none" lIns="0" tIns="0" rIns="0" bIns="0" rtlCol="0" anchor="t"/>
          <a:lstStyle/>
          <a:p>
            <a:pPr marL="0" indent="0" algn="l">
              <a:lnSpc>
                <a:spcPts val="4500"/>
              </a:lnSpc>
              <a:buNone/>
            </a:pPr>
            <a:r>
              <a:rPr lang="en-US" sz="2800" dirty="0">
                <a:solidFill>
                  <a:srgbClr val="D6E5EF"/>
                </a:solidFill>
                <a:latin typeface="Lora" pitchFamily="34" charset="0"/>
                <a:ea typeface="Lora" pitchFamily="34" charset="-122"/>
                <a:cs typeface="Lora" pitchFamily="34" charset="-120"/>
              </a:rPr>
              <a:t>3</a:t>
            </a:r>
            <a:endParaRPr lang="en-US" sz="2800" dirty="0"/>
          </a:p>
        </p:txBody>
      </p:sp>
      <p:sp>
        <p:nvSpPr>
          <p:cNvPr id="17" name="Text 11"/>
          <p:cNvSpPr/>
          <p:nvPr/>
        </p:nvSpPr>
        <p:spPr>
          <a:xfrm>
            <a:off x="837724" y="6664881"/>
            <a:ext cx="12954952" cy="766048"/>
          </a:xfrm>
          <a:prstGeom prst="rect">
            <a:avLst/>
          </a:prstGeom>
          <a:noFill/>
        </p:spPr>
        <p:txBody>
          <a:bodyPr wrap="square" lIns="0" tIns="0" rIns="0" bIns="0" rtlCol="0" anchor="t"/>
          <a:lstStyle/>
          <a:p>
            <a:pPr marL="0" indent="0" algn="l">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Sadio Man</a:t>
            </a:r>
            <a:r>
              <a:rPr lang="fr-FR" altLang="en-US" sz="1850" dirty="0">
                <a:solidFill>
                  <a:srgbClr val="D6E5EF"/>
                </a:solidFill>
                <a:latin typeface="Source Sans Pro" pitchFamily="34" charset="0"/>
                <a:ea typeface="Source Sans Pro" pitchFamily="34" charset="-122"/>
                <a:cs typeface="Source Sans Pro" pitchFamily="34" charset="-120"/>
              </a:rPr>
              <a:t>e</a:t>
            </a:r>
            <a:r>
              <a:rPr lang="en-US" sz="1850" dirty="0">
                <a:solidFill>
                  <a:srgbClr val="D6E5EF"/>
                </a:solidFill>
                <a:latin typeface="Source Sans Pro" pitchFamily="34" charset="0"/>
                <a:ea typeface="Source Sans Pro" pitchFamily="34" charset="-122"/>
                <a:cs typeface="Source Sans Pro" pitchFamily="34" charset="-120"/>
              </a:rPr>
              <a:t> is an inspiration for young African players. His success has a profound impact on national pride. His humility makes him a global role model. His legacy is one of excellence and generosity.</a:t>
            </a:r>
            <a:endParaRPr lang="en-US" sz="185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pageCurlDoubl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833">
              <a:alpha val="80000"/>
            </a:srgbClr>
          </a:solidFill>
        </p:spPr>
      </p:sp>
      <p:sp>
        <p:nvSpPr>
          <p:cNvPr id="4" name="Text 1"/>
          <p:cNvSpPr/>
          <p:nvPr/>
        </p:nvSpPr>
        <p:spPr>
          <a:xfrm>
            <a:off x="837724" y="3762732"/>
            <a:ext cx="5632490" cy="704017"/>
          </a:xfrm>
          <a:prstGeom prst="rect">
            <a:avLst/>
          </a:prstGeom>
          <a:noFill/>
        </p:spPr>
        <p:txBody>
          <a:bodyPr wrap="none" lIns="0" tIns="0" rIns="0" bIns="0" rtlCol="0" anchor="t"/>
          <a:lstStyle/>
          <a:p>
            <a:pPr marL="0" indent="0" algn="l">
              <a:lnSpc>
                <a:spcPts val="5500"/>
              </a:lnSpc>
              <a:buNone/>
            </a:pPr>
            <a:endParaRPr lang="en-US" sz="4400" dirty="0"/>
          </a:p>
        </p:txBody>
      </p:sp>
      <p:sp>
        <p:nvSpPr>
          <p:cNvPr id="5" name="Text 1"/>
          <p:cNvSpPr/>
          <p:nvPr/>
        </p:nvSpPr>
        <p:spPr>
          <a:xfrm>
            <a:off x="7034689" y="7209512"/>
            <a:ext cx="5632490" cy="704017"/>
          </a:xfrm>
          <a:prstGeom prst="rect">
            <a:avLst/>
          </a:prstGeom>
          <a:noFill/>
        </p:spPr>
        <p:txBody>
          <a:bodyPr wrap="none" lIns="0" tIns="0" rIns="0" bIns="0" rtlCol="0" anchor="t"/>
          <a:p>
            <a:pPr marL="0" indent="0" algn="l">
              <a:lnSpc>
                <a:spcPts val="5500"/>
              </a:lnSpc>
              <a:buNone/>
            </a:pPr>
            <a:r>
              <a:rPr lang="fr-FR" altLang="en-US" sz="13800" dirty="0">
                <a:solidFill>
                  <a:srgbClr val="F98AC7"/>
                </a:solidFill>
                <a:latin typeface="Lora" pitchFamily="34" charset="0"/>
                <a:ea typeface="Lora" pitchFamily="34" charset="-122"/>
                <a:cs typeface="Lora" pitchFamily="34" charset="-120"/>
              </a:rPr>
              <a:t>Thanks...</a:t>
            </a:r>
            <a:endParaRPr lang="fr-FR" altLang="en-US" sz="13800" dirty="0">
              <a:solidFill>
                <a:srgbClr val="F98AC7"/>
              </a:solidFill>
              <a:latin typeface="Lora" pitchFamily="34" charset="0"/>
              <a:ea typeface="Lora" pitchFamily="34" charset="-122"/>
              <a:cs typeface="Lora" pitchFamily="34" charset="-12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airplane"/>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2519</Words>
  <Application>WPS Presentation</Application>
  <PresentationFormat>On-screen Show (16:9)</PresentationFormat>
  <Paragraphs>136</Paragraphs>
  <Slides>10</Slides>
  <Notes>9</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10</vt:i4>
      </vt:variant>
    </vt:vector>
  </HeadingPairs>
  <TitlesOfParts>
    <vt:vector size="23" baseType="lpstr">
      <vt:lpstr>Arial</vt:lpstr>
      <vt:lpstr>SimSun</vt:lpstr>
      <vt:lpstr>Wingdings</vt:lpstr>
      <vt:lpstr>Lora</vt:lpstr>
      <vt:lpstr>Lora</vt:lpstr>
      <vt:lpstr>Lora</vt:lpstr>
      <vt:lpstr>Source Sans Pro</vt:lpstr>
      <vt:lpstr>Source Sans Pro</vt:lpstr>
      <vt:lpstr>Source Sans Pro</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Henry Moustapha Ngom</cp:lastModifiedBy>
  <cp:revision>4</cp:revision>
  <dcterms:created xsi:type="dcterms:W3CDTF">2025-03-20T23:49:00Z</dcterms:created>
  <dcterms:modified xsi:type="dcterms:W3CDTF">2025-03-21T09:49:04Z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C3D64F2B08A2466280238F3E40DC1E72_12</vt:lpwstr>
  </property>
  <property fmtid="{D5CDD505-2E9C-101B-9397-08002B2CF9AE}" pid="3" name="KSOProductBuildVer">
    <vt:lpwstr>3084-12.2.0.20348</vt:lpwstr>
  </property>
</Properties>
</file>