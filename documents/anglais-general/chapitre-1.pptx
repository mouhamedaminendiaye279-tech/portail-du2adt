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85" r:id="rId5"/>
    <p:sldId id="259" r:id="rId6"/>
    <p:sldId id="260" r:id="rId7"/>
    <p:sldId id="261" r:id="rId8"/>
    <p:sldId id="262" r:id="rId9"/>
    <p:sldId id="274" r:id="rId10"/>
    <p:sldId id="282" r:id="rId11"/>
    <p:sldId id="284" r:id="rId12"/>
    <p:sldId id="283" r:id="rId13"/>
    <p:sldId id="281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5" r:id="rId23"/>
    <p:sldId id="276" r:id="rId24"/>
    <p:sldId id="277" r:id="rId25"/>
    <p:sldId id="278" r:id="rId26"/>
    <p:sldId id="279" r:id="rId27"/>
    <p:sldId id="280" r:id="rId28"/>
    <p:sldId id="272" r:id="rId29"/>
    <p:sldId id="273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FTXGEj1bdRzT1Lm2Jqf7JIxcl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6588"/>
    <p:restoredTop sz="93260"/>
  </p:normalViewPr>
  <p:slideViewPr>
    <p:cSldViewPr snapToGrid="0">
      <p:cViewPr varScale="1">
        <p:scale>
          <a:sx n="120" d="100"/>
          <a:sy n="120" d="100"/>
        </p:scale>
        <p:origin x="196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customschemas.google.com/relationships/presentationmetadata" Target="metadata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bcf3ad3d6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bcf3ad3d6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bcfd9201a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bcfd9201a8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040beb84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040beb84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bcf3ad3d6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bcf3ad3d6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bd70b226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bd70b226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c040beb84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gc040beb84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040beb84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c040beb84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c040beb84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c040beb84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c040beb84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c040beb84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bcfd9201a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bcfd9201a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1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117"/>
                </a:srgbClr>
              </a:gs>
              <a:gs pos="50000">
                <a:srgbClr val="C0E3F0">
                  <a:alpha val="89019"/>
                </a:srgbClr>
              </a:gs>
              <a:gs pos="95000">
                <a:srgbClr val="65C6EA">
                  <a:alpha val="87058"/>
                </a:srgbClr>
              </a:gs>
              <a:gs pos="100000">
                <a:srgbClr val="00BBF1">
                  <a:alpha val="83921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21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6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26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117"/>
                </a:srgbClr>
              </a:gs>
              <a:gs pos="50000">
                <a:srgbClr val="C0E3F0">
                  <a:alpha val="89019"/>
                </a:srgbClr>
              </a:gs>
              <a:gs pos="95000">
                <a:srgbClr val="65C6EA">
                  <a:alpha val="87058"/>
                </a:srgbClr>
              </a:gs>
              <a:gs pos="100000">
                <a:srgbClr val="00BBF1">
                  <a:alpha val="83921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26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sz="45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5" name="Google Shape;55;p28"/>
          <p:cNvSpPr txBox="1">
            <a:spLocks noGrp="1"/>
          </p:cNvSpPr>
          <p:nvPr>
            <p:ph type="body" idx="2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3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4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29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29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0"/>
          <p:cNvSpPr txBox="1"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sz="2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body" idx="1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body" idx="2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31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500" dist="18500" dir="5400000" algn="tl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274300" rIns="91425" bIns="45700" anchor="t" anchorCtr="0">
            <a:noAutofit/>
          </a:bodyPr>
          <a:lstStyle/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31"/>
          <p:cNvSpPr>
            <a:spLocks noGrp="1"/>
          </p:cNvSpPr>
          <p:nvPr>
            <p:ph type="pic" idx="2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2743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1" name="Google Shape;81;p31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3921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rgbClr val="EAD8B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" name="Google Shape;82;p31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3921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chemeClr val="lt2">
                <a:alpha val="2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" name="Google Shape;83;p31"/>
          <p:cNvSpPr txBox="1">
            <a:spLocks noGrp="1"/>
          </p:cNvSpPr>
          <p:nvPr>
            <p:ph type="body" idx="1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body" idx="1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2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"/>
          <p:cNvSpPr txBox="1">
            <a:spLocks noGrp="1"/>
          </p:cNvSpPr>
          <p:nvPr>
            <p:ph type="title"/>
          </p:nvPr>
        </p:nvSpPr>
        <p:spPr>
          <a:xfrm rot="5400000">
            <a:off x="4846637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body" idx="1"/>
          </p:nvPr>
        </p:nvSpPr>
        <p:spPr>
          <a:xfrm rot="5400000">
            <a:off x="9985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33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3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90000" sy="90000" flip="xy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rgbClr val="FEF9F3">
              <a:alpha val="32156"/>
            </a:srgbClr>
          </a:solidFill>
          <a:ln w="9525" cap="rnd" cmpd="sng">
            <a:solidFill>
              <a:srgbClr val="D1C1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7;p20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0" cap="rnd" cmpd="sng">
            <a:solidFill>
              <a:srgbClr val="FFF5D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5400000" algn="tl" rotWithShape="0">
              <a:srgbClr val="ADA48C">
                <a:alpha val="8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Google Shape;8;p2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019"/>
                </a:srgbClr>
              </a:gs>
              <a:gs pos="70000">
                <a:srgbClr val="FFFDF8">
                  <a:alpha val="54117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20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11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0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1180550" y="1114275"/>
            <a:ext cx="7910700" cy="298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endParaRPr sz="60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r>
              <a:rPr lang="en-US" sz="4800" b="1" dirty="0"/>
              <a:t>Chapter </a:t>
            </a:r>
            <a:r>
              <a:rPr lang="en-US" sz="4800" b="1" dirty="0" smtClean="0"/>
              <a:t>1: </a:t>
            </a:r>
            <a:endParaRPr sz="4800"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6000"/>
              <a:buFont typeface="Gill Sans"/>
              <a:buNone/>
            </a:pPr>
            <a:r>
              <a:rPr lang="en-US" sz="4800" b="1" dirty="0" smtClean="0"/>
              <a:t>Introduction_</a:t>
            </a:r>
            <a:br>
              <a:rPr lang="en-US" sz="4800" b="1" dirty="0" smtClean="0"/>
            </a:br>
            <a:r>
              <a:rPr lang="en-US" sz="4800" b="1" dirty="0" smtClean="0"/>
              <a:t>Understanding Arguments</a:t>
            </a:r>
            <a:endParaRPr sz="4800" b="1" dirty="0"/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1432550" y="4689025"/>
            <a:ext cx="7406700" cy="19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2400" dirty="0">
                <a:solidFill>
                  <a:srgbClr val="562214"/>
                </a:solidFill>
              </a:rPr>
              <a:t>Instructor:</a:t>
            </a:r>
            <a:r>
              <a:rPr lang="en-US" sz="2400" dirty="0"/>
              <a:t> Dr. Amina Gaye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E-mail: </a:t>
            </a:r>
            <a:r>
              <a:rPr lang="en-US" sz="2400" dirty="0" err="1"/>
              <a:t>amina.gaye@uam.edu.sn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2400" dirty="0"/>
              <a:t>Semester: </a:t>
            </a:r>
            <a:r>
              <a:rPr lang="en-US" sz="2400" dirty="0"/>
              <a:t>1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2400" dirty="0"/>
              <a:t>Academic Year: 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2400" dirty="0"/>
              <a:t>Year</a:t>
            </a:r>
            <a:r>
              <a:rPr lang="en-US" sz="2400" dirty="0" smtClean="0"/>
              <a:t>: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endParaRPr sz="2400" dirty="0"/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6675" y="129425"/>
            <a:ext cx="1145675" cy="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bcf3ad3d6b_0_9"/>
          <p:cNvSpPr txBox="1">
            <a:spLocks noGrp="1"/>
          </p:cNvSpPr>
          <p:nvPr>
            <p:ph type="title"/>
          </p:nvPr>
        </p:nvSpPr>
        <p:spPr>
          <a:xfrm>
            <a:off x="2243470" y="414670"/>
            <a:ext cx="6690330" cy="1339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Chapter </a:t>
            </a:r>
            <a:r>
              <a:rPr lang="en-US" b="1" dirty="0" smtClean="0"/>
              <a:t>1 </a:t>
            </a:r>
            <a:r>
              <a:rPr lang="en-US" b="1" dirty="0"/>
              <a:t>Objectives</a:t>
            </a:r>
            <a:endParaRPr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Week 2</a:t>
            </a:r>
            <a:endParaRPr dirty="0"/>
          </a:p>
        </p:txBody>
      </p:sp>
      <p:sp>
        <p:nvSpPr>
          <p:cNvPr id="108" name="Google Shape;108;gbcf3ad3d6b_0_9"/>
          <p:cNvSpPr txBox="1">
            <a:spLocks noGrp="1"/>
          </p:cNvSpPr>
          <p:nvPr>
            <p:ph type="body" idx="1"/>
          </p:nvPr>
        </p:nvSpPr>
        <p:spPr>
          <a:xfrm>
            <a:off x="1266675" y="2094614"/>
            <a:ext cx="7751400" cy="455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fontAlgn="b">
              <a:buNone/>
            </a:pPr>
            <a:r>
              <a:rPr lang="en-AU" sz="2800" b="1" dirty="0" smtClean="0">
                <a:solidFill>
                  <a:schemeClr val="tx1"/>
                </a:solidFill>
              </a:rPr>
              <a:t>Focus on Writing </a:t>
            </a:r>
            <a:endParaRPr lang="en-AU" sz="2800" b="1" dirty="0">
              <a:solidFill>
                <a:schemeClr val="tx1"/>
              </a:solidFill>
            </a:endParaRPr>
          </a:p>
          <a:p>
            <a:pPr marL="0" indent="0" fontAlgn="b">
              <a:buNone/>
            </a:pPr>
            <a:r>
              <a:rPr lang="en-AU" sz="2800" dirty="0">
                <a:solidFill>
                  <a:schemeClr val="tx1"/>
                </a:solidFill>
              </a:rPr>
              <a:t>1. Understand the purpose of </a:t>
            </a:r>
            <a:r>
              <a:rPr lang="en-AU" sz="2800" dirty="0" smtClean="0">
                <a:solidFill>
                  <a:schemeClr val="tx1"/>
                </a:solidFill>
              </a:rPr>
              <a:t>argument</a:t>
            </a:r>
            <a:endParaRPr lang="en-AU" sz="2800" dirty="0">
              <a:solidFill>
                <a:schemeClr val="tx1"/>
              </a:solidFill>
            </a:endParaRPr>
          </a:p>
          <a:p>
            <a:pPr marL="0" indent="0" fontAlgn="b">
              <a:buNone/>
            </a:pPr>
            <a:r>
              <a:rPr lang="en-AU" sz="2800" dirty="0" smtClean="0">
                <a:solidFill>
                  <a:schemeClr val="tx1"/>
                </a:solidFill>
              </a:rPr>
              <a:t>3</a:t>
            </a:r>
            <a:r>
              <a:rPr lang="en-AU" sz="2800" dirty="0">
                <a:solidFill>
                  <a:schemeClr val="tx1"/>
                </a:solidFill>
              </a:rPr>
              <a:t>. Create good thesis statements</a:t>
            </a:r>
          </a:p>
          <a:p>
            <a:pPr marL="0" indent="0" fontAlgn="b">
              <a:buNone/>
            </a:pPr>
            <a:r>
              <a:rPr lang="en-AU" sz="2800" dirty="0">
                <a:solidFill>
                  <a:schemeClr val="tx1"/>
                </a:solidFill>
              </a:rPr>
              <a:t>4. Understand your </a:t>
            </a:r>
            <a:r>
              <a:rPr lang="en-AU" sz="2800" dirty="0" smtClean="0">
                <a:solidFill>
                  <a:schemeClr val="tx1"/>
                </a:solidFill>
              </a:rPr>
              <a:t>audience</a:t>
            </a:r>
          </a:p>
          <a:p>
            <a:pPr marL="0" indent="0" fontAlgn="b">
              <a:buNone/>
            </a:pPr>
            <a:endParaRPr lang="en-AU" sz="2800" dirty="0">
              <a:solidFill>
                <a:schemeClr val="accent6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40"/>
              <a:buNone/>
            </a:pPr>
            <a:r>
              <a:rPr lang="en-US" sz="3000" b="1" dirty="0" smtClean="0"/>
              <a:t>Grammar </a:t>
            </a:r>
            <a:r>
              <a:rPr lang="en-US" sz="3000" b="1" dirty="0"/>
              <a:t>for writing &amp; Vocabulary in context</a:t>
            </a:r>
            <a:endParaRPr sz="3000" b="1" dirty="0"/>
          </a:p>
        </p:txBody>
      </p:sp>
      <p:pic>
        <p:nvPicPr>
          <p:cNvPr id="109" name="Google Shape;109;gbcf3ad3d6b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6675" y="129425"/>
            <a:ext cx="1145675" cy="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bcfd9201a8_0_55"/>
          <p:cNvSpPr txBox="1">
            <a:spLocks noGrp="1"/>
          </p:cNvSpPr>
          <p:nvPr>
            <p:ph type="title"/>
          </p:nvPr>
        </p:nvSpPr>
        <p:spPr>
          <a:xfrm>
            <a:off x="2262150" y="274650"/>
            <a:ext cx="6671700" cy="11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    </a:t>
            </a:r>
            <a:r>
              <a:rPr lang="en-US" b="1" dirty="0"/>
              <a:t>Getting Started</a:t>
            </a:r>
            <a:endParaRPr b="1" dirty="0"/>
          </a:p>
        </p:txBody>
      </p:sp>
      <p:sp>
        <p:nvSpPr>
          <p:cNvPr id="115" name="Google Shape;115;gbcfd9201a8_0_55"/>
          <p:cNvSpPr txBox="1">
            <a:spLocks noGrp="1"/>
          </p:cNvSpPr>
          <p:nvPr>
            <p:ph type="body" idx="1"/>
          </p:nvPr>
        </p:nvSpPr>
        <p:spPr>
          <a:xfrm>
            <a:off x="1296000" y="2073349"/>
            <a:ext cx="7637700" cy="4433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US" b="1" dirty="0"/>
              <a:t>Work in pairs and discuss</a:t>
            </a:r>
            <a:r>
              <a:rPr lang="en-US" b="1" dirty="0" smtClean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1) </a:t>
            </a:r>
            <a:r>
              <a:rPr lang="en-US" dirty="0" smtClean="0"/>
              <a:t>What does arguing mean to you?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3) </a:t>
            </a:r>
            <a:r>
              <a:rPr lang="en-US" dirty="0" smtClean="0"/>
              <a:t>Do you argue a lot?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3) </a:t>
            </a:r>
            <a:r>
              <a:rPr lang="en-US" dirty="0"/>
              <a:t>When and where do you usually argue?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6" name="Google Shape;116;gbcfd9201a8_0_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103795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bcfd9201a8_0_55"/>
          <p:cNvSpPr/>
          <p:nvPr/>
        </p:nvSpPr>
        <p:spPr>
          <a:xfrm>
            <a:off x="2182625" y="2679400"/>
            <a:ext cx="4117173" cy="141944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5302" y="1447800"/>
            <a:ext cx="8508386" cy="4800600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14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>
            <a:spLocks noGrp="1"/>
          </p:cNvSpPr>
          <p:nvPr>
            <p:ph type="title"/>
          </p:nvPr>
        </p:nvSpPr>
        <p:spPr>
          <a:xfrm>
            <a:off x="2688051" y="274650"/>
            <a:ext cx="60306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dirty="0" smtClean="0"/>
              <a:t>Remember!</a:t>
            </a:r>
            <a:endParaRPr b="1" dirty="0"/>
          </a:p>
        </p:txBody>
      </p:sp>
      <p:sp>
        <p:nvSpPr>
          <p:cNvPr id="123" name="Google Shape;123;p9"/>
          <p:cNvSpPr txBox="1">
            <a:spLocks noGrp="1"/>
          </p:cNvSpPr>
          <p:nvPr>
            <p:ph type="body" idx="1"/>
          </p:nvPr>
        </p:nvSpPr>
        <p:spPr>
          <a:xfrm>
            <a:off x="1435600" y="2062716"/>
            <a:ext cx="7498200" cy="416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/>
              <a:t>An argument is not a quarrel</a:t>
            </a:r>
          </a:p>
          <a:p>
            <a:r>
              <a:rPr lang="en-US" sz="1800" dirty="0"/>
              <a:t>An academic argument is not a fight</a:t>
            </a:r>
          </a:p>
          <a:p>
            <a:r>
              <a:rPr lang="en-US" sz="1800" dirty="0"/>
              <a:t>Argument is not propaganda</a:t>
            </a:r>
          </a:p>
          <a:p>
            <a:r>
              <a:rPr lang="en-US" sz="1800" dirty="0"/>
              <a:t>To be suitable for argument, your research question must be debatable</a:t>
            </a:r>
          </a:p>
          <a:p>
            <a:r>
              <a:rPr lang="en-US" sz="1800" dirty="0"/>
              <a:t>It is a mistake to think that all arguments have just 2 sides. To thoroughly examine the issue, you would have to consider it from a number of angles.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1800" b="1" dirty="0"/>
              <a:t>An argument takes a stand and presents evidence that helps to convince people to accept the writer’s position.</a:t>
            </a:r>
          </a:p>
        </p:txBody>
      </p:sp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113600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>
            <a:spLocks noGrp="1"/>
          </p:cNvSpPr>
          <p:nvPr>
            <p:ph type="title"/>
          </p:nvPr>
        </p:nvSpPr>
        <p:spPr>
          <a:xfrm>
            <a:off x="2503725" y="274650"/>
            <a:ext cx="6429900" cy="14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en-US" sz="3600" b="1" dirty="0"/>
              <a:t>What is an Argumentative Essay?</a:t>
            </a:r>
            <a:endParaRPr sz="3600" b="1" dirty="0"/>
          </a:p>
        </p:txBody>
      </p:sp>
      <p:sp>
        <p:nvSpPr>
          <p:cNvPr id="130" name="Google Shape;130;p2"/>
          <p:cNvSpPr txBox="1">
            <a:spLocks noGrp="1"/>
          </p:cNvSpPr>
          <p:nvPr>
            <p:ph type="body" idx="1"/>
          </p:nvPr>
        </p:nvSpPr>
        <p:spPr>
          <a:xfrm>
            <a:off x="1499400" y="2562447"/>
            <a:ext cx="7498200" cy="3381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None/>
            </a:pPr>
            <a:r>
              <a:rPr lang="en-US" altLang="en-US" sz="2800" dirty="0"/>
              <a:t>The purpose of an argumentative essay is to present well-reasoned conclusions in order to persuade the audience to accept </a:t>
            </a:r>
            <a:r>
              <a:rPr lang="en-US" altLang="en-US" sz="2800" dirty="0">
                <a:solidFill>
                  <a:srgbClr val="C00000"/>
                </a:solidFill>
              </a:rPr>
              <a:t>or at least seriously consider</a:t>
            </a:r>
            <a:r>
              <a:rPr lang="en-US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en-US" sz="2800" dirty="0"/>
              <a:t>a point of view.</a:t>
            </a:r>
            <a:endParaRPr sz="3000" dirty="0"/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103795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040beb847_0_4"/>
          <p:cNvSpPr txBox="1">
            <a:spLocks noGrp="1"/>
          </p:cNvSpPr>
          <p:nvPr>
            <p:ph type="title"/>
          </p:nvPr>
        </p:nvSpPr>
        <p:spPr>
          <a:xfrm>
            <a:off x="2052084" y="0"/>
            <a:ext cx="6804837" cy="166931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/>
              <a:t>Why </a:t>
            </a:r>
            <a:r>
              <a:rPr lang="en-US" sz="3600" b="1" dirty="0"/>
              <a:t>assign an argument in college?</a:t>
            </a:r>
            <a:endParaRPr sz="3600" b="1" dirty="0"/>
          </a:p>
        </p:txBody>
      </p:sp>
      <p:sp>
        <p:nvSpPr>
          <p:cNvPr id="137" name="Google Shape;137;gc040beb847_0_4"/>
          <p:cNvSpPr txBox="1">
            <a:spLocks noGrp="1"/>
          </p:cNvSpPr>
          <p:nvPr>
            <p:ph type="body" idx="1"/>
          </p:nvPr>
        </p:nvSpPr>
        <p:spPr>
          <a:xfrm>
            <a:off x="1435608" y="2232837"/>
            <a:ext cx="7498200" cy="40155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/>
              <a:t>To encourage you to develop and defend a position on a topic</a:t>
            </a:r>
          </a:p>
          <a:p>
            <a:r>
              <a:rPr lang="en-US" sz="2400" dirty="0"/>
              <a:t>To help you learn to look closely at your own and other people’s ideas </a:t>
            </a:r>
          </a:p>
          <a:p>
            <a:r>
              <a:rPr lang="en-US" sz="2400" dirty="0"/>
              <a:t>To give you the tools you need to convince others of the validity of your ideas</a:t>
            </a:r>
          </a:p>
          <a:p>
            <a:r>
              <a:rPr lang="en-US" sz="2400" dirty="0"/>
              <a:t>To help you learn to mediate or resolve conflicting points of view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Google Shape;13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103795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>
            <a:spLocks noGrp="1"/>
          </p:cNvSpPr>
          <p:nvPr>
            <p:ph type="title"/>
          </p:nvPr>
        </p:nvSpPr>
        <p:spPr>
          <a:xfrm>
            <a:off x="2034000" y="274650"/>
            <a:ext cx="7020000" cy="1001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en-US" sz="4000" b="1" dirty="0"/>
              <a:t>Writing an argument</a:t>
            </a:r>
            <a:endParaRPr sz="4000" b="1" dirty="0">
              <a:solidFill>
                <a:srgbClr val="4C1130"/>
              </a:solidFill>
            </a:endParaRPr>
          </a:p>
        </p:txBody>
      </p:sp>
      <p:sp>
        <p:nvSpPr>
          <p:cNvPr id="144" name="Google Shape;144;p11"/>
          <p:cNvSpPr txBox="1">
            <a:spLocks noGrp="1"/>
          </p:cNvSpPr>
          <p:nvPr>
            <p:ph type="body" idx="1"/>
          </p:nvPr>
        </p:nvSpPr>
        <p:spPr>
          <a:xfrm>
            <a:off x="1329069" y="1658679"/>
            <a:ext cx="7591647" cy="492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indent="7938" algn="just" eaLnBrk="1" hangingPunct="1">
              <a:lnSpc>
                <a:spcPct val="125000"/>
              </a:lnSpc>
              <a:buFontTx/>
              <a:buNone/>
              <a:defRPr/>
            </a:pPr>
            <a:r>
              <a:rPr lang="en-US" altLang="en-US" sz="2000" dirty="0"/>
              <a:t>Think about what makes the issue you have chosen a good or bad thing? Right or wrong</a:t>
            </a:r>
            <a:r>
              <a:rPr lang="en-US" altLang="en-US" sz="2000" dirty="0" smtClean="0"/>
              <a:t>?</a:t>
            </a:r>
            <a:endParaRPr lang="en-US" altLang="en-US" sz="2000" dirty="0"/>
          </a:p>
          <a:p>
            <a:pPr marL="6350" indent="7938" algn="just" eaLnBrk="1" hangingPunct="1">
              <a:lnSpc>
                <a:spcPct val="125000"/>
              </a:lnSpc>
              <a:buFontTx/>
              <a:buNone/>
              <a:defRPr/>
            </a:pPr>
            <a:r>
              <a:rPr lang="en-US" altLang="en-US" sz="2000" dirty="0"/>
              <a:t>What makes it important? (i.e. so what? Why does it matter?) = impact</a:t>
            </a:r>
          </a:p>
          <a:p>
            <a:pPr marL="6350" indent="7938" algn="just">
              <a:lnSpc>
                <a:spcPct val="125000"/>
              </a:lnSpc>
              <a:buNone/>
              <a:defRPr/>
            </a:pPr>
            <a:endParaRPr lang="en-US" sz="2000" dirty="0"/>
          </a:p>
          <a:p>
            <a:pPr marL="6350" indent="7938" algn="just">
              <a:lnSpc>
                <a:spcPct val="125000"/>
              </a:lnSpc>
              <a:buNone/>
              <a:defRPr/>
            </a:pPr>
            <a:r>
              <a:rPr lang="en-US" sz="2000" dirty="0"/>
              <a:t>In the debate about the topic, what positions are the various experts arguing? What convinces you, and why? Where would YOU sit in the debate, between 0 and 10? </a:t>
            </a:r>
          </a:p>
          <a:p>
            <a:pPr marL="6350" indent="7938" algn="just">
              <a:lnSpc>
                <a:spcPct val="125000"/>
              </a:lnSpc>
              <a:buNone/>
              <a:defRPr/>
            </a:pPr>
            <a:r>
              <a:rPr lang="en-US" sz="2000" dirty="0"/>
              <a:t>(Of course, your position will shift as you </a:t>
            </a:r>
            <a:r>
              <a:rPr lang="en-US" sz="2000" dirty="0" smtClean="0"/>
              <a:t>research)</a:t>
            </a:r>
          </a:p>
          <a:p>
            <a:pPr marL="6350" indent="7938" algn="just">
              <a:lnSpc>
                <a:spcPct val="125000"/>
              </a:lnSpc>
              <a:buNone/>
              <a:defRPr/>
            </a:pPr>
            <a:endParaRPr lang="en-US" altLang="en-US" sz="2000" dirty="0"/>
          </a:p>
          <a:p>
            <a:pPr marL="463550" indent="-457200" algn="just" eaLnBrk="1" hangingPunct="1">
              <a:lnSpc>
                <a:spcPct val="125000"/>
              </a:lnSpc>
              <a:buFont typeface="Wingdings" panose="05000000000000000000" pitchFamily="2" charset="2"/>
              <a:buChar char="v"/>
              <a:defRPr/>
            </a:pPr>
            <a:r>
              <a:rPr lang="en-US" altLang="en-US" sz="2000" dirty="0"/>
              <a:t>Take a stand and clarify your thesis statement.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  <p:pic>
        <p:nvPicPr>
          <p:cNvPr id="145" name="Google Shape;14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509284"/>
            <a:ext cx="7498080" cy="36168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b="1" dirty="0" smtClean="0">
                <a:solidFill>
                  <a:schemeClr val="bg2"/>
                </a:solidFill>
              </a:rPr>
              <a:t>BRAINSTORMING      A TOPIC</a:t>
            </a:r>
            <a:endParaRPr lang="en-US" sz="4800" b="1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endParaRPr lang="en-US" sz="4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sz="4800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 dirty="0" smtClean="0"/>
              <a:t>GRD261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Lecture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D43FF-CFE8-034B-87F2-759A3A457FE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4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/>
              <a:t>C</a:t>
            </a:r>
            <a:r>
              <a:rPr lang="en-US" sz="4400" b="1" dirty="0" smtClean="0"/>
              <a:t>riteria</a:t>
            </a:r>
            <a:endParaRPr lang="en-US" sz="44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608" y="1743740"/>
            <a:ext cx="7498080" cy="4504659"/>
          </a:xfrm>
        </p:spPr>
        <p:txBody>
          <a:bodyPr/>
          <a:lstStyle/>
          <a:p>
            <a:r>
              <a:rPr lang="en-US" dirty="0" smtClean="0"/>
              <a:t>Difference between a </a:t>
            </a:r>
            <a:r>
              <a:rPr lang="en-US" dirty="0" smtClean="0">
                <a:solidFill>
                  <a:schemeClr val="bg2"/>
                </a:solidFill>
              </a:rPr>
              <a:t>topic</a:t>
            </a:r>
            <a:r>
              <a:rPr lang="en-US" dirty="0" smtClean="0"/>
              <a:t> and an </a:t>
            </a:r>
            <a:r>
              <a:rPr lang="en-US" dirty="0" smtClean="0">
                <a:solidFill>
                  <a:schemeClr val="bg2"/>
                </a:solidFill>
              </a:rPr>
              <a:t>issue       </a:t>
            </a:r>
            <a:r>
              <a:rPr lang="en-US" sz="2000" u="sng" dirty="0" smtClean="0">
                <a:solidFill>
                  <a:schemeClr val="bg2"/>
                </a:solidFill>
              </a:rPr>
              <a:t>Ex:</a:t>
            </a:r>
            <a:r>
              <a:rPr lang="en-US" sz="2000" dirty="0" smtClean="0">
                <a:solidFill>
                  <a:schemeClr val="bg2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Education   </a:t>
            </a:r>
            <a:r>
              <a:rPr lang="en-US" sz="2000" dirty="0" smtClean="0">
                <a:solidFill>
                  <a:schemeClr val="bg2"/>
                </a:solidFill>
              </a:rPr>
              <a:t>                                                                             Women and college </a:t>
            </a:r>
            <a:r>
              <a:rPr lang="en-US" sz="2000" dirty="0" smtClean="0">
                <a:solidFill>
                  <a:srgbClr val="FF0000"/>
                </a:solidFill>
              </a:rPr>
              <a:t>(Should women go to college?)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For this assignment, you need to choose an issue</a:t>
            </a:r>
          </a:p>
          <a:p>
            <a:r>
              <a:rPr lang="en-US" dirty="0" smtClean="0"/>
              <a:t>The issue needs to be </a:t>
            </a:r>
            <a:r>
              <a:rPr lang="en-US" dirty="0" smtClean="0">
                <a:solidFill>
                  <a:schemeClr val="bg2"/>
                </a:solidFill>
              </a:rPr>
              <a:t>controversial</a:t>
            </a:r>
            <a:r>
              <a:rPr lang="en-US" dirty="0" smtClean="0"/>
              <a:t> (debatable)</a:t>
            </a:r>
            <a:endParaRPr lang="en-US" dirty="0"/>
          </a:p>
        </p:txBody>
      </p:sp>
      <p:pic>
        <p:nvPicPr>
          <p:cNvPr id="4" name="Google Shape;166;gbd70b226f6_0_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968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/>
              <a:t>Examples of controversial issues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608" y="1743740"/>
            <a:ext cx="7498080" cy="4504660"/>
          </a:xfrm>
        </p:spPr>
        <p:txBody>
          <a:bodyPr/>
          <a:lstStyle/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/>
              <a:t>Should women go to college?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/>
              <a:t>Should animals be kept in cages?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/>
              <a:t>Should the minimum wage in Senegal be raised?</a:t>
            </a:r>
            <a:endParaRPr lang="en-US" dirty="0"/>
          </a:p>
        </p:txBody>
      </p:sp>
      <p:pic>
        <p:nvPicPr>
          <p:cNvPr id="4" name="Google Shape;166;gbd70b226f6_0_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710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Activity 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/>
              <a:t>In groups, brainstorm ideas for a controversial issue.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/>
              <a:t>Think about your community (family, class, neighborhood, etc.)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>
                <a:solidFill>
                  <a:srgbClr val="00B050"/>
                </a:solidFill>
              </a:rPr>
              <a:t>Think about something you would like to change in your community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/>
              <a:t>If possible, think about something related to your field of study (economy, finance, business, etc.)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/>
          </a:p>
        </p:txBody>
      </p:sp>
      <p:pic>
        <p:nvPicPr>
          <p:cNvPr id="4" name="Google Shape;166;gbd70b226f6_0_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509284"/>
            <a:ext cx="7498080" cy="36168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b="1">
                <a:solidFill>
                  <a:schemeClr val="bg2"/>
                </a:solidFill>
              </a:rPr>
              <a:t>WRITING A THESIS STATEMENT</a:t>
            </a:r>
          </a:p>
          <a:p>
            <a:pPr marL="0" indent="0" algn="ctr">
              <a:buNone/>
            </a:pPr>
            <a:endParaRPr lang="en-US" sz="4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sz="4800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AU" dirty="0" smtClean="0"/>
              <a:t>GRD261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Lecture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D43FF-CFE8-034B-87F2-759A3A457FE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bcf3ad3d6b_0_69"/>
          <p:cNvSpPr txBox="1">
            <a:spLocks noGrp="1"/>
          </p:cNvSpPr>
          <p:nvPr>
            <p:ph type="title"/>
          </p:nvPr>
        </p:nvSpPr>
        <p:spPr>
          <a:xfrm>
            <a:off x="2646000" y="274650"/>
            <a:ext cx="6084000" cy="121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AU" sz="3200" b="1" dirty="0"/>
              <a:t>What is a thesis statement?</a:t>
            </a:r>
            <a:endParaRPr sz="3200" b="1" dirty="0"/>
          </a:p>
        </p:txBody>
      </p:sp>
      <p:sp>
        <p:nvSpPr>
          <p:cNvPr id="158" name="Google Shape;158;gbcf3ad3d6b_0_69"/>
          <p:cNvSpPr txBox="1">
            <a:spLocks noGrp="1"/>
          </p:cNvSpPr>
          <p:nvPr>
            <p:ph type="body" idx="1"/>
          </p:nvPr>
        </p:nvSpPr>
        <p:spPr>
          <a:xfrm>
            <a:off x="1144675" y="1754372"/>
            <a:ext cx="7807939" cy="486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>
              <a:buNone/>
            </a:pPr>
            <a:r>
              <a:rPr lang="en-AU" sz="1800" dirty="0"/>
              <a:t>A sentence in the opening paragraph of the essay, which tells the reader the main idea of the paper overall.</a:t>
            </a:r>
          </a:p>
          <a:p>
            <a:pPr marL="457200" lvl="1" indent="0">
              <a:buNone/>
            </a:pPr>
            <a:endParaRPr lang="en-AU" sz="1800" dirty="0"/>
          </a:p>
          <a:p>
            <a:pPr marL="457200" lvl="1" indent="0">
              <a:buNone/>
            </a:pPr>
            <a:r>
              <a:rPr lang="en-AU" sz="1800" dirty="0"/>
              <a:t>For an argumentative essay, it is a statement which expresses the writer’s </a:t>
            </a:r>
            <a:r>
              <a:rPr lang="en-AU" sz="1800" i="1" dirty="0"/>
              <a:t>position</a:t>
            </a:r>
            <a:r>
              <a:rPr lang="en-AU" sz="1800" dirty="0"/>
              <a:t> on a specific issue or topic. It is basically </a:t>
            </a:r>
            <a:r>
              <a:rPr lang="en-AU" sz="1800" dirty="0">
                <a:solidFill>
                  <a:schemeClr val="accent6">
                    <a:lumMod val="75000"/>
                  </a:schemeClr>
                </a:solidFill>
              </a:rPr>
              <a:t>the answer to your research question. </a:t>
            </a:r>
          </a:p>
          <a:p>
            <a:pPr marL="457200" lvl="1" indent="0">
              <a:buNone/>
            </a:pPr>
            <a:endParaRPr lang="en-AU" sz="1800" dirty="0"/>
          </a:p>
          <a:p>
            <a:pPr marL="457200" lvl="1" indent="0">
              <a:buNone/>
            </a:pPr>
            <a:r>
              <a:rPr lang="en-AU" sz="1800" dirty="0"/>
              <a:t>It is also an </a:t>
            </a:r>
            <a:r>
              <a:rPr lang="en-AU" sz="1800" dirty="0">
                <a:solidFill>
                  <a:schemeClr val="accent6">
                    <a:lumMod val="75000"/>
                  </a:schemeClr>
                </a:solidFill>
              </a:rPr>
              <a:t>arguable claim </a:t>
            </a:r>
            <a:r>
              <a:rPr lang="en-AU" sz="1800" dirty="0"/>
              <a:t>and should have an </a:t>
            </a:r>
            <a:r>
              <a:rPr lang="en-AU" sz="1800" i="1" dirty="0"/>
              <a:t>antithesis</a:t>
            </a:r>
            <a:r>
              <a:rPr lang="en-AU" sz="1800" dirty="0"/>
              <a:t>, in other words, a statement which states the opposite point of view.</a:t>
            </a:r>
          </a:p>
          <a:p>
            <a:pPr marL="457200" lvl="1" indent="0">
              <a:buNone/>
            </a:pPr>
            <a:endParaRPr lang="en-AU" sz="1800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AU" sz="1800" dirty="0">
                <a:solidFill>
                  <a:schemeClr val="accent6">
                    <a:lumMod val="75000"/>
                  </a:schemeClr>
                </a:solidFill>
              </a:rPr>
              <a:t>THESIS:</a:t>
            </a:r>
            <a:r>
              <a:rPr lang="en-AU" sz="1800" dirty="0"/>
              <a:t> University campuses should go ‘green’</a:t>
            </a:r>
          </a:p>
          <a:p>
            <a:pPr marL="457200" lvl="1" indent="0">
              <a:buNone/>
            </a:pPr>
            <a:r>
              <a:rPr lang="en-AU" sz="1800" dirty="0">
                <a:solidFill>
                  <a:schemeClr val="accent6">
                    <a:lumMod val="75000"/>
                  </a:schemeClr>
                </a:solidFill>
              </a:rPr>
              <a:t>ANTITHESIS:</a:t>
            </a:r>
            <a:r>
              <a:rPr lang="en-AU" sz="1800" dirty="0"/>
              <a:t> University campuses should not go ‘green’. (Exact Opposite</a:t>
            </a:r>
            <a:r>
              <a:rPr lang="en-AU" sz="1800" dirty="0" smtClean="0"/>
              <a:t>)</a:t>
            </a:r>
            <a:endParaRPr lang="en-AU" sz="1800" dirty="0"/>
          </a:p>
          <a:p>
            <a:pPr marL="0" lvl="0" indent="0" algn="l" rtl="0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endParaRPr sz="2400" dirty="0"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endParaRPr sz="2400" b="1" i="1" dirty="0"/>
          </a:p>
        </p:txBody>
      </p:sp>
      <p:pic>
        <p:nvPicPr>
          <p:cNvPr id="159" name="Google Shape;159;gbcf3ad3d6b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bd70b226f6_0_0"/>
          <p:cNvSpPr txBox="1">
            <a:spLocks noGrp="1"/>
          </p:cNvSpPr>
          <p:nvPr>
            <p:ph type="title"/>
          </p:nvPr>
        </p:nvSpPr>
        <p:spPr>
          <a:xfrm>
            <a:off x="2541181" y="212652"/>
            <a:ext cx="6049925" cy="1031358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600" b="1" dirty="0"/>
              <a:t>Narrowing Down Your Thesis</a:t>
            </a:r>
            <a:endParaRPr sz="3600" b="1" dirty="0"/>
          </a:p>
        </p:txBody>
      </p:sp>
      <p:sp>
        <p:nvSpPr>
          <p:cNvPr id="165" name="Google Shape;165;gbd70b226f6_0_0"/>
          <p:cNvSpPr txBox="1">
            <a:spLocks noGrp="1"/>
          </p:cNvSpPr>
          <p:nvPr>
            <p:ph type="body" idx="1"/>
          </p:nvPr>
        </p:nvSpPr>
        <p:spPr>
          <a:xfrm>
            <a:off x="1435600" y="1573618"/>
            <a:ext cx="7498200" cy="502908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US" sz="1800" b="1" u="sng" dirty="0"/>
              <a:t>Ex: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rgbClr val="FF0000"/>
                </a:solidFill>
              </a:rPr>
              <a:t>Drug</a:t>
            </a:r>
            <a:r>
              <a:rPr lang="en-US" sz="1800" b="1" dirty="0"/>
              <a:t> use is </a:t>
            </a:r>
            <a:r>
              <a:rPr lang="en-US" sz="1800" b="1" dirty="0">
                <a:solidFill>
                  <a:srgbClr val="FF0000"/>
                </a:solidFill>
              </a:rPr>
              <a:t>detrimental</a:t>
            </a:r>
            <a:r>
              <a:rPr lang="en-US" sz="1800" b="1" dirty="0"/>
              <a:t> to </a:t>
            </a:r>
            <a:r>
              <a:rPr lang="en-US" sz="1800" b="1" dirty="0">
                <a:solidFill>
                  <a:srgbClr val="FF0000"/>
                </a:solidFill>
              </a:rPr>
              <a:t>society</a:t>
            </a:r>
            <a:r>
              <a:rPr lang="en-US" sz="1800" b="1" dirty="0"/>
              <a:t>.</a:t>
            </a:r>
          </a:p>
          <a:p>
            <a:r>
              <a:rPr lang="en-US" sz="1800" b="1" dirty="0"/>
              <a:t>What is included in the category ‘drugs’?</a:t>
            </a:r>
          </a:p>
          <a:p>
            <a:pPr marL="0" indent="0">
              <a:buNone/>
            </a:pPr>
            <a:r>
              <a:rPr lang="en-US" sz="1800" dirty="0"/>
              <a:t>Medication? </a:t>
            </a:r>
          </a:p>
          <a:p>
            <a:pPr marL="0" indent="0">
              <a:buNone/>
            </a:pPr>
            <a:r>
              <a:rPr lang="en-US" sz="1800" dirty="0"/>
              <a:t>Illegal?</a:t>
            </a:r>
          </a:p>
          <a:p>
            <a:pPr marL="0" indent="0">
              <a:buNone/>
            </a:pPr>
            <a:r>
              <a:rPr lang="en-US" sz="1800" dirty="0"/>
              <a:t>Recreational?</a:t>
            </a:r>
          </a:p>
          <a:p>
            <a:r>
              <a:rPr lang="en-US" sz="1800" b="1" dirty="0"/>
              <a:t>In what ways are drugs detrimental?</a:t>
            </a:r>
          </a:p>
          <a:p>
            <a:pPr marL="0" indent="0">
              <a:buNone/>
            </a:pPr>
            <a:r>
              <a:rPr lang="en-US" sz="1800" dirty="0"/>
              <a:t>Economy to decline?</a:t>
            </a:r>
          </a:p>
          <a:p>
            <a:pPr marL="0" indent="0">
              <a:buNone/>
            </a:pPr>
            <a:r>
              <a:rPr lang="en-US" sz="1800" dirty="0"/>
              <a:t>Cause death?</a:t>
            </a:r>
          </a:p>
          <a:p>
            <a:pPr marL="0" indent="0">
              <a:buNone/>
            </a:pPr>
            <a:r>
              <a:rPr lang="en-US" sz="1800" dirty="0"/>
              <a:t>Violence?</a:t>
            </a:r>
          </a:p>
          <a:p>
            <a:pPr marL="0" indent="0">
              <a:buNone/>
            </a:pPr>
            <a:r>
              <a:rPr lang="en-US" sz="1800" dirty="0"/>
              <a:t>Change the moral climate?</a:t>
            </a:r>
          </a:p>
          <a:p>
            <a:r>
              <a:rPr lang="en-US" sz="1800" b="1" dirty="0"/>
              <a:t>What does the author mean by society?</a:t>
            </a:r>
          </a:p>
          <a:p>
            <a:pPr marL="0" indent="0">
              <a:buNone/>
            </a:pPr>
            <a:r>
              <a:rPr lang="en-US" sz="1800" dirty="0"/>
              <a:t>Adults?</a:t>
            </a:r>
          </a:p>
          <a:p>
            <a:pPr marL="0" indent="0">
              <a:buNone/>
            </a:pPr>
            <a:r>
              <a:rPr lang="en-US" sz="1800" dirty="0"/>
              <a:t>Children?</a:t>
            </a:r>
          </a:p>
          <a:p>
            <a:pPr marL="0" indent="0">
              <a:buNone/>
            </a:pPr>
            <a:r>
              <a:rPr lang="en-US" sz="1800" dirty="0"/>
              <a:t>Young people?</a:t>
            </a:r>
          </a:p>
        </p:txBody>
      </p:sp>
      <p:pic>
        <p:nvPicPr>
          <p:cNvPr id="166" name="Google Shape;166;gbd70b226f6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>
            <a:spLocks noGrp="1"/>
          </p:cNvSpPr>
          <p:nvPr>
            <p:ph type="ctrTitle"/>
          </p:nvPr>
        </p:nvSpPr>
        <p:spPr>
          <a:xfrm>
            <a:off x="1906925" y="376700"/>
            <a:ext cx="6932400" cy="81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lang="en-US" sz="3600" b="1" dirty="0"/>
              <a:t>Effective Thesis Statement</a:t>
            </a:r>
            <a:endParaRPr sz="3600" b="1" dirty="0"/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>
            <a:off x="1432525" y="1656000"/>
            <a:ext cx="7406700" cy="4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indent="0"/>
            <a:r>
              <a:rPr lang="en-US" sz="2400" b="1" dirty="0"/>
              <a:t>An effective thesis statement should not be too broad, too narrow or vague. It has to be specific.</a:t>
            </a:r>
          </a:p>
          <a:p>
            <a:pPr marL="0" indent="0"/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Drug</a:t>
            </a:r>
            <a:r>
              <a:rPr lang="en-US" sz="2400" b="1" dirty="0"/>
              <a:t> use is </a:t>
            </a:r>
            <a:r>
              <a:rPr lang="en-US" sz="2400" b="1" dirty="0">
                <a:solidFill>
                  <a:srgbClr val="FF0000"/>
                </a:solidFill>
              </a:rPr>
              <a:t>detrimental</a:t>
            </a:r>
            <a:r>
              <a:rPr lang="en-US" sz="2400" b="1" dirty="0"/>
              <a:t> to </a:t>
            </a:r>
            <a:r>
              <a:rPr lang="en-US" sz="2400" b="1" dirty="0">
                <a:solidFill>
                  <a:srgbClr val="FF0000"/>
                </a:solidFill>
              </a:rPr>
              <a:t>society</a:t>
            </a:r>
            <a:r>
              <a:rPr lang="en-US" sz="2400" b="1" dirty="0"/>
              <a:t>.</a:t>
            </a:r>
          </a:p>
          <a:p>
            <a:pPr marL="0" indent="0"/>
            <a:endParaRPr lang="en-US" sz="2400" dirty="0"/>
          </a:p>
          <a:p>
            <a:r>
              <a:rPr lang="en-US" sz="2400" dirty="0"/>
              <a:t>Illegal drug use is detrimental because it encourages gang violence. </a:t>
            </a:r>
            <a:r>
              <a:rPr lang="en-US" sz="2400" dirty="0">
                <a:solidFill>
                  <a:srgbClr val="FF0000"/>
                </a:solidFill>
              </a:rPr>
              <a:t>(More manageable)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Formula:</a:t>
            </a:r>
          </a:p>
          <a:p>
            <a:pPr marL="0" indent="0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Thesis = Subject + Opinion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endParaRPr sz="4000" dirty="0"/>
          </a:p>
        </p:txBody>
      </p:sp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425" y="117950"/>
            <a:ext cx="9620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title"/>
          </p:nvPr>
        </p:nvSpPr>
        <p:spPr>
          <a:xfrm>
            <a:off x="2308975" y="365125"/>
            <a:ext cx="6206400" cy="1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dirty="0"/>
              <a:t>Identifying a good thesis statement</a:t>
            </a:r>
            <a:endParaRPr sz="4000" b="1" dirty="0"/>
          </a:p>
        </p:txBody>
      </p:sp>
      <p:sp>
        <p:nvSpPr>
          <p:cNvPr id="179" name="Google Shape;179;p18"/>
          <p:cNvSpPr txBox="1">
            <a:spLocks noGrp="1"/>
          </p:cNvSpPr>
          <p:nvPr>
            <p:ph type="body" idx="1"/>
          </p:nvPr>
        </p:nvSpPr>
        <p:spPr>
          <a:xfrm>
            <a:off x="1194700" y="2178000"/>
            <a:ext cx="7765500" cy="44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>
              <a:buNone/>
            </a:pPr>
            <a:r>
              <a:rPr lang="en-AU" sz="2000" b="1" dirty="0"/>
              <a:t>Good thesis statements should </a:t>
            </a:r>
            <a:r>
              <a:rPr lang="en-AU" sz="2000" b="1" u="sng" dirty="0">
                <a:solidFill>
                  <a:schemeClr val="accent6">
                    <a:lumMod val="75000"/>
                  </a:schemeClr>
                </a:solidFill>
              </a:rPr>
              <a:t>ANSWER YES </a:t>
            </a:r>
            <a:r>
              <a:rPr lang="en-AU" sz="2000" b="1" dirty="0"/>
              <a:t>to the following questions:</a:t>
            </a:r>
          </a:p>
          <a:p>
            <a:pPr marL="457200" lvl="1" indent="0">
              <a:buNone/>
            </a:pPr>
            <a:endParaRPr lang="en-AU" sz="2000" b="1" u="sng" dirty="0"/>
          </a:p>
          <a:p>
            <a:pPr lvl="1">
              <a:buFontTx/>
              <a:buChar char="-"/>
            </a:pPr>
            <a:r>
              <a:rPr lang="en-AU" sz="2000" b="1" dirty="0"/>
              <a:t>Does it have an arguable conclusion which reasonable people could disagree with?</a:t>
            </a:r>
          </a:p>
          <a:p>
            <a:pPr lvl="1">
              <a:buFontTx/>
              <a:buChar char="-"/>
            </a:pPr>
            <a:r>
              <a:rPr lang="en-AU" sz="2000" b="1" dirty="0"/>
              <a:t>Is the assertion more than simply your opinion? </a:t>
            </a:r>
          </a:p>
          <a:p>
            <a:pPr lvl="1">
              <a:buFontTx/>
              <a:buChar char="-"/>
            </a:pPr>
            <a:r>
              <a:rPr lang="en-AU" sz="2000" b="1" dirty="0"/>
              <a:t>Is it specific rather than vague? </a:t>
            </a:r>
            <a:r>
              <a:rPr lang="en-AU" sz="2000" b="1" dirty="0">
                <a:solidFill>
                  <a:srgbClr val="FF0000"/>
                </a:solidFill>
              </a:rPr>
              <a:t>Appropriate scope? </a:t>
            </a:r>
            <a:r>
              <a:rPr lang="en-AU" sz="2000" b="1" dirty="0"/>
              <a:t>(It must be clearly expressed without ambiguity)</a:t>
            </a:r>
          </a:p>
          <a:p>
            <a:pPr lvl="1">
              <a:buFontTx/>
              <a:buChar char="-"/>
            </a:pPr>
            <a:r>
              <a:rPr lang="en-AU" sz="2000" b="1" dirty="0"/>
              <a:t>Does it give the reader a guide / map to the argument or organization of your essay?</a:t>
            </a:r>
          </a:p>
          <a:p>
            <a:pPr lvl="1">
              <a:buFontTx/>
              <a:buChar char="-"/>
            </a:pPr>
            <a:r>
              <a:rPr lang="en-AU" sz="2000" b="1" dirty="0"/>
              <a:t>Is it written in the 3</a:t>
            </a:r>
            <a:r>
              <a:rPr lang="en-AU" sz="2000" b="1" baseline="30000" dirty="0"/>
              <a:t>rd</a:t>
            </a:r>
            <a:r>
              <a:rPr lang="en-AU" sz="2000" b="1" dirty="0"/>
              <a:t> person? (not the 1</a:t>
            </a:r>
            <a:r>
              <a:rPr lang="en-AU" sz="2000" b="1" baseline="30000" dirty="0"/>
              <a:t>st</a:t>
            </a:r>
            <a:r>
              <a:rPr lang="en-AU" sz="2000" b="1" dirty="0"/>
              <a:t> person ‘I’ or ‘me’)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96202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c040beb847_0_12"/>
          <p:cNvSpPr txBox="1">
            <a:spLocks noGrp="1"/>
          </p:cNvSpPr>
          <p:nvPr>
            <p:ph type="title"/>
          </p:nvPr>
        </p:nvSpPr>
        <p:spPr>
          <a:xfrm>
            <a:off x="2308975" y="365125"/>
            <a:ext cx="62064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000" b="1" dirty="0"/>
              <a:t>Activity 1</a:t>
            </a:r>
            <a:endParaRPr sz="4000" b="1" dirty="0"/>
          </a:p>
        </p:txBody>
      </p:sp>
      <p:sp>
        <p:nvSpPr>
          <p:cNvPr id="187" name="Google Shape;187;gc040beb847_0_12"/>
          <p:cNvSpPr txBox="1">
            <a:spLocks noGrp="1"/>
          </p:cNvSpPr>
          <p:nvPr>
            <p:ph type="body" idx="1"/>
          </p:nvPr>
        </p:nvSpPr>
        <p:spPr>
          <a:xfrm>
            <a:off x="1194700" y="1895425"/>
            <a:ext cx="7765500" cy="47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Which of these sentences follow the criteria for effective THESIS STATEMENTS?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‘Practice with Persuasive Thesis Statements’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  <p:pic>
        <p:nvPicPr>
          <p:cNvPr id="188" name="Google Shape;188;gc040beb847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96202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040beb847_0_39"/>
          <p:cNvSpPr txBox="1">
            <a:spLocks noGrp="1"/>
          </p:cNvSpPr>
          <p:nvPr>
            <p:ph type="title"/>
          </p:nvPr>
        </p:nvSpPr>
        <p:spPr>
          <a:xfrm>
            <a:off x="2319425" y="274650"/>
            <a:ext cx="66144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b="1" dirty="0"/>
              <a:t>Activity 2</a:t>
            </a:r>
            <a:endParaRPr b="1" dirty="0"/>
          </a:p>
        </p:txBody>
      </p:sp>
      <p:sp>
        <p:nvSpPr>
          <p:cNvPr id="194" name="Google Shape;194;gc040beb847_0_39"/>
          <p:cNvSpPr txBox="1">
            <a:spLocks noGrp="1"/>
          </p:cNvSpPr>
          <p:nvPr>
            <p:ph type="body" idx="1"/>
          </p:nvPr>
        </p:nvSpPr>
        <p:spPr>
          <a:xfrm>
            <a:off x="1435600" y="1767775"/>
            <a:ext cx="7498200" cy="448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Look at these thesis statements. See handout (identifying TS Problems)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-What is the problem with them?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-Rewrite them to improve their persuasiveness.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Google Shape;166;gbd70b226f6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c040beb847_0_20"/>
          <p:cNvSpPr txBox="1">
            <a:spLocks noGrp="1"/>
          </p:cNvSpPr>
          <p:nvPr>
            <p:ph type="title"/>
          </p:nvPr>
        </p:nvSpPr>
        <p:spPr>
          <a:xfrm>
            <a:off x="2913321" y="274650"/>
            <a:ext cx="5103628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4000" b="1" dirty="0"/>
              <a:t>Homework</a:t>
            </a:r>
            <a:endParaRPr sz="4000" b="1" dirty="0">
              <a:solidFill>
                <a:srgbClr val="660000"/>
              </a:solidFill>
            </a:endParaRPr>
          </a:p>
        </p:txBody>
      </p:sp>
      <p:sp>
        <p:nvSpPr>
          <p:cNvPr id="200" name="Google Shape;200;gc040beb847_0_20"/>
          <p:cNvSpPr txBox="1">
            <a:spLocks noGrp="1"/>
          </p:cNvSpPr>
          <p:nvPr>
            <p:ph type="body" idx="1"/>
          </p:nvPr>
        </p:nvSpPr>
        <p:spPr>
          <a:xfrm>
            <a:off x="1435608" y="1924493"/>
            <a:ext cx="7498200" cy="432390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dirty="0"/>
              <a:t>Create a thesis statement for next class to share on the discussion board for feedback.</a:t>
            </a:r>
          </a:p>
          <a:p>
            <a:endParaRPr lang="en-US" sz="2800" dirty="0"/>
          </a:p>
          <a:p>
            <a:r>
              <a:rPr lang="en-US" sz="2800" dirty="0"/>
              <a:t>Each student to give feedback to at least 2 students. </a:t>
            </a:r>
          </a:p>
          <a:p>
            <a:endParaRPr lang="en-US" sz="2800" dirty="0"/>
          </a:p>
          <a:p>
            <a:r>
              <a:rPr lang="en-US" sz="2800" dirty="0"/>
              <a:t>Identify one strength and one area to work on that is evident from the feedback received. </a:t>
            </a:r>
          </a:p>
        </p:txBody>
      </p:sp>
      <p:pic>
        <p:nvPicPr>
          <p:cNvPr id="201" name="Google Shape;201;gc040beb847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96202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c040beb847_0_29"/>
          <p:cNvSpPr txBox="1">
            <a:spLocks noGrp="1"/>
          </p:cNvSpPr>
          <p:nvPr>
            <p:ph type="title"/>
          </p:nvPr>
        </p:nvSpPr>
        <p:spPr>
          <a:xfrm>
            <a:off x="2142250" y="274650"/>
            <a:ext cx="6533800" cy="93746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AU" b="1"/>
              <a:t>Understanding the audience…</a:t>
            </a:r>
            <a:endParaRPr dirty="0"/>
          </a:p>
        </p:txBody>
      </p:sp>
      <p:sp>
        <p:nvSpPr>
          <p:cNvPr id="207" name="Google Shape;207;gc040beb847_0_29"/>
          <p:cNvSpPr txBox="1">
            <a:spLocks noGrp="1"/>
          </p:cNvSpPr>
          <p:nvPr>
            <p:ph type="body" idx="1"/>
          </p:nvPr>
        </p:nvSpPr>
        <p:spPr>
          <a:xfrm>
            <a:off x="1180225" y="1722474"/>
            <a:ext cx="7753500" cy="504757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fontAlgn="b">
              <a:buNone/>
            </a:pPr>
            <a:r>
              <a:rPr lang="en-US" sz="2400" dirty="0"/>
              <a:t>In most cases, assume that the reader is </a:t>
            </a:r>
            <a:r>
              <a:rPr lang="en-US" sz="2400" b="1" dirty="0"/>
              <a:t>skeptical; </a:t>
            </a:r>
            <a:r>
              <a:rPr lang="en-US" sz="2400" dirty="0"/>
              <a:t>meaning they have open minds but still need to be convinced. </a:t>
            </a:r>
          </a:p>
          <a:p>
            <a:pPr marL="0" indent="0" fontAlgn="b">
              <a:buNone/>
            </a:pPr>
            <a:endParaRPr lang="en-US" sz="2400" dirty="0"/>
          </a:p>
          <a:p>
            <a:pPr marL="0" indent="0" fontAlgn="b">
              <a:buNone/>
            </a:pPr>
            <a:r>
              <a:rPr lang="en-US" sz="2400" dirty="0"/>
              <a:t>Since </a:t>
            </a:r>
            <a:r>
              <a:rPr lang="en-US" sz="2400" dirty="0" smtClean="0"/>
              <a:t>your </a:t>
            </a:r>
            <a:r>
              <a:rPr lang="en-US" sz="2400" dirty="0"/>
              <a:t>topic is </a:t>
            </a:r>
            <a:r>
              <a:rPr lang="en-US" sz="2400" b="1" dirty="0"/>
              <a:t>controversial,</a:t>
            </a:r>
            <a:r>
              <a:rPr lang="en-US" sz="2400" dirty="0"/>
              <a:t> you should assume that some of your readers will not support your position (and may be hostile to it).</a:t>
            </a:r>
          </a:p>
          <a:p>
            <a:pPr marL="0" indent="0" fontAlgn="b">
              <a:buNone/>
            </a:pPr>
            <a:endParaRPr lang="en-US" sz="2400" dirty="0"/>
          </a:p>
          <a:p>
            <a:pPr marL="0" indent="0" fontAlgn="b">
              <a:buNone/>
            </a:pPr>
            <a:r>
              <a:rPr lang="en-US" sz="2400" dirty="0"/>
              <a:t>Your goal is to make the reader more receptive towards your position or at least to get them to admit that you have a good case even though they may disagree with you. Convince those who are neutral.</a:t>
            </a:r>
            <a:endParaRPr lang="en-AU" sz="2400" dirty="0"/>
          </a:p>
        </p:txBody>
      </p:sp>
      <p:pic>
        <p:nvPicPr>
          <p:cNvPr id="208" name="Google Shape;208;gc040beb847_0_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962025" cy="7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pic>
        <p:nvPicPr>
          <p:cNvPr id="4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233" y="493160"/>
            <a:ext cx="7371199" cy="5633003"/>
          </a:xfrm>
        </p:spPr>
      </p:pic>
    </p:spTree>
    <p:extLst>
      <p:ext uri="{BB962C8B-B14F-4D97-AF65-F5344CB8AC3E}">
        <p14:creationId xmlns:p14="http://schemas.microsoft.com/office/powerpoint/2010/main" val="163861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      Considering </a:t>
            </a:r>
            <a:r>
              <a:rPr lang="en-US" sz="3600" b="1" dirty="0"/>
              <a:t>your audience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608" y="1722474"/>
            <a:ext cx="7498080" cy="4525926"/>
          </a:xfrm>
        </p:spPr>
        <p:txBody>
          <a:bodyPr/>
          <a:lstStyle/>
          <a:p>
            <a:r>
              <a:rPr lang="en-US" sz="2400" dirty="0"/>
              <a:t>Ask yourself </a:t>
            </a:r>
            <a:r>
              <a:rPr lang="en-US" sz="2400" b="1" dirty="0"/>
              <a:t>how will/might your audience respond to your thesis statement?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sz="2400" u="sng" dirty="0"/>
              <a:t>Practice activity 1:</a:t>
            </a:r>
            <a:r>
              <a:rPr lang="en-US" sz="2400" dirty="0"/>
              <a:t> How different audiences might respond </a:t>
            </a:r>
          </a:p>
          <a:p>
            <a:pPr marL="514350" indent="-514350">
              <a:buAutoNum type="arabicParenR"/>
            </a:pPr>
            <a:r>
              <a:rPr lang="en-US" sz="2400" dirty="0"/>
              <a:t>List the different audiences you are trying to convince</a:t>
            </a:r>
          </a:p>
          <a:p>
            <a:pPr marL="514350" indent="-514350">
              <a:buAutoNum type="arabicParenR"/>
            </a:pPr>
            <a:r>
              <a:rPr lang="en-US" sz="2400" dirty="0"/>
              <a:t>Divide them into 3 groups (positive, neutral, hostile)</a:t>
            </a:r>
          </a:p>
          <a:p>
            <a:pPr marL="514350" indent="-514350">
              <a:buAutoNum type="arabicParenR"/>
            </a:pPr>
            <a:r>
              <a:rPr lang="en-US" sz="2400" dirty="0"/>
              <a:t>Thesis Statement: ----------------------------------</a:t>
            </a:r>
          </a:p>
          <a:p>
            <a:pPr marL="514350" indent="-514350">
              <a:buAutoNum type="arabicParenR"/>
            </a:pPr>
            <a:endParaRPr lang="en-US" sz="2400" dirty="0"/>
          </a:p>
          <a:p>
            <a:pPr marL="514350" indent="-514350">
              <a:buAutoNum type="arabicParenR"/>
            </a:pPr>
            <a:r>
              <a:rPr lang="en-US" sz="2400" dirty="0"/>
              <a:t>What argument do you plan to put in each category to convince that target audience?</a:t>
            </a:r>
          </a:p>
          <a:p>
            <a:endParaRPr lang="en-US" dirty="0"/>
          </a:p>
        </p:txBody>
      </p:sp>
      <p:pic>
        <p:nvPicPr>
          <p:cNvPr id="4" name="Google Shape;208;gc040beb847_0_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4675" y="129425"/>
            <a:ext cx="962025" cy="773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93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Gathering </a:t>
            </a:r>
            <a:r>
              <a:rPr lang="en-US" b="1" dirty="0"/>
              <a:t>Evidence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400" dirty="0"/>
              <a:t>You NEED to collect evidence. You will use both facts and opinions to support your points and build a convincing argument.</a:t>
            </a:r>
          </a:p>
          <a:p>
            <a:pPr marL="0" indent="0">
              <a:buNone/>
            </a:pPr>
            <a:r>
              <a:rPr lang="en-AU" sz="2400" dirty="0"/>
              <a:t>-Therefore, knowing and understanding the difference is important.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FACT – Is a statement that can be verified or checked (proven to be true).</a:t>
            </a:r>
          </a:p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OPINION – Is a personal judgement. Opinions are subjective and can be debated. However, the value of different people’s opinions can vary. The more knowledgeable a writer, the more credible his/her opinion.</a:t>
            </a:r>
          </a:p>
          <a:p>
            <a:endParaRPr lang="en-US" dirty="0"/>
          </a:p>
        </p:txBody>
      </p:sp>
      <p:pic>
        <p:nvPicPr>
          <p:cNvPr id="4" name="Google Shape;208;gc040beb847_0_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4675" y="129425"/>
            <a:ext cx="962025" cy="773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134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b="1" dirty="0"/>
              <a:t>Kinds of Evidence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608" y="1417638"/>
            <a:ext cx="7498080" cy="544036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FACTS</a:t>
            </a:r>
          </a:p>
          <a:p>
            <a:r>
              <a:rPr lang="en-US" sz="2000" dirty="0"/>
              <a:t>Drexel University has solar-powered recycling and litter receptacles.</a:t>
            </a:r>
          </a:p>
          <a:p>
            <a:r>
              <a:rPr lang="en-US" sz="2000" dirty="0"/>
              <a:t>Cambridge University has had a top 5 QA ranking for the last 10 years.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SUPPORTED OPINIONS</a:t>
            </a:r>
          </a:p>
          <a:p>
            <a:r>
              <a:rPr lang="en-US" sz="2000" dirty="0"/>
              <a:t>The University encourages students to live a ‘green’ lifestyle but does little to help them achieve this. It has no separate waste bins for paper, plastic and bottles.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UNSUPPORTED OPINIONS</a:t>
            </a:r>
          </a:p>
          <a:p>
            <a:r>
              <a:rPr lang="en-US" sz="2000" dirty="0"/>
              <a:t>Sustainability should be a top priority on university campuses.</a:t>
            </a:r>
          </a:p>
          <a:p>
            <a:r>
              <a:rPr lang="en-US" sz="2000" dirty="0"/>
              <a:t>Climate change is not taken seriously by many countries &amp; their governments.</a:t>
            </a:r>
          </a:p>
          <a:p>
            <a:endParaRPr lang="en-US" dirty="0"/>
          </a:p>
        </p:txBody>
      </p:sp>
      <p:pic>
        <p:nvPicPr>
          <p:cNvPr id="4" name="Google Shape;166;gbd70b226f6_0_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125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3600" b="1" dirty="0"/>
              <a:t>Evaluating Evidence From Sources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608" y="1786270"/>
            <a:ext cx="7498080" cy="4720856"/>
          </a:xfrm>
        </p:spPr>
        <p:txBody>
          <a:bodyPr/>
          <a:lstStyle/>
          <a:p>
            <a:pPr marL="457200" lvl="1" indent="0" fontAlgn="b">
              <a:buClr>
                <a:schemeClr val="accent6">
                  <a:lumMod val="75000"/>
                </a:schemeClr>
              </a:buClr>
              <a:buNone/>
            </a:pPr>
            <a:r>
              <a:rPr lang="en-AU" sz="2000" dirty="0">
                <a:solidFill>
                  <a:srgbClr val="FF0000"/>
                </a:solidFill>
              </a:rPr>
              <a:t>Remember </a:t>
            </a:r>
            <a:r>
              <a:rPr lang="en-AU" sz="2000" dirty="0">
                <a:solidFill>
                  <a:srgbClr val="000000"/>
                </a:solidFill>
              </a:rPr>
              <a:t>the sources used to support your main points must be reliable and therefore need to be evaluated according to the CRAAP criteria:</a:t>
            </a:r>
          </a:p>
          <a:p>
            <a:pPr marL="457200" lvl="1" indent="0" fontAlgn="b">
              <a:buClr>
                <a:schemeClr val="accent6">
                  <a:lumMod val="75000"/>
                </a:schemeClr>
              </a:buClr>
              <a:buNone/>
            </a:pPr>
            <a:endParaRPr lang="en-AU" sz="2000" dirty="0">
              <a:solidFill>
                <a:srgbClr val="000000"/>
              </a:solidFill>
            </a:endParaRPr>
          </a:p>
          <a:p>
            <a:pPr marL="457200" lvl="1" indent="0" fontAlgn="b">
              <a:buClr>
                <a:schemeClr val="accent6">
                  <a:lumMod val="75000"/>
                </a:schemeClr>
              </a:buClr>
              <a:buNone/>
            </a:pPr>
            <a:r>
              <a:rPr lang="en-AU" sz="2000" dirty="0">
                <a:solidFill>
                  <a:srgbClr val="000000"/>
                </a:solidFill>
              </a:rPr>
              <a:t>C = Currency (when was it published / how old is it?)</a:t>
            </a:r>
          </a:p>
          <a:p>
            <a:pPr marL="457200" lvl="1" indent="0" fontAlgn="b">
              <a:buClr>
                <a:schemeClr val="accent6">
                  <a:lumMod val="75000"/>
                </a:schemeClr>
              </a:buClr>
              <a:buNone/>
            </a:pPr>
            <a:r>
              <a:rPr lang="en-AU" sz="2000" dirty="0">
                <a:solidFill>
                  <a:srgbClr val="000000"/>
                </a:solidFill>
              </a:rPr>
              <a:t>R = Relevance (how related is it to your topic?)</a:t>
            </a:r>
          </a:p>
          <a:p>
            <a:pPr marL="457200" lvl="1" indent="0" fontAlgn="b">
              <a:buClr>
                <a:schemeClr val="accent6">
                  <a:lumMod val="75000"/>
                </a:schemeClr>
              </a:buClr>
              <a:buNone/>
            </a:pPr>
            <a:r>
              <a:rPr lang="en-AU" sz="2000" dirty="0">
                <a:solidFill>
                  <a:srgbClr val="000000"/>
                </a:solidFill>
              </a:rPr>
              <a:t>A = Authority (what qualifications does the writer have?)</a:t>
            </a:r>
          </a:p>
          <a:p>
            <a:pPr marL="457200" lvl="1" indent="0" fontAlgn="b">
              <a:buClr>
                <a:schemeClr val="accent6">
                  <a:lumMod val="75000"/>
                </a:schemeClr>
              </a:buClr>
              <a:buNone/>
            </a:pPr>
            <a:r>
              <a:rPr lang="en-AU" sz="2000" dirty="0">
                <a:solidFill>
                  <a:srgbClr val="000000"/>
                </a:solidFill>
              </a:rPr>
              <a:t>A = Audience (who is it written for)</a:t>
            </a:r>
          </a:p>
          <a:p>
            <a:pPr marL="457200" lvl="1" indent="0" fontAlgn="b">
              <a:buClr>
                <a:schemeClr val="accent6">
                  <a:lumMod val="75000"/>
                </a:schemeClr>
              </a:buClr>
              <a:buNone/>
            </a:pPr>
            <a:r>
              <a:rPr lang="en-AU" sz="2000" dirty="0">
                <a:solidFill>
                  <a:srgbClr val="000000"/>
                </a:solidFill>
              </a:rPr>
              <a:t>P = Purpose (why was it written?)</a:t>
            </a:r>
          </a:p>
          <a:p>
            <a:pPr marL="457200" lvl="1" indent="0" fontAlgn="b">
              <a:buClr>
                <a:schemeClr val="accent6">
                  <a:lumMod val="75000"/>
                </a:schemeClr>
              </a:buClr>
              <a:buNone/>
            </a:pPr>
            <a:endParaRPr lang="en-AU" sz="2000" dirty="0">
              <a:solidFill>
                <a:srgbClr val="000000"/>
              </a:solidFill>
            </a:endParaRPr>
          </a:p>
          <a:p>
            <a:pPr lvl="1" fontAlgn="b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AU" sz="2000" dirty="0">
                <a:solidFill>
                  <a:srgbClr val="000000"/>
                </a:solidFill>
              </a:rPr>
              <a:t>Use reliable sources: FCHS library databases, Google scholar, etc.</a:t>
            </a:r>
            <a:endParaRPr lang="en-AU" sz="2000" dirty="0"/>
          </a:p>
          <a:p>
            <a:endParaRPr lang="en-US" dirty="0"/>
          </a:p>
        </p:txBody>
      </p:sp>
      <p:pic>
        <p:nvPicPr>
          <p:cNvPr id="4" name="Google Shape;166;gbd70b226f6_0_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288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Activity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0426" y="1722473"/>
            <a:ext cx="7498080" cy="4699591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What evidence might you use to support your thesis statement?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Ensure it is: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Accurate= from reliable sources</a:t>
            </a:r>
          </a:p>
          <a:p>
            <a:pPr marL="0" indent="0">
              <a:buNone/>
            </a:pPr>
            <a:r>
              <a:rPr lang="en-US" sz="2800" dirty="0"/>
              <a:t>Relevant= applies to the topic under discussion</a:t>
            </a:r>
          </a:p>
          <a:p>
            <a:pPr marL="0" indent="0">
              <a:buNone/>
            </a:pPr>
            <a:r>
              <a:rPr lang="en-US" sz="2800" dirty="0"/>
              <a:t>Representative = fair range of sources</a:t>
            </a:r>
          </a:p>
          <a:p>
            <a:pPr marL="0" indent="0">
              <a:buNone/>
            </a:pPr>
            <a:r>
              <a:rPr lang="en-US" sz="2800" dirty="0"/>
              <a:t>Sufficient = enough facts, statistics, etc.</a:t>
            </a:r>
          </a:p>
          <a:p>
            <a:endParaRPr lang="en-US" dirty="0"/>
          </a:p>
        </p:txBody>
      </p:sp>
      <p:pic>
        <p:nvPicPr>
          <p:cNvPr id="4" name="Google Shape;166;gbd70b226f6_0_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4675" y="129425"/>
            <a:ext cx="1014975" cy="962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99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>
            <a:spLocks noGrp="1"/>
          </p:cNvSpPr>
          <p:nvPr>
            <p:ph type="title"/>
          </p:nvPr>
        </p:nvSpPr>
        <p:spPr>
          <a:xfrm>
            <a:off x="2596177" y="1469025"/>
            <a:ext cx="5751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Any Questions???</a:t>
            </a:r>
            <a:endParaRPr/>
          </a:p>
        </p:txBody>
      </p:sp>
      <p:pic>
        <p:nvPicPr>
          <p:cNvPr id="214" name="Google Shape;21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675" y="129425"/>
            <a:ext cx="962025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7" descr="Résultat de recherche d'images pour &quot;questions emoticon&quot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8875" y="2500200"/>
            <a:ext cx="323850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bcfd9201a8_0_44"/>
          <p:cNvSpPr txBox="1">
            <a:spLocks noGrp="1"/>
          </p:cNvSpPr>
          <p:nvPr>
            <p:ph type="title"/>
          </p:nvPr>
        </p:nvSpPr>
        <p:spPr>
          <a:xfrm>
            <a:off x="1435608" y="274638"/>
            <a:ext cx="749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221" name="Google Shape;221;gbcfd9201a8_0_44"/>
          <p:cNvSpPr txBox="1">
            <a:spLocks noGrp="1"/>
          </p:cNvSpPr>
          <p:nvPr>
            <p:ph type="body" idx="1"/>
          </p:nvPr>
        </p:nvSpPr>
        <p:spPr>
          <a:xfrm>
            <a:off x="1435608" y="1447800"/>
            <a:ext cx="7498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 err="1"/>
              <a:t>Kirszner</a:t>
            </a:r>
            <a:r>
              <a:rPr lang="en-US" sz="2400" dirty="0"/>
              <a:t>, L.G.; S. Mandell</a:t>
            </a:r>
            <a:r>
              <a:rPr lang="en-US" sz="2400" i="1" dirty="0"/>
              <a:t>. </a:t>
            </a:r>
            <a:r>
              <a:rPr lang="en-US" sz="2400" dirty="0"/>
              <a:t>(2011). </a:t>
            </a:r>
            <a:r>
              <a:rPr lang="en-US" sz="2400" i="1" dirty="0"/>
              <a:t>Practical Argument</a:t>
            </a:r>
            <a:r>
              <a:rPr lang="en-US" sz="2400" dirty="0"/>
              <a:t>. Boston Bedford/St. Martin’s.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6077</TotalTime>
  <Words>1420</Words>
  <Application>Microsoft Macintosh PowerPoint</Application>
  <PresentationFormat>On-screen Show (4:3)</PresentationFormat>
  <Paragraphs>192</Paragraphs>
  <Slides>29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Gill Sans</vt:lpstr>
      <vt:lpstr>Noto Sans Symbols</vt:lpstr>
      <vt:lpstr>Verdana</vt:lpstr>
      <vt:lpstr>Wingdings</vt:lpstr>
      <vt:lpstr>Arial</vt:lpstr>
      <vt:lpstr>Solstice</vt:lpstr>
      <vt:lpstr>             Chapter 1:  Introduction_ Understanding Arguments</vt:lpstr>
      <vt:lpstr>Chapter 1 Objectives Week 2</vt:lpstr>
      <vt:lpstr>    Getting Started</vt:lpstr>
      <vt:lpstr>PowerPoint Presentation</vt:lpstr>
      <vt:lpstr>Remember!</vt:lpstr>
      <vt:lpstr>What is an Argumentative Essay?</vt:lpstr>
      <vt:lpstr> Why assign an argument in college?</vt:lpstr>
      <vt:lpstr>Writing an argument</vt:lpstr>
      <vt:lpstr>PowerPoint Presentation</vt:lpstr>
      <vt:lpstr>Criteria</vt:lpstr>
      <vt:lpstr>Examples of controversial issues</vt:lpstr>
      <vt:lpstr>Activity 1</vt:lpstr>
      <vt:lpstr>PowerPoint Presentation</vt:lpstr>
      <vt:lpstr>What is a thesis statement?</vt:lpstr>
      <vt:lpstr>Narrowing Down Your Thesis</vt:lpstr>
      <vt:lpstr>Effective Thesis Statement</vt:lpstr>
      <vt:lpstr>Identifying a good thesis statement</vt:lpstr>
      <vt:lpstr>Activity 1</vt:lpstr>
      <vt:lpstr>Activity 2</vt:lpstr>
      <vt:lpstr>Homework</vt:lpstr>
      <vt:lpstr>Understanding the audience…</vt:lpstr>
      <vt:lpstr>PowerPoint Presentation</vt:lpstr>
      <vt:lpstr>      Considering your audience</vt:lpstr>
      <vt:lpstr>      Gathering Evidence</vt:lpstr>
      <vt:lpstr>Kinds of Evidence</vt:lpstr>
      <vt:lpstr>Evaluating Evidence From Sources</vt:lpstr>
      <vt:lpstr>Activity 2</vt:lpstr>
      <vt:lpstr>   Any Questions???</vt:lpstr>
      <vt:lpstr>Reference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Chapter 2:  Describing an important first or last time</dc:title>
  <cp:lastModifiedBy>Microsoft account</cp:lastModifiedBy>
  <cp:revision>19</cp:revision>
  <dcterms:modified xsi:type="dcterms:W3CDTF">2023-06-20T16:45:11Z</dcterms:modified>
</cp:coreProperties>
</file>